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41fba9674a4f31" /><Relationship Type="http://schemas.openxmlformats.org/officeDocument/2006/relationships/extended-properties" Target="/docProps/app.xml" Id="Radea67a5eb8343b1" /><Relationship Type="http://schemas.openxmlformats.org/officeDocument/2006/relationships/officeDocument" Target="/ppt/presentation.xml" Id="R58df9e0689e847e7" /></Relationships>
</file>

<file path=ppt/presentation.xml><?xml version="1.0" encoding="utf-8"?>
<p:presentation xmlns:p="http://schemas.openxmlformats.org/presentationml/2006/main">
  <p:sldMasterIdLst>
    <p:sldMasterId xmlns:r="http://schemas.openxmlformats.org/officeDocument/2006/relationships" id="2147483648" r:id="R4cc97a53607b40af"/>
  </p:sldMasterIdLst>
  <p:notesMasterIdLst>
    <p:notesMasterId xmlns:r="http://schemas.openxmlformats.org/officeDocument/2006/relationships" r:id="R6652806510c74826"/>
  </p:notesMasterIdLst>
  <p:sldIdLst>
    <p:sldId xmlns:r="http://schemas.openxmlformats.org/officeDocument/2006/relationships" id="256" r:id="Rf0fd6fbd1fcd4b30"/>
    <p:sldId xmlns:r="http://schemas.openxmlformats.org/officeDocument/2006/relationships" id="257" r:id="R698a81cd03c043e8"/>
    <p:sldId xmlns:r="http://schemas.openxmlformats.org/officeDocument/2006/relationships" id="258" r:id="R214692ad482342b0"/>
    <p:sldId xmlns:r="http://schemas.openxmlformats.org/officeDocument/2006/relationships" id="259" r:id="R5c51e04f5374453c"/>
    <p:sldId xmlns:r="http://schemas.openxmlformats.org/officeDocument/2006/relationships" id="260" r:id="Rd93d275271d54816"/>
    <p:sldId xmlns:r="http://schemas.openxmlformats.org/officeDocument/2006/relationships" id="261" r:id="R60c3f854fd6d4497"/>
    <p:sldId xmlns:r="http://schemas.openxmlformats.org/officeDocument/2006/relationships" id="262" r:id="Rf92ee327a1144cad"/>
    <p:sldId xmlns:r="http://schemas.openxmlformats.org/officeDocument/2006/relationships" id="263" r:id="Rba4dee7eee904c3e"/>
    <p:sldId xmlns:r="http://schemas.openxmlformats.org/officeDocument/2006/relationships" id="264" r:id="R4962062254614b31"/>
    <p:sldId xmlns:r="http://schemas.openxmlformats.org/officeDocument/2006/relationships" id="265" r:id="Raa29c40657224872"/>
    <p:sldId xmlns:r="http://schemas.openxmlformats.org/officeDocument/2006/relationships" id="266" r:id="Re25b27e447aa4703"/>
    <p:sldId xmlns:r="http://schemas.openxmlformats.org/officeDocument/2006/relationships" id="267" r:id="Rf9d2b1b80eb947f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aed11a3ae34789" /><Relationship Type="http://schemas.openxmlformats.org/officeDocument/2006/relationships/slideMaster" Target="/ppt/slideMasters/slideMaster1.xml" Id="R4cc97a53607b40af" /><Relationship Type="http://schemas.openxmlformats.org/officeDocument/2006/relationships/notesMaster" Target="/ppt/notesMasters/notesMaster1.xml" Id="R6652806510c74826" /><Relationship Type="http://schemas.openxmlformats.org/officeDocument/2006/relationships/presProps" Target="/ppt/presProps.xml" Id="R05566286b22f491c" /><Relationship Type="http://schemas.openxmlformats.org/officeDocument/2006/relationships/tableStyles" Target="/ppt/tableStyles.xml" Id="Rdea3d6c15a3947a9" /><Relationship Type="http://schemas.openxmlformats.org/officeDocument/2006/relationships/slide" Target="/ppt/slides/slide1.xml" Id="Rf0fd6fbd1fcd4b30" /><Relationship Type="http://schemas.openxmlformats.org/officeDocument/2006/relationships/slide" Target="/ppt/slides/slide2.xml" Id="R698a81cd03c043e8" /><Relationship Type="http://schemas.openxmlformats.org/officeDocument/2006/relationships/slide" Target="/ppt/slides/slide3.xml" Id="R214692ad482342b0" /><Relationship Type="http://schemas.openxmlformats.org/officeDocument/2006/relationships/slide" Target="/ppt/slides/slide4.xml" Id="R5c51e04f5374453c" /><Relationship Type="http://schemas.openxmlformats.org/officeDocument/2006/relationships/slide" Target="/ppt/slides/slide5.xml" Id="Rd93d275271d54816" /><Relationship Type="http://schemas.openxmlformats.org/officeDocument/2006/relationships/slide" Target="/ppt/slides/slide6.xml" Id="R60c3f854fd6d4497" /><Relationship Type="http://schemas.openxmlformats.org/officeDocument/2006/relationships/slide" Target="/ppt/slides/slide7.xml" Id="Rf92ee327a1144cad" /><Relationship Type="http://schemas.openxmlformats.org/officeDocument/2006/relationships/slide" Target="/ppt/slides/slide8.xml" Id="Rba4dee7eee904c3e" /><Relationship Type="http://schemas.openxmlformats.org/officeDocument/2006/relationships/slide" Target="/ppt/slides/slide9.xml" Id="R4962062254614b31" /><Relationship Type="http://schemas.openxmlformats.org/officeDocument/2006/relationships/slide" Target="/ppt/slides/slide10.xml" Id="Raa29c40657224872" /><Relationship Type="http://schemas.openxmlformats.org/officeDocument/2006/relationships/slide" Target="/ppt/slides/slide11.xml" Id="Re25b27e447aa4703" /><Relationship Type="http://schemas.openxmlformats.org/officeDocument/2006/relationships/slide" Target="/ppt/slides/slide12.xml" Id="Rf9d2b1b80eb947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902a64ffd447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ad9992f6ad4adf" /><Relationship Type="http://schemas.openxmlformats.org/officeDocument/2006/relationships/notesMaster" Target="/ppt/notesMasters/notesMaster1.xml" Id="Rac86fa42365840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996fd48d8349b4" /><Relationship Type="http://schemas.openxmlformats.org/officeDocument/2006/relationships/notesMaster" Target="/ppt/notesMasters/notesMaster1.xml" Id="Rbde0d46e234548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750a99202843d7" /><Relationship Type="http://schemas.openxmlformats.org/officeDocument/2006/relationships/notesMaster" Target="/ppt/notesMasters/notesMaster1.xml" Id="R51ef45e82b9649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0d0d833094459f" /><Relationship Type="http://schemas.openxmlformats.org/officeDocument/2006/relationships/notesMaster" Target="/ppt/notesMasters/notesMaster1.xml" Id="R5b4610a9068b4d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11e402e821497a" /><Relationship Type="http://schemas.openxmlformats.org/officeDocument/2006/relationships/notesMaster" Target="/ppt/notesMasters/notesMaster1.xml" Id="R26266e7f705540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1afeae0ec54793" /><Relationship Type="http://schemas.openxmlformats.org/officeDocument/2006/relationships/notesMaster" Target="/ppt/notesMasters/notesMaster1.xml" Id="R576044826b614d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16dd05d4804ac8" /><Relationship Type="http://schemas.openxmlformats.org/officeDocument/2006/relationships/notesMaster" Target="/ppt/notesMasters/notesMaster1.xml" Id="R78adab7997104c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86d6c0fb29429d" /><Relationship Type="http://schemas.openxmlformats.org/officeDocument/2006/relationships/notesMaster" Target="/ppt/notesMasters/notesMaster1.xml" Id="Ra6a3a5f2f0a44b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41e51b340d4dba" /><Relationship Type="http://schemas.openxmlformats.org/officeDocument/2006/relationships/notesMaster" Target="/ppt/notesMasters/notesMaster1.xml" Id="R923432f9244044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2ec3fdffc14bf5" /><Relationship Type="http://schemas.openxmlformats.org/officeDocument/2006/relationships/notesMaster" Target="/ppt/notesMasters/notesMaster1.xml" Id="Re2a8cb997d7347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8a8fee46c743bd" /><Relationship Type="http://schemas.openxmlformats.org/officeDocument/2006/relationships/notesMaster" Target="/ppt/notesMasters/notesMaster1.xml" Id="R1d05f9b6237647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d5ea27fcaa47b7" /><Relationship Type="http://schemas.openxmlformats.org/officeDocument/2006/relationships/notesMaster" Target="/ppt/notesMasters/notesMaster1.xml" Id="Rbe9d02eaf0be4e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 12 slide dùng khoảng 10–15 phút. Theo dõi một yêu cầu đặt balo từ HTTP tới database. File PowerPoint đầy đủ 88 slide và tài liệu 100 hàm vẫn được giữ để tra cứu.</a:t>
            </a:r>
          </a:p>
          <a:p xmlns:a="http://schemas.openxmlformats.org/drawingml/2006/main">
            <a:r>
              <a:t/>
            </a:r>
          </a:p>
          <a:p xmlns:a="http://schemas.openxmlformats.org/drawingml/2006/main">
            <a:r>
              <a:t>Nguồn code của bản chụp 22/10/2026:</a:t>
            </a:r>
          </a:p>
          <a:p xmlns:a="http://schemas.openxmlformats.org/drawingml/2006/main">
            <a:r>
              <a:t>backend/ và src/. Mục lục và code đầy đủ trong tài liệu đi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từ trái sang phải ở hàng trên, sau đó theo đường nối xuống hàng dưới. Mọi đường ghi đơn đều qua server và DB. Route catalog công khai không cần phiên, còn giỏ/đơn/chat phải có token. Web đi thẳng business service; chat có thêm nhánh hiểu ngôn ngữ.</a:t>
            </a:r>
          </a:p>
          <a:p xmlns:a="http://schemas.openxmlformats.org/drawingml/2006/main">
            <a:r>
              <a:t/>
            </a:r>
          </a:p>
          <a:p xmlns:a="http://schemas.openxmlformats.org/drawingml/2006/main">
            <a:r>
              <a:t>Nguồn code của bản chụp 22/10/2026:</a:t>
            </a:r>
          </a:p>
          <a:p xmlns:a="http://schemas.openxmlformats.org/drawingml/2006/main">
            <a:r>
              <a:t>backend/main.py   /   backend/services.py   /   backend/chat_service.py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decorator khai báo route, ChatRequest là Pydantic model của body, Request chứa headers/IP. request_key đọc Idempotency-Key. session_db trả kết nối, phiên và Ctx. limiter.check áp giới hạn chat theo owner. Chưa có thao tác tạo đơn ở route này.</a:t>
            </a:r>
          </a:p>
          <a:p xmlns:a="http://schemas.openxmlformats.org/drawingml/2006/main">
            <a:r>
              <a:t/>
            </a:r>
          </a:p>
          <a:p xmlns:a="http://schemas.openxmlformats.org/drawingml/2006/main">
            <a:r>
              <a:t>Nguồn code của bản chụp 22/10/2026:</a:t>
            </a:r>
          </a:p>
          <a:p xmlns:a="http://schemas.openxmlformats.org/drawingml/2006/main">
            <a:r>
              <a:t>backend/main.py:237–244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_catalog_context tìm theo câu hiện tại và sản phẩm đang hỏi, giới hạn 6 sản phẩm và 10 alias mỗi sản phẩm. Context catalog gồm tên, category, description, alias, sku/color/size. Hàm không gửi giá/tồn cho model để model quyết định nghiệp vụ. Không gửi toàn bộ lịch sử chat thô.</a:t>
            </a:r>
          </a:p>
          <a:p xmlns:a="http://schemas.openxmlformats.org/drawingml/2006/main">
            <a:r>
              <a:t>_catalog_context ở backend/chat_service.py:45–57 lấy sản phẩm liên quan từ DB, tối đa 6 sản phẩm. Model nhận catalog rút gọn và các trường hội thoại cần thiết. Prompt v4 yêu cầu một JSON có intent, items, customer và evidence. Quy tắc chỉ trích trường mới nằm tại src/prompts.py:21–29.</a:t>
            </a:r>
          </a:p>
          <a:p xmlns:a="http://schemas.openxmlformats.org/drawingml/2006/main">
            <a:r>
              <a:t/>
            </a:r>
          </a:p>
          <a:p xmlns:a="http://schemas.openxmlformats.org/drawingml/2006/main">
            <a:r>
              <a:t>Nguồn code của bản chụp 22/10/2026:</a:t>
            </a:r>
          </a:p>
          <a:p xmlns:a="http://schemas.openxmlformats.org/drawingml/2006/main">
            <a:r>
              <a:t>src/prompts.py:48–54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dõi nhánh Gemini của workflow. generate chỉ trả LLMResult. parse_output tạo Extraction. discard_implicit_quantities và validate_grounding kiểm tra dữ liệu trước khi ghép vào context. Sau đó chat dispatch hành động và chỉ ghi trong transaction sau khi kiểm tra lại phiên/revision. Lỗi provider hoặc output chặn đường ghi và trả failed_validation.</a:t>
            </a:r>
          </a:p>
          <a:p xmlns:a="http://schemas.openxmlformats.org/drawingml/2006/main">
            <a:r>
              <a:t/>
            </a:r>
          </a:p>
          <a:p xmlns:a="http://schemas.openxmlformats.org/drawingml/2006/main">
            <a:r>
              <a:t>Nguồn code của bản chụp 22/10/2026:</a:t>
            </a:r>
          </a:p>
          <a:p xmlns:a="http://schemas.openxmlformats.org/drawingml/2006/main">
            <a:r>
              <a:t>src/prompts.py   /   src/llm_client.py   /   src/parser.py   /   backend/chat_service.py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implementation REST bằng requests, không dùng SDK agent/tool-calling. API key lấy từ settings và nằm trong header x-goog-api-key. Deck chỉ trích tên biến, không chứa giá trị key. requests.post dùng timeout cấu hình và không tự đi theo redirect.</a:t>
            </a:r>
          </a:p>
          <a:p xmlns:a="http://schemas.openxmlformats.org/drawingml/2006/main">
            <a:r>
              <a:t>Giới hạn ngày nằm trong src/quota.py. Mỗi HTTP attempt giữ một lượt trước khi gửi mạng. Các câu catalog rõ nghĩa có thể qua rule và không gọi Gemini. Model ID lấy từ cấu hình. Ví dụ kết quả đã lưu dùng gemini-3.5-flash-lite, không coi đây là tuyên bố về quota nhà cung cấp.</a:t>
            </a:r>
          </a:p>
          <a:p xmlns:a="http://schemas.openxmlformats.org/drawingml/2006/main">
            <a:r>
              <a:t/>
            </a:r>
          </a:p>
          <a:p xmlns:a="http://schemas.openxmlformats.org/drawingml/2006/main">
            <a:r>
              <a:t>Nguồn code của bản chụp 22/10/2026:</a:t>
            </a:r>
          </a:p>
          <a:p xmlns:a="http://schemas.openxmlformats.org/drawingml/2006/main">
            <a:r>
              <a:t>src/llm_client.py:51–57,66–67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 trả LLMResult.text. parse_output kiểm tra chuỗi, kích thước, JSON nghiêm ngặt rồi gọi Extraction.model_validate. discard_implicit_quantities bỏ lượng tự điền. validate_grounding so giá trị với câu khách hiện tại trước khi ghép context. JSON hợp schema không đủ để tự tạo đơn. Nếu provider hoặc output lỗi, workflow trả failed_validation và không thay đổi đơn. Nguồn: src/parser.py:67–78,118–163 và backend/chat_service.py:237–254.</a:t>
            </a:r>
          </a:p>
          <a:p xmlns:a="http://schemas.openxmlformats.org/drawingml/2006/main">
            <a:r>
              <a:t/>
            </a:r>
          </a:p>
          <a:p xmlns:a="http://schemas.openxmlformats.org/drawingml/2006/main">
            <a:r>
              <a:t>Nguồn code của bản chụp 22/10/2026:</a:t>
            </a:r>
          </a:p>
          <a:p xmlns:a="http://schemas.openxmlformats.org/drawingml/2006/main">
            <a:r>
              <a:t>backend/chat_service.py:237–241   /   src/parser.py:75–78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quantity_source loại số đo, SKU và phần giao nhận khỏi nguồn kiểm tra quantity. discard_implicit_quantities đưa quantity về None nếu không có số lượng rõ ràng cho create_order/update_order. Sau đó _draft kiểm tra trường thiếu và trả ask_missing. Khi khách gửi số lượng mới, _merge_items ghép với biến thể đã chọn. Không coi 15inch là 15 sản phẩm. Nguồn: src/parser.py:104–124, backend/chat_service.py:61–73,121–156.</a:t>
            </a:r>
          </a:p>
          <a:p xmlns:a="http://schemas.openxmlformats.org/drawingml/2006/main">
            <a:r>
              <a:t/>
            </a:r>
          </a:p>
          <a:p xmlns:a="http://schemas.openxmlformats.org/drawingml/2006/main">
            <a:r>
              <a:t>Nguồn code của bản chụp 22/10/2026:</a:t>
            </a:r>
          </a:p>
          <a:p xmlns:a="http://schemas.openxmlformats.org/drawingml/2006/main">
            <a:r>
              <a:t>src/parser.py:118–124   /   src/prompts.py:28–29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browse_catalog đọc hàng, create_order gọi _draft, update_order gọi _update, các câu price/stock qua _query. Nếu requires_human_review hoặc confidence thấp hoặc unknown_or_handoff thì handoff trước dispatch. Không có API confirm payment/order cho khách.</a:t>
            </a:r>
          </a:p>
          <a:p xmlns:a="http://schemas.openxmlformats.org/drawingml/2006/main">
            <a:r>
              <a:t>Trước đoạn dispatch này, server ghép context ở dòng 271–282. Câu hỏi giá/tồn xen giữa vẫn có thể giữ pending_intent đặt hàng. Các hàm _query, _draft, _update và catalog_reply thực hiện nghiệp vụ tương ứng.</a:t>
            </a:r>
          </a:p>
          <a:p xmlns:a="http://schemas.openxmlformats.org/drawingml/2006/main">
            <a:r>
              <a:t/>
            </a:r>
          </a:p>
          <a:p xmlns:a="http://schemas.openxmlformats.org/drawingml/2006/main">
            <a:r>
              <a:t>Nguồn code của bản chụp 22/10/2026:</a:t>
            </a:r>
          </a:p>
          <a:p xmlns:a="http://schemas.openxmlformats.org/drawingml/2006/main">
            <a:r>
              <a:t>backend/chat_service.py:283–290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orders.create_draft_order ở database/shop_db/order_service.py kiểm tra owner/key/items/delivery, tạo cart trong transaction rồi chuyển trạng thái. Giá từng item đọc từ catalog bởi _upsert_item. Lỗi nào cũng rollback. _draft không có nhánh tự xác nhận thanh toán.</a:t>
            </a:r>
          </a:p>
          <a:p xmlns:a="http://schemas.openxmlformats.org/drawingml/2006/main">
            <a:r>
              <a:t/>
            </a:r>
          </a:p>
          <a:p xmlns:a="http://schemas.openxmlformats.org/drawingml/2006/main">
            <a:r>
              <a:t>Nguồn code của bản chụp 22/10/2026:</a:t>
            </a:r>
          </a:p>
          <a:p xmlns:a="http://schemas.openxmlformats.org/drawingml/2006/main">
            <a:r>
              <a:t>backend/chat_service.py:149–156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Tiếp tục đọc order_common.reprice_and_check_stock và recalc_total nếu được hỏi. change_status khi chuyển confirmed mới có logic trừ kho nhưng API khách hàng hiện tại không cung cấp đường confirm. Kiểm tra tổng của ví dụ balo: 2 × 520000 = 1040000.</a:t>
            </a:r>
          </a:p>
          <a:p xmlns:a="http://schemas.openxmlformats.org/drawingml/2006/main">
            <a:r>
              <a:t>Luồng chat gọi Gemini trước transaction ghi. Sau khi model trả, server xác thực lại phiên và revision hội thoại ở backend/chat_service.py:255–265 rồi mới dispatch. create_draft_order đọc giá từ catalog, tạo dòng hàng và chuyển trạng thái trong transaction. Lỗi ở giữa rollback để tránh đơn dở dang. Giá và tồn do lớp dữ liệu quyết định.</a:t>
            </a:r>
          </a:p>
          <a:p xmlns:a="http://schemas.openxmlformats.org/drawingml/2006/main">
            <a:r>
              <a:t/>
            </a:r>
          </a:p>
          <a:p xmlns:a="http://schemas.openxmlformats.org/drawingml/2006/main">
            <a:r>
              <a:t>Nguồn code của bản chụp 22/10/2026:</a:t>
            </a:r>
          </a:p>
          <a:p xmlns:a="http://schemas.openxmlformats.org/drawingml/2006/main">
            <a:r>
              <a:t>database/shop_db/order_service.py:128,132,138–140   /   database/shop_db/order_common.py:36–40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Bằng chứng là log đã lưu ngày 22/10 trên SQLite thử riêng. Hai lượt model thật có prompt v4, retry 0. Không sử dụng FakeLLM cho con số live này. Đơn thử không nằm trong DB vận hành. Khi demo trên lớp có thể gõ lại câu đầu, sau đó điền form; phụ thuộc quota và mạng ở thời điểm demo.</a:t>
            </a:r>
          </a:p>
          <a:p xmlns:a="http://schemas.openxmlformats.org/drawingml/2006/main">
            <a:r>
              <a:t>Đây là bằng chứng đã lưu ngày 22/10/2026 trên DB thử riêng, không phải một lần gọi Gemini mới khi tạo slide. Giới hạn bản demo: rate limiter trong RAM cho một process, phiên có hạn, chưa có tài khoản khôi phục đơn và hàng đợi nhân viên. Kiểm tra từ vựng chưa bảo đảm hiểu mọi cách nói. Bản dài có kết quả test và tra cứu 100 hàm.</a:t>
            </a:r>
          </a:p>
          <a:p xmlns:a="http://schemas.openxmlformats.org/drawingml/2006/main">
            <a:r>
              <a:t/>
            </a:r>
          </a:p>
          <a:p xmlns:a="http://schemas.openxmlformats.org/drawingml/2006/main">
            <a:r>
              <a:t>Nguồn code của bản chụp 22/10/2026:</a:t>
            </a:r>
          </a:p>
          <a:p xmlns:a="http://schemas.openxmlformats.org/drawingml/2006/main">
            <a:r>
              <a:t>sample_results/chat_purchase_2026-10-22/live_gemini_order.json   /   backend/chat_service.py:121-157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b222f78d8e4c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ea226f1f9746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37c55290cd4b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fb41b1f81442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815e2cd3c247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cb313f00a644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B98213-121B-493F-88E6-B0BEF925B2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30DECE-ED93-486D-BA8A-A180424FAE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8690DB-8C61-4589-A1E1-FCEF760B73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E876B8-9D11-4B79-8085-EDFA55141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8461BC-4520-41BF-8FA4-9960202665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72BFC6-EA23-473D-B071-4B63095C66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B88340-A7BF-4DB5-BB52-9DB2E628C8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40CC35-A834-4CEC-AC58-B4857DAD78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BC1942-D7BD-459A-917B-FFE1964CE7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5DE201-DA24-4B43-B914-F7985BD9CA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80120ee6744d2a" /><Relationship Type="http://schemas.openxmlformats.org/officeDocument/2006/relationships/slideLayout" Target="/ppt/slideLayouts/slideLayout1.xml" Id="R97934ee6f53645c8" /><Relationship Type="http://schemas.openxmlformats.org/officeDocument/2006/relationships/slideLayout" Target="/ppt/slideLayouts/slideLayout2.xml" Id="R6763064d718d4585" /><Relationship Type="http://schemas.openxmlformats.org/officeDocument/2006/relationships/slideLayout" Target="/ppt/slideLayouts/slideLayout3.xml" Id="R87701a662d3c45f6" /><Relationship Type="http://schemas.openxmlformats.org/officeDocument/2006/relationships/slideLayout" Target="/ppt/slideLayouts/slideLayout4.xml" Id="R4a1616d8dd154f0e" /><Relationship Type="http://schemas.openxmlformats.org/officeDocument/2006/relationships/slideLayout" Target="/ppt/slideLayouts/slideLayout5.xml" Id="Re6df2ef1d4a14b10" /><Relationship Type="http://schemas.openxmlformats.org/officeDocument/2006/relationships/slideLayout" Target="/ppt/slideLayouts/slideLayout6.xml" Id="R4249c961feac4a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934ee6f53645c8"/>
    <p:sldLayoutId xmlns:r="http://schemas.openxmlformats.org/officeDocument/2006/relationships" id="2147483650" r:id="R6763064d718d4585"/>
    <p:sldLayoutId xmlns:r="http://schemas.openxmlformats.org/officeDocument/2006/relationships" id="2147483651" r:id="R87701a662d3c45f6"/>
    <p:sldLayoutId xmlns:r="http://schemas.openxmlformats.org/officeDocument/2006/relationships" id="2147483652" r:id="R4a1616d8dd154f0e"/>
    <p:sldLayoutId xmlns:r="http://schemas.openxmlformats.org/officeDocument/2006/relationships" id="2147483653" r:id="Re6df2ef1d4a14b10"/>
    <p:sldLayoutId xmlns:r="http://schemas.openxmlformats.org/officeDocument/2006/relationships" id="2147483654" r:id="R4249c961feac4a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0cc06bb76241c0" /><Relationship Type="http://schemas.openxmlformats.org/officeDocument/2006/relationships/notesSlide" Target="/ppt/notesSlides/notesSlide1.xml" Id="R8063176a0afe4b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7e2af230544704" /><Relationship Type="http://schemas.openxmlformats.org/officeDocument/2006/relationships/notesSlide" Target="/ppt/notesSlides/notesSlide2.xml" Id="R84ea49a0117c49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71f42373c64314" /><Relationship Type="http://schemas.openxmlformats.org/officeDocument/2006/relationships/notesSlide" Target="/ppt/notesSlides/notesSlide3.xml" Id="Rbed387b24b6743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60abd9446d4e89" /><Relationship Type="http://schemas.openxmlformats.org/officeDocument/2006/relationships/notesSlide" Target="/ppt/notesSlides/notesSlide4.xml" Id="R25fe51a7156346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7917f3769f4381" /><Relationship Type="http://schemas.openxmlformats.org/officeDocument/2006/relationships/notesSlide" Target="/ppt/notesSlides/notesSlide5.xml" Id="Ra5f3f861542944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01c05fd2984a01" /><Relationship Type="http://schemas.openxmlformats.org/officeDocument/2006/relationships/notesSlide" Target="/ppt/notesSlides/notesSlide6.xml" Id="Rf2c998b5039646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94c525b7554c97" /><Relationship Type="http://schemas.openxmlformats.org/officeDocument/2006/relationships/notesSlide" Target="/ppt/notesSlides/notesSlide7.xml" Id="R7674b79b1f9644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cd29954fe6e4d8b" /><Relationship Type="http://schemas.openxmlformats.org/officeDocument/2006/relationships/notesSlide" Target="/ppt/notesSlides/notesSlide8.xml" Id="R99abf5e12b6649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97fd98be0f42b8" /><Relationship Type="http://schemas.openxmlformats.org/officeDocument/2006/relationships/notesSlide" Target="/ppt/notesSlides/notesSlide9.xml" Id="R3426a25e84284e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c022b06e62478a" /><Relationship Type="http://schemas.openxmlformats.org/officeDocument/2006/relationships/notesSlide" Target="/ppt/notesSlides/notesSlide10.xml" Id="Rf9a9ad22242642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9fea8f3f694eea" /><Relationship Type="http://schemas.openxmlformats.org/officeDocument/2006/relationships/notesSlide" Target="/ppt/notesSlides/notesSlide11.xml" Id="R6defaf9b4a524d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ae9240f75049db" /><Relationship Type="http://schemas.openxmlformats.org/officeDocument/2006/relationships/image" Target="/ppt/media/image.jpeg" Id="Rda9c2a7387f04fde" /><Relationship Type="http://schemas.openxmlformats.org/officeDocument/2006/relationships/notesSlide" Target="/ppt/notesSlides/notesSlide12.xml" Id="R70edc715bb20494b" /></Relationships>
</file>

<file path=ppt/slides/slide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514CAE20-2469-46B8-B893-67F0DA9FA40F}"/>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 / 12</a:t>
            </a:r>
          </a:p>
        </p:txBody>
      </p:sp>
      <p:sp>
        <p:nvSpPr>
          <p:cNvPr id="3" name="deck-title">
            <a:extLst xmlns:a="http://schemas.openxmlformats.org/drawingml/2006/main">
              <a:ext uri="{FF2B5EF4-FFF2-40B4-BE49-F238E27FC236}">
                <a16:creationId xmlns:a16="http://schemas.microsoft.com/office/drawing/2014/main" id="{EFC8F8DB-64D9-4FBF-8DF4-CF97D8CBF21D}"/>
              </a:ext>
            </a:extLst>
          </p:cNvPr>
          <p:cNvSpPr>
            <a:spLocks xmlns:a="http://schemas.openxmlformats.org/drawingml/2006/main" noGrp="1"/>
          </p:cNvSpPr>
          <p:nvPr/>
        </p:nvSpPr>
        <p:spPr>
          <a:xfrm xmlns:a="http://schemas.openxmlformats.org/drawingml/2006/main">
            <a:off x="904875" y="2047875"/>
            <a:ext cx="1343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150" b="1">
                <a:solidFill>
                  <a:srgbClr val="216B66"/>
                </a:solidFill>
                <a:latin typeface="Arial"/>
                <a:ea typeface="Arial"/>
                <a:cs typeface="Arial"/>
              </a:defRPr>
            </a:defPPr>
            <a:lvl1pPr>
              <a:defRPr sz="6150" b="1">
                <a:solidFill>
                  <a:srgbClr val="216B66"/>
                </a:solidFill>
                <a:latin typeface="Arial"/>
                <a:ea typeface="Arial"/>
                <a:cs typeface="Arial"/>
              </a:defRPr>
            </a:lvl1pPr>
            <a:lvl2pPr>
              <a:defRPr sz="6150" b="1">
                <a:solidFill>
                  <a:srgbClr val="216B66"/>
                </a:solidFill>
                <a:latin typeface="Arial"/>
                <a:ea typeface="Arial"/>
                <a:cs typeface="Arial"/>
              </a:defRPr>
            </a:lvl2pPr>
            <a:lvl3pPr>
              <a:defRPr sz="6150" b="1">
                <a:solidFill>
                  <a:srgbClr val="216B66"/>
                </a:solidFill>
                <a:latin typeface="Arial"/>
                <a:ea typeface="Arial"/>
                <a:cs typeface="Arial"/>
              </a:defRPr>
            </a:lvl3pPr>
            <a:lvl4pPr>
              <a:defRPr sz="6150" b="1">
                <a:solidFill>
                  <a:srgbClr val="216B66"/>
                </a:solidFill>
                <a:latin typeface="Arial"/>
                <a:ea typeface="Arial"/>
                <a:cs typeface="Arial"/>
              </a:defRPr>
            </a:lvl4pPr>
            <a:lvl5pPr>
              <a:defRPr sz="6150" b="1">
                <a:solidFill>
                  <a:srgbClr val="216B66"/>
                </a:solidFill>
                <a:latin typeface="Arial"/>
                <a:ea typeface="Arial"/>
                <a:cs typeface="Arial"/>
              </a:defRPr>
            </a:lvl5pPr>
            <a:lvl6pPr>
              <a:defRPr sz="6150" b="1">
                <a:solidFill>
                  <a:srgbClr val="216B66"/>
                </a:solidFill>
                <a:latin typeface="Arial"/>
                <a:ea typeface="Arial"/>
                <a:cs typeface="Arial"/>
              </a:defRPr>
            </a:lvl6pPr>
            <a:lvl7pPr>
              <a:defRPr sz="6150" b="1">
                <a:solidFill>
                  <a:srgbClr val="216B66"/>
                </a:solidFill>
                <a:latin typeface="Arial"/>
                <a:ea typeface="Arial"/>
                <a:cs typeface="Arial"/>
              </a:defRPr>
            </a:lvl7pPr>
            <a:lvl8pPr>
              <a:defRPr sz="6150" b="1">
                <a:solidFill>
                  <a:srgbClr val="216B66"/>
                </a:solidFill>
                <a:latin typeface="Arial"/>
                <a:ea typeface="Arial"/>
                <a:cs typeface="Arial"/>
              </a:defRPr>
            </a:lvl8pPr>
            <a:lvl9pPr>
              <a:defRPr sz="6150" b="1">
                <a:solidFill>
                  <a:srgbClr val="216B66"/>
                </a:solidFill>
                <a:latin typeface="Arial"/>
                <a:ea typeface="Arial"/>
                <a:cs typeface="Arial"/>
              </a:defRPr>
            </a:lvl9pPr>
          </a:lstStyle>
          <a:p xmlns:a="http://schemas.openxmlformats.org/drawingml/2006/main">
            <a:pPr>
              <a:lnSpc>
                <a:spcPct val="112000"/>
              </a:lnSpc>
              <a:buNone/>
              <a:defRPr sz="6150" b="1">
                <a:solidFill>
                  <a:srgbClr val="216B66"/>
                </a:solidFill>
                <a:latin typeface="Arial"/>
                <a:ea typeface="Arial"/>
                <a:cs typeface="Arial"/>
              </a:defRPr>
            </a:pPr>
            <a:r>
              <a:rPr sz="6150" b="1">
                <a:solidFill>
                  <a:srgbClr val="216B66"/>
                </a:solidFill>
                <a:latin typeface="Arial"/>
                <a:ea typeface="Arial"/>
                <a:cs typeface="Arial"/>
              </a:rPr>
              <a:t>Backend và xử lý LLM</a:t>
            </a:r>
          </a:p>
        </p:txBody>
      </p:sp>
      <p:sp>
        <p:nvSpPr>
          <p:cNvPr id="4" name="deck-subtitle">
            <a:extLst xmlns:a="http://schemas.openxmlformats.org/drawingml/2006/main">
              <a:ext uri="{FF2B5EF4-FFF2-40B4-BE49-F238E27FC236}">
                <a16:creationId xmlns:a16="http://schemas.microsoft.com/office/drawing/2014/main" id="{2864EA34-27E5-4792-A314-523ED7C8BE4E}"/>
              </a:ext>
            </a:extLst>
          </p:cNvPr>
          <p:cNvSpPr>
            <a:spLocks xmlns:a="http://schemas.openxmlformats.org/drawingml/2006/main" noGrp="1"/>
          </p:cNvSpPr>
          <p:nvPr/>
        </p:nvSpPr>
        <p:spPr>
          <a:xfrm xmlns:a="http://schemas.openxmlformats.org/drawingml/2006/main">
            <a:off x="952500" y="4286250"/>
            <a:ext cx="1323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0">
                <a:solidFill>
                  <a:srgbClr val="172E32"/>
                </a:solidFill>
                <a:latin typeface="Arial"/>
                <a:ea typeface="Arial"/>
                <a:cs typeface="Arial"/>
              </a:defRPr>
            </a:defPPr>
            <a:lvl1pPr>
              <a:defRPr sz="2775" b="0">
                <a:solidFill>
                  <a:srgbClr val="172E32"/>
                </a:solidFill>
                <a:latin typeface="Arial"/>
                <a:ea typeface="Arial"/>
                <a:cs typeface="Arial"/>
              </a:defRPr>
            </a:lvl1pPr>
            <a:lvl2pPr>
              <a:defRPr sz="2775" b="0">
                <a:solidFill>
                  <a:srgbClr val="172E32"/>
                </a:solidFill>
                <a:latin typeface="Arial"/>
                <a:ea typeface="Arial"/>
                <a:cs typeface="Arial"/>
              </a:defRPr>
            </a:lvl2pPr>
            <a:lvl3pPr>
              <a:defRPr sz="2775" b="0">
                <a:solidFill>
                  <a:srgbClr val="172E32"/>
                </a:solidFill>
                <a:latin typeface="Arial"/>
                <a:ea typeface="Arial"/>
                <a:cs typeface="Arial"/>
              </a:defRPr>
            </a:lvl3pPr>
            <a:lvl4pPr>
              <a:defRPr sz="2775" b="0">
                <a:solidFill>
                  <a:srgbClr val="172E32"/>
                </a:solidFill>
                <a:latin typeface="Arial"/>
                <a:ea typeface="Arial"/>
                <a:cs typeface="Arial"/>
              </a:defRPr>
            </a:lvl4pPr>
            <a:lvl5pPr>
              <a:defRPr sz="2775" b="0">
                <a:solidFill>
                  <a:srgbClr val="172E32"/>
                </a:solidFill>
                <a:latin typeface="Arial"/>
                <a:ea typeface="Arial"/>
                <a:cs typeface="Arial"/>
              </a:defRPr>
            </a:lvl5pPr>
            <a:lvl6pPr>
              <a:defRPr sz="2775" b="0">
                <a:solidFill>
                  <a:srgbClr val="172E32"/>
                </a:solidFill>
                <a:latin typeface="Arial"/>
                <a:ea typeface="Arial"/>
                <a:cs typeface="Arial"/>
              </a:defRPr>
            </a:lvl6pPr>
            <a:lvl7pPr>
              <a:defRPr sz="2775" b="0">
                <a:solidFill>
                  <a:srgbClr val="172E32"/>
                </a:solidFill>
                <a:latin typeface="Arial"/>
                <a:ea typeface="Arial"/>
                <a:cs typeface="Arial"/>
              </a:defRPr>
            </a:lvl7pPr>
            <a:lvl8pPr>
              <a:defRPr sz="2775" b="0">
                <a:solidFill>
                  <a:srgbClr val="172E32"/>
                </a:solidFill>
                <a:latin typeface="Arial"/>
                <a:ea typeface="Arial"/>
                <a:cs typeface="Arial"/>
              </a:defRPr>
            </a:lvl8pPr>
            <a:lvl9pPr>
              <a:defRPr sz="2775" b="0">
                <a:solidFill>
                  <a:srgbClr val="172E32"/>
                </a:solidFill>
                <a:latin typeface="Arial"/>
                <a:ea typeface="Arial"/>
                <a:cs typeface="Arial"/>
              </a:defRPr>
            </a:lvl9pPr>
          </a:lstStyle>
          <a:p xmlns:a="http://schemas.openxmlformats.org/drawingml/2006/main">
            <a:pPr>
              <a:lnSpc>
                <a:spcPct val="112000"/>
              </a:lnSpc>
              <a:buNone/>
              <a:defRPr sz="2775" b="0">
                <a:solidFill>
                  <a:srgbClr val="172E32"/>
                </a:solidFill>
                <a:latin typeface="Arial"/>
                <a:ea typeface="Arial"/>
                <a:cs typeface="Arial"/>
              </a:defRPr>
            </a:pPr>
            <a:r>
              <a:rPr sz="2775" b="0">
                <a:solidFill>
                  <a:srgbClr val="172E32"/>
                </a:solidFill>
                <a:latin typeface="Arial"/>
                <a:ea typeface="Arial"/>
                <a:cs typeface="Arial"/>
              </a:rPr>
              <a:t>Bản trình bày ngắn</a:t>
            </a:r>
          </a:p>
        </p:txBody>
      </p:sp>
      <p:sp>
        <p:nvSpPr>
          <p:cNvPr id="5" name="deck-description">
            <a:extLst xmlns:a="http://schemas.openxmlformats.org/drawingml/2006/main">
              <a:ext uri="{FF2B5EF4-FFF2-40B4-BE49-F238E27FC236}">
                <a16:creationId xmlns:a16="http://schemas.microsoft.com/office/drawing/2014/main" id="{833C6FF4-82DB-4C90-B427-C9D859CDFA52}"/>
              </a:ext>
            </a:extLst>
          </p:cNvPr>
          <p:cNvSpPr>
            <a:spLocks xmlns:a="http://schemas.openxmlformats.org/drawingml/2006/main" noGrp="1"/>
          </p:cNvSpPr>
          <p:nvPr/>
        </p:nvSpPr>
        <p:spPr>
          <a:xfrm xmlns:a="http://schemas.openxmlformats.org/drawingml/2006/main">
            <a:off x="952500" y="542925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4D6063"/>
                </a:solidFill>
                <a:latin typeface="Arial"/>
                <a:ea typeface="Arial"/>
                <a:cs typeface="Arial"/>
              </a:defRPr>
            </a:defPPr>
            <a:lvl1pPr>
              <a:defRPr sz="2250" b="0">
                <a:solidFill>
                  <a:srgbClr val="4D6063"/>
                </a:solidFill>
                <a:latin typeface="Arial"/>
                <a:ea typeface="Arial"/>
                <a:cs typeface="Arial"/>
              </a:defRPr>
            </a:lvl1pPr>
            <a:lvl2pPr>
              <a:defRPr sz="2250" b="0">
                <a:solidFill>
                  <a:srgbClr val="4D6063"/>
                </a:solidFill>
                <a:latin typeface="Arial"/>
                <a:ea typeface="Arial"/>
                <a:cs typeface="Arial"/>
              </a:defRPr>
            </a:lvl2pPr>
            <a:lvl3pPr>
              <a:defRPr sz="2250" b="0">
                <a:solidFill>
                  <a:srgbClr val="4D6063"/>
                </a:solidFill>
                <a:latin typeface="Arial"/>
                <a:ea typeface="Arial"/>
                <a:cs typeface="Arial"/>
              </a:defRPr>
            </a:lvl3pPr>
            <a:lvl4pPr>
              <a:defRPr sz="2250" b="0">
                <a:solidFill>
                  <a:srgbClr val="4D6063"/>
                </a:solidFill>
                <a:latin typeface="Arial"/>
                <a:ea typeface="Arial"/>
                <a:cs typeface="Arial"/>
              </a:defRPr>
            </a:lvl4pPr>
            <a:lvl5pPr>
              <a:defRPr sz="2250" b="0">
                <a:solidFill>
                  <a:srgbClr val="4D6063"/>
                </a:solidFill>
                <a:latin typeface="Arial"/>
                <a:ea typeface="Arial"/>
                <a:cs typeface="Arial"/>
              </a:defRPr>
            </a:lvl5pPr>
            <a:lvl6pPr>
              <a:defRPr sz="2250" b="0">
                <a:solidFill>
                  <a:srgbClr val="4D6063"/>
                </a:solidFill>
                <a:latin typeface="Arial"/>
                <a:ea typeface="Arial"/>
                <a:cs typeface="Arial"/>
              </a:defRPr>
            </a:lvl6pPr>
            <a:lvl7pPr>
              <a:defRPr sz="2250" b="0">
                <a:solidFill>
                  <a:srgbClr val="4D6063"/>
                </a:solidFill>
                <a:latin typeface="Arial"/>
                <a:ea typeface="Arial"/>
                <a:cs typeface="Arial"/>
              </a:defRPr>
            </a:lvl7pPr>
            <a:lvl8pPr>
              <a:defRPr sz="2250" b="0">
                <a:solidFill>
                  <a:srgbClr val="4D6063"/>
                </a:solidFill>
                <a:latin typeface="Arial"/>
                <a:ea typeface="Arial"/>
                <a:cs typeface="Arial"/>
              </a:defRPr>
            </a:lvl8pPr>
            <a:lvl9pPr>
              <a:defRPr sz="2250" b="0">
                <a:solidFill>
                  <a:srgbClr val="4D6063"/>
                </a:solidFill>
                <a:latin typeface="Arial"/>
                <a:ea typeface="Arial"/>
                <a:cs typeface="Arial"/>
              </a:defRPr>
            </a:lvl9pPr>
          </a:lstStyle>
          <a:p xmlns:a="http://schemas.openxmlformats.org/drawingml/2006/main">
            <a:pPr>
              <a:lnSpc>
                <a:spcPct val="112000"/>
              </a:lnSpc>
              <a:buNone/>
              <a:defRPr sz="2250" b="0">
                <a:solidFill>
                  <a:srgbClr val="4D6063"/>
                </a:solidFill>
                <a:latin typeface="Arial"/>
                <a:ea typeface="Arial"/>
                <a:cs typeface="Arial"/>
              </a:defRPr>
            </a:pPr>
            <a:r>
              <a:rPr sz="2250" b="0">
                <a:solidFill>
                  <a:srgbClr val="4D6063"/>
                </a:solidFill>
                <a:latin typeface="Arial"/>
                <a:ea typeface="Arial"/>
                <a:cs typeface="Arial"/>
              </a:rPr>
              <a:t>Pipeline nhận request, hiểu yêu cầu và tạo đơn từ database</a:t>
            </a:r>
          </a:p>
        </p:txBody>
      </p:sp>
      <p:sp>
        <p:nvSpPr>
          <p:cNvPr id="6" name="snapshot">
            <a:extLst xmlns:a="http://schemas.openxmlformats.org/drawingml/2006/main">
              <a:ext uri="{FF2B5EF4-FFF2-40B4-BE49-F238E27FC236}">
                <a16:creationId xmlns:a16="http://schemas.microsoft.com/office/drawing/2014/main" id="{178EBCD6-8E78-4FB1-8BF9-330C674DC67C}"/>
              </a:ext>
            </a:extLst>
          </p:cNvPr>
          <p:cNvSpPr>
            <a:spLocks xmlns:a="http://schemas.openxmlformats.org/drawingml/2006/main" noGrp="1"/>
          </p:cNvSpPr>
          <p:nvPr/>
        </p:nvSpPr>
        <p:spPr>
          <a:xfrm xmlns:a="http://schemas.openxmlformats.org/drawingml/2006/main">
            <a:off x="952500" y="71437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4D6063"/>
                </a:solidFill>
                <a:latin typeface="Arial"/>
                <a:ea typeface="Arial"/>
                <a:cs typeface="Arial"/>
              </a:defRPr>
            </a:defPPr>
            <a:lvl1pPr>
              <a:defRPr sz="1800" b="0">
                <a:solidFill>
                  <a:srgbClr val="4D6063"/>
                </a:solidFill>
                <a:latin typeface="Arial"/>
                <a:ea typeface="Arial"/>
                <a:cs typeface="Arial"/>
              </a:defRPr>
            </a:lvl1pPr>
            <a:lvl2pPr>
              <a:defRPr sz="1800" b="0">
                <a:solidFill>
                  <a:srgbClr val="4D6063"/>
                </a:solidFill>
                <a:latin typeface="Arial"/>
                <a:ea typeface="Arial"/>
                <a:cs typeface="Arial"/>
              </a:defRPr>
            </a:lvl2pPr>
            <a:lvl3pPr>
              <a:defRPr sz="1800" b="0">
                <a:solidFill>
                  <a:srgbClr val="4D6063"/>
                </a:solidFill>
                <a:latin typeface="Arial"/>
                <a:ea typeface="Arial"/>
                <a:cs typeface="Arial"/>
              </a:defRPr>
            </a:lvl3pPr>
            <a:lvl4pPr>
              <a:defRPr sz="1800" b="0">
                <a:solidFill>
                  <a:srgbClr val="4D6063"/>
                </a:solidFill>
                <a:latin typeface="Arial"/>
                <a:ea typeface="Arial"/>
                <a:cs typeface="Arial"/>
              </a:defRPr>
            </a:lvl4pPr>
            <a:lvl5pPr>
              <a:defRPr sz="1800" b="0">
                <a:solidFill>
                  <a:srgbClr val="4D6063"/>
                </a:solidFill>
                <a:latin typeface="Arial"/>
                <a:ea typeface="Arial"/>
                <a:cs typeface="Arial"/>
              </a:defRPr>
            </a:lvl5pPr>
            <a:lvl6pPr>
              <a:defRPr sz="1800" b="0">
                <a:solidFill>
                  <a:srgbClr val="4D6063"/>
                </a:solidFill>
                <a:latin typeface="Arial"/>
                <a:ea typeface="Arial"/>
                <a:cs typeface="Arial"/>
              </a:defRPr>
            </a:lvl6pPr>
            <a:lvl7pPr>
              <a:defRPr sz="1800" b="0">
                <a:solidFill>
                  <a:srgbClr val="4D6063"/>
                </a:solidFill>
                <a:latin typeface="Arial"/>
                <a:ea typeface="Arial"/>
                <a:cs typeface="Arial"/>
              </a:defRPr>
            </a:lvl7pPr>
            <a:lvl8pPr>
              <a:defRPr sz="1800" b="0">
                <a:solidFill>
                  <a:srgbClr val="4D6063"/>
                </a:solidFill>
                <a:latin typeface="Arial"/>
                <a:ea typeface="Arial"/>
                <a:cs typeface="Arial"/>
              </a:defRPr>
            </a:lvl8pPr>
            <a:lvl9pPr>
              <a:defRPr sz="1800" b="0">
                <a:solidFill>
                  <a:srgbClr val="4D6063"/>
                </a:solidFill>
                <a:latin typeface="Arial"/>
                <a:ea typeface="Arial"/>
                <a:cs typeface="Arial"/>
              </a:defRPr>
            </a:lvl9pPr>
          </a:lstStyle>
          <a:p xmlns:a="http://schemas.openxmlformats.org/drawingml/2006/main">
            <a:pPr>
              <a:lnSpc>
                <a:spcPct val="112000"/>
              </a:lnSpc>
              <a:buNone/>
              <a:defRPr sz="1800" b="0">
                <a:solidFill>
                  <a:srgbClr val="4D6063"/>
                </a:solidFill>
                <a:latin typeface="Arial"/>
                <a:ea typeface="Arial"/>
                <a:cs typeface="Arial"/>
              </a:defRPr>
            </a:pPr>
            <a:r>
              <a:rPr sz="1800" b="0">
                <a:solidFill>
                  <a:srgbClr val="4D6063"/>
                </a:solidFill>
                <a:latin typeface="Arial"/>
                <a:ea typeface="Arial"/>
                <a:cs typeface="Arial"/>
              </a:rPr>
              <a:t>Bản chụp code 22/10/2026</a:t>
            </a:r>
          </a:p>
        </p:txBody>
      </p:sp>
    </p:spTree>
    <p:extLst>
      <p:ext uri="{BB962C8B-B14F-4D97-AF65-F5344CB8AC3E}">
        <p14:creationId xmlns:p14="http://schemas.microsoft.com/office/powerpoint/2010/main" val="2106306319"/>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81CDF40-4AEF-40D3-A670-03C2F21D11F9}"/>
              </a:ext>
            </a:extLst>
          </p:cNvPr>
          <p:cNvCxnSpPr>
            <a:stCxn xmlns:a="http://schemas.openxmlformats.org/drawingml/2006/main" id="26" idx="1"/>
            <a:endCxn xmlns:a="http://schemas.openxmlformats.org/drawingml/2006/main" id="30" idx="3"/>
          </p:cNvCxnSpPr>
          <p:nvPr/>
        </p:nvCxnSpPr>
        <p:spPr>
          <a:xfrm xmlns:a="http://schemas.openxmlformats.org/drawingml/2006/main" flipH="1">
            <a:off x="476250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3" name="">
            <a:extLst xmlns:a="http://schemas.openxmlformats.org/drawingml/2006/main">
              <a:ext uri="{FF2B5EF4-FFF2-40B4-BE49-F238E27FC236}">
                <a16:creationId xmlns:a16="http://schemas.microsoft.com/office/drawing/2014/main" id="{65E45C21-8062-4D26-A2A6-822B2F6121EB}"/>
              </a:ext>
            </a:extLst>
          </p:cNvPr>
          <p:cNvCxnSpPr>
            <a:stCxn xmlns:a="http://schemas.openxmlformats.org/drawingml/2006/main" id="22" idx="1"/>
            <a:endCxn xmlns:a="http://schemas.openxmlformats.org/drawingml/2006/main" id="26" idx="3"/>
          </p:cNvCxnSpPr>
          <p:nvPr/>
        </p:nvCxnSpPr>
        <p:spPr>
          <a:xfrm xmlns:a="http://schemas.openxmlformats.org/drawingml/2006/main" flipH="1">
            <a:off x="962025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4" name="">
            <a:extLst xmlns:a="http://schemas.openxmlformats.org/drawingml/2006/main">
              <a:ext uri="{FF2B5EF4-FFF2-40B4-BE49-F238E27FC236}">
                <a16:creationId xmlns:a16="http://schemas.microsoft.com/office/drawing/2014/main" id="{B3347E1F-7800-4B2C-8CE9-1BD93D8DAA56}"/>
              </a:ext>
            </a:extLst>
          </p:cNvPr>
          <p:cNvCxnSpPr>
            <a:stCxn xmlns:a="http://schemas.openxmlformats.org/drawingml/2006/main" id="18" idx="2"/>
            <a:endCxn xmlns:a="http://schemas.openxmlformats.org/drawingml/2006/main" id="22" idx="0"/>
          </p:cNvCxnSpPr>
          <p:nvPr/>
        </p:nvCxnSpPr>
        <p:spPr>
          <a:xfrm xmlns:a="http://schemas.openxmlformats.org/drawingml/2006/main">
            <a:off x="12477750" y="3905250"/>
            <a:ext cx="0" cy="95250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5" name="">
            <a:extLst xmlns:a="http://schemas.openxmlformats.org/drawingml/2006/main">
              <a:ext uri="{FF2B5EF4-FFF2-40B4-BE49-F238E27FC236}">
                <a16:creationId xmlns:a16="http://schemas.microsoft.com/office/drawing/2014/main" id="{798B71B3-C270-4C55-B57A-0B123A5E2ABF}"/>
              </a:ext>
            </a:extLst>
          </p:cNvPr>
          <p:cNvCxnSpPr>
            <a:stCxn xmlns:a="http://schemas.openxmlformats.org/drawingml/2006/main" id="14" idx="3"/>
            <a:endCxn xmlns:a="http://schemas.openxmlformats.org/drawingml/2006/main" id="18" idx="1"/>
          </p:cNvCxnSpPr>
          <p:nvPr/>
        </p:nvCxnSpPr>
        <p:spPr>
          <a:xfrm xmlns:a="http://schemas.openxmlformats.org/drawingml/2006/main">
            <a:off x="962025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6" name="">
            <a:extLst xmlns:a="http://schemas.openxmlformats.org/drawingml/2006/main">
              <a:ext uri="{FF2B5EF4-FFF2-40B4-BE49-F238E27FC236}">
                <a16:creationId xmlns:a16="http://schemas.microsoft.com/office/drawing/2014/main" id="{0E8688E2-250E-44CE-B639-123D1D579928}"/>
              </a:ext>
            </a:extLst>
          </p:cNvPr>
          <p:cNvCxnSpPr>
            <a:stCxn xmlns:a="http://schemas.openxmlformats.org/drawingml/2006/main" id="10" idx="3"/>
            <a:endCxn xmlns:a="http://schemas.openxmlformats.org/drawingml/2006/main" id="14" idx="1"/>
          </p:cNvCxnSpPr>
          <p:nvPr/>
        </p:nvCxnSpPr>
        <p:spPr>
          <a:xfrm xmlns:a="http://schemas.openxmlformats.org/drawingml/2006/main">
            <a:off x="476250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sp>
        <p:nvSpPr>
          <p:cNvPr id="7" name="slide-title">
            <a:extLst xmlns:a="http://schemas.openxmlformats.org/drawingml/2006/main">
              <a:ext uri="{FF2B5EF4-FFF2-40B4-BE49-F238E27FC236}">
                <a16:creationId xmlns:a16="http://schemas.microsoft.com/office/drawing/2014/main" id="{DA818E83-DD30-4E7D-8276-5C5349D42261}"/>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Pipeline chung của backend</a:t>
            </a:r>
          </a:p>
        </p:txBody>
      </p:sp>
      <p:sp>
        <p:nvSpPr>
          <p:cNvPr id="8" name="page-number">
            <a:extLst xmlns:a="http://schemas.openxmlformats.org/drawingml/2006/main">
              <a:ext uri="{FF2B5EF4-FFF2-40B4-BE49-F238E27FC236}">
                <a16:creationId xmlns:a16="http://schemas.microsoft.com/office/drawing/2014/main" id="{8185C6AB-D6AF-4628-AFBD-03D184C73E5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 / 12</a:t>
            </a:r>
          </a:p>
        </p:txBody>
      </p:sp>
      <p:sp>
        <p:nvSpPr>
          <p:cNvPr id="9" name="source-reference">
            <a:extLst xmlns:a="http://schemas.openxmlformats.org/drawingml/2006/main">
              <a:ext uri="{FF2B5EF4-FFF2-40B4-BE49-F238E27FC236}">
                <a16:creationId xmlns:a16="http://schemas.microsoft.com/office/drawing/2014/main" id="{8EB51C08-C38F-4F83-B275-45BCF7550D8A}"/>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   /   backend/services.py   /   backend/chat_service.py</a:t>
            </a:r>
          </a:p>
        </p:txBody>
      </p:sp>
      <p:sp>
        <p:nvSpPr>
          <p:cNvPr id="10" name="stage-1">
            <a:extLst xmlns:a="http://schemas.openxmlformats.org/drawingml/2006/main">
              <a:ext uri="{FF2B5EF4-FFF2-40B4-BE49-F238E27FC236}">
                <a16:creationId xmlns:a16="http://schemas.microsoft.com/office/drawing/2014/main" id="{638D2A80-2FA3-49BA-916E-C04E90DBC116}"/>
              </a:ext>
            </a:extLst>
          </p:cNvPr>
          <p:cNvSpPr>
            <a:spLocks xmlns:a="http://schemas.openxmlformats.org/drawingml/2006/main" noGrp="1"/>
          </p:cNvSpPr>
          <p:nvPr/>
        </p:nvSpPr>
        <p:spPr>
          <a:xfrm xmlns:a="http://schemas.openxmlformats.org/drawingml/2006/main">
            <a:off x="7620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1" name="stage-number-1">
            <a:extLst xmlns:a="http://schemas.openxmlformats.org/drawingml/2006/main">
              <a:ext uri="{FF2B5EF4-FFF2-40B4-BE49-F238E27FC236}">
                <a16:creationId xmlns:a16="http://schemas.microsoft.com/office/drawing/2014/main" id="{DE1E00F2-87D5-437A-85D1-6546C3D9A472}"/>
              </a:ext>
            </a:extLst>
          </p:cNvPr>
          <p:cNvSpPr>
            <a:spLocks xmlns:a="http://schemas.openxmlformats.org/drawingml/2006/main" noGrp="1"/>
          </p:cNvSpPr>
          <p:nvPr/>
        </p:nvSpPr>
        <p:spPr>
          <a:xfrm xmlns:a="http://schemas.openxmlformats.org/drawingml/2006/main">
            <a:off x="9715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01</a:t>
            </a:r>
          </a:p>
        </p:txBody>
      </p:sp>
      <p:sp>
        <p:nvSpPr>
          <p:cNvPr id="12" name="stage-title-1">
            <a:extLst xmlns:a="http://schemas.openxmlformats.org/drawingml/2006/main">
              <a:ext uri="{FF2B5EF4-FFF2-40B4-BE49-F238E27FC236}">
                <a16:creationId xmlns:a16="http://schemas.microsoft.com/office/drawing/2014/main" id="{772CEE5C-E6B4-4B8F-8338-E6ED899FD3B9}"/>
              </a:ext>
            </a:extLst>
          </p:cNvPr>
          <p:cNvSpPr>
            <a:spLocks xmlns:a="http://schemas.openxmlformats.org/drawingml/2006/main" noGrp="1"/>
          </p:cNvSpPr>
          <p:nvPr/>
        </p:nvSpPr>
        <p:spPr>
          <a:xfrm xmlns:a="http://schemas.openxmlformats.org/drawingml/2006/main">
            <a:off x="9715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React</a:t>
            </a:r>
          </a:p>
        </p:txBody>
      </p:sp>
      <p:sp>
        <p:nvSpPr>
          <p:cNvPr id="13" name="stage-body-1">
            <a:extLst xmlns:a="http://schemas.openxmlformats.org/drawingml/2006/main">
              <a:ext uri="{FF2B5EF4-FFF2-40B4-BE49-F238E27FC236}">
                <a16:creationId xmlns:a16="http://schemas.microsoft.com/office/drawing/2014/main" id="{F9C941C9-7B43-4ACE-968D-C27E86CF4B57}"/>
              </a:ext>
            </a:extLst>
          </p:cNvPr>
          <p:cNvSpPr>
            <a:spLocks xmlns:a="http://schemas.openxmlformats.org/drawingml/2006/main" noGrp="1"/>
          </p:cNvSpPr>
          <p:nvPr/>
        </p:nvSpPr>
        <p:spPr>
          <a:xfrm xmlns:a="http://schemas.openxmlformats.org/drawingml/2006/main">
            <a:off x="9715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Gửi JSON + Bearer token</a:t>
            </a:r>
          </a:p>
        </p:txBody>
      </p:sp>
      <p:sp>
        <p:nvSpPr>
          <p:cNvPr id="14" name="stage-2">
            <a:extLst xmlns:a="http://schemas.openxmlformats.org/drawingml/2006/main">
              <a:ext uri="{FF2B5EF4-FFF2-40B4-BE49-F238E27FC236}">
                <a16:creationId xmlns:a16="http://schemas.microsoft.com/office/drawing/2014/main" id="{07824F1C-D402-408C-A0D4-4EE9B3EA70B5}"/>
              </a:ext>
            </a:extLst>
          </p:cNvPr>
          <p:cNvSpPr>
            <a:spLocks xmlns:a="http://schemas.openxmlformats.org/drawingml/2006/main" noGrp="1"/>
          </p:cNvSpPr>
          <p:nvPr/>
        </p:nvSpPr>
        <p:spPr>
          <a:xfrm xmlns:a="http://schemas.openxmlformats.org/drawingml/2006/main">
            <a:off x="561975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5" name="stage-number-2">
            <a:extLst xmlns:a="http://schemas.openxmlformats.org/drawingml/2006/main">
              <a:ext uri="{FF2B5EF4-FFF2-40B4-BE49-F238E27FC236}">
                <a16:creationId xmlns:a16="http://schemas.microsoft.com/office/drawing/2014/main" id="{3F6BF0A7-0A26-4686-AA7A-1A3EE8E89EF2}"/>
              </a:ext>
            </a:extLst>
          </p:cNvPr>
          <p:cNvSpPr>
            <a:spLocks xmlns:a="http://schemas.openxmlformats.org/drawingml/2006/main" noGrp="1"/>
          </p:cNvSpPr>
          <p:nvPr/>
        </p:nvSpPr>
        <p:spPr>
          <a:xfrm xmlns:a="http://schemas.openxmlformats.org/drawingml/2006/main">
            <a:off x="582930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02</a:t>
            </a:r>
          </a:p>
        </p:txBody>
      </p:sp>
      <p:sp>
        <p:nvSpPr>
          <p:cNvPr id="16" name="stage-title-2">
            <a:extLst xmlns:a="http://schemas.openxmlformats.org/drawingml/2006/main">
              <a:ext uri="{FF2B5EF4-FFF2-40B4-BE49-F238E27FC236}">
                <a16:creationId xmlns:a16="http://schemas.microsoft.com/office/drawing/2014/main" id="{5BE3B60F-6A39-4AB0-B310-8B93B1239744}"/>
              </a:ext>
            </a:extLst>
          </p:cNvPr>
          <p:cNvSpPr>
            <a:spLocks xmlns:a="http://schemas.openxmlformats.org/drawingml/2006/main" noGrp="1"/>
          </p:cNvSpPr>
          <p:nvPr/>
        </p:nvSpPr>
        <p:spPr>
          <a:xfrm xmlns:a="http://schemas.openxmlformats.org/drawingml/2006/main">
            <a:off x="582930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FastAPI</a:t>
            </a:r>
          </a:p>
        </p:txBody>
      </p:sp>
      <p:sp>
        <p:nvSpPr>
          <p:cNvPr id="17" name="stage-body-2">
            <a:extLst xmlns:a="http://schemas.openxmlformats.org/drawingml/2006/main">
              <a:ext uri="{FF2B5EF4-FFF2-40B4-BE49-F238E27FC236}">
                <a16:creationId xmlns:a16="http://schemas.microsoft.com/office/drawing/2014/main" id="{5B3F4A66-455B-4911-9684-322A7F0A39D3}"/>
              </a:ext>
            </a:extLst>
          </p:cNvPr>
          <p:cNvSpPr>
            <a:spLocks xmlns:a="http://schemas.openxmlformats.org/drawingml/2006/main" noGrp="1"/>
          </p:cNvSpPr>
          <p:nvPr/>
        </p:nvSpPr>
        <p:spPr>
          <a:xfrm xmlns:a="http://schemas.openxmlformats.org/drawingml/2006/main">
            <a:off x="582930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Middleware và schema</a:t>
            </a:r>
          </a:p>
        </p:txBody>
      </p:sp>
      <p:sp>
        <p:nvSpPr>
          <p:cNvPr id="18" name="stage-3">
            <a:extLst xmlns:a="http://schemas.openxmlformats.org/drawingml/2006/main">
              <a:ext uri="{FF2B5EF4-FFF2-40B4-BE49-F238E27FC236}">
                <a16:creationId xmlns:a16="http://schemas.microsoft.com/office/drawing/2014/main" id="{BDAC1EB3-FB26-47FF-8CBA-E30A1EB0C9BB}"/>
              </a:ext>
            </a:extLst>
          </p:cNvPr>
          <p:cNvSpPr>
            <a:spLocks xmlns:a="http://schemas.openxmlformats.org/drawingml/2006/main" noGrp="1"/>
          </p:cNvSpPr>
          <p:nvPr/>
        </p:nvSpPr>
        <p:spPr>
          <a:xfrm xmlns:a="http://schemas.openxmlformats.org/drawingml/2006/main">
            <a:off x="104775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9" name="stage-number-3">
            <a:extLst xmlns:a="http://schemas.openxmlformats.org/drawingml/2006/main">
              <a:ext uri="{FF2B5EF4-FFF2-40B4-BE49-F238E27FC236}">
                <a16:creationId xmlns:a16="http://schemas.microsoft.com/office/drawing/2014/main" id="{C3402E88-D4DA-4AEA-9EED-7A15C522A1C6}"/>
              </a:ext>
            </a:extLst>
          </p:cNvPr>
          <p:cNvSpPr>
            <a:spLocks xmlns:a="http://schemas.openxmlformats.org/drawingml/2006/main" noGrp="1"/>
          </p:cNvSpPr>
          <p:nvPr/>
        </p:nvSpPr>
        <p:spPr>
          <a:xfrm xmlns:a="http://schemas.openxmlformats.org/drawingml/2006/main">
            <a:off x="106870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03</a:t>
            </a:r>
          </a:p>
        </p:txBody>
      </p:sp>
      <p:sp>
        <p:nvSpPr>
          <p:cNvPr id="20" name="stage-title-3">
            <a:extLst xmlns:a="http://schemas.openxmlformats.org/drawingml/2006/main">
              <a:ext uri="{FF2B5EF4-FFF2-40B4-BE49-F238E27FC236}">
                <a16:creationId xmlns:a16="http://schemas.microsoft.com/office/drawing/2014/main" id="{338ABAA6-4987-404C-9C22-757D39A2B785}"/>
              </a:ext>
            </a:extLst>
          </p:cNvPr>
          <p:cNvSpPr>
            <a:spLocks xmlns:a="http://schemas.openxmlformats.org/drawingml/2006/main" noGrp="1"/>
          </p:cNvSpPr>
          <p:nvPr/>
        </p:nvSpPr>
        <p:spPr>
          <a:xfrm xmlns:a="http://schemas.openxmlformats.org/drawingml/2006/main">
            <a:off x="106870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Phiên</a:t>
            </a:r>
          </a:p>
        </p:txBody>
      </p:sp>
      <p:sp>
        <p:nvSpPr>
          <p:cNvPr id="21" name="stage-body-3">
            <a:extLst xmlns:a="http://schemas.openxmlformats.org/drawingml/2006/main">
              <a:ext uri="{FF2B5EF4-FFF2-40B4-BE49-F238E27FC236}">
                <a16:creationId xmlns:a16="http://schemas.microsoft.com/office/drawing/2014/main" id="{2AF94347-ADAD-418F-8101-470A804F5F36}"/>
              </a:ext>
            </a:extLst>
          </p:cNvPr>
          <p:cNvSpPr>
            <a:spLocks xmlns:a="http://schemas.openxmlformats.org/drawingml/2006/main" noGrp="1"/>
          </p:cNvSpPr>
          <p:nvPr/>
        </p:nvSpPr>
        <p:spPr>
          <a:xfrm xmlns:a="http://schemas.openxmlformats.org/drawingml/2006/main">
            <a:off x="106870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Xác thực, owner, conversation</a:t>
            </a:r>
          </a:p>
        </p:txBody>
      </p:sp>
      <p:sp>
        <p:nvSpPr>
          <p:cNvPr id="22" name="stage-4">
            <a:extLst xmlns:a="http://schemas.openxmlformats.org/drawingml/2006/main">
              <a:ext uri="{FF2B5EF4-FFF2-40B4-BE49-F238E27FC236}">
                <a16:creationId xmlns:a16="http://schemas.microsoft.com/office/drawing/2014/main" id="{3137CD6C-D7CF-486B-B2AA-AC2E4CB003CF}"/>
              </a:ext>
            </a:extLst>
          </p:cNvPr>
          <p:cNvSpPr>
            <a:spLocks xmlns:a="http://schemas.openxmlformats.org/drawingml/2006/main" noGrp="1"/>
          </p:cNvSpPr>
          <p:nvPr/>
        </p:nvSpPr>
        <p:spPr>
          <a:xfrm xmlns:a="http://schemas.openxmlformats.org/drawingml/2006/main">
            <a:off x="104775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3" name="stage-number-4">
            <a:extLst xmlns:a="http://schemas.openxmlformats.org/drawingml/2006/main">
              <a:ext uri="{FF2B5EF4-FFF2-40B4-BE49-F238E27FC236}">
                <a16:creationId xmlns:a16="http://schemas.microsoft.com/office/drawing/2014/main" id="{BAE594D8-6266-4136-9375-AF30414B2F24}"/>
              </a:ext>
            </a:extLst>
          </p:cNvPr>
          <p:cNvSpPr>
            <a:spLocks xmlns:a="http://schemas.openxmlformats.org/drawingml/2006/main" noGrp="1"/>
          </p:cNvSpPr>
          <p:nvPr/>
        </p:nvSpPr>
        <p:spPr>
          <a:xfrm xmlns:a="http://schemas.openxmlformats.org/drawingml/2006/main">
            <a:off x="106870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04</a:t>
            </a:r>
          </a:p>
        </p:txBody>
      </p:sp>
      <p:sp>
        <p:nvSpPr>
          <p:cNvPr id="24" name="stage-title-4">
            <a:extLst xmlns:a="http://schemas.openxmlformats.org/drawingml/2006/main">
              <a:ext uri="{FF2B5EF4-FFF2-40B4-BE49-F238E27FC236}">
                <a16:creationId xmlns:a16="http://schemas.microsoft.com/office/drawing/2014/main" id="{A3A31A99-A419-4103-8D8E-30640E848F49}"/>
              </a:ext>
            </a:extLst>
          </p:cNvPr>
          <p:cNvSpPr>
            <a:spLocks xmlns:a="http://schemas.openxmlformats.org/drawingml/2006/main" noGrp="1"/>
          </p:cNvSpPr>
          <p:nvPr/>
        </p:nvSpPr>
        <p:spPr>
          <a:xfrm xmlns:a="http://schemas.openxmlformats.org/drawingml/2006/main">
            <a:off x="106870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Workflow</a:t>
            </a:r>
          </a:p>
        </p:txBody>
      </p:sp>
      <p:sp>
        <p:nvSpPr>
          <p:cNvPr id="25" name="stage-body-4">
            <a:extLst xmlns:a="http://schemas.openxmlformats.org/drawingml/2006/main">
              <a:ext uri="{FF2B5EF4-FFF2-40B4-BE49-F238E27FC236}">
                <a16:creationId xmlns:a16="http://schemas.microsoft.com/office/drawing/2014/main" id="{6B0A3206-B59C-489A-96CD-A22625FF4385}"/>
              </a:ext>
            </a:extLst>
          </p:cNvPr>
          <p:cNvSpPr>
            <a:spLocks xmlns:a="http://schemas.openxmlformats.org/drawingml/2006/main" noGrp="1"/>
          </p:cNvSpPr>
          <p:nvPr/>
        </p:nvSpPr>
        <p:spPr>
          <a:xfrm xmlns:a="http://schemas.openxmlformats.org/drawingml/2006/main">
            <a:off x="106870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Web hoặc chat</a:t>
            </a:r>
          </a:p>
        </p:txBody>
      </p:sp>
      <p:sp>
        <p:nvSpPr>
          <p:cNvPr id="26" name="stage-5">
            <a:extLst xmlns:a="http://schemas.openxmlformats.org/drawingml/2006/main">
              <a:ext uri="{FF2B5EF4-FFF2-40B4-BE49-F238E27FC236}">
                <a16:creationId xmlns:a16="http://schemas.microsoft.com/office/drawing/2014/main" id="{A72BF93D-AF21-4C0D-B21A-3C792C331D4B}"/>
              </a:ext>
            </a:extLst>
          </p:cNvPr>
          <p:cNvSpPr>
            <a:spLocks xmlns:a="http://schemas.openxmlformats.org/drawingml/2006/main" noGrp="1"/>
          </p:cNvSpPr>
          <p:nvPr/>
        </p:nvSpPr>
        <p:spPr>
          <a:xfrm xmlns:a="http://schemas.openxmlformats.org/drawingml/2006/main">
            <a:off x="561975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7" name="stage-number-5">
            <a:extLst xmlns:a="http://schemas.openxmlformats.org/drawingml/2006/main">
              <a:ext uri="{FF2B5EF4-FFF2-40B4-BE49-F238E27FC236}">
                <a16:creationId xmlns:a16="http://schemas.microsoft.com/office/drawing/2014/main" id="{0FED6A83-419F-467E-A30D-0B411FECA852}"/>
              </a:ext>
            </a:extLst>
          </p:cNvPr>
          <p:cNvSpPr>
            <a:spLocks xmlns:a="http://schemas.openxmlformats.org/drawingml/2006/main" noGrp="1"/>
          </p:cNvSpPr>
          <p:nvPr/>
        </p:nvSpPr>
        <p:spPr>
          <a:xfrm xmlns:a="http://schemas.openxmlformats.org/drawingml/2006/main">
            <a:off x="582930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05</a:t>
            </a:r>
          </a:p>
        </p:txBody>
      </p:sp>
      <p:sp>
        <p:nvSpPr>
          <p:cNvPr id="28" name="stage-title-5">
            <a:extLst xmlns:a="http://schemas.openxmlformats.org/drawingml/2006/main">
              <a:ext uri="{FF2B5EF4-FFF2-40B4-BE49-F238E27FC236}">
                <a16:creationId xmlns:a16="http://schemas.microsoft.com/office/drawing/2014/main" id="{C1248FF6-6A88-4175-B71F-54BED33AE57E}"/>
              </a:ext>
            </a:extLst>
          </p:cNvPr>
          <p:cNvSpPr>
            <a:spLocks xmlns:a="http://schemas.openxmlformats.org/drawingml/2006/main" noGrp="1"/>
          </p:cNvSpPr>
          <p:nvPr/>
        </p:nvSpPr>
        <p:spPr>
          <a:xfrm xmlns:a="http://schemas.openxmlformats.org/drawingml/2006/main">
            <a:off x="582930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Business + DB</a:t>
            </a:r>
          </a:p>
        </p:txBody>
      </p:sp>
      <p:sp>
        <p:nvSpPr>
          <p:cNvPr id="29" name="stage-body-5">
            <a:extLst xmlns:a="http://schemas.openxmlformats.org/drawingml/2006/main">
              <a:ext uri="{FF2B5EF4-FFF2-40B4-BE49-F238E27FC236}">
                <a16:creationId xmlns:a16="http://schemas.microsoft.com/office/drawing/2014/main" id="{B2F4A24E-823C-4D8A-BB02-58BF24A64D08}"/>
              </a:ext>
            </a:extLst>
          </p:cNvPr>
          <p:cNvSpPr>
            <a:spLocks xmlns:a="http://schemas.openxmlformats.org/drawingml/2006/main" noGrp="1"/>
          </p:cNvSpPr>
          <p:nvPr/>
        </p:nvSpPr>
        <p:spPr>
          <a:xfrm xmlns:a="http://schemas.openxmlformats.org/drawingml/2006/main">
            <a:off x="582930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Giá, tồn, quyền, transaction</a:t>
            </a:r>
          </a:p>
        </p:txBody>
      </p:sp>
      <p:sp>
        <p:nvSpPr>
          <p:cNvPr id="30" name="stage-6">
            <a:extLst xmlns:a="http://schemas.openxmlformats.org/drawingml/2006/main">
              <a:ext uri="{FF2B5EF4-FFF2-40B4-BE49-F238E27FC236}">
                <a16:creationId xmlns:a16="http://schemas.microsoft.com/office/drawing/2014/main" id="{EE783CC1-8F8A-4208-BAAC-FC3F8B477CDD}"/>
              </a:ext>
            </a:extLst>
          </p:cNvPr>
          <p:cNvSpPr>
            <a:spLocks xmlns:a="http://schemas.openxmlformats.org/drawingml/2006/main" noGrp="1"/>
          </p:cNvSpPr>
          <p:nvPr/>
        </p:nvSpPr>
        <p:spPr>
          <a:xfrm xmlns:a="http://schemas.openxmlformats.org/drawingml/2006/main">
            <a:off x="7620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31" name="stage-number-6">
            <a:extLst xmlns:a="http://schemas.openxmlformats.org/drawingml/2006/main">
              <a:ext uri="{FF2B5EF4-FFF2-40B4-BE49-F238E27FC236}">
                <a16:creationId xmlns:a16="http://schemas.microsoft.com/office/drawing/2014/main" id="{43EFD4FE-E530-4EC6-86A9-A8153594A811}"/>
              </a:ext>
            </a:extLst>
          </p:cNvPr>
          <p:cNvSpPr>
            <a:spLocks xmlns:a="http://schemas.openxmlformats.org/drawingml/2006/main" noGrp="1"/>
          </p:cNvSpPr>
          <p:nvPr/>
        </p:nvSpPr>
        <p:spPr>
          <a:xfrm xmlns:a="http://schemas.openxmlformats.org/drawingml/2006/main">
            <a:off x="9715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06</a:t>
            </a:r>
          </a:p>
        </p:txBody>
      </p:sp>
      <p:sp>
        <p:nvSpPr>
          <p:cNvPr id="32" name="stage-title-6">
            <a:extLst xmlns:a="http://schemas.openxmlformats.org/drawingml/2006/main">
              <a:ext uri="{FF2B5EF4-FFF2-40B4-BE49-F238E27FC236}">
                <a16:creationId xmlns:a16="http://schemas.microsoft.com/office/drawing/2014/main" id="{4FA587FA-8C96-47BF-AA1B-7D1C1F526D36}"/>
              </a:ext>
            </a:extLst>
          </p:cNvPr>
          <p:cNvSpPr>
            <a:spLocks xmlns:a="http://schemas.openxmlformats.org/drawingml/2006/main" noGrp="1"/>
          </p:cNvSpPr>
          <p:nvPr/>
        </p:nvSpPr>
        <p:spPr>
          <a:xfrm xmlns:a="http://schemas.openxmlformats.org/drawingml/2006/main">
            <a:off x="9715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JSON response</a:t>
            </a:r>
          </a:p>
        </p:txBody>
      </p:sp>
      <p:sp>
        <p:nvSpPr>
          <p:cNvPr id="33" name="stage-body-6">
            <a:extLst xmlns:a="http://schemas.openxmlformats.org/drawingml/2006/main">
              <a:ext uri="{FF2B5EF4-FFF2-40B4-BE49-F238E27FC236}">
                <a16:creationId xmlns:a16="http://schemas.microsoft.com/office/drawing/2014/main" id="{DB362513-54A1-41F7-88E9-BA72194293C1}"/>
              </a:ext>
            </a:extLst>
          </p:cNvPr>
          <p:cNvSpPr>
            <a:spLocks xmlns:a="http://schemas.openxmlformats.org/drawingml/2006/main" noGrp="1"/>
          </p:cNvSpPr>
          <p:nvPr/>
        </p:nvSpPr>
        <p:spPr>
          <a:xfrm xmlns:a="http://schemas.openxmlformats.org/drawingml/2006/main">
            <a:off x="9715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Reply, route, order, request_id</a:t>
            </a:r>
          </a:p>
        </p:txBody>
      </p:sp>
      <p:sp>
        <p:nvSpPr>
          <p:cNvPr id="34" name="pipeline-caption">
            <a:extLst xmlns:a="http://schemas.openxmlformats.org/drawingml/2006/main">
              <a:ext uri="{FF2B5EF4-FFF2-40B4-BE49-F238E27FC236}">
                <a16:creationId xmlns:a16="http://schemas.microsoft.com/office/drawing/2014/main" id="{8CEE66A0-450F-493B-999B-0D858785CAE5}"/>
              </a:ext>
            </a:extLst>
          </p:cNvPr>
          <p:cNvSpPr>
            <a:spLocks xmlns:a="http://schemas.openxmlformats.org/drawingml/2006/main" noGrp="1"/>
          </p:cNvSpPr>
          <p:nvPr/>
        </p:nvSpPr>
        <p:spPr>
          <a:xfrm xmlns:a="http://schemas.openxmlformats.org/drawingml/2006/main">
            <a:off x="762000" y="7191375"/>
            <a:ext cx="1352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D6063"/>
                </a:solidFill>
                <a:latin typeface="Arial"/>
                <a:ea typeface="Arial"/>
                <a:cs typeface="Arial"/>
              </a:defRPr>
            </a:defPPr>
            <a:lvl1pPr>
              <a:defRPr sz="2025" b="0">
                <a:solidFill>
                  <a:srgbClr val="4D6063"/>
                </a:solidFill>
                <a:latin typeface="Arial"/>
                <a:ea typeface="Arial"/>
                <a:cs typeface="Arial"/>
              </a:defRPr>
            </a:lvl1pPr>
            <a:lvl2pPr>
              <a:defRPr sz="2025" b="0">
                <a:solidFill>
                  <a:srgbClr val="4D6063"/>
                </a:solidFill>
                <a:latin typeface="Arial"/>
                <a:ea typeface="Arial"/>
                <a:cs typeface="Arial"/>
              </a:defRPr>
            </a:lvl2pPr>
            <a:lvl3pPr>
              <a:defRPr sz="2025" b="0">
                <a:solidFill>
                  <a:srgbClr val="4D6063"/>
                </a:solidFill>
                <a:latin typeface="Arial"/>
                <a:ea typeface="Arial"/>
                <a:cs typeface="Arial"/>
              </a:defRPr>
            </a:lvl3pPr>
            <a:lvl4pPr>
              <a:defRPr sz="2025" b="0">
                <a:solidFill>
                  <a:srgbClr val="4D6063"/>
                </a:solidFill>
                <a:latin typeface="Arial"/>
                <a:ea typeface="Arial"/>
                <a:cs typeface="Arial"/>
              </a:defRPr>
            </a:lvl4pPr>
            <a:lvl5pPr>
              <a:defRPr sz="2025" b="0">
                <a:solidFill>
                  <a:srgbClr val="4D6063"/>
                </a:solidFill>
                <a:latin typeface="Arial"/>
                <a:ea typeface="Arial"/>
                <a:cs typeface="Arial"/>
              </a:defRPr>
            </a:lvl5pPr>
            <a:lvl6pPr>
              <a:defRPr sz="2025" b="0">
                <a:solidFill>
                  <a:srgbClr val="4D6063"/>
                </a:solidFill>
                <a:latin typeface="Arial"/>
                <a:ea typeface="Arial"/>
                <a:cs typeface="Arial"/>
              </a:defRPr>
            </a:lvl6pPr>
            <a:lvl7pPr>
              <a:defRPr sz="2025" b="0">
                <a:solidFill>
                  <a:srgbClr val="4D6063"/>
                </a:solidFill>
                <a:latin typeface="Arial"/>
                <a:ea typeface="Arial"/>
                <a:cs typeface="Arial"/>
              </a:defRPr>
            </a:lvl7pPr>
            <a:lvl8pPr>
              <a:defRPr sz="2025" b="0">
                <a:solidFill>
                  <a:srgbClr val="4D6063"/>
                </a:solidFill>
                <a:latin typeface="Arial"/>
                <a:ea typeface="Arial"/>
                <a:cs typeface="Arial"/>
              </a:defRPr>
            </a:lvl8pPr>
            <a:lvl9pPr>
              <a:defRPr sz="2025" b="0">
                <a:solidFill>
                  <a:srgbClr val="4D6063"/>
                </a:solidFill>
                <a:latin typeface="Arial"/>
                <a:ea typeface="Arial"/>
                <a:cs typeface="Arial"/>
              </a:defRPr>
            </a:lvl9pPr>
          </a:lstStyle>
          <a:p xmlns:a="http://schemas.openxmlformats.org/drawingml/2006/main">
            <a:pPr>
              <a:lnSpc>
                <a:spcPct val="112000"/>
              </a:lnSpc>
              <a:buNone/>
              <a:defRPr sz="2025" b="0">
                <a:solidFill>
                  <a:srgbClr val="4D6063"/>
                </a:solidFill>
                <a:latin typeface="Arial"/>
                <a:ea typeface="Arial"/>
                <a:cs typeface="Arial"/>
              </a:defRPr>
            </a:pPr>
            <a:r>
              <a:rPr sz="2025" b="0">
                <a:solidFill>
                  <a:srgbClr val="4D6063"/>
                </a:solidFill>
                <a:latin typeface="Arial"/>
                <a:ea typeface="Arial"/>
                <a:cs typeface="Arial"/>
              </a:rPr>
              <a:t>Catalog công khai. Giỏ hàng, đơn hàng và chat cần phiên hợp lệ.</a:t>
            </a:r>
          </a:p>
        </p:txBody>
      </p:sp>
    </p:spTree>
    <p:extLst>
      <p:ext uri="{BB962C8B-B14F-4D97-AF65-F5344CB8AC3E}">
        <p14:creationId xmlns:p14="http://schemas.microsoft.com/office/powerpoint/2010/main" val="139760718"/>
      </p:ext>
    </p:extLst>
  </p:cSld>
</p:sld>
</file>

<file path=ppt/slides/slide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CF81E7D-314F-4902-8B38-92E96F143FF8}"/>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Nơi nhận request chat</a:t>
            </a:r>
          </a:p>
        </p:txBody>
      </p:sp>
      <p:sp>
        <p:nvSpPr>
          <p:cNvPr id="3" name="page-number">
            <a:extLst xmlns:a="http://schemas.openxmlformats.org/drawingml/2006/main">
              <a:ext uri="{FF2B5EF4-FFF2-40B4-BE49-F238E27FC236}">
                <a16:creationId xmlns:a16="http://schemas.microsoft.com/office/drawing/2014/main" id="{29C5B092-15F8-4513-AD98-7EB1E270B9C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 / 12</a:t>
            </a:r>
          </a:p>
        </p:txBody>
      </p:sp>
      <p:sp>
        <p:nvSpPr>
          <p:cNvPr id="4" name="source-reference">
            <a:extLst xmlns:a="http://schemas.openxmlformats.org/drawingml/2006/main">
              <a:ext uri="{FF2B5EF4-FFF2-40B4-BE49-F238E27FC236}">
                <a16:creationId xmlns:a16="http://schemas.microsoft.com/office/drawing/2014/main" id="{9A6A54D5-CE7A-4AAF-AA14-AB87F4242A12}"/>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backend/main.py:237–244</a:t>
            </a:r>
          </a:p>
        </p:txBody>
      </p:sp>
      <p:sp>
        <p:nvSpPr>
          <p:cNvPr id="5" name="code-intro">
            <a:extLst xmlns:a="http://schemas.openxmlformats.org/drawingml/2006/main">
              <a:ext uri="{FF2B5EF4-FFF2-40B4-BE49-F238E27FC236}">
                <a16:creationId xmlns:a16="http://schemas.microsoft.com/office/drawing/2014/main" id="{5C7FDE5B-F472-4091-9249-92B16A3870BC}"/>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Endpoint POST /api/chat chuyển body.message sang workflow sau khi xác thực phiên.</a:t>
            </a:r>
          </a:p>
        </p:txBody>
      </p:sp>
      <p:sp>
        <p:nvSpPr>
          <p:cNvPr id="6" name="source-code">
            <a:extLst xmlns:a="http://schemas.openxmlformats.org/drawingml/2006/main">
              <a:ext uri="{FF2B5EF4-FFF2-40B4-BE49-F238E27FC236}">
                <a16:creationId xmlns:a16="http://schemas.microsoft.com/office/drawing/2014/main" id="{2C070E29-4EB5-4640-9725-115CD6AC34A2}"/>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237      @app.post("/api/chat")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238      # Nhận tin nhắn, kiểm tra phiên/giới hạn gọi chat rồi chuyển sang luồng xử lý bot.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239      def chat_message(body: ChatRequest, request: Request):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240          key = request_key(request.headers.get("Idempotency-Key"))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241          with session_db(request) as (conn, session, ctx):</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242              limiter.check("chat", session["owner_id"], settings.chat_limit)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243              return chat(conn, ctx, session, body.message, app.state.llm_client, key)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244  </a:t>
            </a:r>
          </a:p>
        </p:txBody>
      </p:sp>
      <p:sp>
        <p:nvSpPr>
          <p:cNvPr id="7" name="code-lesson">
            <a:extLst xmlns:a="http://schemas.openxmlformats.org/drawingml/2006/main">
              <a:ext uri="{FF2B5EF4-FFF2-40B4-BE49-F238E27FC236}">
                <a16:creationId xmlns:a16="http://schemas.microsoft.com/office/drawing/2014/main" id="{FDE6CF04-35E5-4847-8A06-0E60D0409110}"/>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chat_message() là điểm vào HTTP, chat() là bộ điều phối nghiệp vụ.</a:t>
            </a:r>
          </a:p>
        </p:txBody>
      </p:sp>
    </p:spTree>
    <p:extLst>
      <p:ext uri="{BB962C8B-B14F-4D97-AF65-F5344CB8AC3E}">
        <p14:creationId xmlns:p14="http://schemas.microsoft.com/office/powerpoint/2010/main" val="1084754794"/>
      </p:ext>
    </p:extLst>
  </p:cSld>
</p:sld>
</file>

<file path=ppt/slides/slide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EBA08EE-4B31-4E43-8F6E-A4A5D39FFA6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Ngữ cảnh gửi cho model</a:t>
            </a:r>
          </a:p>
        </p:txBody>
      </p:sp>
      <p:sp>
        <p:nvSpPr>
          <p:cNvPr id="3" name="page-number">
            <a:extLst xmlns:a="http://schemas.openxmlformats.org/drawingml/2006/main">
              <a:ext uri="{FF2B5EF4-FFF2-40B4-BE49-F238E27FC236}">
                <a16:creationId xmlns:a16="http://schemas.microsoft.com/office/drawing/2014/main" id="{278F416F-7707-403B-BF1F-5C60CF4CEEAD}"/>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 / 12</a:t>
            </a:r>
          </a:p>
        </p:txBody>
      </p:sp>
      <p:sp>
        <p:nvSpPr>
          <p:cNvPr id="4" name="source-reference">
            <a:extLst xmlns:a="http://schemas.openxmlformats.org/drawingml/2006/main">
              <a:ext uri="{FF2B5EF4-FFF2-40B4-BE49-F238E27FC236}">
                <a16:creationId xmlns:a16="http://schemas.microsoft.com/office/drawing/2014/main" id="{EBB8990F-80F6-4B4E-94B2-C5CB1C554986}"/>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src/prompts.py:48–54</a:t>
            </a:r>
          </a:p>
        </p:txBody>
      </p:sp>
      <p:sp>
        <p:nvSpPr>
          <p:cNvPr id="5" name="code-intro">
            <a:extLst xmlns:a="http://schemas.openxmlformats.org/drawingml/2006/main">
              <a:ext uri="{FF2B5EF4-FFF2-40B4-BE49-F238E27FC236}">
                <a16:creationId xmlns:a16="http://schemas.microsoft.com/office/drawing/2014/main" id="{43363CA0-1EC8-4FE9-A3CF-4F4246B265F9}"/>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Backend chọn sản phẩm liên quan từ DB, rồi ghép câu khách và context thành prompt.</a:t>
            </a:r>
          </a:p>
        </p:txBody>
      </p:sp>
      <p:sp>
        <p:nvSpPr>
          <p:cNvPr id="6" name="source-code">
            <a:extLst xmlns:a="http://schemas.openxmlformats.org/drawingml/2006/main">
              <a:ext uri="{FF2B5EF4-FFF2-40B4-BE49-F238E27FC236}">
                <a16:creationId xmlns:a16="http://schemas.microsoft.com/office/drawing/2014/main" id="{51955D9A-C739-43E3-A64E-8BB990DDEF34}"/>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48  def build_prompt(message, catalog, context):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49      safe_context = {"pending_intent": context.get("pending_intent"),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50                      "pending_items": context.get("items",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51                      "recent_products": context.get("recent_products",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52      payload = {"CUSTOMER_MESSAGE": message, "CATALOG_CONTEXT": catalog,</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53                 "CONVERSATION_CONTEXT": safe_context, "OUTPUT_SCHEMA": Extraction.model_json_schema()}</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54      return SYSTEM_PROMPT, json.dumps(payload, ensure_ascii=False)</a:t>
            </a:r>
          </a:p>
        </p:txBody>
      </p:sp>
      <p:sp>
        <p:nvSpPr>
          <p:cNvPr id="7" name="code-lesson">
            <a:extLst xmlns:a="http://schemas.openxmlformats.org/drawingml/2006/main">
              <a:ext uri="{FF2B5EF4-FFF2-40B4-BE49-F238E27FC236}">
                <a16:creationId xmlns:a16="http://schemas.microsoft.com/office/drawing/2014/main" id="{2FF2FE05-4F65-4B74-801D-5DEBEA9B3FD1}"/>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pending_items giúp hiểu câu tiếp, còn server chịu trách nhiệm gộp trường.</a:t>
            </a:r>
          </a:p>
        </p:txBody>
      </p:sp>
    </p:spTree>
    <p:extLst>
      <p:ext uri="{BB962C8B-B14F-4D97-AF65-F5344CB8AC3E}">
        <p14:creationId xmlns:p14="http://schemas.microsoft.com/office/powerpoint/2010/main" val="1611699793"/>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A4B8775-2DF8-4A52-9F65-1B63D0F41270}"/>
              </a:ext>
            </a:extLst>
          </p:cNvPr>
          <p:cNvCxnSpPr>
            <a:stCxn xmlns:a="http://schemas.openxmlformats.org/drawingml/2006/main" id="26" idx="1"/>
            <a:endCxn xmlns:a="http://schemas.openxmlformats.org/drawingml/2006/main" id="30" idx="3"/>
          </p:cNvCxnSpPr>
          <p:nvPr/>
        </p:nvCxnSpPr>
        <p:spPr>
          <a:xfrm xmlns:a="http://schemas.openxmlformats.org/drawingml/2006/main" flipH="1">
            <a:off x="476250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3" name="">
            <a:extLst xmlns:a="http://schemas.openxmlformats.org/drawingml/2006/main">
              <a:ext uri="{FF2B5EF4-FFF2-40B4-BE49-F238E27FC236}">
                <a16:creationId xmlns:a16="http://schemas.microsoft.com/office/drawing/2014/main" id="{6277B247-9F0B-4D9A-A1DF-917638984B21}"/>
              </a:ext>
            </a:extLst>
          </p:cNvPr>
          <p:cNvCxnSpPr>
            <a:stCxn xmlns:a="http://schemas.openxmlformats.org/drawingml/2006/main" id="22" idx="1"/>
            <a:endCxn xmlns:a="http://schemas.openxmlformats.org/drawingml/2006/main" id="26" idx="3"/>
          </p:cNvCxnSpPr>
          <p:nvPr/>
        </p:nvCxnSpPr>
        <p:spPr>
          <a:xfrm xmlns:a="http://schemas.openxmlformats.org/drawingml/2006/main" flipH="1">
            <a:off x="962025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4" name="">
            <a:extLst xmlns:a="http://schemas.openxmlformats.org/drawingml/2006/main">
              <a:ext uri="{FF2B5EF4-FFF2-40B4-BE49-F238E27FC236}">
                <a16:creationId xmlns:a16="http://schemas.microsoft.com/office/drawing/2014/main" id="{9F13CC5E-7A64-4BCB-A23D-B12AF0E04B11}"/>
              </a:ext>
            </a:extLst>
          </p:cNvPr>
          <p:cNvCxnSpPr>
            <a:stCxn xmlns:a="http://schemas.openxmlformats.org/drawingml/2006/main" id="18" idx="2"/>
            <a:endCxn xmlns:a="http://schemas.openxmlformats.org/drawingml/2006/main" id="22" idx="0"/>
          </p:cNvCxnSpPr>
          <p:nvPr/>
        </p:nvCxnSpPr>
        <p:spPr>
          <a:xfrm xmlns:a="http://schemas.openxmlformats.org/drawingml/2006/main">
            <a:off x="12477750" y="3905250"/>
            <a:ext cx="0" cy="95250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5" name="">
            <a:extLst xmlns:a="http://schemas.openxmlformats.org/drawingml/2006/main">
              <a:ext uri="{FF2B5EF4-FFF2-40B4-BE49-F238E27FC236}">
                <a16:creationId xmlns:a16="http://schemas.microsoft.com/office/drawing/2014/main" id="{822A9F3C-37C0-4E2B-9475-BA2429E1D077}"/>
              </a:ext>
            </a:extLst>
          </p:cNvPr>
          <p:cNvCxnSpPr>
            <a:stCxn xmlns:a="http://schemas.openxmlformats.org/drawingml/2006/main" id="14" idx="3"/>
            <a:endCxn xmlns:a="http://schemas.openxmlformats.org/drawingml/2006/main" id="18" idx="1"/>
          </p:cNvCxnSpPr>
          <p:nvPr/>
        </p:nvCxnSpPr>
        <p:spPr>
          <a:xfrm xmlns:a="http://schemas.openxmlformats.org/drawingml/2006/main">
            <a:off x="962025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6" name="">
            <a:extLst xmlns:a="http://schemas.openxmlformats.org/drawingml/2006/main">
              <a:ext uri="{FF2B5EF4-FFF2-40B4-BE49-F238E27FC236}">
                <a16:creationId xmlns:a16="http://schemas.microsoft.com/office/drawing/2014/main" id="{F37ED78C-2331-45A9-8477-B3625F9F9BCA}"/>
              </a:ext>
            </a:extLst>
          </p:cNvPr>
          <p:cNvCxnSpPr>
            <a:stCxn xmlns:a="http://schemas.openxmlformats.org/drawingml/2006/main" id="10" idx="3"/>
            <a:endCxn xmlns:a="http://schemas.openxmlformats.org/drawingml/2006/main" id="14" idx="1"/>
          </p:cNvCxnSpPr>
          <p:nvPr/>
        </p:nvCxnSpPr>
        <p:spPr>
          <a:xfrm xmlns:a="http://schemas.openxmlformats.org/drawingml/2006/main">
            <a:off x="476250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sp>
        <p:nvSpPr>
          <p:cNvPr id="7" name="slide-title">
            <a:extLst xmlns:a="http://schemas.openxmlformats.org/drawingml/2006/main">
              <a:ext uri="{FF2B5EF4-FFF2-40B4-BE49-F238E27FC236}">
                <a16:creationId xmlns:a16="http://schemas.microsoft.com/office/drawing/2014/main" id="{DC443F12-7734-4D2B-BC73-3D38D31AF24C}"/>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Pipeline xử lý LLM</a:t>
            </a:r>
          </a:p>
        </p:txBody>
      </p:sp>
      <p:sp>
        <p:nvSpPr>
          <p:cNvPr id="8" name="page-number">
            <a:extLst xmlns:a="http://schemas.openxmlformats.org/drawingml/2006/main">
              <a:ext uri="{FF2B5EF4-FFF2-40B4-BE49-F238E27FC236}">
                <a16:creationId xmlns:a16="http://schemas.microsoft.com/office/drawing/2014/main" id="{51B80D20-2AED-4428-9D4D-69F119204943}"/>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 / 12</a:t>
            </a:r>
          </a:p>
        </p:txBody>
      </p:sp>
      <p:sp>
        <p:nvSpPr>
          <p:cNvPr id="9" name="source-reference">
            <a:extLst xmlns:a="http://schemas.openxmlformats.org/drawingml/2006/main">
              <a:ext uri="{FF2B5EF4-FFF2-40B4-BE49-F238E27FC236}">
                <a16:creationId xmlns:a16="http://schemas.microsoft.com/office/drawing/2014/main" id="{B64C3B80-4436-45E8-9B51-C6256D9677D9}"/>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src/prompts.py   /   src/llm_client.py   /   src/parser.py   /   backend/chat_service.py</a:t>
            </a:r>
          </a:p>
        </p:txBody>
      </p:sp>
      <p:sp>
        <p:nvSpPr>
          <p:cNvPr id="10" name="stage-1">
            <a:extLst xmlns:a="http://schemas.openxmlformats.org/drawingml/2006/main">
              <a:ext uri="{FF2B5EF4-FFF2-40B4-BE49-F238E27FC236}">
                <a16:creationId xmlns:a16="http://schemas.microsoft.com/office/drawing/2014/main" id="{6D16DC1D-FE0F-4A8E-8488-BDCA8E73CC93}"/>
              </a:ext>
            </a:extLst>
          </p:cNvPr>
          <p:cNvSpPr>
            <a:spLocks xmlns:a="http://schemas.openxmlformats.org/drawingml/2006/main" noGrp="1"/>
          </p:cNvSpPr>
          <p:nvPr/>
        </p:nvSpPr>
        <p:spPr>
          <a:xfrm xmlns:a="http://schemas.openxmlformats.org/drawingml/2006/main">
            <a:off x="7620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1" name="stage-number-1">
            <a:extLst xmlns:a="http://schemas.openxmlformats.org/drawingml/2006/main">
              <a:ext uri="{FF2B5EF4-FFF2-40B4-BE49-F238E27FC236}">
                <a16:creationId xmlns:a16="http://schemas.microsoft.com/office/drawing/2014/main" id="{93B7D0EC-2C96-41EB-918D-1AE28E443B64}"/>
              </a:ext>
            </a:extLst>
          </p:cNvPr>
          <p:cNvSpPr>
            <a:spLocks xmlns:a="http://schemas.openxmlformats.org/drawingml/2006/main" noGrp="1"/>
          </p:cNvSpPr>
          <p:nvPr/>
        </p:nvSpPr>
        <p:spPr>
          <a:xfrm xmlns:a="http://schemas.openxmlformats.org/drawingml/2006/main">
            <a:off x="9715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01</a:t>
            </a:r>
          </a:p>
        </p:txBody>
      </p:sp>
      <p:sp>
        <p:nvSpPr>
          <p:cNvPr id="12" name="stage-title-1">
            <a:extLst xmlns:a="http://schemas.openxmlformats.org/drawingml/2006/main">
              <a:ext uri="{FF2B5EF4-FFF2-40B4-BE49-F238E27FC236}">
                <a16:creationId xmlns:a16="http://schemas.microsoft.com/office/drawing/2014/main" id="{0099C812-13B5-4424-BE74-AAD700A670C7}"/>
              </a:ext>
            </a:extLst>
          </p:cNvPr>
          <p:cNvSpPr>
            <a:spLocks xmlns:a="http://schemas.openxmlformats.org/drawingml/2006/main" noGrp="1"/>
          </p:cNvSpPr>
          <p:nvPr/>
        </p:nvSpPr>
        <p:spPr>
          <a:xfrm xmlns:a="http://schemas.openxmlformats.org/drawingml/2006/main">
            <a:off x="9715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Prompt + context</a:t>
            </a:r>
          </a:p>
        </p:txBody>
      </p:sp>
      <p:sp>
        <p:nvSpPr>
          <p:cNvPr id="13" name="stage-body-1">
            <a:extLst xmlns:a="http://schemas.openxmlformats.org/drawingml/2006/main">
              <a:ext uri="{FF2B5EF4-FFF2-40B4-BE49-F238E27FC236}">
                <a16:creationId xmlns:a16="http://schemas.microsoft.com/office/drawing/2014/main" id="{FC4E3083-0411-4F71-A10B-3A54809AD4F3}"/>
              </a:ext>
            </a:extLst>
          </p:cNvPr>
          <p:cNvSpPr>
            <a:spLocks xmlns:a="http://schemas.openxmlformats.org/drawingml/2006/main" noGrp="1"/>
          </p:cNvSpPr>
          <p:nvPr/>
        </p:nvSpPr>
        <p:spPr>
          <a:xfrm xmlns:a="http://schemas.openxmlformats.org/drawingml/2006/main">
            <a:off x="9715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Câu hiện tại, catalog, trường thiếu</a:t>
            </a:r>
          </a:p>
        </p:txBody>
      </p:sp>
      <p:sp>
        <p:nvSpPr>
          <p:cNvPr id="14" name="stage-2">
            <a:extLst xmlns:a="http://schemas.openxmlformats.org/drawingml/2006/main">
              <a:ext uri="{FF2B5EF4-FFF2-40B4-BE49-F238E27FC236}">
                <a16:creationId xmlns:a16="http://schemas.microsoft.com/office/drawing/2014/main" id="{A1A753FA-BAB5-4374-B76F-9573318A9B04}"/>
              </a:ext>
            </a:extLst>
          </p:cNvPr>
          <p:cNvSpPr>
            <a:spLocks xmlns:a="http://schemas.openxmlformats.org/drawingml/2006/main" noGrp="1"/>
          </p:cNvSpPr>
          <p:nvPr/>
        </p:nvSpPr>
        <p:spPr>
          <a:xfrm xmlns:a="http://schemas.openxmlformats.org/drawingml/2006/main">
            <a:off x="561975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5" name="stage-number-2">
            <a:extLst xmlns:a="http://schemas.openxmlformats.org/drawingml/2006/main">
              <a:ext uri="{FF2B5EF4-FFF2-40B4-BE49-F238E27FC236}">
                <a16:creationId xmlns:a16="http://schemas.microsoft.com/office/drawing/2014/main" id="{A40293D6-3578-4FE0-A167-DF55A1CCFCDA}"/>
              </a:ext>
            </a:extLst>
          </p:cNvPr>
          <p:cNvSpPr>
            <a:spLocks xmlns:a="http://schemas.openxmlformats.org/drawingml/2006/main" noGrp="1"/>
          </p:cNvSpPr>
          <p:nvPr/>
        </p:nvSpPr>
        <p:spPr>
          <a:xfrm xmlns:a="http://schemas.openxmlformats.org/drawingml/2006/main">
            <a:off x="582930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02</a:t>
            </a:r>
          </a:p>
        </p:txBody>
      </p:sp>
      <p:sp>
        <p:nvSpPr>
          <p:cNvPr id="16" name="stage-title-2">
            <a:extLst xmlns:a="http://schemas.openxmlformats.org/drawingml/2006/main">
              <a:ext uri="{FF2B5EF4-FFF2-40B4-BE49-F238E27FC236}">
                <a16:creationId xmlns:a16="http://schemas.microsoft.com/office/drawing/2014/main" id="{97611D08-53E5-4B93-81FE-8D5DCD240816}"/>
              </a:ext>
            </a:extLst>
          </p:cNvPr>
          <p:cNvSpPr>
            <a:spLocks xmlns:a="http://schemas.openxmlformats.org/drawingml/2006/main" noGrp="1"/>
          </p:cNvSpPr>
          <p:nvPr/>
        </p:nvSpPr>
        <p:spPr>
          <a:xfrm xmlns:a="http://schemas.openxmlformats.org/drawingml/2006/main">
            <a:off x="582930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Quota + HTTP</a:t>
            </a:r>
          </a:p>
        </p:txBody>
      </p:sp>
      <p:sp>
        <p:nvSpPr>
          <p:cNvPr id="17" name="stage-body-2">
            <a:extLst xmlns:a="http://schemas.openxmlformats.org/drawingml/2006/main">
              <a:ext uri="{FF2B5EF4-FFF2-40B4-BE49-F238E27FC236}">
                <a16:creationId xmlns:a16="http://schemas.microsoft.com/office/drawing/2014/main" id="{E6CEB6E1-C1C5-427F-9998-09E0C07455F7}"/>
              </a:ext>
            </a:extLst>
          </p:cNvPr>
          <p:cNvSpPr>
            <a:spLocks xmlns:a="http://schemas.openxmlformats.org/drawingml/2006/main" noGrp="1"/>
          </p:cNvSpPr>
          <p:nvPr/>
        </p:nvSpPr>
        <p:spPr>
          <a:xfrm xmlns:a="http://schemas.openxmlformats.org/drawingml/2006/main">
            <a:off x="582930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Giữ lượt gọi và gửi generateContent</a:t>
            </a:r>
          </a:p>
        </p:txBody>
      </p:sp>
      <p:sp>
        <p:nvSpPr>
          <p:cNvPr id="18" name="stage-3">
            <a:extLst xmlns:a="http://schemas.openxmlformats.org/drawingml/2006/main">
              <a:ext uri="{FF2B5EF4-FFF2-40B4-BE49-F238E27FC236}">
                <a16:creationId xmlns:a16="http://schemas.microsoft.com/office/drawing/2014/main" id="{0D25A6A2-161A-4ABB-8A06-1ABE891012CE}"/>
              </a:ext>
            </a:extLst>
          </p:cNvPr>
          <p:cNvSpPr>
            <a:spLocks xmlns:a="http://schemas.openxmlformats.org/drawingml/2006/main" noGrp="1"/>
          </p:cNvSpPr>
          <p:nvPr/>
        </p:nvSpPr>
        <p:spPr>
          <a:xfrm xmlns:a="http://schemas.openxmlformats.org/drawingml/2006/main">
            <a:off x="104775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9" name="stage-number-3">
            <a:extLst xmlns:a="http://schemas.openxmlformats.org/drawingml/2006/main">
              <a:ext uri="{FF2B5EF4-FFF2-40B4-BE49-F238E27FC236}">
                <a16:creationId xmlns:a16="http://schemas.microsoft.com/office/drawing/2014/main" id="{AFA95494-DC0D-4C7C-AAB2-A1E1DF9A6986}"/>
              </a:ext>
            </a:extLst>
          </p:cNvPr>
          <p:cNvSpPr>
            <a:spLocks xmlns:a="http://schemas.openxmlformats.org/drawingml/2006/main" noGrp="1"/>
          </p:cNvSpPr>
          <p:nvPr/>
        </p:nvSpPr>
        <p:spPr>
          <a:xfrm xmlns:a="http://schemas.openxmlformats.org/drawingml/2006/main">
            <a:off x="106870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03</a:t>
            </a:r>
          </a:p>
        </p:txBody>
      </p:sp>
      <p:sp>
        <p:nvSpPr>
          <p:cNvPr id="20" name="stage-title-3">
            <a:extLst xmlns:a="http://schemas.openxmlformats.org/drawingml/2006/main">
              <a:ext uri="{FF2B5EF4-FFF2-40B4-BE49-F238E27FC236}">
                <a16:creationId xmlns:a16="http://schemas.microsoft.com/office/drawing/2014/main" id="{CED97D61-37B0-4BF3-AFEA-A5019809A2E1}"/>
              </a:ext>
            </a:extLst>
          </p:cNvPr>
          <p:cNvSpPr>
            <a:spLocks xmlns:a="http://schemas.openxmlformats.org/drawingml/2006/main" noGrp="1"/>
          </p:cNvSpPr>
          <p:nvPr/>
        </p:nvSpPr>
        <p:spPr>
          <a:xfrm xmlns:a="http://schemas.openxmlformats.org/drawingml/2006/main">
            <a:off x="106870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LLMResult</a:t>
            </a:r>
          </a:p>
        </p:txBody>
      </p:sp>
      <p:sp>
        <p:nvSpPr>
          <p:cNvPr id="21" name="stage-body-3">
            <a:extLst xmlns:a="http://schemas.openxmlformats.org/drawingml/2006/main">
              <a:ext uri="{FF2B5EF4-FFF2-40B4-BE49-F238E27FC236}">
                <a16:creationId xmlns:a16="http://schemas.microsoft.com/office/drawing/2014/main" id="{3F7AAB7F-279A-4217-85B5-8DCCD4C994AB}"/>
              </a:ext>
            </a:extLst>
          </p:cNvPr>
          <p:cNvSpPr>
            <a:spLocks xmlns:a="http://schemas.openxmlformats.org/drawingml/2006/main" noGrp="1"/>
          </p:cNvSpPr>
          <p:nvPr/>
        </p:nvSpPr>
        <p:spPr>
          <a:xfrm xmlns:a="http://schemas.openxmlformats.org/drawingml/2006/main">
            <a:off x="106870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Text JSON, usage và retry_count</a:t>
            </a:r>
          </a:p>
        </p:txBody>
      </p:sp>
      <p:sp>
        <p:nvSpPr>
          <p:cNvPr id="22" name="stage-4">
            <a:extLst xmlns:a="http://schemas.openxmlformats.org/drawingml/2006/main">
              <a:ext uri="{FF2B5EF4-FFF2-40B4-BE49-F238E27FC236}">
                <a16:creationId xmlns:a16="http://schemas.microsoft.com/office/drawing/2014/main" id="{47A00639-D797-4C0B-82B9-379BA357BA99}"/>
              </a:ext>
            </a:extLst>
          </p:cNvPr>
          <p:cNvSpPr>
            <a:spLocks xmlns:a="http://schemas.openxmlformats.org/drawingml/2006/main" noGrp="1"/>
          </p:cNvSpPr>
          <p:nvPr/>
        </p:nvSpPr>
        <p:spPr>
          <a:xfrm xmlns:a="http://schemas.openxmlformats.org/drawingml/2006/main">
            <a:off x="104775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3" name="stage-number-4">
            <a:extLst xmlns:a="http://schemas.openxmlformats.org/drawingml/2006/main">
              <a:ext uri="{FF2B5EF4-FFF2-40B4-BE49-F238E27FC236}">
                <a16:creationId xmlns:a16="http://schemas.microsoft.com/office/drawing/2014/main" id="{E87B21DD-0FB5-43CF-AD6F-7E3A0AE8BDC0}"/>
              </a:ext>
            </a:extLst>
          </p:cNvPr>
          <p:cNvSpPr>
            <a:spLocks xmlns:a="http://schemas.openxmlformats.org/drawingml/2006/main" noGrp="1"/>
          </p:cNvSpPr>
          <p:nvPr/>
        </p:nvSpPr>
        <p:spPr>
          <a:xfrm xmlns:a="http://schemas.openxmlformats.org/drawingml/2006/main">
            <a:off x="106870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04</a:t>
            </a:r>
          </a:p>
        </p:txBody>
      </p:sp>
      <p:sp>
        <p:nvSpPr>
          <p:cNvPr id="24" name="stage-title-4">
            <a:extLst xmlns:a="http://schemas.openxmlformats.org/drawingml/2006/main">
              <a:ext uri="{FF2B5EF4-FFF2-40B4-BE49-F238E27FC236}">
                <a16:creationId xmlns:a16="http://schemas.microsoft.com/office/drawing/2014/main" id="{7CB86E8A-E746-46D4-9DC5-DD70E304C025}"/>
              </a:ext>
            </a:extLst>
          </p:cNvPr>
          <p:cNvSpPr>
            <a:spLocks xmlns:a="http://schemas.openxmlformats.org/drawingml/2006/main" noGrp="1"/>
          </p:cNvSpPr>
          <p:nvPr/>
        </p:nvSpPr>
        <p:spPr>
          <a:xfrm xmlns:a="http://schemas.openxmlformats.org/drawingml/2006/main">
            <a:off x="106870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Parse + schema</a:t>
            </a:r>
          </a:p>
        </p:txBody>
      </p:sp>
      <p:sp>
        <p:nvSpPr>
          <p:cNvPr id="25" name="stage-body-4">
            <a:extLst xmlns:a="http://schemas.openxmlformats.org/drawingml/2006/main">
              <a:ext uri="{FF2B5EF4-FFF2-40B4-BE49-F238E27FC236}">
                <a16:creationId xmlns:a16="http://schemas.microsoft.com/office/drawing/2014/main" id="{AD636705-2586-42EA-AAA8-8814F00407F8}"/>
              </a:ext>
            </a:extLst>
          </p:cNvPr>
          <p:cNvSpPr>
            <a:spLocks xmlns:a="http://schemas.openxmlformats.org/drawingml/2006/main" noGrp="1"/>
          </p:cNvSpPr>
          <p:nvPr/>
        </p:nvSpPr>
        <p:spPr>
          <a:xfrm xmlns:a="http://schemas.openxmlformats.org/drawingml/2006/main">
            <a:off x="106870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JSON nghiêm ngặt, kiểu và enum</a:t>
            </a:r>
          </a:p>
        </p:txBody>
      </p:sp>
      <p:sp>
        <p:nvSpPr>
          <p:cNvPr id="26" name="stage-5">
            <a:extLst xmlns:a="http://schemas.openxmlformats.org/drawingml/2006/main">
              <a:ext uri="{FF2B5EF4-FFF2-40B4-BE49-F238E27FC236}">
                <a16:creationId xmlns:a16="http://schemas.microsoft.com/office/drawing/2014/main" id="{5BB5ED94-C016-4F9C-AF9B-BD1919A635C7}"/>
              </a:ext>
            </a:extLst>
          </p:cNvPr>
          <p:cNvSpPr>
            <a:spLocks xmlns:a="http://schemas.openxmlformats.org/drawingml/2006/main" noGrp="1"/>
          </p:cNvSpPr>
          <p:nvPr/>
        </p:nvSpPr>
        <p:spPr>
          <a:xfrm xmlns:a="http://schemas.openxmlformats.org/drawingml/2006/main">
            <a:off x="561975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7" name="stage-number-5">
            <a:extLst xmlns:a="http://schemas.openxmlformats.org/drawingml/2006/main">
              <a:ext uri="{FF2B5EF4-FFF2-40B4-BE49-F238E27FC236}">
                <a16:creationId xmlns:a16="http://schemas.microsoft.com/office/drawing/2014/main" id="{6C213B4E-3CD7-4070-897F-0805D68CA8F4}"/>
              </a:ext>
            </a:extLst>
          </p:cNvPr>
          <p:cNvSpPr>
            <a:spLocks xmlns:a="http://schemas.openxmlformats.org/drawingml/2006/main" noGrp="1"/>
          </p:cNvSpPr>
          <p:nvPr/>
        </p:nvSpPr>
        <p:spPr>
          <a:xfrm xmlns:a="http://schemas.openxmlformats.org/drawingml/2006/main">
            <a:off x="582930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05</a:t>
            </a:r>
          </a:p>
        </p:txBody>
      </p:sp>
      <p:sp>
        <p:nvSpPr>
          <p:cNvPr id="28" name="stage-title-5">
            <a:extLst xmlns:a="http://schemas.openxmlformats.org/drawingml/2006/main">
              <a:ext uri="{FF2B5EF4-FFF2-40B4-BE49-F238E27FC236}">
                <a16:creationId xmlns:a16="http://schemas.microsoft.com/office/drawing/2014/main" id="{C09580D9-3FFB-4E1A-AF0D-CD170A1A24CA}"/>
              </a:ext>
            </a:extLst>
          </p:cNvPr>
          <p:cNvSpPr>
            <a:spLocks xmlns:a="http://schemas.openxmlformats.org/drawingml/2006/main" noGrp="1"/>
          </p:cNvSpPr>
          <p:nvPr/>
        </p:nvSpPr>
        <p:spPr>
          <a:xfrm xmlns:a="http://schemas.openxmlformats.org/drawingml/2006/main">
            <a:off x="582930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Evidence + context</a:t>
            </a:r>
          </a:p>
        </p:txBody>
      </p:sp>
      <p:sp>
        <p:nvSpPr>
          <p:cNvPr id="29" name="stage-body-5">
            <a:extLst xmlns:a="http://schemas.openxmlformats.org/drawingml/2006/main">
              <a:ext uri="{FF2B5EF4-FFF2-40B4-BE49-F238E27FC236}">
                <a16:creationId xmlns:a16="http://schemas.microsoft.com/office/drawing/2014/main" id="{5E90CA5E-4C5D-4CB3-8834-3A745B27CE6A}"/>
              </a:ext>
            </a:extLst>
          </p:cNvPr>
          <p:cNvSpPr>
            <a:spLocks xmlns:a="http://schemas.openxmlformats.org/drawingml/2006/main" noGrp="1"/>
          </p:cNvSpPr>
          <p:nvPr/>
        </p:nvSpPr>
        <p:spPr>
          <a:xfrm xmlns:a="http://schemas.openxmlformats.org/drawingml/2006/main">
            <a:off x="582930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Bỏ lượng tự đoán, kiểm tra, ghép</a:t>
            </a:r>
          </a:p>
        </p:txBody>
      </p:sp>
      <p:sp>
        <p:nvSpPr>
          <p:cNvPr id="30" name="stage-6">
            <a:extLst xmlns:a="http://schemas.openxmlformats.org/drawingml/2006/main">
              <a:ext uri="{FF2B5EF4-FFF2-40B4-BE49-F238E27FC236}">
                <a16:creationId xmlns:a16="http://schemas.microsoft.com/office/drawing/2014/main" id="{6480D6AF-3529-42D5-88EE-F87517DDD052}"/>
              </a:ext>
            </a:extLst>
          </p:cNvPr>
          <p:cNvSpPr>
            <a:spLocks xmlns:a="http://schemas.openxmlformats.org/drawingml/2006/main" noGrp="1"/>
          </p:cNvSpPr>
          <p:nvPr/>
        </p:nvSpPr>
        <p:spPr>
          <a:xfrm xmlns:a="http://schemas.openxmlformats.org/drawingml/2006/main">
            <a:off x="7620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31" name="stage-number-6">
            <a:extLst xmlns:a="http://schemas.openxmlformats.org/drawingml/2006/main">
              <a:ext uri="{FF2B5EF4-FFF2-40B4-BE49-F238E27FC236}">
                <a16:creationId xmlns:a16="http://schemas.microsoft.com/office/drawing/2014/main" id="{BEA585AA-CF7D-4014-9C0B-7A2965E937D4}"/>
              </a:ext>
            </a:extLst>
          </p:cNvPr>
          <p:cNvSpPr>
            <a:spLocks xmlns:a="http://schemas.openxmlformats.org/drawingml/2006/main" noGrp="1"/>
          </p:cNvSpPr>
          <p:nvPr/>
        </p:nvSpPr>
        <p:spPr>
          <a:xfrm xmlns:a="http://schemas.openxmlformats.org/drawingml/2006/main">
            <a:off x="9715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06</a:t>
            </a:r>
          </a:p>
        </p:txBody>
      </p:sp>
      <p:sp>
        <p:nvSpPr>
          <p:cNvPr id="32" name="stage-title-6">
            <a:extLst xmlns:a="http://schemas.openxmlformats.org/drawingml/2006/main">
              <a:ext uri="{FF2B5EF4-FFF2-40B4-BE49-F238E27FC236}">
                <a16:creationId xmlns:a16="http://schemas.microsoft.com/office/drawing/2014/main" id="{A76A1B59-1D66-4D55-83E2-B76DA29B1102}"/>
              </a:ext>
            </a:extLst>
          </p:cNvPr>
          <p:cNvSpPr>
            <a:spLocks xmlns:a="http://schemas.openxmlformats.org/drawingml/2006/main" noGrp="1"/>
          </p:cNvSpPr>
          <p:nvPr/>
        </p:nvSpPr>
        <p:spPr>
          <a:xfrm xmlns:a="http://schemas.openxmlformats.org/drawingml/2006/main">
            <a:off x="9715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Business action</a:t>
            </a:r>
          </a:p>
        </p:txBody>
      </p:sp>
      <p:sp>
        <p:nvSpPr>
          <p:cNvPr id="33" name="stage-body-6">
            <a:extLst xmlns:a="http://schemas.openxmlformats.org/drawingml/2006/main">
              <a:ext uri="{FF2B5EF4-FFF2-40B4-BE49-F238E27FC236}">
                <a16:creationId xmlns:a16="http://schemas.microsoft.com/office/drawing/2014/main" id="{37475A82-8AD0-4428-A590-FBFC4AE5EB8D}"/>
              </a:ext>
            </a:extLst>
          </p:cNvPr>
          <p:cNvSpPr>
            <a:spLocks xmlns:a="http://schemas.openxmlformats.org/drawingml/2006/main" noGrp="1"/>
          </p:cNvSpPr>
          <p:nvPr/>
        </p:nvSpPr>
        <p:spPr>
          <a:xfrm xmlns:a="http://schemas.openxmlformats.org/drawingml/2006/main">
            <a:off x="9715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Đọc DB, hỏi thêm, tạo hoặc sửa đơn</a:t>
            </a:r>
          </a:p>
        </p:txBody>
      </p:sp>
      <p:sp>
        <p:nvSpPr>
          <p:cNvPr id="34" name="pipeline-caption">
            <a:extLst xmlns:a="http://schemas.openxmlformats.org/drawingml/2006/main">
              <a:ext uri="{FF2B5EF4-FFF2-40B4-BE49-F238E27FC236}">
                <a16:creationId xmlns:a16="http://schemas.microsoft.com/office/drawing/2014/main" id="{6BC98C6D-65F0-41D1-91E5-0062AE1828AF}"/>
              </a:ext>
            </a:extLst>
          </p:cNvPr>
          <p:cNvSpPr>
            <a:spLocks xmlns:a="http://schemas.openxmlformats.org/drawingml/2006/main" noGrp="1"/>
          </p:cNvSpPr>
          <p:nvPr/>
        </p:nvSpPr>
        <p:spPr>
          <a:xfrm xmlns:a="http://schemas.openxmlformats.org/drawingml/2006/main">
            <a:off x="762000" y="7191375"/>
            <a:ext cx="1352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D6063"/>
                </a:solidFill>
                <a:latin typeface="Arial"/>
                <a:ea typeface="Arial"/>
                <a:cs typeface="Arial"/>
              </a:defRPr>
            </a:defPPr>
            <a:lvl1pPr>
              <a:defRPr sz="2025" b="0">
                <a:solidFill>
                  <a:srgbClr val="4D6063"/>
                </a:solidFill>
                <a:latin typeface="Arial"/>
                <a:ea typeface="Arial"/>
                <a:cs typeface="Arial"/>
              </a:defRPr>
            </a:lvl1pPr>
            <a:lvl2pPr>
              <a:defRPr sz="2025" b="0">
                <a:solidFill>
                  <a:srgbClr val="4D6063"/>
                </a:solidFill>
                <a:latin typeface="Arial"/>
                <a:ea typeface="Arial"/>
                <a:cs typeface="Arial"/>
              </a:defRPr>
            </a:lvl2pPr>
            <a:lvl3pPr>
              <a:defRPr sz="2025" b="0">
                <a:solidFill>
                  <a:srgbClr val="4D6063"/>
                </a:solidFill>
                <a:latin typeface="Arial"/>
                <a:ea typeface="Arial"/>
                <a:cs typeface="Arial"/>
              </a:defRPr>
            </a:lvl3pPr>
            <a:lvl4pPr>
              <a:defRPr sz="2025" b="0">
                <a:solidFill>
                  <a:srgbClr val="4D6063"/>
                </a:solidFill>
                <a:latin typeface="Arial"/>
                <a:ea typeface="Arial"/>
                <a:cs typeface="Arial"/>
              </a:defRPr>
            </a:lvl4pPr>
            <a:lvl5pPr>
              <a:defRPr sz="2025" b="0">
                <a:solidFill>
                  <a:srgbClr val="4D6063"/>
                </a:solidFill>
                <a:latin typeface="Arial"/>
                <a:ea typeface="Arial"/>
                <a:cs typeface="Arial"/>
              </a:defRPr>
            </a:lvl5pPr>
            <a:lvl6pPr>
              <a:defRPr sz="2025" b="0">
                <a:solidFill>
                  <a:srgbClr val="4D6063"/>
                </a:solidFill>
                <a:latin typeface="Arial"/>
                <a:ea typeface="Arial"/>
                <a:cs typeface="Arial"/>
              </a:defRPr>
            </a:lvl6pPr>
            <a:lvl7pPr>
              <a:defRPr sz="2025" b="0">
                <a:solidFill>
                  <a:srgbClr val="4D6063"/>
                </a:solidFill>
                <a:latin typeface="Arial"/>
                <a:ea typeface="Arial"/>
                <a:cs typeface="Arial"/>
              </a:defRPr>
            </a:lvl7pPr>
            <a:lvl8pPr>
              <a:defRPr sz="2025" b="0">
                <a:solidFill>
                  <a:srgbClr val="4D6063"/>
                </a:solidFill>
                <a:latin typeface="Arial"/>
                <a:ea typeface="Arial"/>
                <a:cs typeface="Arial"/>
              </a:defRPr>
            </a:lvl8pPr>
            <a:lvl9pPr>
              <a:defRPr sz="2025" b="0">
                <a:solidFill>
                  <a:srgbClr val="4D6063"/>
                </a:solidFill>
                <a:latin typeface="Arial"/>
                <a:ea typeface="Arial"/>
                <a:cs typeface="Arial"/>
              </a:defRPr>
            </a:lvl9pPr>
          </a:lstStyle>
          <a:p xmlns:a="http://schemas.openxmlformats.org/drawingml/2006/main">
            <a:pPr>
              <a:lnSpc>
                <a:spcPct val="112000"/>
              </a:lnSpc>
              <a:buNone/>
              <a:defRPr sz="2025" b="0">
                <a:solidFill>
                  <a:srgbClr val="4D6063"/>
                </a:solidFill>
                <a:latin typeface="Arial"/>
                <a:ea typeface="Arial"/>
                <a:cs typeface="Arial"/>
              </a:defRPr>
            </a:pPr>
            <a:r>
              <a:rPr sz="2025" b="0">
                <a:solidFill>
                  <a:srgbClr val="4D6063"/>
                </a:solidFill>
                <a:latin typeface="Arial"/>
                <a:ea typeface="Arial"/>
                <a:cs typeface="Arial"/>
              </a:rPr>
              <a:t>generate() trả dữ liệu trích xuất. Business service và database quyết định hành động cuối.</a:t>
            </a:r>
          </a:p>
        </p:txBody>
      </p:sp>
    </p:spTree>
    <p:extLst>
      <p:ext uri="{BB962C8B-B14F-4D97-AF65-F5344CB8AC3E}">
        <p14:creationId xmlns:p14="http://schemas.microsoft.com/office/powerpoint/2010/main" val="1977788329"/>
      </p:ext>
    </p:extLst>
  </p:cSld>
</p:sld>
</file>

<file path=ppt/slides/slide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14E153BD-669A-4B5B-B175-FF2F33969BA7}"/>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Gọi Gemini qua REST</a:t>
            </a:r>
          </a:p>
        </p:txBody>
      </p:sp>
      <p:sp>
        <p:nvSpPr>
          <p:cNvPr id="3" name="page-number">
            <a:extLst xmlns:a="http://schemas.openxmlformats.org/drawingml/2006/main">
              <a:ext uri="{FF2B5EF4-FFF2-40B4-BE49-F238E27FC236}">
                <a16:creationId xmlns:a16="http://schemas.microsoft.com/office/drawing/2014/main" id="{BB64B69E-6E66-42D9-A290-4834A79D542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 / 12</a:t>
            </a:r>
          </a:p>
        </p:txBody>
      </p:sp>
      <p:sp>
        <p:nvSpPr>
          <p:cNvPr id="4" name="source-reference">
            <a:extLst xmlns:a="http://schemas.openxmlformats.org/drawingml/2006/main">
              <a:ext uri="{FF2B5EF4-FFF2-40B4-BE49-F238E27FC236}">
                <a16:creationId xmlns:a16="http://schemas.microsoft.com/office/drawing/2014/main" id="{16E9DD52-BDC6-4366-8CA6-85A61BE2114A}"/>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src/llm_client.py:51–57,66–67</a:t>
            </a:r>
          </a:p>
        </p:txBody>
      </p:sp>
      <p:sp>
        <p:nvSpPr>
          <p:cNvPr id="5" name="code-intro">
            <a:extLst xmlns:a="http://schemas.openxmlformats.org/drawingml/2006/main">
              <a:ext uri="{FF2B5EF4-FFF2-40B4-BE49-F238E27FC236}">
                <a16:creationId xmlns:a16="http://schemas.microsoft.com/office/drawing/2014/main" id="{EF996374-94F4-48E5-9E84-9EDE261CB2E1}"/>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GeminiLLMClient.generate() ghép payload rồi gọi endpoint generateContent.</a:t>
            </a:r>
          </a:p>
        </p:txBody>
      </p:sp>
      <p:sp>
        <p:nvSpPr>
          <p:cNvPr id="6" name="source-code">
            <a:extLst xmlns:a="http://schemas.openxmlformats.org/drawingml/2006/main">
              <a:ext uri="{FF2B5EF4-FFF2-40B4-BE49-F238E27FC236}">
                <a16:creationId xmlns:a16="http://schemas.microsoft.com/office/drawing/2014/main" id="{226C48CD-7798-4F8D-B1A7-E85220434031}"/>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50" b="0">
                <a:solidFill>
                  <a:srgbClr val="172E32"/>
                </a:solidFill>
                <a:latin typeface="Courier New"/>
                <a:ea typeface="Courier New"/>
                <a:cs typeface="Courier New"/>
              </a:defRPr>
            </a:defPPr>
            <a:lvl1pPr>
              <a:defRPr sz="1650" b="0">
                <a:solidFill>
                  <a:srgbClr val="172E32"/>
                </a:solidFill>
                <a:latin typeface="Courier New"/>
                <a:ea typeface="Courier New"/>
                <a:cs typeface="Courier New"/>
              </a:defRPr>
            </a:lvl1pPr>
            <a:lvl2pPr>
              <a:defRPr sz="1650" b="0">
                <a:solidFill>
                  <a:srgbClr val="172E32"/>
                </a:solidFill>
                <a:latin typeface="Courier New"/>
                <a:ea typeface="Courier New"/>
                <a:cs typeface="Courier New"/>
              </a:defRPr>
            </a:lvl2pPr>
            <a:lvl3pPr>
              <a:defRPr sz="1650" b="0">
                <a:solidFill>
                  <a:srgbClr val="172E32"/>
                </a:solidFill>
                <a:latin typeface="Courier New"/>
                <a:ea typeface="Courier New"/>
                <a:cs typeface="Courier New"/>
              </a:defRPr>
            </a:lvl3pPr>
            <a:lvl4pPr>
              <a:defRPr sz="1650" b="0">
                <a:solidFill>
                  <a:srgbClr val="172E32"/>
                </a:solidFill>
                <a:latin typeface="Courier New"/>
                <a:ea typeface="Courier New"/>
                <a:cs typeface="Courier New"/>
              </a:defRPr>
            </a:lvl4pPr>
            <a:lvl5pPr>
              <a:defRPr sz="1650" b="0">
                <a:solidFill>
                  <a:srgbClr val="172E32"/>
                </a:solidFill>
                <a:latin typeface="Courier New"/>
                <a:ea typeface="Courier New"/>
                <a:cs typeface="Courier New"/>
              </a:defRPr>
            </a:lvl5pPr>
            <a:lvl6pPr>
              <a:defRPr sz="1650" b="0">
                <a:solidFill>
                  <a:srgbClr val="172E32"/>
                </a:solidFill>
                <a:latin typeface="Courier New"/>
                <a:ea typeface="Courier New"/>
                <a:cs typeface="Courier New"/>
              </a:defRPr>
            </a:lvl6pPr>
            <a:lvl7pPr>
              <a:defRPr sz="1650" b="0">
                <a:solidFill>
                  <a:srgbClr val="172E32"/>
                </a:solidFill>
                <a:latin typeface="Courier New"/>
                <a:ea typeface="Courier New"/>
                <a:cs typeface="Courier New"/>
              </a:defRPr>
            </a:lvl7pPr>
            <a:lvl8pPr>
              <a:defRPr sz="1650" b="0">
                <a:solidFill>
                  <a:srgbClr val="172E32"/>
                </a:solidFill>
                <a:latin typeface="Courier New"/>
                <a:ea typeface="Courier New"/>
                <a:cs typeface="Courier New"/>
              </a:defRPr>
            </a:lvl8pPr>
            <a:lvl9pPr>
              <a:defRPr sz="1650" b="0">
                <a:solidFill>
                  <a:srgbClr val="172E32"/>
                </a:solidFill>
                <a:latin typeface="Courier New"/>
                <a:ea typeface="Courier New"/>
                <a:cs typeface="Courier New"/>
              </a:defRPr>
            </a:lvl9pPr>
          </a:lstStyle>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51          system, prompt = build_prompt(message, catalog, context)</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52          url = "https://generativelanguage.googleapis.com/v1beta/models/" + quote(self.model_id, safe="-") + ":generateContent"</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53          payload = {"systemInstruction": {"parts": [{"text": system}]},</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54                     "contents": [{"role": "user", "parts": [{"text": prompt}]}],</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55                     "generationConfig": {"temperature": 0, "maxOutputTokens": 2048,</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56                                          "responseFormat": {"text": {"mimeType": "APPLICATION_JSON",</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57                                                                      "schema": Extraction.model_json_schema()}}}}</a:t>
            </a:r>
          </a:p>
          <a:p xmlns:a="http://schemas.openxmlformats.org/drawingml/2006/main">
            <a:r>
              <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66                  response = requests.post(url, headers={"x-goog-api-key": self.settings.api_key}, json=payload,</a:t>
            </a:r>
          </a:p>
          <a:p xmlns:a="http://schemas.openxmlformats.org/drawingml/2006/main">
            <a:pPr>
              <a:lnSpc>
                <a:spcPct val="108000"/>
              </a:lnSpc>
              <a:buNone/>
              <a:defRPr sz="1650" b="0">
                <a:solidFill>
                  <a:srgbClr val="172E32"/>
                </a:solidFill>
                <a:latin typeface="Courier New"/>
                <a:ea typeface="Courier New"/>
                <a:cs typeface="Courier New"/>
              </a:defRPr>
            </a:pPr>
            <a:r>
              <a:rPr sz="1650" b="0">
                <a:solidFill>
                  <a:srgbClr val="172E32"/>
                </a:solidFill>
                <a:latin typeface="Courier New"/>
                <a:ea typeface="Courier New"/>
                <a:cs typeface="Courier New"/>
              </a:rPr>
              <a:t> 67                                           timeout=self.settings.llm_timeout, allow_redirects=False)</a:t>
            </a:r>
          </a:p>
        </p:txBody>
      </p:sp>
      <p:sp>
        <p:nvSpPr>
          <p:cNvPr id="7" name="code-lesson">
            <a:extLst xmlns:a="http://schemas.openxmlformats.org/drawingml/2006/main">
              <a:ext uri="{FF2B5EF4-FFF2-40B4-BE49-F238E27FC236}">
                <a16:creationId xmlns:a16="http://schemas.microsoft.com/office/drawing/2014/main" id="{1B2797DE-18F3-4257-B600-D90EB4BDE300}"/>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temperature=0, maxOutputTokens=2048 và responseFormat yêu cầu JSON theo schema.</a:t>
            </a:r>
          </a:p>
        </p:txBody>
      </p:sp>
    </p:spTree>
    <p:extLst>
      <p:ext uri="{BB962C8B-B14F-4D97-AF65-F5344CB8AC3E}">
        <p14:creationId xmlns:p14="http://schemas.microsoft.com/office/powerpoint/2010/main" val="1721970661"/>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DA73138-E0CA-4225-903F-8F5E69263354}"/>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Kiểm tra kết quả LLM</a:t>
            </a:r>
          </a:p>
        </p:txBody>
      </p:sp>
      <p:sp>
        <p:nvSpPr>
          <p:cNvPr id="3" name="page-number">
            <a:extLst xmlns:a="http://schemas.openxmlformats.org/drawingml/2006/main">
              <a:ext uri="{FF2B5EF4-FFF2-40B4-BE49-F238E27FC236}">
                <a16:creationId xmlns:a16="http://schemas.microsoft.com/office/drawing/2014/main" id="{4E67C73F-EB9A-4572-87D4-C25004654804}"/>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 / 12</a:t>
            </a:r>
          </a:p>
        </p:txBody>
      </p:sp>
      <p:sp>
        <p:nvSpPr>
          <p:cNvPr id="4" name="source-reference">
            <a:extLst xmlns:a="http://schemas.openxmlformats.org/drawingml/2006/main">
              <a:ext uri="{FF2B5EF4-FFF2-40B4-BE49-F238E27FC236}">
                <a16:creationId xmlns:a16="http://schemas.microsoft.com/office/drawing/2014/main" id="{EDFC7624-5D2A-43D6-A557-4BF20707A598}"/>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backend/chat_service.py:237–241   /   src/parser.py:75–78</a:t>
            </a:r>
          </a:p>
        </p:txBody>
      </p:sp>
      <p:sp>
        <p:nvSpPr>
          <p:cNvPr id="5" name="code-intro">
            <a:extLst xmlns:a="http://schemas.openxmlformats.org/drawingml/2006/main">
              <a:ext uri="{FF2B5EF4-FFF2-40B4-BE49-F238E27FC236}">
                <a16:creationId xmlns:a16="http://schemas.microsoft.com/office/drawing/2014/main" id="{9CBA1DE8-1B7B-40BE-8547-5F50F8C30FE1}"/>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Workflow parse JSON, kiểm tra schema và đối chiếu trường trích xuất với câu khách.</a:t>
            </a:r>
          </a:p>
        </p:txBody>
      </p:sp>
      <p:sp>
        <p:nvSpPr>
          <p:cNvPr id="6" name="source-code">
            <a:extLst xmlns:a="http://schemas.openxmlformats.org/drawingml/2006/main">
              <a:ext uri="{FF2B5EF4-FFF2-40B4-BE49-F238E27FC236}">
                <a16:creationId xmlns:a16="http://schemas.microsoft.com/office/drawing/2014/main" id="{8557F186-0EBA-48C0-A587-B88FFA539F3A}"/>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763" b="0">
                <a:solidFill>
                  <a:srgbClr val="172E32"/>
                </a:solidFill>
                <a:latin typeface="Courier New"/>
                <a:ea typeface="Courier New"/>
                <a:cs typeface="Courier New"/>
              </a:defRPr>
            </a:defPPr>
            <a:lvl1pPr>
              <a:defRPr sz="1763" b="0">
                <a:solidFill>
                  <a:srgbClr val="172E32"/>
                </a:solidFill>
                <a:latin typeface="Courier New"/>
                <a:ea typeface="Courier New"/>
                <a:cs typeface="Courier New"/>
              </a:defRPr>
            </a:lvl1pPr>
            <a:lvl2pPr>
              <a:defRPr sz="1763" b="0">
                <a:solidFill>
                  <a:srgbClr val="172E32"/>
                </a:solidFill>
                <a:latin typeface="Courier New"/>
                <a:ea typeface="Courier New"/>
                <a:cs typeface="Courier New"/>
              </a:defRPr>
            </a:lvl2pPr>
            <a:lvl3pPr>
              <a:defRPr sz="1763" b="0">
                <a:solidFill>
                  <a:srgbClr val="172E32"/>
                </a:solidFill>
                <a:latin typeface="Courier New"/>
                <a:ea typeface="Courier New"/>
                <a:cs typeface="Courier New"/>
              </a:defRPr>
            </a:lvl3pPr>
            <a:lvl4pPr>
              <a:defRPr sz="1763" b="0">
                <a:solidFill>
                  <a:srgbClr val="172E32"/>
                </a:solidFill>
                <a:latin typeface="Courier New"/>
                <a:ea typeface="Courier New"/>
                <a:cs typeface="Courier New"/>
              </a:defRPr>
            </a:lvl4pPr>
            <a:lvl5pPr>
              <a:defRPr sz="1763" b="0">
                <a:solidFill>
                  <a:srgbClr val="172E32"/>
                </a:solidFill>
                <a:latin typeface="Courier New"/>
                <a:ea typeface="Courier New"/>
                <a:cs typeface="Courier New"/>
              </a:defRPr>
            </a:lvl5pPr>
            <a:lvl6pPr>
              <a:defRPr sz="1763" b="0">
                <a:solidFill>
                  <a:srgbClr val="172E32"/>
                </a:solidFill>
                <a:latin typeface="Courier New"/>
                <a:ea typeface="Courier New"/>
                <a:cs typeface="Courier New"/>
              </a:defRPr>
            </a:lvl6pPr>
            <a:lvl7pPr>
              <a:defRPr sz="1763" b="0">
                <a:solidFill>
                  <a:srgbClr val="172E32"/>
                </a:solidFill>
                <a:latin typeface="Courier New"/>
                <a:ea typeface="Courier New"/>
                <a:cs typeface="Courier New"/>
              </a:defRPr>
            </a:lvl7pPr>
            <a:lvl8pPr>
              <a:defRPr sz="1763" b="0">
                <a:solidFill>
                  <a:srgbClr val="172E32"/>
                </a:solidFill>
                <a:latin typeface="Courier New"/>
                <a:ea typeface="Courier New"/>
                <a:cs typeface="Courier New"/>
              </a:defRPr>
            </a:lvl8pPr>
            <a:lvl9pPr>
              <a:defRPr sz="1763" b="0">
                <a:solidFill>
                  <a:srgbClr val="172E32"/>
                </a:solidFill>
                <a:latin typeface="Courier New"/>
                <a:ea typeface="Courier New"/>
                <a:cs typeface="Courier New"/>
              </a:defRPr>
            </a:lvl9pPr>
          </a:lstStyle>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237              llm = client.generate(message, _catalog_context(conn, message, context), context)</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238              meta.update(input_tokens=llm.input_tokens, output_tokens=llm.output_tokens, retry_count=llm.retry_count)</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239              parsed = parse_output(llm.text)</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240              quantities = [item.quantity for item in parsed.items]</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241              data = validate_grounding(discard_implicit_quantities(parsed, message), message)</a:t>
            </a:r>
          </a:p>
          <a:p xmlns:a="http://schemas.openxmlformats.org/drawingml/2006/main">
            <a:r>
              <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 75      try:</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 76          return Extraction.model_validate(value)</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 77      except ValidationError:</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 78          raise OutputError("invalid_schema") from None</a:t>
            </a:r>
          </a:p>
        </p:txBody>
      </p:sp>
      <p:sp>
        <p:nvSpPr>
          <p:cNvPr id="7" name="code-lesson">
            <a:extLst xmlns:a="http://schemas.openxmlformats.org/drawingml/2006/main">
              <a:ext uri="{FF2B5EF4-FFF2-40B4-BE49-F238E27FC236}">
                <a16:creationId xmlns:a16="http://schemas.microsoft.com/office/drawing/2014/main" id="{C9919760-F0B5-4B76-BE04-7C05F9283BD3}"/>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Dữ liệu hợp schema còn phải qua grounding, đối chiếu SKU, tồn kho và quyền phiên.</a:t>
            </a:r>
          </a:p>
        </p:txBody>
      </p:sp>
    </p:spTree>
    <p:extLst>
      <p:ext uri="{BB962C8B-B14F-4D97-AF65-F5344CB8AC3E}">
        <p14:creationId xmlns:p14="http://schemas.microsoft.com/office/powerpoint/2010/main" val="778626937"/>
      </p:ext>
    </p:extLst>
  </p:cSld>
</p:sld>
</file>

<file path=ppt/slides/slide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E6998F5-D037-4A9D-A1F5-70255278B62B}"/>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Ví dụ: 15inch không phải số lượng 15</a:t>
            </a:r>
          </a:p>
        </p:txBody>
      </p:sp>
      <p:sp>
        <p:nvSpPr>
          <p:cNvPr id="3" name="page-number">
            <a:extLst xmlns:a="http://schemas.openxmlformats.org/drawingml/2006/main">
              <a:ext uri="{FF2B5EF4-FFF2-40B4-BE49-F238E27FC236}">
                <a16:creationId xmlns:a16="http://schemas.microsoft.com/office/drawing/2014/main" id="{9435C1A0-1EAF-429D-AE7F-9197E52CB14D}"/>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 / 12</a:t>
            </a:r>
          </a:p>
        </p:txBody>
      </p:sp>
      <p:sp>
        <p:nvSpPr>
          <p:cNvPr id="4" name="source-reference">
            <a:extLst xmlns:a="http://schemas.openxmlformats.org/drawingml/2006/main">
              <a:ext uri="{FF2B5EF4-FFF2-40B4-BE49-F238E27FC236}">
                <a16:creationId xmlns:a16="http://schemas.microsoft.com/office/drawing/2014/main" id="{C83A189A-6FF8-46C9-8088-13993618DF1F}"/>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src/parser.py:118–124   /   src/prompts.py:28–29</a:t>
            </a:r>
          </a:p>
        </p:txBody>
      </p:sp>
      <p:sp>
        <p:nvSpPr>
          <p:cNvPr id="5" name="code-intro">
            <a:extLst xmlns:a="http://schemas.openxmlformats.org/drawingml/2006/main">
              <a:ext uri="{FF2B5EF4-FFF2-40B4-BE49-F238E27FC236}">
                <a16:creationId xmlns:a16="http://schemas.microsoft.com/office/drawing/2014/main" id="{60120AD9-6636-4572-9F11-02D2FDEB0507}"/>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Khách chưa nêu số lượng thì backend bỏ lượng model tự đoán và hỏi lại.</a:t>
            </a:r>
          </a:p>
        </p:txBody>
      </p:sp>
      <p:sp>
        <p:nvSpPr>
          <p:cNvPr id="6" name="source-code">
            <a:extLst xmlns:a="http://schemas.openxmlformats.org/drawingml/2006/main">
              <a:ext uri="{FF2B5EF4-FFF2-40B4-BE49-F238E27FC236}">
                <a16:creationId xmlns:a16="http://schemas.microsoft.com/office/drawing/2014/main" id="{7EC605AE-6C81-485C-9E7F-36E079630AA7}"/>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118  def discard_implicit_quantities(data, message):</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119      source = quantity_source(message, data.customer)</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120      explicit = " invalidquantity " in source or re.search(r"\b\d+\b", source) or any(" " + word + " " in source for word in NUMBER_WORDS)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121      if data.intent in {"create_order", "update_order"} and not explicit: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122          for item in data.items: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123              item.quantity = None</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124      return data</a:t>
            </a:r>
          </a:p>
          <a:p xmlns:a="http://schemas.openxmlformats.org/drawingml/2006/main">
            <a:r>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28  An instruction to order a product without a count must have quantity=null, never default 1.</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29  Measurements such as 15inch/15 inch describe size, never quantity. Keep their literal spelling.</a:t>
            </a:r>
          </a:p>
        </p:txBody>
      </p:sp>
      <p:sp>
        <p:nvSpPr>
          <p:cNvPr id="7" name="code-lesson">
            <a:extLst xmlns:a="http://schemas.openxmlformats.org/drawingml/2006/main">
              <a:ext uri="{FF2B5EF4-FFF2-40B4-BE49-F238E27FC236}">
                <a16:creationId xmlns:a16="http://schemas.microsoft.com/office/drawing/2014/main" id="{C35F59AF-CE5D-4B64-973F-54058DB74BA7}"/>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“Đặt balo xám 15inch” còn thiếu quantity. Khách bổ sung số lượng rồi mới tạo đơn.</a:t>
            </a:r>
          </a:p>
        </p:txBody>
      </p:sp>
    </p:spTree>
    <p:extLst>
      <p:ext uri="{BB962C8B-B14F-4D97-AF65-F5344CB8AC3E}">
        <p14:creationId xmlns:p14="http://schemas.microsoft.com/office/powerpoint/2010/main" val="787996364"/>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4A2F558-3276-4A79-AEDF-1DC62092C130}"/>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Chọn nhánh nghiệp vụ</a:t>
            </a:r>
          </a:p>
        </p:txBody>
      </p:sp>
      <p:sp>
        <p:nvSpPr>
          <p:cNvPr id="3" name="page-number">
            <a:extLst xmlns:a="http://schemas.openxmlformats.org/drawingml/2006/main">
              <a:ext uri="{FF2B5EF4-FFF2-40B4-BE49-F238E27FC236}">
                <a16:creationId xmlns:a16="http://schemas.microsoft.com/office/drawing/2014/main" id="{172686CD-0649-45EA-AA39-A6E1A33D935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9 / 12</a:t>
            </a:r>
          </a:p>
        </p:txBody>
      </p:sp>
      <p:sp>
        <p:nvSpPr>
          <p:cNvPr id="4" name="source-reference">
            <a:extLst xmlns:a="http://schemas.openxmlformats.org/drawingml/2006/main">
              <a:ext uri="{FF2B5EF4-FFF2-40B4-BE49-F238E27FC236}">
                <a16:creationId xmlns:a16="http://schemas.microsoft.com/office/drawing/2014/main" id="{0BA3150D-8538-4A5F-AF1D-85A8A502E2EA}"/>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backend/chat_service.py:283–290</a:t>
            </a:r>
          </a:p>
        </p:txBody>
      </p:sp>
      <p:sp>
        <p:nvSpPr>
          <p:cNvPr id="5" name="code-intro">
            <a:extLst xmlns:a="http://schemas.openxmlformats.org/drawingml/2006/main">
              <a:ext uri="{FF2B5EF4-FFF2-40B4-BE49-F238E27FC236}">
                <a16:creationId xmlns:a16="http://schemas.microsoft.com/office/drawing/2014/main" id="{BDFC9325-83A9-48CF-B56A-C2AD801736FD}"/>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Workflow quyết định action từ intent đã qua kiểm tra và dữ liệu đã ghép.</a:t>
            </a:r>
          </a:p>
        </p:txBody>
      </p:sp>
      <p:sp>
        <p:nvSpPr>
          <p:cNvPr id="6" name="source-code">
            <a:extLst xmlns:a="http://schemas.openxmlformats.org/drawingml/2006/main">
              <a:ext uri="{FF2B5EF4-FFF2-40B4-BE49-F238E27FC236}">
                <a16:creationId xmlns:a16="http://schemas.microsoft.com/office/drawing/2014/main" id="{992386EB-B246-486F-8E31-0D735AB457A3}"/>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283                  if data.intent == "browse_catalog":</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284                      result = catalog_reply(conn, incoming, data.catalog_filters, data.intent)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285                  elif data.intent == "create_order":</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286                      result = _draft(conn, ctx, session, slots, key)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287                  elif data.intent == "update_order":</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288                      result = _update(conn, ctx, session, slots)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289                  else:</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290                      result = _query(conn, slots["items"], data.intent, data.catalog_filters)</a:t>
            </a:r>
          </a:p>
        </p:txBody>
      </p:sp>
      <p:sp>
        <p:nvSpPr>
          <p:cNvPr id="7" name="code-lesson">
            <a:extLst xmlns:a="http://schemas.openxmlformats.org/drawingml/2006/main">
              <a:ext uri="{FF2B5EF4-FFF2-40B4-BE49-F238E27FC236}">
                <a16:creationId xmlns:a16="http://schemas.microsoft.com/office/drawing/2014/main" id="{9525274F-84F8-4B6F-9EA0-D9B7AE9199E6}"/>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Model đưa ra Extraction, Python chọn hành động và dữ liệu database quyết định kết quả.</a:t>
            </a:r>
          </a:p>
        </p:txBody>
      </p:sp>
    </p:spTree>
    <p:extLst>
      <p:ext uri="{BB962C8B-B14F-4D97-AF65-F5344CB8AC3E}">
        <p14:creationId xmlns:p14="http://schemas.microsoft.com/office/powerpoint/2010/main" val="214805016"/>
      </p:ext>
    </p:extLst>
  </p:cSld>
</p:sld>
</file>

<file path=ppt/slides/slide1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E5BC462-3D5F-43DE-9EFB-6712454C1068}"/>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Tạo đơn nháp qua bot</a:t>
            </a:r>
          </a:p>
        </p:txBody>
      </p:sp>
      <p:sp>
        <p:nvSpPr>
          <p:cNvPr id="3" name="page-number">
            <a:extLst xmlns:a="http://schemas.openxmlformats.org/drawingml/2006/main">
              <a:ext uri="{FF2B5EF4-FFF2-40B4-BE49-F238E27FC236}">
                <a16:creationId xmlns:a16="http://schemas.microsoft.com/office/drawing/2014/main" id="{B6066787-BF6D-486E-864D-328113327F33}"/>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10 / 12</a:t>
            </a:r>
          </a:p>
        </p:txBody>
      </p:sp>
      <p:sp>
        <p:nvSpPr>
          <p:cNvPr id="4" name="source-reference">
            <a:extLst xmlns:a="http://schemas.openxmlformats.org/drawingml/2006/main">
              <a:ext uri="{FF2B5EF4-FFF2-40B4-BE49-F238E27FC236}">
                <a16:creationId xmlns:a16="http://schemas.microsoft.com/office/drawing/2014/main" id="{C60AB56B-6287-4BF9-965F-665665ADB64F}"/>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backend/chat_service.py:149–156</a:t>
            </a:r>
          </a:p>
        </p:txBody>
      </p:sp>
      <p:sp>
        <p:nvSpPr>
          <p:cNvPr id="5" name="code-intro">
            <a:extLst xmlns:a="http://schemas.openxmlformats.org/drawingml/2006/main">
              <a:ext uri="{FF2B5EF4-FFF2-40B4-BE49-F238E27FC236}">
                <a16:creationId xmlns:a16="http://schemas.microsoft.com/office/drawing/2014/main" id="{94D76121-8F6D-4341-9FE3-8A582D2ADDDD}"/>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_draft() kiểm tra số lượng, giao nhận và tồn kho rồi gọi order service.</a:t>
            </a:r>
          </a:p>
        </p:txBody>
      </p:sp>
      <p:sp>
        <p:nvSpPr>
          <p:cNvPr id="6" name="source-code">
            <a:extLst xmlns:a="http://schemas.openxmlformats.org/drawingml/2006/main">
              <a:ext uri="{FF2B5EF4-FFF2-40B4-BE49-F238E27FC236}">
                <a16:creationId xmlns:a16="http://schemas.microsoft.com/office/drawing/2014/main" id="{6DC09653-8ACD-4B67-9BF1-CA9AFCAF8831}"/>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149      resolved = [{"sku": s, "quantity": q} for s, q in normalize_items(resolved)]</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150      stock = catalog.check_items(conn, resolved)</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151      if not stock["ok"]:</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152          details = "; ".join(f"{r['sku']} còn {r['available']}, bạn yêu cầu {r['requested']}" for r in stock["results"] if not r["ok"])</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153          return response("Không đủ hàng: " + details + ". Vui lòng chọn lại số lượng hoặc biến thể.", "out_of_stock")</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154      order = orders.create_draft_order(conn, ctx, session["owner_id"], resolved, delivery, source="chat", idempotency_key=key)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155      return response("Đã tạo đơn nháp. Bạn có thể xem và sửa ở trang Đơn hàng; đơn đang chờ xác nhận.",</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156                      "draft_created", order=order_view(conn, order))</a:t>
            </a:r>
          </a:p>
        </p:txBody>
      </p:sp>
      <p:sp>
        <p:nvSpPr>
          <p:cNvPr id="7" name="code-lesson">
            <a:extLst xmlns:a="http://schemas.openxmlformats.org/drawingml/2006/main">
              <a:ext uri="{FF2B5EF4-FFF2-40B4-BE49-F238E27FC236}">
                <a16:creationId xmlns:a16="http://schemas.microsoft.com/office/drawing/2014/main" id="{8D97CD28-0689-4DCF-9AFB-9A383B3CE3BC}"/>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Đơn có source=chat, chờ xác nhận. Kho chưa bị trừ ở bước tạo đơn nháp.</a:t>
            </a:r>
          </a:p>
        </p:txBody>
      </p:sp>
    </p:spTree>
    <p:extLst>
      <p:ext uri="{BB962C8B-B14F-4D97-AF65-F5344CB8AC3E}">
        <p14:creationId xmlns:p14="http://schemas.microsoft.com/office/powerpoint/2010/main" val="1466098666"/>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EF8689D-C4B8-42B8-A592-02999E15E54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Giá tiền và trạng thái đơn trong DB</a:t>
            </a:r>
          </a:p>
        </p:txBody>
      </p:sp>
      <p:sp>
        <p:nvSpPr>
          <p:cNvPr id="3" name="page-number">
            <a:extLst xmlns:a="http://schemas.openxmlformats.org/drawingml/2006/main">
              <a:ext uri="{FF2B5EF4-FFF2-40B4-BE49-F238E27FC236}">
                <a16:creationId xmlns:a16="http://schemas.microsoft.com/office/drawing/2014/main" id="{40A05F53-2E84-4654-970D-6898A1D7867C}"/>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11 / 12</a:t>
            </a:r>
          </a:p>
        </p:txBody>
      </p:sp>
      <p:sp>
        <p:nvSpPr>
          <p:cNvPr id="4" name="source-reference">
            <a:extLst xmlns:a="http://schemas.openxmlformats.org/drawingml/2006/main">
              <a:ext uri="{FF2B5EF4-FFF2-40B4-BE49-F238E27FC236}">
                <a16:creationId xmlns:a16="http://schemas.microsoft.com/office/drawing/2014/main" id="{C49B402B-4390-4A5C-B601-BF9856F9B22E}"/>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database/shop_db/order_service.py:128,132,138–140   /   database/shop_db/order_common.py:36–40</a:t>
            </a:r>
          </a:p>
        </p:txBody>
      </p:sp>
      <p:sp>
        <p:nvSpPr>
          <p:cNvPr id="5" name="code-intro">
            <a:extLst xmlns:a="http://schemas.openxmlformats.org/drawingml/2006/main">
              <a:ext uri="{FF2B5EF4-FFF2-40B4-BE49-F238E27FC236}">
                <a16:creationId xmlns:a16="http://schemas.microsoft.com/office/drawing/2014/main" id="{DA113604-62AE-4B1E-BC0D-A45D4C5975EA}"/>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Lớp dữ liệu kiểm tra hàng/giao nhận và chuyển đơn sang pending_confirmation trong transaction.</a:t>
            </a:r>
          </a:p>
        </p:txBody>
      </p:sp>
      <p:sp>
        <p:nvSpPr>
          <p:cNvPr id="6" name="source-code">
            <a:extLst xmlns:a="http://schemas.openxmlformats.org/drawingml/2006/main">
              <a:ext uri="{FF2B5EF4-FFF2-40B4-BE49-F238E27FC236}">
                <a16:creationId xmlns:a16="http://schemas.microsoft.com/office/drawing/2014/main" id="{D596E780-8A80-4B37-84FE-F88E4FDF9D6C}"/>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128      with transaction(conn):</a:t>
            </a:r>
          </a:p>
          <a:p xmlns:a="http://schemas.openxmlformats.org/drawingml/2006/main">
            <a:r>
              <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132          order = create_cart(conn, ctx, owner, items, source)</a:t>
            </a:r>
          </a:p>
          <a:p xmlns:a="http://schemas.openxmlformats.org/drawingml/2006/main">
            <a:r>
              <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138          order = change_status(conn, ctx, order["id"], "pending_confirmation")</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139          order["replayed"] = False</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140          return order</a:t>
            </a:r>
          </a:p>
          <a:p xmlns:a="http://schemas.openxmlformats.org/drawingml/2006/main">
            <a:r>
              <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 36  def recalc_total(conn, order_id) -&gt; int:</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 37      total = conn.execute("SELECT COALESCE(SUM(line_total), 0) FROM order_items WHERE order_id = ?",</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 38                           (order_id,)).fetchone()[0]</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 39      conn.execute(f"UPDATE orders SET total_amount = ?, updated_at = {NOW_SQL} WHERE id = ?", (total, order_id))</a:t>
            </a:r>
          </a:p>
          <a:p xmlns:a="http://schemas.openxmlformats.org/drawingml/2006/main">
            <a:pPr>
              <a:lnSpc>
                <a:spcPct val="108000"/>
              </a:lnSpc>
              <a:buNone/>
              <a:defRPr sz="1613" b="0">
                <a:solidFill>
                  <a:srgbClr val="172E32"/>
                </a:solidFill>
                <a:latin typeface="Courier New"/>
                <a:ea typeface="Courier New"/>
                <a:cs typeface="Courier New"/>
              </a:defRPr>
            </a:pPr>
            <a:r>
              <a:rPr sz="1613" b="0">
                <a:solidFill>
                  <a:srgbClr val="172E32"/>
                </a:solidFill>
                <a:latin typeface="Courier New"/>
                <a:ea typeface="Courier New"/>
                <a:cs typeface="Courier New"/>
              </a:rPr>
              <a:t> 40      return total</a:t>
            </a:r>
          </a:p>
        </p:txBody>
      </p:sp>
      <p:sp>
        <p:nvSpPr>
          <p:cNvPr id="7" name="code-lesson">
            <a:extLst xmlns:a="http://schemas.openxmlformats.org/drawingml/2006/main">
              <a:ext uri="{FF2B5EF4-FFF2-40B4-BE49-F238E27FC236}">
                <a16:creationId xmlns:a16="http://schemas.microsoft.com/office/drawing/2014/main" id="{D0127B36-A8B7-4D0B-BD51-7B1976AFFE84}"/>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line_total và tổng đơn do server tính, không lấy một con số model sinh ra.</a:t>
            </a:r>
          </a:p>
        </p:txBody>
      </p:sp>
    </p:spTree>
    <p:extLst>
      <p:ext uri="{BB962C8B-B14F-4D97-AF65-F5344CB8AC3E}">
        <p14:creationId xmlns:p14="http://schemas.microsoft.com/office/powerpoint/2010/main" val="395043224"/>
      </p:ext>
    </p:extLst>
  </p:cSld>
</p:sld>
</file>

<file path=ppt/slides/slide1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E8B7CB14-5479-49D7-A58C-64B0EF5E2F79}"/>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Ví dụ balo đã chạy bằng Gemini thật</a:t>
            </a:r>
          </a:p>
        </p:txBody>
      </p:sp>
      <p:sp>
        <p:nvSpPr>
          <p:cNvPr id="3" name="page-number">
            <a:extLst xmlns:a="http://schemas.openxmlformats.org/drawingml/2006/main">
              <a:ext uri="{FF2B5EF4-FFF2-40B4-BE49-F238E27FC236}">
                <a16:creationId xmlns:a16="http://schemas.microsoft.com/office/drawing/2014/main" id="{C4E488BA-6C78-4D11-80C3-AA13B0D5E784}"/>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12 / 12</a:t>
            </a:r>
          </a:p>
        </p:txBody>
      </p:sp>
      <p:sp>
        <p:nvSpPr>
          <p:cNvPr id="4" name="source-reference">
            <a:extLst xmlns:a="http://schemas.openxmlformats.org/drawingml/2006/main">
              <a:ext uri="{FF2B5EF4-FFF2-40B4-BE49-F238E27FC236}">
                <a16:creationId xmlns:a16="http://schemas.microsoft.com/office/drawing/2014/main" id="{80F51BCC-DA81-4CBF-AAE1-2F529374ACA4}"/>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sample_results/chat_purchase_2026-10-22/live_gemini_order.json   /   backend/chat_service.py:121-157</a:t>
            </a:r>
          </a:p>
        </p:txBody>
      </p:sp>
      <p:sp>
        <p:nvSpPr>
          <p:cNvPr id="5" name="evidence-0">
            <a:extLst xmlns:a="http://schemas.openxmlformats.org/drawingml/2006/main">
              <a:ext uri="{FF2B5EF4-FFF2-40B4-BE49-F238E27FC236}">
                <a16:creationId xmlns:a16="http://schemas.microsoft.com/office/drawing/2014/main" id="{75276CF4-1EDF-47B8-9A2F-9EE3C8D5D9D2}"/>
              </a:ext>
            </a:extLst>
          </p:cNvPr>
          <p:cNvSpPr>
            <a:spLocks xmlns:a="http://schemas.openxmlformats.org/drawingml/2006/main" noGrp="1"/>
          </p:cNvSpPr>
          <p:nvPr/>
        </p:nvSpPr>
        <p:spPr>
          <a:xfrm xmlns:a="http://schemas.openxmlformats.org/drawingml/2006/main">
            <a:off x="762000" y="16192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Câu đầu: “đặt cho tôi balo laptop Balo laptop xám, 15inch”</a:t>
            </a:r>
          </a:p>
        </p:txBody>
      </p:sp>
      <p:sp>
        <p:nvSpPr>
          <p:cNvPr id="6" name="evidence-1">
            <a:extLst xmlns:a="http://schemas.openxmlformats.org/drawingml/2006/main">
              <a:ext uri="{FF2B5EF4-FFF2-40B4-BE49-F238E27FC236}">
                <a16:creationId xmlns:a16="http://schemas.microsoft.com/office/drawing/2014/main" id="{6C39780B-AD18-4266-A62C-A5D501664E14}"/>
              </a:ext>
            </a:extLst>
          </p:cNvPr>
          <p:cNvSpPr>
            <a:spLocks xmlns:a="http://schemas.openxmlformats.org/drawingml/2006/main" noGrp="1"/>
          </p:cNvSpPr>
          <p:nvPr/>
        </p:nvSpPr>
        <p:spPr>
          <a:xfrm xmlns:a="http://schemas.openxmlformats.org/drawingml/2006/main">
            <a:off x="762000" y="274320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Route đầu: ask_missing, đúng BAG-GRY-15, giá 520.000₫, tồn 4</a:t>
            </a:r>
          </a:p>
        </p:txBody>
      </p:sp>
      <p:sp>
        <p:nvSpPr>
          <p:cNvPr id="7" name="evidence-2">
            <a:extLst xmlns:a="http://schemas.openxmlformats.org/drawingml/2006/main">
              <a:ext uri="{FF2B5EF4-FFF2-40B4-BE49-F238E27FC236}">
                <a16:creationId xmlns:a16="http://schemas.microsoft.com/office/drawing/2014/main" id="{43587B0D-840E-46D7-8702-9048E32B34BA}"/>
              </a:ext>
            </a:extLst>
          </p:cNvPr>
          <p:cNvSpPr>
            <a:spLocks xmlns:a="http://schemas.openxmlformats.org/drawingml/2006/main" noGrp="1"/>
          </p:cNvSpPr>
          <p:nvPr/>
        </p:nvSpPr>
        <p:spPr>
          <a:xfrm xmlns:a="http://schemas.openxmlformats.org/drawingml/2006/main">
            <a:off x="762000" y="38671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Bổ sung số lượng 2 và giao nhận demo ngay trong chat</a:t>
            </a:r>
          </a:p>
        </p:txBody>
      </p:sp>
      <p:sp>
        <p:nvSpPr>
          <p:cNvPr id="8" name="evidence-3">
            <a:extLst xmlns:a="http://schemas.openxmlformats.org/drawingml/2006/main">
              <a:ext uri="{FF2B5EF4-FFF2-40B4-BE49-F238E27FC236}">
                <a16:creationId xmlns:a16="http://schemas.microsoft.com/office/drawing/2014/main" id="{9C078563-876F-4555-97D6-1BE969CA00BE}"/>
              </a:ext>
            </a:extLst>
          </p:cNvPr>
          <p:cNvSpPr>
            <a:spLocks xmlns:a="http://schemas.openxmlformats.org/drawingml/2006/main" noGrp="1"/>
          </p:cNvSpPr>
          <p:nvPr/>
        </p:nvSpPr>
        <p:spPr>
          <a:xfrm xmlns:a="http://schemas.openxmlformats.org/drawingml/2006/main">
            <a:off x="762000" y="499110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Route sau: draft_created, tổng 1.040.000₫, source=chat</a:t>
            </a:r>
          </a:p>
        </p:txBody>
      </p:sp>
      <p:sp>
        <p:nvSpPr>
          <p:cNvPr id="9" name="evidence-4">
            <a:extLst xmlns:a="http://schemas.openxmlformats.org/drawingml/2006/main">
              <a:ext uri="{FF2B5EF4-FFF2-40B4-BE49-F238E27FC236}">
                <a16:creationId xmlns:a16="http://schemas.microsoft.com/office/drawing/2014/main" id="{6D5D5668-E8A3-4668-AAE4-110470A8CC68}"/>
              </a:ext>
            </a:extLst>
          </p:cNvPr>
          <p:cNvSpPr>
            <a:spLocks xmlns:a="http://schemas.openxmlformats.org/drawingml/2006/main" noGrp="1"/>
          </p:cNvSpPr>
          <p:nvPr/>
        </p:nvSpPr>
        <p:spPr>
          <a:xfrm xmlns:a="http://schemas.openxmlformats.org/drawingml/2006/main">
            <a:off x="762000" y="61150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Đơn chờ xác nhận, tồn sau kiểm tra vẫn 4</a:t>
            </a:r>
          </a:p>
        </p:txBody>
      </p:sp>
      <p:pic>
        <p:nvPicPr>
          <p:cNvPr id="10" name="">
            <a:extLst xmlns:a="http://schemas.openxmlformats.org/drawingml/2006/main">
              <a:ext uri="{FF2B5EF4-FFF2-40B4-BE49-F238E27FC236}">
                <a16:creationId xmlns:a16="http://schemas.microsoft.com/office/drawing/2014/main" id="{6E33B582-A973-4F37-A5E9-D4C2187055B0}"/>
              </a:ext>
            </a:extLst>
          </p:cNvPr>
          <p:cNvPicPr>
            <a:picLocks xmlns:a="http://schemas.openxmlformats.org/drawingml/2006/main" noChangeAspect="1"/>
          </p:cNvPicPr>
          <p:nvPr/>
        </p:nvPicPr>
        <p:blipFill>
          <a:blip xmlns:r="http://schemas.openxmlformats.org/officeDocument/2006/relationships" xmlns:a="http://schemas.openxmlformats.org/drawingml/2006/main" r:embed="Rda9c2a7387f04fde"/>
          <a:stretch xmlns:a="http://schemas.openxmlformats.org/drawingml/2006/main"/>
        </p:blipFill>
        <p:spPr>
          <a:xfrm xmlns:a="http://schemas.openxmlformats.org/drawingml/2006/main">
            <a:off x="10915436" y="1476375"/>
            <a:ext cx="2838879" cy="6143625"/>
          </a:xfrm>
          <a:prstGeom xmlns:a="http://schemas.openxmlformats.org/drawingml/2006/main" prst="rect">
            <a:avLst/>
          </a:prstGeom>
        </p:spPr>
      </p:pic>
    </p:spTree>
    <p:extLst>
      <p:ext uri="{BB962C8B-B14F-4D97-AF65-F5344CB8AC3E}">
        <p14:creationId xmlns:p14="http://schemas.microsoft.com/office/powerpoint/2010/main" val="18451490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2026-10-22T06:46:00.5980000Z</dcterms:created>
  <dcterms:modified xsi:type="dcterms:W3CDTF">2026-10-22T06:46:00.5980000Z</dcterms:modified>
</coreProperties>
</file>