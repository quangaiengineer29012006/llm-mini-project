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e063fe015f4d38" /><Relationship Type="http://schemas.openxmlformats.org/officeDocument/2006/relationships/extended-properties" Target="/docProps/app.xml" Id="R9d985705afa54850" /><Relationship Type="http://schemas.openxmlformats.org/officeDocument/2006/relationships/officeDocument" Target="/ppt/presentation.xml" Id="Rff79d7e6f8ed43d1" /></Relationships>
</file>

<file path=ppt/presentation.xml><?xml version="1.0" encoding="utf-8"?>
<p:presentation xmlns:p="http://schemas.openxmlformats.org/presentationml/2006/main">
  <p:sldMasterIdLst>
    <p:sldMasterId xmlns:r="http://schemas.openxmlformats.org/officeDocument/2006/relationships" id="2147483648" r:id="Rf35a7205d1b84d26"/>
  </p:sldMasterIdLst>
  <p:notesMasterIdLst>
    <p:notesMasterId xmlns:r="http://schemas.openxmlformats.org/officeDocument/2006/relationships" r:id="R3885d60b784b4a1e"/>
  </p:notesMasterIdLst>
  <p:sldIdLst>
    <p:sldId xmlns:r="http://schemas.openxmlformats.org/officeDocument/2006/relationships" id="256" r:id="Rcfe48fb623b04baa"/>
    <p:sldId xmlns:r="http://schemas.openxmlformats.org/officeDocument/2006/relationships" id="257" r:id="Rd92d1f8ac7f34f8e"/>
    <p:sldId xmlns:r="http://schemas.openxmlformats.org/officeDocument/2006/relationships" id="258" r:id="R13bbb975dc70403c"/>
    <p:sldId xmlns:r="http://schemas.openxmlformats.org/officeDocument/2006/relationships" id="259" r:id="R6840bce054964d29"/>
    <p:sldId xmlns:r="http://schemas.openxmlformats.org/officeDocument/2006/relationships" id="260" r:id="R03bba1c8dbe74077"/>
    <p:sldId xmlns:r="http://schemas.openxmlformats.org/officeDocument/2006/relationships" id="261" r:id="R7567247b554c4c78"/>
    <p:sldId xmlns:r="http://schemas.openxmlformats.org/officeDocument/2006/relationships" id="262" r:id="R2071b836896e4c5e"/>
    <p:sldId xmlns:r="http://schemas.openxmlformats.org/officeDocument/2006/relationships" id="263" r:id="Rfa041d07897146f4"/>
    <p:sldId xmlns:r="http://schemas.openxmlformats.org/officeDocument/2006/relationships" id="264" r:id="R4407c2d285504acf"/>
    <p:sldId xmlns:r="http://schemas.openxmlformats.org/officeDocument/2006/relationships" id="265" r:id="Rce604e036dbd455c"/>
    <p:sldId xmlns:r="http://schemas.openxmlformats.org/officeDocument/2006/relationships" id="266" r:id="Rfc684f0febea4cdd"/>
    <p:sldId xmlns:r="http://schemas.openxmlformats.org/officeDocument/2006/relationships" id="267" r:id="Rbcda9e15c49d434b"/>
    <p:sldId xmlns:r="http://schemas.openxmlformats.org/officeDocument/2006/relationships" id="268" r:id="R299834a96c6f47fb"/>
    <p:sldId xmlns:r="http://schemas.openxmlformats.org/officeDocument/2006/relationships" id="269" r:id="R1e0524fcb8cb459e"/>
    <p:sldId xmlns:r="http://schemas.openxmlformats.org/officeDocument/2006/relationships" id="270" r:id="R08d15f24a03743ce"/>
    <p:sldId xmlns:r="http://schemas.openxmlformats.org/officeDocument/2006/relationships" id="271" r:id="Rbe301b0d70514d88"/>
    <p:sldId xmlns:r="http://schemas.openxmlformats.org/officeDocument/2006/relationships" id="272" r:id="Rf3a2fef461f44ea9"/>
    <p:sldId xmlns:r="http://schemas.openxmlformats.org/officeDocument/2006/relationships" id="273" r:id="R28c8dc0e19634b9a"/>
    <p:sldId xmlns:r="http://schemas.openxmlformats.org/officeDocument/2006/relationships" id="274" r:id="R2076dbf77dc04e9a"/>
    <p:sldId xmlns:r="http://schemas.openxmlformats.org/officeDocument/2006/relationships" id="275" r:id="Re13ba2c56d074c0a"/>
    <p:sldId xmlns:r="http://schemas.openxmlformats.org/officeDocument/2006/relationships" id="276" r:id="R1d3395ba953c4144"/>
    <p:sldId xmlns:r="http://schemas.openxmlformats.org/officeDocument/2006/relationships" id="277" r:id="R3f2770a0a9a942c1"/>
    <p:sldId xmlns:r="http://schemas.openxmlformats.org/officeDocument/2006/relationships" id="278" r:id="Rc34288b0a9a5410a"/>
    <p:sldId xmlns:r="http://schemas.openxmlformats.org/officeDocument/2006/relationships" id="279" r:id="Rb6f4ed55e7554b97"/>
    <p:sldId xmlns:r="http://schemas.openxmlformats.org/officeDocument/2006/relationships" id="280" r:id="R282b4034a4814608"/>
    <p:sldId xmlns:r="http://schemas.openxmlformats.org/officeDocument/2006/relationships" id="281" r:id="R587bb869a255469d"/>
    <p:sldId xmlns:r="http://schemas.openxmlformats.org/officeDocument/2006/relationships" id="282" r:id="R901e21b6f64548fb"/>
    <p:sldId xmlns:r="http://schemas.openxmlformats.org/officeDocument/2006/relationships" id="283" r:id="R8938e0729e4f4ee6"/>
    <p:sldId xmlns:r="http://schemas.openxmlformats.org/officeDocument/2006/relationships" id="284" r:id="R47af6e9fea604903"/>
    <p:sldId xmlns:r="http://schemas.openxmlformats.org/officeDocument/2006/relationships" id="285" r:id="Rf8b1b75f571849ff"/>
    <p:sldId xmlns:r="http://schemas.openxmlformats.org/officeDocument/2006/relationships" id="286" r:id="Rd8735b47b70e46eb"/>
    <p:sldId xmlns:r="http://schemas.openxmlformats.org/officeDocument/2006/relationships" id="287" r:id="R75d7a447d5024136"/>
    <p:sldId xmlns:r="http://schemas.openxmlformats.org/officeDocument/2006/relationships" id="288" r:id="Rd45fc202053548af"/>
    <p:sldId xmlns:r="http://schemas.openxmlformats.org/officeDocument/2006/relationships" id="289" r:id="Rdcbaea37faa64361"/>
    <p:sldId xmlns:r="http://schemas.openxmlformats.org/officeDocument/2006/relationships" id="290" r:id="Re758f9ba82f542a4"/>
    <p:sldId xmlns:r="http://schemas.openxmlformats.org/officeDocument/2006/relationships" id="291" r:id="R9bbf1089c45d4ff7"/>
    <p:sldId xmlns:r="http://schemas.openxmlformats.org/officeDocument/2006/relationships" id="292" r:id="R662a23bba5c44554"/>
    <p:sldId xmlns:r="http://schemas.openxmlformats.org/officeDocument/2006/relationships" id="293" r:id="R1b0a51ffb22a445d"/>
    <p:sldId xmlns:r="http://schemas.openxmlformats.org/officeDocument/2006/relationships" id="294" r:id="R3b30bd9b21384b8b"/>
    <p:sldId xmlns:r="http://schemas.openxmlformats.org/officeDocument/2006/relationships" id="295" r:id="R9c379d25137f4e51"/>
    <p:sldId xmlns:r="http://schemas.openxmlformats.org/officeDocument/2006/relationships" id="296" r:id="R16469ef308a5445a"/>
    <p:sldId xmlns:r="http://schemas.openxmlformats.org/officeDocument/2006/relationships" id="297" r:id="R733e6697af90415c"/>
    <p:sldId xmlns:r="http://schemas.openxmlformats.org/officeDocument/2006/relationships" id="298" r:id="R99cbaec2d458473f"/>
    <p:sldId xmlns:r="http://schemas.openxmlformats.org/officeDocument/2006/relationships" id="299" r:id="Ra488ea0e56884687"/>
    <p:sldId xmlns:r="http://schemas.openxmlformats.org/officeDocument/2006/relationships" id="300" r:id="Rf93b2fa8246645f6"/>
    <p:sldId xmlns:r="http://schemas.openxmlformats.org/officeDocument/2006/relationships" id="301" r:id="R1de7b77ca7ec402e"/>
    <p:sldId xmlns:r="http://schemas.openxmlformats.org/officeDocument/2006/relationships" id="302" r:id="R343fbe9c5050472a"/>
    <p:sldId xmlns:r="http://schemas.openxmlformats.org/officeDocument/2006/relationships" id="303" r:id="Ra1f5ddfb9ce649fb"/>
    <p:sldId xmlns:r="http://schemas.openxmlformats.org/officeDocument/2006/relationships" id="304" r:id="Ra20524600682496b"/>
    <p:sldId xmlns:r="http://schemas.openxmlformats.org/officeDocument/2006/relationships" id="305" r:id="R5b1081c797524121"/>
    <p:sldId xmlns:r="http://schemas.openxmlformats.org/officeDocument/2006/relationships" id="306" r:id="R6f8a85f2d665439e"/>
    <p:sldId xmlns:r="http://schemas.openxmlformats.org/officeDocument/2006/relationships" id="307" r:id="Reab4000796254fd4"/>
    <p:sldId xmlns:r="http://schemas.openxmlformats.org/officeDocument/2006/relationships" id="308" r:id="R66a32c8d9f8f42d4"/>
    <p:sldId xmlns:r="http://schemas.openxmlformats.org/officeDocument/2006/relationships" id="309" r:id="R6403d749406f474f"/>
    <p:sldId xmlns:r="http://schemas.openxmlformats.org/officeDocument/2006/relationships" id="310" r:id="R51d0721bd4824327"/>
    <p:sldId xmlns:r="http://schemas.openxmlformats.org/officeDocument/2006/relationships" id="311" r:id="R5907b554ffc449b5"/>
    <p:sldId xmlns:r="http://schemas.openxmlformats.org/officeDocument/2006/relationships" id="312" r:id="R7bb427f5ef024b66"/>
    <p:sldId xmlns:r="http://schemas.openxmlformats.org/officeDocument/2006/relationships" id="313" r:id="Ree0ac735fa9e43a8"/>
    <p:sldId xmlns:r="http://schemas.openxmlformats.org/officeDocument/2006/relationships" id="314" r:id="Rb501e30ae90e46bf"/>
    <p:sldId xmlns:r="http://schemas.openxmlformats.org/officeDocument/2006/relationships" id="315" r:id="R884e1347acee4723"/>
    <p:sldId xmlns:r="http://schemas.openxmlformats.org/officeDocument/2006/relationships" id="316" r:id="Ra02b7449015b44f2"/>
    <p:sldId xmlns:r="http://schemas.openxmlformats.org/officeDocument/2006/relationships" id="317" r:id="R4c85cab0cded436a"/>
    <p:sldId xmlns:r="http://schemas.openxmlformats.org/officeDocument/2006/relationships" id="318" r:id="Rae6815c59793475e"/>
    <p:sldId xmlns:r="http://schemas.openxmlformats.org/officeDocument/2006/relationships" id="319" r:id="R8c02517744e2437b"/>
    <p:sldId xmlns:r="http://schemas.openxmlformats.org/officeDocument/2006/relationships" id="320" r:id="Rb0fabe2fcd9e41bf"/>
    <p:sldId xmlns:r="http://schemas.openxmlformats.org/officeDocument/2006/relationships" id="321" r:id="Rcaf40fb00adc4ecf"/>
    <p:sldId xmlns:r="http://schemas.openxmlformats.org/officeDocument/2006/relationships" id="322" r:id="Rdcbb9cdbc1164e24"/>
    <p:sldId xmlns:r="http://schemas.openxmlformats.org/officeDocument/2006/relationships" id="323" r:id="Rce66e8eab758443b"/>
    <p:sldId xmlns:r="http://schemas.openxmlformats.org/officeDocument/2006/relationships" id="324" r:id="Re4389d350de7412d"/>
    <p:sldId xmlns:r="http://schemas.openxmlformats.org/officeDocument/2006/relationships" id="325" r:id="Rc5450167f2ed4397"/>
    <p:sldId xmlns:r="http://schemas.openxmlformats.org/officeDocument/2006/relationships" id="326" r:id="R1f81a2bf29e5422a"/>
    <p:sldId xmlns:r="http://schemas.openxmlformats.org/officeDocument/2006/relationships" id="327" r:id="Rff30a8a4eecf4ac0"/>
    <p:sldId xmlns:r="http://schemas.openxmlformats.org/officeDocument/2006/relationships" id="328" r:id="R8c96909cf0a545d0"/>
    <p:sldId xmlns:r="http://schemas.openxmlformats.org/officeDocument/2006/relationships" id="329" r:id="Rd9095e71c906459a"/>
    <p:sldId xmlns:r="http://schemas.openxmlformats.org/officeDocument/2006/relationships" id="330" r:id="Rfb31b4dc034b4235"/>
    <p:sldId xmlns:r="http://schemas.openxmlformats.org/officeDocument/2006/relationships" id="331" r:id="R3d762d12cf3844ad"/>
    <p:sldId xmlns:r="http://schemas.openxmlformats.org/officeDocument/2006/relationships" id="332" r:id="R8b73e235e5694492"/>
    <p:sldId xmlns:r="http://schemas.openxmlformats.org/officeDocument/2006/relationships" id="333" r:id="R637e0e2c26ef49e5"/>
    <p:sldId xmlns:r="http://schemas.openxmlformats.org/officeDocument/2006/relationships" id="334" r:id="R618e192159d541dc"/>
    <p:sldId xmlns:r="http://schemas.openxmlformats.org/officeDocument/2006/relationships" id="335" r:id="R1a4686049be64610"/>
    <p:sldId xmlns:r="http://schemas.openxmlformats.org/officeDocument/2006/relationships" id="336" r:id="R7024385f8ee9436f"/>
    <p:sldId xmlns:r="http://schemas.openxmlformats.org/officeDocument/2006/relationships" id="337" r:id="R981f9f2d81604803"/>
    <p:sldId xmlns:r="http://schemas.openxmlformats.org/officeDocument/2006/relationships" id="338" r:id="Rbf5369acbc604bcb"/>
    <p:sldId xmlns:r="http://schemas.openxmlformats.org/officeDocument/2006/relationships" id="339" r:id="Rb2a4442ad5244991"/>
    <p:sldId xmlns:r="http://schemas.openxmlformats.org/officeDocument/2006/relationships" id="340" r:id="R1ce45a8d10934b31"/>
    <p:sldId xmlns:r="http://schemas.openxmlformats.org/officeDocument/2006/relationships" id="341" r:id="R220f45deacb24ea1"/>
    <p:sldId xmlns:r="http://schemas.openxmlformats.org/officeDocument/2006/relationships" id="342" r:id="R9753bedcd7174e0f"/>
    <p:sldId xmlns:r="http://schemas.openxmlformats.org/officeDocument/2006/relationships" id="343" r:id="R989090b7fb48487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b2998aac104b6e" /><Relationship Type="http://schemas.openxmlformats.org/officeDocument/2006/relationships/slideMaster" Target="/ppt/slideMasters/slideMaster1.xml" Id="Rf35a7205d1b84d26" /><Relationship Type="http://schemas.openxmlformats.org/officeDocument/2006/relationships/notesMaster" Target="/ppt/notesMasters/notesMaster1.xml" Id="R3885d60b784b4a1e" /><Relationship Type="http://schemas.openxmlformats.org/officeDocument/2006/relationships/presProps" Target="/ppt/presProps.xml" Id="R2783883c152f4ef6" /><Relationship Type="http://schemas.openxmlformats.org/officeDocument/2006/relationships/tableStyles" Target="/ppt/tableStyles.xml" Id="Rc225bca468d94cc9" /><Relationship Type="http://schemas.openxmlformats.org/officeDocument/2006/relationships/slide" Target="/ppt/slides/slide1.xml" Id="Rcfe48fb623b04baa" /><Relationship Type="http://schemas.openxmlformats.org/officeDocument/2006/relationships/slide" Target="/ppt/slides/slide2.xml" Id="Rd92d1f8ac7f34f8e" /><Relationship Type="http://schemas.openxmlformats.org/officeDocument/2006/relationships/slide" Target="/ppt/slides/slide3.xml" Id="R13bbb975dc70403c" /><Relationship Type="http://schemas.openxmlformats.org/officeDocument/2006/relationships/slide" Target="/ppt/slides/slide4.xml" Id="R6840bce054964d29" /><Relationship Type="http://schemas.openxmlformats.org/officeDocument/2006/relationships/slide" Target="/ppt/slides/slide5.xml" Id="R03bba1c8dbe74077" /><Relationship Type="http://schemas.openxmlformats.org/officeDocument/2006/relationships/slide" Target="/ppt/slides/slide6.xml" Id="R7567247b554c4c78" /><Relationship Type="http://schemas.openxmlformats.org/officeDocument/2006/relationships/slide" Target="/ppt/slides/slide7.xml" Id="R2071b836896e4c5e" /><Relationship Type="http://schemas.openxmlformats.org/officeDocument/2006/relationships/slide" Target="/ppt/slides/slide8.xml" Id="Rfa041d07897146f4" /><Relationship Type="http://schemas.openxmlformats.org/officeDocument/2006/relationships/slide" Target="/ppt/slides/slide9.xml" Id="R4407c2d285504acf" /><Relationship Type="http://schemas.openxmlformats.org/officeDocument/2006/relationships/slide" Target="/ppt/slides/slide10.xml" Id="Rce604e036dbd455c" /><Relationship Type="http://schemas.openxmlformats.org/officeDocument/2006/relationships/slide" Target="/ppt/slides/slide11.xml" Id="Rfc684f0febea4cdd" /><Relationship Type="http://schemas.openxmlformats.org/officeDocument/2006/relationships/slide" Target="/ppt/slides/slide12.xml" Id="Rbcda9e15c49d434b" /><Relationship Type="http://schemas.openxmlformats.org/officeDocument/2006/relationships/slide" Target="/ppt/slides/slide13.xml" Id="R299834a96c6f47fb" /><Relationship Type="http://schemas.openxmlformats.org/officeDocument/2006/relationships/slide" Target="/ppt/slides/slide14.xml" Id="R1e0524fcb8cb459e" /><Relationship Type="http://schemas.openxmlformats.org/officeDocument/2006/relationships/slide" Target="/ppt/slides/slide15.xml" Id="R08d15f24a03743ce" /><Relationship Type="http://schemas.openxmlformats.org/officeDocument/2006/relationships/slide" Target="/ppt/slides/slide16.xml" Id="Rbe301b0d70514d88" /><Relationship Type="http://schemas.openxmlformats.org/officeDocument/2006/relationships/slide" Target="/ppt/slides/slide17.xml" Id="Rf3a2fef461f44ea9" /><Relationship Type="http://schemas.openxmlformats.org/officeDocument/2006/relationships/slide" Target="/ppt/slides/slide18.xml" Id="R28c8dc0e19634b9a" /><Relationship Type="http://schemas.openxmlformats.org/officeDocument/2006/relationships/slide" Target="/ppt/slides/slide19.xml" Id="R2076dbf77dc04e9a" /><Relationship Type="http://schemas.openxmlformats.org/officeDocument/2006/relationships/slide" Target="/ppt/slides/slide20.xml" Id="Re13ba2c56d074c0a" /><Relationship Type="http://schemas.openxmlformats.org/officeDocument/2006/relationships/slide" Target="/ppt/slides/slide21.xml" Id="R1d3395ba953c4144" /><Relationship Type="http://schemas.openxmlformats.org/officeDocument/2006/relationships/slide" Target="/ppt/slides/slide22.xml" Id="R3f2770a0a9a942c1" /><Relationship Type="http://schemas.openxmlformats.org/officeDocument/2006/relationships/slide" Target="/ppt/slides/slide23.xml" Id="Rc34288b0a9a5410a" /><Relationship Type="http://schemas.openxmlformats.org/officeDocument/2006/relationships/slide" Target="/ppt/slides/slide24.xml" Id="Rb6f4ed55e7554b97" /><Relationship Type="http://schemas.openxmlformats.org/officeDocument/2006/relationships/slide" Target="/ppt/slides/slide25.xml" Id="R282b4034a4814608" /><Relationship Type="http://schemas.openxmlformats.org/officeDocument/2006/relationships/slide" Target="/ppt/slides/slide26.xml" Id="R587bb869a255469d" /><Relationship Type="http://schemas.openxmlformats.org/officeDocument/2006/relationships/slide" Target="/ppt/slides/slide27.xml" Id="R901e21b6f64548fb" /><Relationship Type="http://schemas.openxmlformats.org/officeDocument/2006/relationships/slide" Target="/ppt/slides/slide28.xml" Id="R8938e0729e4f4ee6" /><Relationship Type="http://schemas.openxmlformats.org/officeDocument/2006/relationships/slide" Target="/ppt/slides/slide29.xml" Id="R47af6e9fea604903" /><Relationship Type="http://schemas.openxmlformats.org/officeDocument/2006/relationships/slide" Target="/ppt/slides/slide30.xml" Id="Rf8b1b75f571849ff" /><Relationship Type="http://schemas.openxmlformats.org/officeDocument/2006/relationships/slide" Target="/ppt/slides/slide31.xml" Id="Rd8735b47b70e46eb" /><Relationship Type="http://schemas.openxmlformats.org/officeDocument/2006/relationships/slide" Target="/ppt/slides/slide32.xml" Id="R75d7a447d5024136" /><Relationship Type="http://schemas.openxmlformats.org/officeDocument/2006/relationships/slide" Target="/ppt/slides/slide33.xml" Id="Rd45fc202053548af" /><Relationship Type="http://schemas.openxmlformats.org/officeDocument/2006/relationships/slide" Target="/ppt/slides/slide34.xml" Id="Rdcbaea37faa64361" /><Relationship Type="http://schemas.openxmlformats.org/officeDocument/2006/relationships/slide" Target="/ppt/slides/slide35.xml" Id="Re758f9ba82f542a4" /><Relationship Type="http://schemas.openxmlformats.org/officeDocument/2006/relationships/slide" Target="/ppt/slides/slide36.xml" Id="R9bbf1089c45d4ff7" /><Relationship Type="http://schemas.openxmlformats.org/officeDocument/2006/relationships/slide" Target="/ppt/slides/slide37.xml" Id="R662a23bba5c44554" /><Relationship Type="http://schemas.openxmlformats.org/officeDocument/2006/relationships/slide" Target="/ppt/slides/slide38.xml" Id="R1b0a51ffb22a445d" /><Relationship Type="http://schemas.openxmlformats.org/officeDocument/2006/relationships/slide" Target="/ppt/slides/slide39.xml" Id="R3b30bd9b21384b8b" /><Relationship Type="http://schemas.openxmlformats.org/officeDocument/2006/relationships/slide" Target="/ppt/slides/slide40.xml" Id="R9c379d25137f4e51" /><Relationship Type="http://schemas.openxmlformats.org/officeDocument/2006/relationships/slide" Target="/ppt/slides/slide41.xml" Id="R16469ef308a5445a" /><Relationship Type="http://schemas.openxmlformats.org/officeDocument/2006/relationships/slide" Target="/ppt/slides/slide42.xml" Id="R733e6697af90415c" /><Relationship Type="http://schemas.openxmlformats.org/officeDocument/2006/relationships/slide" Target="/ppt/slides/slide43.xml" Id="R99cbaec2d458473f" /><Relationship Type="http://schemas.openxmlformats.org/officeDocument/2006/relationships/slide" Target="/ppt/slides/slide44.xml" Id="Ra488ea0e56884687" /><Relationship Type="http://schemas.openxmlformats.org/officeDocument/2006/relationships/slide" Target="/ppt/slides/slide45.xml" Id="Rf93b2fa8246645f6" /><Relationship Type="http://schemas.openxmlformats.org/officeDocument/2006/relationships/slide" Target="/ppt/slides/slide46.xml" Id="R1de7b77ca7ec402e" /><Relationship Type="http://schemas.openxmlformats.org/officeDocument/2006/relationships/slide" Target="/ppt/slides/slide47.xml" Id="R343fbe9c5050472a" /><Relationship Type="http://schemas.openxmlformats.org/officeDocument/2006/relationships/slide" Target="/ppt/slides/slide48.xml" Id="Ra1f5ddfb9ce649fb" /><Relationship Type="http://schemas.openxmlformats.org/officeDocument/2006/relationships/slide" Target="/ppt/slides/slide49.xml" Id="Ra20524600682496b" /><Relationship Type="http://schemas.openxmlformats.org/officeDocument/2006/relationships/slide" Target="/ppt/slides/slide50.xml" Id="R5b1081c797524121" /><Relationship Type="http://schemas.openxmlformats.org/officeDocument/2006/relationships/slide" Target="/ppt/slides/slide51.xml" Id="R6f8a85f2d665439e" /><Relationship Type="http://schemas.openxmlformats.org/officeDocument/2006/relationships/slide" Target="/ppt/slides/slide52.xml" Id="Reab4000796254fd4" /><Relationship Type="http://schemas.openxmlformats.org/officeDocument/2006/relationships/slide" Target="/ppt/slides/slide53.xml" Id="R66a32c8d9f8f42d4" /><Relationship Type="http://schemas.openxmlformats.org/officeDocument/2006/relationships/slide" Target="/ppt/slides/slide54.xml" Id="R6403d749406f474f" /><Relationship Type="http://schemas.openxmlformats.org/officeDocument/2006/relationships/slide" Target="/ppt/slides/slide55.xml" Id="R51d0721bd4824327" /><Relationship Type="http://schemas.openxmlformats.org/officeDocument/2006/relationships/slide" Target="/ppt/slides/slide56.xml" Id="R5907b554ffc449b5" /><Relationship Type="http://schemas.openxmlformats.org/officeDocument/2006/relationships/slide" Target="/ppt/slides/slide57.xml" Id="R7bb427f5ef024b66" /><Relationship Type="http://schemas.openxmlformats.org/officeDocument/2006/relationships/slide" Target="/ppt/slides/slide58.xml" Id="Ree0ac735fa9e43a8" /><Relationship Type="http://schemas.openxmlformats.org/officeDocument/2006/relationships/slide" Target="/ppt/slides/slide59.xml" Id="Rb501e30ae90e46bf" /><Relationship Type="http://schemas.openxmlformats.org/officeDocument/2006/relationships/slide" Target="/ppt/slides/slide60.xml" Id="R884e1347acee4723" /><Relationship Type="http://schemas.openxmlformats.org/officeDocument/2006/relationships/slide" Target="/ppt/slides/slide61.xml" Id="Ra02b7449015b44f2" /><Relationship Type="http://schemas.openxmlformats.org/officeDocument/2006/relationships/slide" Target="/ppt/slides/slide62.xml" Id="R4c85cab0cded436a" /><Relationship Type="http://schemas.openxmlformats.org/officeDocument/2006/relationships/slide" Target="/ppt/slides/slide63.xml" Id="Rae6815c59793475e" /><Relationship Type="http://schemas.openxmlformats.org/officeDocument/2006/relationships/slide" Target="/ppt/slides/slide64.xml" Id="R8c02517744e2437b" /><Relationship Type="http://schemas.openxmlformats.org/officeDocument/2006/relationships/slide" Target="/ppt/slides/slide65.xml" Id="Rb0fabe2fcd9e41bf" /><Relationship Type="http://schemas.openxmlformats.org/officeDocument/2006/relationships/slide" Target="/ppt/slides/slide66.xml" Id="Rcaf40fb00adc4ecf" /><Relationship Type="http://schemas.openxmlformats.org/officeDocument/2006/relationships/slide" Target="/ppt/slides/slide67.xml" Id="Rdcbb9cdbc1164e24" /><Relationship Type="http://schemas.openxmlformats.org/officeDocument/2006/relationships/slide" Target="/ppt/slides/slide68.xml" Id="Rce66e8eab758443b" /><Relationship Type="http://schemas.openxmlformats.org/officeDocument/2006/relationships/slide" Target="/ppt/slides/slide69.xml" Id="Re4389d350de7412d" /><Relationship Type="http://schemas.openxmlformats.org/officeDocument/2006/relationships/slide" Target="/ppt/slides/slide70.xml" Id="Rc5450167f2ed4397" /><Relationship Type="http://schemas.openxmlformats.org/officeDocument/2006/relationships/slide" Target="/ppt/slides/slide71.xml" Id="R1f81a2bf29e5422a" /><Relationship Type="http://schemas.openxmlformats.org/officeDocument/2006/relationships/slide" Target="/ppt/slides/slide72.xml" Id="Rff30a8a4eecf4ac0" /><Relationship Type="http://schemas.openxmlformats.org/officeDocument/2006/relationships/slide" Target="/ppt/slides/slide73.xml" Id="R8c96909cf0a545d0" /><Relationship Type="http://schemas.openxmlformats.org/officeDocument/2006/relationships/slide" Target="/ppt/slides/slide74.xml" Id="Rd9095e71c906459a" /><Relationship Type="http://schemas.openxmlformats.org/officeDocument/2006/relationships/slide" Target="/ppt/slides/slide75.xml" Id="Rfb31b4dc034b4235" /><Relationship Type="http://schemas.openxmlformats.org/officeDocument/2006/relationships/slide" Target="/ppt/slides/slide76.xml" Id="R3d762d12cf3844ad" /><Relationship Type="http://schemas.openxmlformats.org/officeDocument/2006/relationships/slide" Target="/ppt/slides/slide77.xml" Id="R8b73e235e5694492" /><Relationship Type="http://schemas.openxmlformats.org/officeDocument/2006/relationships/slide" Target="/ppt/slides/slide78.xml" Id="R637e0e2c26ef49e5" /><Relationship Type="http://schemas.openxmlformats.org/officeDocument/2006/relationships/slide" Target="/ppt/slides/slide79.xml" Id="R618e192159d541dc" /><Relationship Type="http://schemas.openxmlformats.org/officeDocument/2006/relationships/slide" Target="/ppt/slides/slide80.xml" Id="R1a4686049be64610" /><Relationship Type="http://schemas.openxmlformats.org/officeDocument/2006/relationships/slide" Target="/ppt/slides/slide81.xml" Id="R7024385f8ee9436f" /><Relationship Type="http://schemas.openxmlformats.org/officeDocument/2006/relationships/slide" Target="/ppt/slides/slide82.xml" Id="R981f9f2d81604803" /><Relationship Type="http://schemas.openxmlformats.org/officeDocument/2006/relationships/slide" Target="/ppt/slides/slide83.xml" Id="Rbf5369acbc604bcb" /><Relationship Type="http://schemas.openxmlformats.org/officeDocument/2006/relationships/slide" Target="/ppt/slides/slide84.xml" Id="Rb2a4442ad5244991" /><Relationship Type="http://schemas.openxmlformats.org/officeDocument/2006/relationships/slide" Target="/ppt/slides/slide85.xml" Id="R1ce45a8d10934b31" /><Relationship Type="http://schemas.openxmlformats.org/officeDocument/2006/relationships/slide" Target="/ppt/slides/slide86.xml" Id="R220f45deacb24ea1" /><Relationship Type="http://schemas.openxmlformats.org/officeDocument/2006/relationships/slide" Target="/ppt/slides/slide87.xml" Id="R9753bedcd7174e0f" /><Relationship Type="http://schemas.openxmlformats.org/officeDocument/2006/relationships/slide" Target="/ppt/slides/slide88.xml" Id="R989090b7fb4848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139feec7c941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e1498ac1644363" /><Relationship Type="http://schemas.openxmlformats.org/officeDocument/2006/relationships/notesMaster" Target="/ppt/notesMasters/notesMaster1.xml" Id="R7ae90d6fcfda4e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ea21cafd85bf4407" /><Relationship Type="http://schemas.openxmlformats.org/officeDocument/2006/relationships/notesMaster" Target="/ppt/notesMasters/notesMaster1.xml" Id="R59a50bf665544c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3f34b8d294ee479a" /><Relationship Type="http://schemas.openxmlformats.org/officeDocument/2006/relationships/notesMaster" Target="/ppt/notesMasters/notesMaster1.xml" Id="Ra8bb4116b8904fe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f19c25896443f3" /><Relationship Type="http://schemas.openxmlformats.org/officeDocument/2006/relationships/notesMaster" Target="/ppt/notesMasters/notesMaster1.xml" Id="R05129d65a36940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5ad89e8274429a" /><Relationship Type="http://schemas.openxmlformats.org/officeDocument/2006/relationships/notesMaster" Target="/ppt/notesMasters/notesMaster1.xml" Id="Rc69dd919d86f40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7d53d27bc142bc" /><Relationship Type="http://schemas.openxmlformats.org/officeDocument/2006/relationships/notesMaster" Target="/ppt/notesMasters/notesMaster1.xml" Id="R449a71c9409d48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d4e83608044f03" /><Relationship Type="http://schemas.openxmlformats.org/officeDocument/2006/relationships/notesMaster" Target="/ppt/notesMasters/notesMaster1.xml" Id="Rc383f97aaee94e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87c8fb3cb540ef" /><Relationship Type="http://schemas.openxmlformats.org/officeDocument/2006/relationships/notesMaster" Target="/ppt/notesMasters/notesMaster1.xml" Id="R169c5dfe24b34d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3199e75f1d40ef" /><Relationship Type="http://schemas.openxmlformats.org/officeDocument/2006/relationships/notesMaster" Target="/ppt/notesMasters/notesMaster1.xml" Id="R2a1049bd030a45c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29d19473fd845ca" /><Relationship Type="http://schemas.openxmlformats.org/officeDocument/2006/relationships/notesMaster" Target="/ppt/notesMasters/notesMaster1.xml" Id="R034d4469b25247f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bf7091723b4399" /><Relationship Type="http://schemas.openxmlformats.org/officeDocument/2006/relationships/notesMaster" Target="/ppt/notesMasters/notesMaster1.xml" Id="Rcd52822c7c42431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8195899b5f447d" /><Relationship Type="http://schemas.openxmlformats.org/officeDocument/2006/relationships/notesMaster" Target="/ppt/notesMasters/notesMaster1.xml" Id="Rb8504f41468c4c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3841e560042486a" /><Relationship Type="http://schemas.openxmlformats.org/officeDocument/2006/relationships/notesMaster" Target="/ppt/notesMasters/notesMaster1.xml" Id="Rac72baf26bbd4df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0edb470a6d40d9" /><Relationship Type="http://schemas.openxmlformats.org/officeDocument/2006/relationships/notesMaster" Target="/ppt/notesMasters/notesMaster1.xml" Id="Rf2eb7e0fac3d4ec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cd510a90cd462c" /><Relationship Type="http://schemas.openxmlformats.org/officeDocument/2006/relationships/notesMaster" Target="/ppt/notesMasters/notesMaster1.xml" Id="R0c3166de619c4f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5b136d2a534093" /><Relationship Type="http://schemas.openxmlformats.org/officeDocument/2006/relationships/notesMaster" Target="/ppt/notesMasters/notesMaster1.xml" Id="R5a83cdf1b345468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811bd2b64524f2e" /><Relationship Type="http://schemas.openxmlformats.org/officeDocument/2006/relationships/notesMaster" Target="/ppt/notesMasters/notesMaster1.xml" Id="Rd70271fd3b0e42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2a042807c5245b6" /><Relationship Type="http://schemas.openxmlformats.org/officeDocument/2006/relationships/notesMaster" Target="/ppt/notesMasters/notesMaster1.xml" Id="R728e45752d5f4d7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ba891efa61f4a13" /><Relationship Type="http://schemas.openxmlformats.org/officeDocument/2006/relationships/notesMaster" Target="/ppt/notesMasters/notesMaster1.xml" Id="R7f48f88bca1c4a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f63fac2e5ac4754" /><Relationship Type="http://schemas.openxmlformats.org/officeDocument/2006/relationships/notesMaster" Target="/ppt/notesMasters/notesMaster1.xml" Id="R5395bee09875496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613484b017e47a4" /><Relationship Type="http://schemas.openxmlformats.org/officeDocument/2006/relationships/notesMaster" Target="/ppt/notesMasters/notesMaster1.xml" Id="R78ac05a5f8724cc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ae11ec5d0a1416e" /><Relationship Type="http://schemas.openxmlformats.org/officeDocument/2006/relationships/notesMaster" Target="/ppt/notesMasters/notesMaster1.xml" Id="Rbed0c8f6e9a447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d72eeb59dd542f7" /><Relationship Type="http://schemas.openxmlformats.org/officeDocument/2006/relationships/notesMaster" Target="/ppt/notesMasters/notesMaster1.xml" Id="R63a7a8e18b94419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7b395a923544944" /><Relationship Type="http://schemas.openxmlformats.org/officeDocument/2006/relationships/notesMaster" Target="/ppt/notesMasters/notesMaster1.xml" Id="R9e8d6e5569214f0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73e3416d2f44ede" /><Relationship Type="http://schemas.openxmlformats.org/officeDocument/2006/relationships/notesMaster" Target="/ppt/notesMasters/notesMaster1.xml" Id="R13b11ee85baf4a6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d0be16bf4bc4760" /><Relationship Type="http://schemas.openxmlformats.org/officeDocument/2006/relationships/notesMaster" Target="/ppt/notesMasters/notesMaster1.xml" Id="Rb0eb66e786a74a4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895b27a6ec049c4" /><Relationship Type="http://schemas.openxmlformats.org/officeDocument/2006/relationships/notesMaster" Target="/ppt/notesMasters/notesMaster1.xml" Id="R31ab6ce0b091425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9d0ef2898d54c40" /><Relationship Type="http://schemas.openxmlformats.org/officeDocument/2006/relationships/notesMaster" Target="/ppt/notesMasters/notesMaster1.xml" Id="R6a65889d65f8465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bf83699d2164c94" /><Relationship Type="http://schemas.openxmlformats.org/officeDocument/2006/relationships/notesMaster" Target="/ppt/notesMasters/notesMaster1.xml" Id="R30fa2848792c479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bd9985c40ae4238" /><Relationship Type="http://schemas.openxmlformats.org/officeDocument/2006/relationships/notesMaster" Target="/ppt/notesMasters/notesMaster1.xml" Id="R8dae47c1f192475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4e31c0010c64406" /><Relationship Type="http://schemas.openxmlformats.org/officeDocument/2006/relationships/notesMaster" Target="/ppt/notesMasters/notesMaster1.xml" Id="Rb6b6127070334fe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f8a4ce5255e43b9" /><Relationship Type="http://schemas.openxmlformats.org/officeDocument/2006/relationships/notesMaster" Target="/ppt/notesMasters/notesMaster1.xml" Id="Rf8a1d465ff84479f"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1075f29641947d1" /><Relationship Type="http://schemas.openxmlformats.org/officeDocument/2006/relationships/notesMaster" Target="/ppt/notesMasters/notesMaster1.xml" Id="R058ad83f2ebb464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9b9f4798fd04f67" /><Relationship Type="http://schemas.openxmlformats.org/officeDocument/2006/relationships/notesMaster" Target="/ppt/notesMasters/notesMaster1.xml" Id="Rf2eacfbe24c742a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9245102d5854fd2" /><Relationship Type="http://schemas.openxmlformats.org/officeDocument/2006/relationships/notesMaster" Target="/ppt/notesMasters/notesMaster1.xml" Id="R01f0a9928c63411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55f039c92394641" /><Relationship Type="http://schemas.openxmlformats.org/officeDocument/2006/relationships/notesMaster" Target="/ppt/notesMasters/notesMaster1.xml" Id="R8ccba0e057e9465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6fe145ea47649c7" /><Relationship Type="http://schemas.openxmlformats.org/officeDocument/2006/relationships/notesMaster" Target="/ppt/notesMasters/notesMaster1.xml" Id="Rb5a5d8a45ea5447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107bac3639e4215" /><Relationship Type="http://schemas.openxmlformats.org/officeDocument/2006/relationships/notesMaster" Target="/ppt/notesMasters/notesMaster1.xml" Id="R6f96604ee192492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8c8247feda046aa" /><Relationship Type="http://schemas.openxmlformats.org/officeDocument/2006/relationships/notesMaster" Target="/ppt/notesMasters/notesMaster1.xml" Id="R7539af56b44a448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927c9a0ad1a462f" /><Relationship Type="http://schemas.openxmlformats.org/officeDocument/2006/relationships/notesMaster" Target="/ppt/notesMasters/notesMaster1.xml" Id="R172d70ecd4434636"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bed3e44a2dc41d0" /><Relationship Type="http://schemas.openxmlformats.org/officeDocument/2006/relationships/notesMaster" Target="/ppt/notesMasters/notesMaster1.xml" Id="Re723bed518d94dc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80604eda6594914" /><Relationship Type="http://schemas.openxmlformats.org/officeDocument/2006/relationships/notesMaster" Target="/ppt/notesMasters/notesMaster1.xml" Id="Rf3edab8fdedd45a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166523c8196462a" /><Relationship Type="http://schemas.openxmlformats.org/officeDocument/2006/relationships/notesMaster" Target="/ppt/notesMasters/notesMaster1.xml" Id="R4ee5bdfb2b9c431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5c953021de34c45" /><Relationship Type="http://schemas.openxmlformats.org/officeDocument/2006/relationships/notesMaster" Target="/ppt/notesMasters/notesMaster1.xml" Id="R0413a144c012408c"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d7f8f80e5ff451b" /><Relationship Type="http://schemas.openxmlformats.org/officeDocument/2006/relationships/notesMaster" Target="/ppt/notesMasters/notesMaster1.xml" Id="R5f5a6e576cab49f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23d0bd69c6346c0" /><Relationship Type="http://schemas.openxmlformats.org/officeDocument/2006/relationships/notesMaster" Target="/ppt/notesMasters/notesMaster1.xml" Id="Rceaa73417865482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69d718719b24305" /><Relationship Type="http://schemas.openxmlformats.org/officeDocument/2006/relationships/notesMaster" Target="/ppt/notesMasters/notesMaster1.xml" Id="Rd3d1dbd8e2564dd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591412e0c504457" /><Relationship Type="http://schemas.openxmlformats.org/officeDocument/2006/relationships/notesMaster" Target="/ppt/notesMasters/notesMaster1.xml" Id="Re09e4167c3d54ed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556ac01333c46b9" /><Relationship Type="http://schemas.openxmlformats.org/officeDocument/2006/relationships/notesMaster" Target="/ppt/notesMasters/notesMaster1.xml" Id="R165194dcf04d46c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31f80a0019d4937" /><Relationship Type="http://schemas.openxmlformats.org/officeDocument/2006/relationships/notesMaster" Target="/ppt/notesMasters/notesMaster1.xml" Id="Ree0144205821480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613e2a5a00b4f79" /><Relationship Type="http://schemas.openxmlformats.org/officeDocument/2006/relationships/notesMaster" Target="/ppt/notesMasters/notesMaster1.xml" Id="R305620094ff1497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44f257f94f84058" /><Relationship Type="http://schemas.openxmlformats.org/officeDocument/2006/relationships/notesMaster" Target="/ppt/notesMasters/notesMaster1.xml" Id="R9e4dcaa20e29480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ac7c556c2ec4b5e" /><Relationship Type="http://schemas.openxmlformats.org/officeDocument/2006/relationships/notesMaster" Target="/ppt/notesMasters/notesMaster1.xml" Id="Rf9fd933195114387"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5683b93796d436c" /><Relationship Type="http://schemas.openxmlformats.org/officeDocument/2006/relationships/notesMaster" Target="/ppt/notesMasters/notesMaster1.xml" Id="R55ba77eb92264d8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ac90812605b4063" /><Relationship Type="http://schemas.openxmlformats.org/officeDocument/2006/relationships/notesMaster" Target="/ppt/notesMasters/notesMaster1.xml" Id="R15287db66fd14282"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796f1c1ed254516" /><Relationship Type="http://schemas.openxmlformats.org/officeDocument/2006/relationships/notesMaster" Target="/ppt/notesMasters/notesMaster1.xml" Id="R9b10a6421a50444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4e1e39bfddcc4987" /><Relationship Type="http://schemas.openxmlformats.org/officeDocument/2006/relationships/notesMaster" Target="/ppt/notesMasters/notesMaster1.xml" Id="R3b075eedf7604c8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98ba7f636974754" /><Relationship Type="http://schemas.openxmlformats.org/officeDocument/2006/relationships/notesMaster" Target="/ppt/notesMasters/notesMaster1.xml" Id="R1dd3152c9e0a4ea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78c23e9ae60d47f4" /><Relationship Type="http://schemas.openxmlformats.org/officeDocument/2006/relationships/notesMaster" Target="/ppt/notesMasters/notesMaster1.xml" Id="R876d00f928b14c3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b7c8f1922d864c51" /><Relationship Type="http://schemas.openxmlformats.org/officeDocument/2006/relationships/notesMaster" Target="/ppt/notesMasters/notesMaster1.xml" Id="Rae698052824e4e3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8c884dae48f45f1" /><Relationship Type="http://schemas.openxmlformats.org/officeDocument/2006/relationships/notesMaster" Target="/ppt/notesMasters/notesMaster1.xml" Id="Rc531cf339580410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364677295e5d46b8" /><Relationship Type="http://schemas.openxmlformats.org/officeDocument/2006/relationships/notesMaster" Target="/ppt/notesMasters/notesMaster1.xml" Id="R0a31c6a4b574471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1ba6fa2768441ed" /><Relationship Type="http://schemas.openxmlformats.org/officeDocument/2006/relationships/notesMaster" Target="/ppt/notesMasters/notesMaster1.xml" Id="Rac6c076c9afd4809"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174b674acaa4fbc" /><Relationship Type="http://schemas.openxmlformats.org/officeDocument/2006/relationships/notesMaster" Target="/ppt/notesMasters/notesMaster1.xml" Id="R5c68b2f882f4433c"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726d26ffaa5e4f2e" /><Relationship Type="http://schemas.openxmlformats.org/officeDocument/2006/relationships/notesMaster" Target="/ppt/notesMasters/notesMaster1.xml" Id="R3085b592dd944e08"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693cfd342484ba3" /><Relationship Type="http://schemas.openxmlformats.org/officeDocument/2006/relationships/notesMaster" Target="/ppt/notesMasters/notesMaster1.xml" Id="Rf395720a623541aa"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2701945d4bf4dc7" /><Relationship Type="http://schemas.openxmlformats.org/officeDocument/2006/relationships/notesMaster" Target="/ppt/notesMasters/notesMaster1.xml" Id="Rb3a1cb358cf3428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04ad710e1a447c7" /><Relationship Type="http://schemas.openxmlformats.org/officeDocument/2006/relationships/notesMaster" Target="/ppt/notesMasters/notesMaster1.xml" Id="Raad107c4a54d4b5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ce7f83bfeb24e11" /><Relationship Type="http://schemas.openxmlformats.org/officeDocument/2006/relationships/notesMaster" Target="/ppt/notesMasters/notesMaster1.xml" Id="Rad3a042e411d4271"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2ed09498b4354df9" /><Relationship Type="http://schemas.openxmlformats.org/officeDocument/2006/relationships/notesMaster" Target="/ppt/notesMasters/notesMaster1.xml" Id="R1e3e4b656e70432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d6979125c674c8b" /><Relationship Type="http://schemas.openxmlformats.org/officeDocument/2006/relationships/notesMaster" Target="/ppt/notesMasters/notesMaster1.xml" Id="R25c761a173474b19"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1a25d5dcd6d44920" /><Relationship Type="http://schemas.openxmlformats.org/officeDocument/2006/relationships/notesMaster" Target="/ppt/notesMasters/notesMaster1.xml" Id="Ra036b408c5e04372"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175307da53da4792" /><Relationship Type="http://schemas.openxmlformats.org/officeDocument/2006/relationships/notesMaster" Target="/ppt/notesMasters/notesMaster1.xml" Id="Rc70fd6f0a05d4f98"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24567b903f15411d" /><Relationship Type="http://schemas.openxmlformats.org/officeDocument/2006/relationships/notesMaster" Target="/ppt/notesMasters/notesMaster1.xml" Id="R3c70909568fb49bd"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de99028e4fc44b3f" /><Relationship Type="http://schemas.openxmlformats.org/officeDocument/2006/relationships/notesMaster" Target="/ppt/notesMasters/notesMaster1.xml" Id="R8a32bfecd26b41f8"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e006fe657f914c00" /><Relationship Type="http://schemas.openxmlformats.org/officeDocument/2006/relationships/notesMaster" Target="/ppt/notesMasters/notesMaster1.xml" Id="Rb3861a5aa8014ee4"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cd8cc2b12e924beb" /><Relationship Type="http://schemas.openxmlformats.org/officeDocument/2006/relationships/notesMaster" Target="/ppt/notesMasters/notesMaster1.xml" Id="Ra45abaf8f95d489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6825da61dff4a28" /><Relationship Type="http://schemas.openxmlformats.org/officeDocument/2006/relationships/notesMaster" Target="/ppt/notesMasters/notesMaster1.xml" Id="Rbe06f1a3a03749c5"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baf4289b34c24741" /><Relationship Type="http://schemas.openxmlformats.org/officeDocument/2006/relationships/notesMaster" Target="/ppt/notesMasters/notesMaster1.xml" Id="R86f65169f8a84ceb"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1295edc3773b4f44" /><Relationship Type="http://schemas.openxmlformats.org/officeDocument/2006/relationships/notesMaster" Target="/ppt/notesMasters/notesMaster1.xml" Id="Rf853cdf2e0b64581"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ab9c7583bea14bd0" /><Relationship Type="http://schemas.openxmlformats.org/officeDocument/2006/relationships/notesMaster" Target="/ppt/notesMasters/notesMaster1.xml" Id="Ra5d4720fb0774081"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9ffcbbfce4e6491c" /><Relationship Type="http://schemas.openxmlformats.org/officeDocument/2006/relationships/notesMaster" Target="/ppt/notesMasters/notesMaster1.xml" Id="Rce819ac262a34d92"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f4db61eac6a04d7d" /><Relationship Type="http://schemas.openxmlformats.org/officeDocument/2006/relationships/notesMaster" Target="/ppt/notesMasters/notesMaster1.xml" Id="R8d66620af1fb4292"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7eb34b26afae4407" /><Relationship Type="http://schemas.openxmlformats.org/officeDocument/2006/relationships/notesMaster" Target="/ppt/notesMasters/notesMaster1.xml" Id="R9a6f7069f59d4a4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4943289e2cea4820" /><Relationship Type="http://schemas.openxmlformats.org/officeDocument/2006/relationships/notesMaster" Target="/ppt/notesMasters/notesMaster1.xml" Id="Rf76d04dd1fbc4ce3"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7ad23a37753a45dd" /><Relationship Type="http://schemas.openxmlformats.org/officeDocument/2006/relationships/notesMaster" Target="/ppt/notesMasters/notesMaster1.xml" Id="R4c9b15d91e0e4435"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fbd5867b31164a25" /><Relationship Type="http://schemas.openxmlformats.org/officeDocument/2006/relationships/notesMaster" Target="/ppt/notesMasters/notesMaster1.xml" Id="Rba5be5ac15184cc9"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e7f9dca5d34b4e16" /><Relationship Type="http://schemas.openxmlformats.org/officeDocument/2006/relationships/notesMaster" Target="/ppt/notesMasters/notesMaster1.xml" Id="R36cc23fe981949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câu hỏi: khi khách yêu cầu đặt một balo, đoạn code nào nhận request và đoạn code nào thực sự ghi đơn? Các slide trích đúng code của bản chụp ngày 22/10/2026, sau khi thêm comment. Phần chính tập trung vào đường chạy. Phụ lục giải thích từng hàm trong backend/ và src/.</a:t>
            </a:r>
          </a:p>
          <a:p xmlns:a="http://schemas.openxmlformats.org/drawingml/2006/main">
            <a:r>
              <a:t/>
            </a:r>
          </a:p>
          <a:p xmlns:a="http://schemas.openxmlformats.org/drawingml/2006/main">
            <a:r>
              <a:t>Nguồn code của bản chụp 22/10/2026:</a:t>
            </a:r>
          </a:p>
          <a:p xmlns:a="http://schemas.openxmlformats.org/drawingml/2006/main">
            <a:r>
              <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“tất cả hàm” trong bộ slide là 80 def/async def của backend/ và 20 của src/, bao gồm hàm lồng và phương thức lớp. database/shop_db là lớp dữ liệu được gọi tới, trình bày phần liên quan pipeline, không trộn vào danh mục 100 hàm. Hai file shop_api/shop_logic nằm trong thư mục backend nhưng phục vụ UI Python cũ. Frontend React gọi HTTP trực tiếp.</a:t>
            </a:r>
          </a:p>
          <a:p xmlns:a="http://schemas.openxmlformats.org/drawingml/2006/main">
            <a:r>
              <a:t/>
            </a:r>
          </a:p>
          <a:p xmlns:a="http://schemas.openxmlformats.org/drawingml/2006/main">
            <a:r>
              <a:t>Nguồn code của bản chụp 22/10/2026:</a:t>
            </a:r>
          </a:p>
          <a:p xmlns:a="http://schemas.openxmlformats.org/drawingml/2006/main">
            <a:r>
              <a:t>backend/main.py   /   backend/shop_api.py   /   backend/shop_logic.py   /   src/llm_client.py</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từ trái sang phải ở hàng trên, sau đó theo đường nối xuống hàng dưới. Mọi đường ghi đơn đều qua server và DB. Route catalog công khai không cần phiên, còn giỏ/đơn/chat phải có token. Web đi thẳng business service; chat có thêm nhánh hiểu ngôn ngữ.</a:t>
            </a:r>
          </a:p>
          <a:p xmlns:a="http://schemas.openxmlformats.org/drawingml/2006/main">
            <a:r>
              <a:t/>
            </a:r>
          </a:p>
          <a:p xmlns:a="http://schemas.openxmlformats.org/drawingml/2006/main">
            <a:r>
              <a:t>Nguồn code của bản chụp 22/10/2026:</a:t>
            </a:r>
          </a:p>
          <a:p xmlns:a="http://schemas.openxmlformats.org/drawingml/2006/main">
            <a:r>
              <a:t>backend/main.py   /   backend/services.py   /   backend/chat_service.py</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Gemini chỉ nằm ở một nhánh, không phải mọi câu đều tốn quota. Request trùng có receipt trả kết quả trước đó. Sau lời gọi provider, workflow kiểm tra lại phiên và revision trong transaction trước khi ghi dữ liệu.</a:t>
            </a:r>
          </a:p>
          <a:p xmlns:a="http://schemas.openxmlformats.org/drawingml/2006/main">
            <a:r>
              <a:t/>
            </a:r>
          </a:p>
          <a:p xmlns:a="http://schemas.openxmlformats.org/drawingml/2006/main">
            <a:r>
              <a:t>Nguồn code của bản chụp 22/10/2026:</a:t>
            </a:r>
          </a:p>
          <a:p xmlns:a="http://schemas.openxmlformats.org/drawingml/2006/main">
            <a:r>
              <a:t>backend/chat_service.py:210-320</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Theo dõi nhánh Gemini của workflow. generate chỉ trả LLMResult. parse_output tạo Extraction. discard_implicit_quantities và validate_grounding kiểm tra dữ liệu trước khi ghép vào context. Sau đó chat dispatch hành động và chỉ ghi trong transaction sau khi kiểm tra lại phiên/revision. Lỗi provider hoặc output chặn đường ghi và trả failed_validation.</a:t>
            </a:r>
          </a:p>
          <a:p xmlns:a="http://schemas.openxmlformats.org/drawingml/2006/main">
            <a:r>
              <a:t/>
            </a:r>
          </a:p>
          <a:p xmlns:a="http://schemas.openxmlformats.org/drawingml/2006/main">
            <a:r>
              <a:t>Nguồn code của bản chụp 22/10/2026:</a:t>
            </a:r>
          </a:p>
          <a:p xmlns:a="http://schemas.openxmlformats.org/drawingml/2006/main">
            <a:r>
              <a:t>src/prompts.py   /   src/llm_client.py   /   src/parser.py   /   backend/chat_service.py</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decorator khai báo route, ChatRequest là Pydantic model của body, Request chứa headers/IP. request_key đọc Idempotency-Key. session_db trả kết nối, phiên và Ctx. limiter.check áp giới hạn chat theo owner. Chưa có thao tác tạo đơn ở route này.</a:t>
            </a:r>
          </a:p>
          <a:p xmlns:a="http://schemas.openxmlformats.org/drawingml/2006/main">
            <a:r>
              <a:t/>
            </a:r>
          </a:p>
          <a:p xmlns:a="http://schemas.openxmlformats.org/drawingml/2006/main">
            <a:r>
              <a:t>Nguồn code của bản chụp 22/10/2026:</a:t>
            </a:r>
          </a:p>
          <a:p xmlns:a="http://schemas.openxmlformats.org/drawingml/2006/main">
            <a:r>
              <a:t>backend/main.py:237–244</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strict=True không tự đổi chuỗi số thành số nguyên. extra=forbid chặn client gửi thêm price/stock/status/owner. Shipping kiểm tra độ dài, còn quy tắc số điện thoại tiếp tục ở lớp validation database.</a:t>
            </a:r>
          </a:p>
          <a:p xmlns:a="http://schemas.openxmlformats.org/drawingml/2006/main">
            <a:r>
              <a:t/>
            </a:r>
          </a:p>
          <a:p xmlns:a="http://schemas.openxmlformats.org/drawingml/2006/main">
            <a:r>
              <a:t>Nguồn code của bản chụp 22/10/2026:</a:t>
            </a:r>
          </a:p>
          <a:p xmlns:a="http://schemas.openxmlformats.org/drawingml/2006/main">
            <a:r>
              <a:t>backend/models.py:6–15,45–46</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RateLimiter giữ deque và khóa trong RAM, phạm vi một process. Các exception handlers chuyển ApiProblem, DataServiceError, lỗi Pydantic, HTTPException và OperationalError sang JSON thống nhất. Không đưa stack trace hoặc body provider vào phản hồi.</a:t>
            </a:r>
          </a:p>
          <a:p xmlns:a="http://schemas.openxmlformats.org/drawingml/2006/main">
            <a:r>
              <a:t/>
            </a:r>
          </a:p>
          <a:p xmlns:a="http://schemas.openxmlformats.org/drawingml/2006/main">
            <a:r>
              <a:t>Nguồn code của bản chụp 22/10/2026:</a:t>
            </a:r>
          </a:p>
          <a:p xmlns:a="http://schemas.openxmlformats.org/drawingml/2006/main">
            <a:r>
              <a:t>backend/main.py:74–85</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authenticate kiểm tra scheme Bearer, độ dài token, hash và expires_at. owned_order tiếp tục so owner_id trước khi đọc/sửa một đơn. Hết hạn hoặc bị thu hồi trả 401. Đây là phiên demo, chưa phải tài khoản đăng nhập.</a:t>
            </a:r>
          </a:p>
          <a:p xmlns:a="http://schemas.openxmlformats.org/drawingml/2006/main">
            <a:r>
              <a:t/>
            </a:r>
          </a:p>
          <a:p xmlns:a="http://schemas.openxmlformats.org/drawingml/2006/main">
            <a:r>
              <a:t>Nguồn code của bản chụp 22/10/2026:</a:t>
            </a:r>
          </a:p>
          <a:p xmlns:a="http://schemas.openxmlformats.org/drawingml/2006/main">
            <a:r>
              <a:t>backend/storage.py:62–70   /   backend/services.py:30–35</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Regex UNSAFE chỉ là một lớp phòng vệ, không bảo đảm chống mọi injection. Những câu khác đi vào client.generate. Các thao tác cuối vẫn bị giới hạn bởi schema, quyền phiên, SKU, tồn và transaction.</a:t>
            </a:r>
          </a:p>
          <a:p xmlns:a="http://schemas.openxmlformats.org/drawingml/2006/main">
            <a:r>
              <a:t/>
            </a:r>
          </a:p>
          <a:p xmlns:a="http://schemas.openxmlformats.org/drawingml/2006/main">
            <a:r>
              <a:t>Nguồn code của bản chụp 22/10/2026:</a:t>
            </a:r>
          </a:p>
          <a:p xmlns:a="http://schemas.openxmlformats.org/drawingml/2006/main">
            <a:r>
              <a:t>backend/chat_service.py:226–235</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_catalog_context tìm theo câu hiện tại và sản phẩm đang hỏi, giới hạn 6 sản phẩm và 10 alias mỗi sản phẩm. Context catalog gồm tên, category, description, alias, sku/color/size. Hàm không gửi giá/tồn cho model để model quyết định nghiệp vụ. Không gửi toàn bộ lịch sử chat thô.</a:t>
            </a:r>
          </a:p>
          <a:p xmlns:a="http://schemas.openxmlformats.org/drawingml/2006/main">
            <a:r>
              <a:t/>
            </a:r>
          </a:p>
          <a:p xmlns:a="http://schemas.openxmlformats.org/drawingml/2006/main">
            <a:r>
              <a:t>Nguồn code của bản chụp 22/10/2026:</a:t>
            </a:r>
          </a:p>
          <a:p xmlns:a="http://schemas.openxmlformats.org/drawingml/2006/main">
            <a:r>
              <a:t>src/prompts.py:48–54</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Bản v4 nhấn mạnh chỉ trích dữ liệu mới từ câu hiện tại, giữ null nếu chưa có, không tự điền 1 và không lấy 15inch làm số lượng. Prompt là hướng dẫn xác suất. Parser và quy tắc server mới quyết định dữ liệu có được dùng.</a:t>
            </a:r>
          </a:p>
          <a:p xmlns:a="http://schemas.openxmlformats.org/drawingml/2006/main">
            <a:r>
              <a:t/>
            </a:r>
          </a:p>
          <a:p xmlns:a="http://schemas.openxmlformats.org/drawingml/2006/main">
            <a:r>
              <a:t>Nguồn code của bản chụp 22/10/2026:</a:t>
            </a:r>
          </a:p>
          <a:p xmlns:a="http://schemas.openxmlformats.org/drawingml/2006/main">
            <a:r>
              <a:t>src/prompts.py:10–20,28–30</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item có requested_product, sku, variant và quantity. Confidence thấp hoặc requires_human_review bật sẽ đi handoff. missing_information của model không trực tiếp là quyết định cuối. Workflow tự xác định phần thiếu bằng dữ liệu đã ghép và DB.</a:t>
            </a:r>
          </a:p>
          <a:p xmlns:a="http://schemas.openxmlformats.org/drawingml/2006/main">
            <a:r>
              <a:t/>
            </a:r>
          </a:p>
          <a:p xmlns:a="http://schemas.openxmlformats.org/drawingml/2006/main">
            <a:r>
              <a:t>Nguồn code của bản chụp 22/10/2026:</a:t>
            </a:r>
          </a:p>
          <a:p xmlns:a="http://schemas.openxmlformats.org/drawingml/2006/main">
            <a:r>
              <a:t>src/parser.py:41–51</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implementation REST bằng requests, không dùng SDK agent/tool-calling. API key lấy từ settings và nằm trong header x-goog-api-key. Deck chỉ trích tên biến, không chứa giá trị key. requests.post dùng timeout cấu hình và không tự đi theo redirect.</a:t>
            </a:r>
          </a:p>
          <a:p xmlns:a="http://schemas.openxmlformats.org/drawingml/2006/main">
            <a:r>
              <a:t/>
            </a:r>
          </a:p>
          <a:p xmlns:a="http://schemas.openxmlformats.org/drawingml/2006/main">
            <a:r>
              <a:t>Nguồn code của bản chụp 22/10/2026:</a:t>
            </a:r>
          </a:p>
          <a:p xmlns:a="http://schemas.openxmlformats.org/drawingml/2006/main">
            <a:r>
              <a:t>src/llm_client.py:51–57,66–67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Nếu prompt bị chặn, finishReason không phải STOP hoặc cấu trúc provider thiếu trường, client báo LLMError. thought parts không ghép vào text. Không tin rằng JSON nhìn hợp lệ là đủ an toàn để ghi DB.</a:t>
            </a:r>
          </a:p>
          <a:p xmlns:a="http://schemas.openxmlformats.org/drawingml/2006/main">
            <a:r>
              <a:t/>
            </a:r>
          </a:p>
          <a:p xmlns:a="http://schemas.openxmlformats.org/drawingml/2006/main">
            <a:r>
              <a:t>Nguồn code của bản chụp 22/10/2026:</a:t>
            </a:r>
          </a:p>
          <a:p xmlns:a="http://schemas.openxmlformats.org/drawingml/2006/main">
            <a:r>
              <a:t>src/llm_client.py:84–91</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Ngày quota theo America/Los_Angeles. Hạn mức là cấu hình ứng dụng, không phải cam kết quota Google. Nếu request timeout vẫn đã tính một attempt vì có thể provider đã nhận. Bộ đếm không biết traffic của ứng dụng khác hay trước lúc tính ledger.</a:t>
            </a:r>
          </a:p>
          <a:p xmlns:a="http://schemas.openxmlformats.org/drawingml/2006/main">
            <a:r>
              <a:t/>
            </a:r>
          </a:p>
          <a:p xmlns:a="http://schemas.openxmlformats.org/drawingml/2006/main">
            <a:r>
              <a:t>Nguồn code của bản chụp 22/10/2026:</a:t>
            </a:r>
          </a:p>
          <a:p xmlns:a="http://schemas.openxmlformats.org/drawingml/2006/main">
            <a:r>
              <a:t>src/quota.py:22–32</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_retry_delay đọc Retry-After giây hoặc HTTP-date và dùng backoff. Nếu thời gian phải chờ trên 3 giây thì trả lỗi để khách thử sau, không gửi sớm. Mỗi retry vẫn tiêu một lượt ngân sách. Không tự động retry vô hạn.</a:t>
            </a:r>
          </a:p>
          <a:p xmlns:a="http://schemas.openxmlformats.org/drawingml/2006/main">
            <a:r>
              <a:t/>
            </a:r>
          </a:p>
          <a:p xmlns:a="http://schemas.openxmlformats.org/drawingml/2006/main">
            <a:r>
              <a:t>Nguồn code của bản chụp 22/10/2026:</a:t>
            </a:r>
          </a:p>
          <a:p xmlns:a="http://schemas.openxmlformats.org/drawingml/2006/main">
            <a:r>
              <a:t>src/llm_client.py:73–79,93–100</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hạn output là 16.000 ký tự. object_pairs_hook=_unique_object giúp phát hiện khóa trùng. parse_constant từ chối giá trị không hữu hạn. Pydantic kiểm tra enum intent, số lượng 1–99, độ dài text, extra fields và kiểu strict.</a:t>
            </a:r>
          </a:p>
          <a:p xmlns:a="http://schemas.openxmlformats.org/drawingml/2006/main">
            <a:r>
              <a:t/>
            </a:r>
          </a:p>
          <a:p xmlns:a="http://schemas.openxmlformats.org/drawingml/2006/main">
            <a:r>
              <a:t>Nguồn code của bản chụp 22/10/2026:</a:t>
            </a:r>
          </a:p>
          <a:p xmlns:a="http://schemas.openxmlformats.org/drawingml/2006/main">
            <a:r>
              <a:t>src/parser.py:67–78</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Kiểm tra requested_product, sku, màu, size, quantity, customer, order reference, evidence và bộ lọc giá/tồn. money_amounts hỗ trợ 800k hay 1 triệu. Đây là kiểm tra từ vựng/chuỗi và allowlist, không chứng minh đầy đủ ngữ nghĩa hoặc chống mọi cách diễn đạt mơ hồ.</a:t>
            </a:r>
          </a:p>
          <a:p xmlns:a="http://schemas.openxmlformats.org/drawingml/2006/main">
            <a:r>
              <a:t/>
            </a:r>
          </a:p>
          <a:p xmlns:a="http://schemas.openxmlformats.org/drawingml/2006/main">
            <a:r>
              <a:t>Nguồn code của bản chụp 22/10/2026:</a:t>
            </a:r>
          </a:p>
          <a:p xmlns:a="http://schemas.openxmlformats.org/drawingml/2006/main">
            <a:r>
              <a:t>src/parser.py:127–134,138–141</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discard_implicit_quantities bỏ giá trị do model tự mặc định nếu không có lượng rõ ràng. Số lượng trái với lượng khách đã nêu vẫn bị từ chối bởi grounding. Trong form UI, số 1 là lựa chọn hiển thị để khách xem/sửa trước khi chủ động bấm gửi, không phải đơn tự tạo.</a:t>
            </a:r>
          </a:p>
          <a:p xmlns:a="http://schemas.openxmlformats.org/drawingml/2006/main">
            <a:r>
              <a:t/>
            </a:r>
          </a:p>
          <a:p xmlns:a="http://schemas.openxmlformats.org/drawingml/2006/main">
            <a:r>
              <a:t>Nguồn code của bản chụp 22/10/2026:</a:t>
            </a:r>
          </a:p>
          <a:p xmlns:a="http://schemas.openxmlformats.org/drawingml/2006/main">
            <a:r>
              <a:t>src/parser.py:104–116</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chat(), continuing kiểm tra intent mới có khớp pending_intent không. Customer chỉ ghép các trường khác null từ câu mới. Khi đổi biến thể mà chưa nêu SKU, helper xóa SKU cũ để resolve lại. Nếu sản phẩm thực sự khác, không tự mượn số lượng/giao nhận của ý định khác.</a:t>
            </a:r>
          </a:p>
          <a:p xmlns:a="http://schemas.openxmlformats.org/drawingml/2006/main">
            <a:r>
              <a:t/>
            </a:r>
          </a:p>
          <a:p xmlns:a="http://schemas.openxmlformats.org/drawingml/2006/main">
            <a:r>
              <a:t>Nguồn code của bản chụp 22/10/2026:</a:t>
            </a:r>
          </a:p>
          <a:p xmlns:a="http://schemas.openxmlformats.org/drawingml/2006/main">
            <a:r>
              <a:t>backend/chat_service.py:61–73</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browse_catalog đọc hàng, create_order gọi _draft, update_order gọi _update, các câu price/stock qua _query. Nếu requires_human_review hoặc confidence thấp hoặc unknown_or_handoff thì handoff trước dispatch. Không có API confirm payment/order cho khách.</a:t>
            </a:r>
          </a:p>
          <a:p xmlns:a="http://schemas.openxmlformats.org/drawingml/2006/main">
            <a:r>
              <a:t/>
            </a:r>
          </a:p>
          <a:p xmlns:a="http://schemas.openxmlformats.org/drawingml/2006/main">
            <a:r>
              <a:t>Nguồn code của bản chụp 22/10/2026:</a:t>
            </a:r>
          </a:p>
          <a:p xmlns:a="http://schemas.openxmlformats.org/drawingml/2006/main">
            <a:r>
              <a:t>backend/chat_service.py:283–292</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Nếu có SKU thì đọc variant, nếu có tên thì search rồi lấy nhóm score gần đầu. Lọc màu/size sau đó. Nhiều hoặc không có ứng viên đều hỏi variant. Màu chung có thể khớp màu chi tiết theo prefix, nên luôn cần giới hạn cuối cùng đúng một SKU.</a:t>
            </a:r>
          </a:p>
          <a:p xmlns:a="http://schemas.openxmlformats.org/drawingml/2006/main">
            <a:r>
              <a:t/>
            </a:r>
          </a:p>
          <a:p xmlns:a="http://schemas.openxmlformats.org/drawingml/2006/main">
            <a:r>
              <a:t>Nguồn code của bản chụp 22/10/2026:</a:t>
            </a:r>
          </a:p>
          <a:p xmlns:a="http://schemas.openxmlformats.org/drawingml/2006/main">
            <a:r>
              <a:t>backend/chat_service.py:88–99   /   backend/variant_utils.py:7–8</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_shipping kiểm tra tên/phone/address rồi dùng validate_delivery ở lớp DB. Client không gửi price/stock để server tin. ChatPurchaseForm tạo một message có SKU, số lượng và giao nhận khách nhập, gửi tiếp POST /api/chat với khóa riêng. Không phải một route bỏ qua LLM/validation.</a:t>
            </a:r>
          </a:p>
          <a:p xmlns:a="http://schemas.openxmlformats.org/drawingml/2006/main">
            <a:r>
              <a:t/>
            </a:r>
          </a:p>
          <a:p xmlns:a="http://schemas.openxmlformats.org/drawingml/2006/main">
            <a:r>
              <a:t>Nguồn code của bản chụp 22/10/2026:</a:t>
            </a:r>
          </a:p>
          <a:p xmlns:a="http://schemas.openxmlformats.org/drawingml/2006/main">
            <a:r>
              <a:t>backend/chat_service.py:144–148</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orders.create_draft_order ở database/shop_db/order_service.py kiểm tra owner/key/items/delivery, tạo cart trong transaction rồi chuyển trạng thái. Giá từng item đọc từ catalog bởi _upsert_item. Lỗi nào cũng rollback. _draft không có nhánh tự xác nhận thanh toán.</a:t>
            </a:r>
          </a:p>
          <a:p xmlns:a="http://schemas.openxmlformats.org/drawingml/2006/main">
            <a:r>
              <a:t/>
            </a:r>
          </a:p>
          <a:p xmlns:a="http://schemas.openxmlformats.org/drawingml/2006/main">
            <a:r>
              <a:t>Nguồn code của bản chụp 22/10/2026:</a:t>
            </a:r>
          </a:p>
          <a:p xmlns:a="http://schemas.openxmlformats.org/drawingml/2006/main">
            <a:r>
              <a:t>backend/chat_service.py:149–158</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lượt chat chạy song song có thể đều tiêu quota, nhưng request theo revision cũ bị 409 conversation_busy trước khi ghi. Bảo vệ phiên bị thu hồi trong lúc model xử lý. Receipt được kiểm tra cả trước lẫn trong transaction để chặn request lặp cạnh tranh.</a:t>
            </a:r>
          </a:p>
          <a:p xmlns:a="http://schemas.openxmlformats.org/drawingml/2006/main">
            <a:r>
              <a:t/>
            </a:r>
          </a:p>
          <a:p xmlns:a="http://schemas.openxmlformats.org/drawingml/2006/main">
            <a:r>
              <a:t>Nguồn code của bản chụp 22/10/2026:</a:t>
            </a:r>
          </a:p>
          <a:p xmlns:a="http://schemas.openxmlformats.org/drawingml/2006/main">
            <a:r>
              <a:t>backend/chat_service.py:255–267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Tiếp tục đọc order_common.reprice_and_check_stock và recalc_total nếu được hỏi. change_status khi chuyển confirmed mới có logic trừ kho nhưng API khách hàng hiện tại không cung cấp đường confirm. Kiểm tra tổng của ví dụ balo: 2 × 520000 = 1040000.</a:t>
            </a:r>
          </a:p>
          <a:p xmlns:a="http://schemas.openxmlformats.org/drawingml/2006/main">
            <a:r>
              <a:t/>
            </a:r>
          </a:p>
          <a:p xmlns:a="http://schemas.openxmlformats.org/drawingml/2006/main">
            <a:r>
              <a:t>Nguồn code của bản chụp 22/10/2026:</a:t>
            </a:r>
          </a:p>
          <a:p xmlns:a="http://schemas.openxmlformats.org/drawingml/2006/main">
            <a:r>
              <a:t>database/shop_db/order_service.py:128,132,138–140   /   database/shop_db/order_common.py:36–40</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replay bảo vệ thao tác checkout gửi lại. Sau submit_order, api_sessions.cart_id về NULL để lần mua sau mở giỏ mới. Nếu giỏ rỗng trả 409. Khách không được xác nhận đơn hoặc gửi owner/giá tùy ý.</a:t>
            </a:r>
          </a:p>
          <a:p xmlns:a="http://schemas.openxmlformats.org/drawingml/2006/main">
            <a:r>
              <a:t/>
            </a:r>
          </a:p>
          <a:p xmlns:a="http://schemas.openxmlformats.org/drawingml/2006/main">
            <a:r>
              <a:t>Nguồn code của bản chụp 22/10/2026:</a:t>
            </a:r>
          </a:p>
          <a:p xmlns:a="http://schemas.openxmlformats.org/drawingml/2006/main">
            <a:r>
              <a:t>backend/services.py:103–117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Nếu nhiều đơn thì hỏi order_reference. Nếu nhiều dòng chưa xác định đích thì hỏi product hoặc hướng dẫn sửa trên web. Toàn bộ đổi biến thể là một transaction: bỏ dòng cũ và thêm biến thể mới, rollback nếu hết hàng hoặc sai sản phẩm.</a:t>
            </a:r>
          </a:p>
          <a:p xmlns:a="http://schemas.openxmlformats.org/drawingml/2006/main">
            <a:r>
              <a:t/>
            </a:r>
          </a:p>
          <a:p xmlns:a="http://schemas.openxmlformats.org/drawingml/2006/main">
            <a:r>
              <a:t>Nguồn code của bản chụp 22/10/2026:</a:t>
            </a:r>
          </a:p>
          <a:p xmlns:a="http://schemas.openxmlformats.org/drawingml/2006/main">
            <a:r>
              <a:t>backend/chat_service.py:169–175   /   backend/services.py:89–90,96–97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Tin user trong conversation_messages được thay bằng placeholder. Logger chỉ ghi meta chứ không log prompt đầy đủ. Tuy nhiên orders, conversation.context khi đang thu thập và receipts có thể chứa giao nhận, nên không tuyên bố hệ thống không lưu PII. failed_validation không lưu receipt để có thể thử lại.</a:t>
            </a:r>
          </a:p>
          <a:p xmlns:a="http://schemas.openxmlformats.org/drawingml/2006/main">
            <a:r>
              <a:t/>
            </a:r>
          </a:p>
          <a:p xmlns:a="http://schemas.openxmlformats.org/drawingml/2006/main">
            <a:r>
              <a:t>Nguồn code của bản chụp 22/10/2026:</a:t>
            </a:r>
          </a:p>
          <a:p xmlns:a="http://schemas.openxmlformats.org/drawingml/2006/main">
            <a:r>
              <a:t>backend/chat_service.py:309–319</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Bằng chứng là log đã lưu ngày 22/10 trên SQLite thử riêng. Hai lượt model thật có prompt v4, retry 0. Không sử dụng FakeLLM cho con số live này. Đơn thử không nằm trong DB vận hành. Khi demo trên lớp có thể gõ lại câu đầu, sau đó điền form; phụ thuộc quota và mạng ở thời điểm demo.</a:t>
            </a:r>
          </a:p>
          <a:p xmlns:a="http://schemas.openxmlformats.org/drawingml/2006/main">
            <a:r>
              <a:t/>
            </a:r>
          </a:p>
          <a:p xmlns:a="http://schemas.openxmlformats.org/drawingml/2006/main">
            <a:r>
              <a:t>Nguồn code của bản chụp 22/10/2026:</a:t>
            </a:r>
          </a:p>
          <a:p xmlns:a="http://schemas.openxmlformats.org/drawingml/2006/main">
            <a:r>
              <a:t>sample_results/chat_purchase_2026-10-22/live_gemini_order.json   /   backend/chat_service.py:121-157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số là kết quả đã lưu trong sample_results/chat_purchase_2026-10-22, không gọi thêm Google để tạo deck. Không dùng 29/29 offline làm độ chính xác Gemini. Rate limiter trong RAM không đồng bộ giữa nhiều process, ledger quota dùng SQLite riêng. Regex/evidence chưa bảo đảm hiểu mọi câu, handoff chưa có hàng đợi nhân viên. Giá/tồn vẫn phải kiểm tra lại khi xác nhận đơn.</a:t>
            </a:r>
          </a:p>
          <a:p xmlns:a="http://schemas.openxmlformats.org/drawingml/2006/main">
            <a:r>
              <a:t/>
            </a:r>
          </a:p>
          <a:p xmlns:a="http://schemas.openxmlformats.org/drawingml/2006/main">
            <a:r>
              <a:t>Nguồn code của bản chụp 22/10/2026:</a:t>
            </a:r>
          </a:p>
          <a:p xmlns:a="http://schemas.openxmlformats.org/drawingml/2006/main">
            <a:r>
              <a:t>sample_results/chat_purchase_2026-10-22/summary.json   /   sample_results/chat_purchase_2026-10-22/python-tests.txt   /   sample_results/chat_purchase_2026-10-22/react-tests.txt</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trả lời, chỉ vào code: client.generate và validate_grounding ở chat_service.py, session kiểm tra lại ở transaction, storage.replay/digest và parser.quantity_source. Không mô tả model có quyền tool tự do hay hệ thống RAG vector vì code hiện tại không triển khai các cơ chế đó.</a:t>
            </a:r>
          </a:p>
          <a:p xmlns:a="http://schemas.openxmlformats.org/drawingml/2006/main">
            <a:r>
              <a:t/>
            </a:r>
          </a:p>
          <a:p xmlns:a="http://schemas.openxmlformats.org/drawingml/2006/main">
            <a:r>
              <a:t>Nguồn code của bản chụp 22/10/2026:</a:t>
            </a:r>
          </a:p>
          <a:p xmlns:a="http://schemas.openxmlformats.org/drawingml/2006/main">
            <a:r>
              <a:t>backend/chat_service.py   /   backend/storage.py   /   src/parser.py</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này dùng để tra cứu và giải thích từng hàm, không cần đọc liên tục khi thuyết trình phần chính. Mỗi trang có tối đa hai hàm. Số dòng áp dụng cho snapshot ngày 22/10/2026. Nếu sau này code sửa, tìm theo tên hàm và xem snapshot để đối chiếu.</a:t>
            </a:r>
          </a:p>
          <a:p xmlns:a="http://schemas.openxmlformats.org/drawingml/2006/main">
            <a:r>
              <a:t/>
            </a:r>
          </a:p>
          <a:p xmlns:a="http://schemas.openxmlformats.org/drawingml/2006/main">
            <a:r>
              <a:t>Nguồn code của bản chụp 22/10/2026:</a:t>
            </a:r>
          </a:p>
          <a:p xmlns:a="http://schemas.openxmlformats.org/drawingml/2006/main">
            <a:r>
              <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RateLimiter.__init__</a:t>
            </a:r>
          </a:p>
          <a:p xmlns:a="http://schemas.openxmlformats.org/drawingml/2006/main">
            <a:r>
              <a:t>Chức năng: Khởi tạo bộ đếm request và khóa để nhiều luồng cập nhật an toàn.</a:t>
            </a:r>
          </a:p>
          <a:p xmlns:a="http://schemas.openxmlformats.org/drawingml/2006/main">
            <a:r>
              <a:t>Đầu vào: không có tham số ngoài đối tượng</a:t>
            </a:r>
          </a:p>
          <a:p xmlns:a="http://schemas.openxmlformats.org/drawingml/2006/main">
            <a:r>
              <a:t>Đầu ra/tác động: Khởi tạo entries và lock trên đối tượng.</a:t>
            </a:r>
          </a:p>
          <a:p xmlns:a="http://schemas.openxmlformats.org/drawingml/2006/main">
            <a:r>
              <a:t>Nguồn: backend/main.py:32-34</a:t>
            </a:r>
          </a:p>
          <a:p xmlns:a="http://schemas.openxmlformats.org/drawingml/2006/main">
            <a:r>
              <a:t>Code đầy đủ:</a:t>
            </a:r>
          </a:p>
          <a:p xmlns:a="http://schemas.openxmlformats.org/drawingml/2006/main">
            <a:r>
              <a:t>    def __init__(self):</a:t>
            </a:r>
          </a:p>
          <a:p xmlns:a="http://schemas.openxmlformats.org/drawingml/2006/main">
            <a:r>
              <a:t>        self.entries = {}</a:t>
            </a:r>
          </a:p>
          <a:p xmlns:a="http://schemas.openxmlformats.org/drawingml/2006/main">
            <a:r>
              <a:t>        self.lock = threading.Lock()</a:t>
            </a:r>
          </a:p>
          <a:p xmlns:a="http://schemas.openxmlformats.org/drawingml/2006/main">
            <a:r>
              <a:t/>
            </a:r>
          </a:p>
          <a:p xmlns:a="http://schemas.openxmlformats.org/drawingml/2006/main">
            <a:r>
              <a:t>RateLimiter.check</a:t>
            </a:r>
          </a:p>
          <a:p xmlns:a="http://schemas.openxmlformats.org/drawingml/2006/main">
            <a:r>
              <a:t>Chức năng: Chặn khi số request của một IP hoặc phiên vượt giới hạn trong 60 giây.</a:t>
            </a:r>
          </a:p>
          <a:p xmlns:a="http://schemas.openxmlformats.org/drawingml/2006/main">
            <a:r>
              <a:t>Đầu vào: bucket, identity, limit</a:t>
            </a:r>
          </a:p>
          <a:p xmlns:a="http://schemas.openxmlformats.org/drawingml/2006/main">
            <a:r>
              <a:t>Đầu ra/tác động: Không trả dữ liệu, hoặc ném ApiProblem 429.</a:t>
            </a:r>
          </a:p>
          <a:p xmlns:a="http://schemas.openxmlformats.org/drawingml/2006/main">
            <a:r>
              <a:t>Nguồn: backend/main.py:37-46</a:t>
            </a:r>
          </a:p>
          <a:p xmlns:a="http://schemas.openxmlformats.org/drawingml/2006/main">
            <a:r>
              <a:t>Code đầy đủ:</a:t>
            </a:r>
          </a:p>
          <a:p xmlns:a="http://schemas.openxmlformats.org/drawingml/2006/main">
            <a:r>
              <a:t>    def check(self, bucket, identity, limit):</a:t>
            </a:r>
          </a:p>
          <a:p xmlns:a="http://schemas.openxmlformats.org/drawingml/2006/main">
            <a:r>
              <a:t>        now = time.monotonic()</a:t>
            </a:r>
          </a:p>
          <a:p xmlns:a="http://schemas.openxmlformats.org/drawingml/2006/main">
            <a:r>
              <a:t>        with self.lock:</a:t>
            </a:r>
          </a:p>
          <a:p xmlns:a="http://schemas.openxmlformats.org/drawingml/2006/main">
            <a:r>
              <a:t>            self.entries = {k: q for k, q in self.entries.items() if q and q[-1] &gt; now - 60}</a:t>
            </a:r>
          </a:p>
          <a:p xmlns:a="http://schemas.openxmlformats.org/drawingml/2006/main">
            <a:r>
              <a:t>            queue = self.entries.setdefault((bucket, identity), deque())</a:t>
            </a:r>
          </a:p>
          <a:p xmlns:a="http://schemas.openxmlformats.org/drawingml/2006/main">
            <a:r>
              <a:t>            while queue and queue[0] &lt;= now - 60:</a:t>
            </a:r>
          </a:p>
          <a:p xmlns:a="http://schemas.openxmlformats.org/drawingml/2006/main">
            <a:r>
              <a:t>                queue.popleft()</a:t>
            </a:r>
          </a:p>
          <a:p xmlns:a="http://schemas.openxmlformats.org/drawingml/2006/main">
            <a:r>
              <a:t>            if len(queue) &gt;= limit:</a:t>
            </a:r>
          </a:p>
          <a:p xmlns:a="http://schemas.openxmlformats.org/drawingml/2006/main">
            <a:r>
              <a:t>                raise ApiProblem(429, "rate_limit", "Bạn gửi yêu cầu quá nhanh. Vui lòng thử lại sau một phút.")</a:t>
            </a:r>
          </a:p>
          <a:p xmlns:a="http://schemas.openxmlformats.org/drawingml/2006/main">
            <a:r>
              <a:t>            queue.append(now)</a:t>
            </a:r>
          </a:p>
          <a:p xmlns:a="http://schemas.openxmlformats.org/drawingml/2006/main">
            <a:r>
              <a:t/>
            </a:r>
          </a:p>
          <a:p xmlns:a="http://schemas.openxmlformats.org/drawingml/2006/main">
            <a:r>
              <a:t>Nguồn code của bản chụp 22/10/2026:</a:t>
            </a:r>
          </a:p>
          <a:p xmlns:a="http://schemas.openxmlformats.org/drawingml/2006/main">
            <a:r>
              <a:t>backend/main.py:32-34   /   backend/main.py:37-46</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_error</a:t>
            </a:r>
          </a:p>
          <a:p xmlns:a="http://schemas.openxmlformats.org/drawingml/2006/main">
            <a:r>
              <a:t>Chức năng: Đóng gói lỗi thành JSON thống nhất, kèm request ID và thời gian chờ nếu bị giới hạn.</a:t>
            </a:r>
          </a:p>
          <a:p xmlns:a="http://schemas.openxmlformats.org/drawingml/2006/main">
            <a:r>
              <a:t>Đầu vào: problem, request_id</a:t>
            </a:r>
          </a:p>
          <a:p xmlns:a="http://schemas.openxmlformats.org/drawingml/2006/main">
            <a:r>
              <a:t>Đầu ra/tác động: JSONResponse chứa error, fields và request_id.</a:t>
            </a:r>
          </a:p>
          <a:p xmlns:a="http://schemas.openxmlformats.org/drawingml/2006/main">
            <a:r>
              <a:t>Nguồn: backend/main.py:50-54</a:t>
            </a:r>
          </a:p>
          <a:p xmlns:a="http://schemas.openxmlformats.org/drawingml/2006/main">
            <a:r>
              <a:t>Code đầy đủ:</a:t>
            </a:r>
          </a:p>
          <a:p xmlns:a="http://schemas.openxmlformats.org/drawingml/2006/main">
            <a:r>
              <a:t>def _error(problem, request_id=None):</a:t>
            </a:r>
          </a:p>
          <a:p xmlns:a="http://schemas.openxmlformats.org/drawingml/2006/main">
            <a:r>
              <a:t>    headers = {"Retry-After": "60"} if problem.status == 429 else {}</a:t>
            </a:r>
          </a:p>
          <a:p xmlns:a="http://schemas.openxmlformats.org/drawingml/2006/main">
            <a:r>
              <a:t>    return JSONResponse(status_code=problem.status, headers=headers,</a:t>
            </a:r>
          </a:p>
          <a:p xmlns:a="http://schemas.openxmlformats.org/drawingml/2006/main">
            <a:r>
              <a:t>                        content={"error": {"code": problem.code, "message": problem.message,</a:t>
            </a:r>
          </a:p>
          <a:p xmlns:a="http://schemas.openxmlformats.org/drawingml/2006/main">
            <a:r>
              <a:t>                                           "fields": problem.fields}, "request_id": request_id})</a:t>
            </a:r>
          </a:p>
          <a:p xmlns:a="http://schemas.openxmlformats.org/drawingml/2006/main">
            <a:r>
              <a:t/>
            </a:r>
          </a:p>
          <a:p xmlns:a="http://schemas.openxmlformats.org/drawingml/2006/main">
            <a:r>
              <a:t>create_app</a:t>
            </a:r>
          </a:p>
          <a:p xmlns:a="http://schemas.openxmlformats.org/drawingml/2006/main">
            <a:r>
              <a:t>Chức năng: Tạo ứng dụng FastAPI, gắn cấu hình, LLM, middleware và các endpoint.</a:t>
            </a:r>
          </a:p>
          <a:p xmlns:a="http://schemas.openxmlformats.org/drawingml/2006/main">
            <a:r>
              <a:t>Đầu vào: settings, llm_client</a:t>
            </a:r>
          </a:p>
          <a:p xmlns:a="http://schemas.openxmlformats.org/drawingml/2006/main">
            <a:r>
              <a:t>Đầu ra/tác động: Đối tượng FastAPI đã gắn route và middleware.</a:t>
            </a:r>
          </a:p>
          <a:p xmlns:a="http://schemas.openxmlformats.org/drawingml/2006/main">
            <a:r>
              <a:t>Nguồn: backend/main.py:58-245</a:t>
            </a:r>
          </a:p>
          <a:p xmlns:a="http://schemas.openxmlformats.org/drawingml/2006/main">
            <a:r>
              <a:t>Code đầy đủ:</a:t>
            </a:r>
          </a:p>
          <a:p xmlns:a="http://schemas.openxmlformats.org/drawingml/2006/main">
            <a:r>
              <a:t>def create_app(settings=None, llm_client=None):</a:t>
            </a:r>
          </a:p>
          <a:p xmlns:a="http://schemas.openxmlformats.org/drawingml/2006/main">
            <a:r>
              <a:t>    settings = settings or Settings.from_env()</a:t>
            </a:r>
          </a:p>
          <a:p xmlns:a="http://schemas.openxmlformats.org/drawingml/2006/main">
            <a:r>
              <a:t/>
            </a:r>
          </a:p>
          <a:p xmlns:a="http://schemas.openxmlformats.org/drawingml/2006/main">
            <a:r>
              <a:t>    @asynccontextmanager</a:t>
            </a:r>
          </a:p>
          <a:p xmlns:a="http://schemas.openxmlformats.org/drawingml/2006/main">
            <a:r>
              <a:t>    # Chuẩn bị database và catalog mẫu trước khi ứng dụng bắt đầu nhận request.</a:t>
            </a:r>
          </a:p>
          <a:p xmlns:a="http://schemas.openxmlformats.org/drawingml/2006/main">
            <a:r>
              <a:t>    async def lifespan(app):</a:t>
            </a:r>
          </a:p>
          <a:p xmlns:a="http://schemas.openxmlformats.org/drawingml/2006/main">
            <a:r>
              <a:t>        initialize(settings.db_path)</a:t>
            </a:r>
          </a:p>
          <a:p xmlns:a="http://schemas.openxmlformats.org/drawingml/2006/main">
            <a:r>
              <a:t>        yield</a:t>
            </a:r>
          </a:p>
          <a:p xmlns:a="http://schemas.openxmlformats.org/drawingml/2006/main">
            <a:r>
              <a:t/>
            </a:r>
          </a:p>
          <a:p xmlns:a="http://schemas.openxmlformats.org/drawingml/2006/main">
            <a:r>
              <a:t>    app = FastAPI(title="Live Commerce Order Assistant", version="1.0.0", lifespan=lifespan)</a:t>
            </a:r>
          </a:p>
          <a:p xmlns:a="http://schemas.openxmlformats.org/drawingml/2006/main">
            <a:r>
              <a:t>    app.state.settings = settings</a:t>
            </a:r>
          </a:p>
          <a:p xmlns:a="http://schemas.openxmlformats.org/drawingml/2006/main">
            <a:r>
              <a:t>    app.state.llm_client = llm_client or make_client(settings)</a:t>
            </a:r>
          </a:p>
          <a:p xmlns:a="http://schemas.openxmlformats.org/drawingml/2006/main">
            <a:r>
              <a:t>    limiter = RateLimiter()</a:t>
            </a:r>
          </a:p>
          <a:p xmlns:a="http://schemas.openxmlformats.org/drawingml/2006/main">
            <a:r>
              <a:t/>
            </a:r>
          </a:p>
          <a:p xmlns:a="http://schemas.openxmlformats.org/drawingml/2006/main">
            <a:r>
              <a:t>    @app.middleware("http")</a:t>
            </a:r>
          </a:p>
          <a:p xmlns:a="http://schemas.openxmlformats.org/drawingml/2006/main">
            <a:r>
              <a:t>    # Gắn mã theo dõi, giới hạn request/kích thước body và xử lý lỗi chung cho mỗi lượt gọi.</a:t>
            </a:r>
          </a:p>
          <a:p xmlns:a="http://schemas.openxmlformats.org/drawingml/2006/main">
            <a:r>
              <a:t>    async def request_context(request, call_next):</a:t>
            </a:r>
          </a:p>
          <a:p xmlns:a="http://schemas.openxmlformats.org/drawingml/2006/main">
            <a:r>
              <a:t>        request.state.request_id = uuid.uuid4().hex</a:t>
            </a:r>
          </a:p>
          <a:p xmlns:a="http://schemas.openxmlformats.org/drawingml/2006/main">
            <a:r>
              <a:t>        try:</a:t>
            </a:r>
          </a:p>
          <a:p xmlns:a="http://schemas.openxmlformats.org/drawingml/2006/main">
            <a:r>
              <a:t>            limiter.check("http", request.client.host if request.client else "local", settings.request_limit)</a:t>
            </a:r>
          </a:p>
          <a:p xmlns:a="http://schemas.openxmlformats.org/drawingml/2006/main">
            <a:r>
              <a:t>            body = bytearray()</a:t>
            </a:r>
          </a:p>
          <a:p xmlns:a="http://schemas.openxmlformats.org/drawingml/2006/main">
            <a:r>
              <a:t>            async for chunk in request.stream():</a:t>
            </a:r>
          </a:p>
          <a:p xmlns:a="http://schemas.openxmlformats.org/drawingml/2006/main">
            <a:r>
              <a:t>                body.extend(chunk)</a:t>
            </a:r>
          </a:p>
          <a:p xmlns:a="http://schemas.openxmlformats.org/drawingml/2006/main">
            <a:r>
              <a:t>                if len(body) &gt; 16384:</a:t>
            </a:r>
          </a:p>
          <a:p xmlns:a="http://schemas.openxmlformats.org/drawingml/2006/main">
            <a:r>
              <a:t>                    raise ApiProblem(413, "request_too_large", "Nội dung request vượt giới hạn 16 KB.")</a:t>
            </a:r>
          </a:p>
          <a:p xmlns:a="http://schemas.openxmlformats.org/drawingml/2006/main">
            <a:r>
              <a:t>            # Starlette reuses the cached body when dispatching to the route.</a:t>
            </a:r>
          </a:p>
          <a:p xmlns:a="http://schemas.openxmlformats.org/drawingml/2006/main">
            <a:r>
              <a:t>            request._body = bytes(body)</a:t>
            </a:r>
          </a:p>
          <a:p xmlns:a="http://schemas.openxmlformats.org/drawingml/2006/main">
            <a:r>
              <a:t>            response = await call_next(request)</a:t>
            </a:r>
          </a:p>
          <a:p xmlns:a="http://schemas.openxmlformats.org/drawingml/2006/main">
            <a:r>
              <a:t>        except ApiProblem as err:</a:t>
            </a:r>
          </a:p>
          <a:p xmlns:a="http://schemas.openxmlformats.org/drawingml/2006/main">
            <a:r>
              <a:t>            response = _error(err, request.state.request_id)</a:t>
            </a:r>
          </a:p>
          <a:p xmlns:a="http://schemas.openxmlformats.org/drawingml/2006/main">
            <a:r>
              <a:t>        except Exception as err:</a:t>
            </a:r>
          </a:p>
          <a:p xmlns:a="http://schemas.openxmlformats.org/drawingml/2006/main">
            <a:r>
              <a:t>            logging.getLogger("shop.api").error(json.dumps({"request_id": request.state.request_id,</a:t>
            </a:r>
          </a:p>
          <a:p xmlns:a="http://schemas.openxmlformats.org/drawingml/2006/main">
            <a:r>
              <a:t>                                                           "error_type": type(err).__name__}))</a:t>
            </a:r>
          </a:p>
          <a:p xmlns:a="http://schemas.openxmlformats.org/drawingml/2006/main">
            <a:r>
              <a:t>            response = _error(ApiProblem(500, "server", "Máy chủ chưa xử lý được yêu cầu. Vui lòng thử lại."), request.state.request_id)</a:t>
            </a:r>
          </a:p>
          <a:p xmlns:a="http://schemas.openxmlformats.org/drawingml/2006/main">
            <a:r>
              <a:t>        response.headers["X-Request-ID"] = request.state.request_id</a:t>
            </a:r>
          </a:p>
          <a:p xmlns:a="http://schemas.openxmlformats.org/drawingml/2006/main">
            <a:r>
              <a:t>        response.headers["Cache-Control"] = "no-store"</a:t>
            </a:r>
          </a:p>
          <a:p xmlns:a="http://schemas.openxmlformats.org/drawingml/2006/main">
            <a:r>
              <a:t>        return response</a:t>
            </a:r>
          </a:p>
          <a:p xmlns:a="http://schemas.openxmlformats.org/drawingml/2006/main">
            <a:r>
              <a:t/>
            </a:r>
          </a:p>
          <a:p xmlns:a="http://schemas.openxmlformats.org/drawingml/2006/main">
            <a:r>
              <a:t>    @app.exception_handler(ApiProblem)</a:t>
            </a:r>
          </a:p>
          <a:p xmlns:a="http://schemas.openxmlformats.org/drawingml/2006/main">
            <a:r>
              <a:t>    # Chuyển lỗi nghiệp vụ API thành phản hồi JSON có mã HTTP tương ứng.</a:t>
            </a:r>
          </a:p>
          <a:p xmlns:a="http://schemas.openxmlformats.org/drawingml/2006/main">
            <a:r>
              <a:t>    async def api_error(request, err):</a:t>
            </a:r>
          </a:p>
          <a:p xmlns:a="http://schemas.openxmlformats.org/drawingml/2006/main">
            <a:r>
              <a:t>        return _error(err, request.state.request_id)</a:t>
            </a:r>
          </a:p>
          <a:p xmlns:a="http://schemas.openxmlformats.org/drawingml/2006/main">
            <a:r>
              <a:t/>
            </a:r>
          </a:p>
          <a:p xmlns:a="http://schemas.openxmlformats.org/drawingml/2006/main">
            <a:r>
              <a:t>    @app.exception_handler(DataServiceError)</a:t>
            </a:r>
          </a:p>
          <a:p xmlns:a="http://schemas.openxmlformats.org/drawingml/2006/main">
            <a:r>
              <a:t>    # Chuyển lỗi từ lớp database thành lỗi API dễ hiểu cho frontend.</a:t>
            </a:r>
          </a:p>
          <a:p xmlns:a="http://schemas.openxmlformats.org/drawingml/2006/main">
            <a:r>
              <a:t>    async def db_error(request, err):</a:t>
            </a:r>
          </a:p>
          <a:p xmlns:a="http://schemas.openxmlformats.org/drawingml/2006/main">
            <a:r>
              <a:t>        return _error(database_problem(err), request.state.request_id)</a:t>
            </a:r>
          </a:p>
          <a:p xmlns:a="http://schemas.openxmlformats.org/drawingml/2006/main">
            <a:r>
              <a:t/>
            </a:r>
          </a:p>
          <a:p xmlns:a="http://schemas.openxmlformats.org/drawingml/2006/main">
            <a:r>
              <a:t>    @app.exception_handler(RequestValidationError)</a:t>
            </a:r>
          </a:p>
          <a:p xmlns:a="http://schemas.openxmlformats.org/drawingml/2006/main">
            <a:r>
              <a:t>    # Báo các trường đầu vào thiếu, sai kiểu hoặc không được phép gửi.</a:t>
            </a:r>
          </a:p>
          <a:p xmlns:a="http://schemas.openxmlformats.org/drawingml/2006/main">
            <a:r>
              <a:t>    async def validation_error(request, err):</a:t>
            </a:r>
          </a:p>
          <a:p xmlns:a="http://schemas.openxmlformats.org/drawingml/2006/main">
            <a:r>
              <a:t>        fields = {}</a:t>
            </a:r>
          </a:p>
          <a:p xmlns:a="http://schemas.openxmlformats.org/drawingml/2006/main">
            <a:r>
              <a:t>        for error in err.errors():</a:t>
            </a:r>
          </a:p>
          <a:p xmlns:a="http://schemas.openxmlformats.org/drawingml/2006/main">
            <a:r>
              <a:t>            name = str(error["loc"][-1])</a:t>
            </a:r>
          </a:p>
          <a:p xmlns:a="http://schemas.openxmlformats.org/drawingml/2006/main">
            <a:r>
              <a:t>            fields[name] = "Trường không được phép." if error["type"] == "extra_forbidden" else "Giá trị không hợp lệ hoặc còn thiếu."</a:t>
            </a:r>
          </a:p>
          <a:p xmlns:a="http://schemas.openxmlformats.org/drawingml/2006/main">
            <a:r>
              <a:t>        return _error(ApiProblem(422, "validation", "Dữ liệu gửi lên chưa hợp lệ.", fields), request.state.request_id)</a:t>
            </a:r>
          </a:p>
          <a:p xmlns:a="http://schemas.openxmlformats.org/drawingml/2006/main">
            <a:r>
              <a:t/>
            </a:r>
          </a:p>
          <a:p xmlns:a="http://schemas.openxmlformats.org/drawingml/2006/main">
            <a:r>
              <a:t>    @app.exception_handler(HTTPException)</a:t>
            </a:r>
          </a:p>
          <a:p xmlns:a="http://schemas.openxmlformats.org/drawingml/2006/main">
            <a:r>
              <a:t>    # Trả thông báo thống nhất khi endpoint không tồn tại hoặc request không được hỗ trợ.</a:t>
            </a:r>
          </a:p>
          <a:p xmlns:a="http://schemas.openxmlformats.org/drawingml/2006/main">
            <a:r>
              <a:t>    async def http_error(request, err):</a:t>
            </a:r>
          </a:p>
          <a:p xmlns:a="http://schemas.openxmlformats.org/drawingml/2006/main">
            <a:r>
              <a:t>        return _error(ApiProblem(err.status_code, "not_found" if err.status_code == 404 else "request_error",</a:t>
            </a:r>
          </a:p>
          <a:p xmlns:a="http://schemas.openxmlformats.org/drawingml/2006/main">
            <a:r>
              <a:t>                                 "Không tìm thấy endpoint." if err.status_code == 404 else "Yêu cầu không được hỗ trợ."), request.state.request_id)</a:t>
            </a:r>
          </a:p>
          <a:p xmlns:a="http://schemas.openxmlformats.org/drawingml/2006/main">
            <a:r>
              <a:t/>
            </a:r>
          </a:p>
          <a:p xmlns:a="http://schemas.openxmlformats.org/drawingml/2006/main">
            <a:r>
              <a:t>    @app.exception_handler(sqlite3.OperationalError)</a:t>
            </a:r>
          </a:p>
          <a:p xmlns:a="http://schemas.openxmlformats.org/drawingml/2006/main">
            <a:r>
              <a:t>    # Trả lỗi 503 khi SQLite tạm thời không truy cập được để khách có thể thử lại.</a:t>
            </a:r>
          </a:p>
          <a:p xmlns:a="http://schemas.openxmlformats.org/drawingml/2006/main">
            <a:r>
              <a:t>    async def busy_error(request, err):</a:t>
            </a:r>
          </a:p>
          <a:p xmlns:a="http://schemas.openxmlformats.org/drawingml/2006/main">
            <a:r>
              <a:t>        return _error(ApiProblem(503, "database_unavailable", "Dữ liệu tạm thời chưa truy cập được. Vui lòng thử lại."), request.state.request_id)</a:t>
            </a:r>
          </a:p>
          <a:p xmlns:a="http://schemas.openxmlformats.org/drawingml/2006/main">
            <a:r>
              <a:t/>
            </a:r>
          </a:p>
          <a:p xmlns:a="http://schemas.openxmlformats.org/drawingml/2006/main">
            <a:r>
              <a:t>    @contextmanager</a:t>
            </a:r>
          </a:p>
          <a:p xmlns:a="http://schemas.openxmlformats.org/drawingml/2006/main">
            <a:r>
              <a:t>    # Mở kết nối database cho một khối xử lý và luôn đóng kết nối khi khối kết thúc.</a:t>
            </a:r>
          </a:p>
          <a:p xmlns:a="http://schemas.openxmlformats.org/drawingml/2006/main">
            <a:r>
              <a:t>    def db():</a:t>
            </a:r>
          </a:p>
          <a:p xmlns:a="http://schemas.openxmlformats.org/drawingml/2006/main">
            <a:r>
              <a:t>        conn = connect(settings.db_path)</a:t>
            </a:r>
          </a:p>
          <a:p xmlns:a="http://schemas.openxmlformats.org/drawingml/2006/main">
            <a:r>
              <a:t>        try:</a:t>
            </a:r>
          </a:p>
          <a:p xmlns:a="http://schemas.openxmlformats.org/drawingml/2006/main">
            <a:r>
              <a:t>            yield conn</a:t>
            </a:r>
          </a:p>
          <a:p xmlns:a="http://schemas.openxmlformats.org/drawingml/2006/main">
            <a:r>
              <a:t>        finally:</a:t>
            </a:r>
          </a:p>
          <a:p xmlns:a="http://schemas.openxmlformats.org/drawingml/2006/main">
            <a:r>
              <a:t>            conn.close()</a:t>
            </a:r>
          </a:p>
          <a:p xmlns:a="http://schemas.openxmlformats.org/drawingml/2006/main">
            <a:r>
              <a:t/>
            </a:r>
          </a:p>
          <a:p xmlns:a="http://schemas.openxmlformats.org/drawingml/2006/main">
            <a:r>
              <a:t>    @contextmanager</a:t>
            </a:r>
          </a:p>
          <a:p xmlns:a="http://schemas.openxmlformats.org/drawingml/2006/main">
            <a:r>
              <a:t>    # Xác thực Bearer token và cung cấp database, phiên cùng thông tin ghi audit.</a:t>
            </a:r>
          </a:p>
          <a:p xmlns:a="http://schemas.openxmlformats.org/drawingml/2006/main">
            <a:r>
              <a:t>    def session_db(request):</a:t>
            </a:r>
          </a:p>
          <a:p xmlns:a="http://schemas.openxmlformats.org/drawingml/2006/main">
            <a:r>
              <a:t>        with db() as conn:</a:t>
            </a:r>
          </a:p>
          <a:p xmlns:a="http://schemas.openxmlformats.org/drawingml/2006/main">
            <a:r>
              <a:t>            session = authenticate(conn, request.headers.get("Authorization"))</a:t>
            </a:r>
          </a:p>
          <a:p xmlns:a="http://schemas.openxmlformats.org/drawingml/2006/main">
            <a:r>
              <a:t>            ctx = Ctx("customer", session["owner_id"], request.state.request_id)</a:t>
            </a:r>
          </a:p>
          <a:p xmlns:a="http://schemas.openxmlformats.org/drawingml/2006/main">
            <a:r>
              <a:t>            yield conn, session, ctx</a:t>
            </a:r>
          </a:p>
          <a:p xmlns:a="http://schemas.openxmlformats.org/drawingml/2006/main">
            <a:r>
              <a:t/>
            </a:r>
          </a:p>
          <a:p xmlns:a="http://schemas.openxmlformats.org/drawingml/2006/main">
            <a:r>
              <a:t>    @app.get("/api/health")</a:t>
            </a:r>
          </a:p>
          <a:p xmlns:a="http://schemas.openxmlformats.org/drawingml/2006/main">
            <a:r>
              <a:t>    # Kiểm tra database và trả provider/model hiện tại mà không gọi Gemini.</a:t>
            </a:r>
          </a:p>
          <a:p xmlns:a="http://schemas.openxmlformats.org/drawingml/2006/main">
            <a:r>
              <a:t>    def health():</a:t>
            </a:r>
          </a:p>
          <a:p xmlns:a="http://schemas.openxmlformats.org/drawingml/2006/main">
            <a:r>
              <a:t>        with db() as conn:</a:t>
            </a:r>
          </a:p>
          <a:p xmlns:a="http://schemas.openxmlformats.org/drawingml/2006/main">
            <a:r>
              <a:t>            conn.execute("SELECT 1 FROM products LIMIT 1").fetchone()</a:t>
            </a:r>
          </a:p>
          <a:p xmlns:a="http://schemas.openxmlformats.org/drawingml/2006/main">
            <a:r>
              <a:t>        return {"status": "ok", "llm_provider": settings.llm_provider, "model_id": app.state.llm_client.model_id}</a:t>
            </a:r>
          </a:p>
          <a:p xmlns:a="http://schemas.openxmlformats.org/drawingml/2006/main">
            <a:r>
              <a:t/>
            </a:r>
          </a:p>
          <a:p xmlns:a="http://schemas.openxmlformats.org/drawingml/2006/main">
            <a:r>
              <a:t>    @app.post("/api/session", status_code=201)</a:t>
            </a:r>
          </a:p>
          <a:p xmlns:a="http://schemas.openxmlformats.org/drawingml/2006/main">
            <a:r>
              <a:t>    # Tạo phiên mua sắm mới sau khi kiểm tra giới hạn tạo phiên theo IP.</a:t>
            </a:r>
          </a:p>
          <a:p xmlns:a="http://schemas.openxmlformats.org/drawingml/2006/main">
            <a:r>
              <a:t>    def start_session(request: Request):</a:t>
            </a:r>
          </a:p>
          <a:p xmlns:a="http://schemas.openxmlformats.org/drawingml/2006/main">
            <a:r>
              <a:t>        limiter.check("session", request.client.host if request.client else "local", settings.session_limit)</a:t>
            </a:r>
          </a:p>
          <a:p xmlns:a="http://schemas.openxmlformats.org/drawingml/2006/main">
            <a:r>
              <a:t>        with db() as conn:</a:t>
            </a:r>
          </a:p>
          <a:p xmlns:a="http://schemas.openxmlformats.org/drawingml/2006/main">
            <a:r>
              <a:t>            return new_session(conn, settings.session_ttl)</a:t>
            </a:r>
          </a:p>
          <a:p xmlns:a="http://schemas.openxmlformats.org/drawingml/2006/main">
            <a:r>
              <a:t/>
            </a:r>
          </a:p>
          <a:p xmlns:a="http://schemas.openxmlformats.org/drawingml/2006/main">
            <a:r>
              <a:t>    @app.delete("/api/session")</a:t>
            </a:r>
          </a:p>
          <a:p xmlns:a="http://schemas.openxmlformats.org/drawingml/2006/main">
            <a:r>
              <a:t>    # Thu hồi token của phiên hiện tại để token đó không truy cập tiếp được.</a:t>
            </a:r>
          </a:p>
          <a:p xmlns:a="http://schemas.openxmlformats.org/drawingml/2006/main">
            <a:r>
              <a:t>    def end_session(request: Request):</a:t>
            </a:r>
          </a:p>
          <a:p xmlns:a="http://schemas.openxmlformats.org/drawingml/2006/main">
            <a:r>
              <a:t>        with session_db(request) as (conn, session, ctx):</a:t>
            </a:r>
          </a:p>
          <a:p xmlns:a="http://schemas.openxmlformats.org/drawingml/2006/main">
            <a:r>
              <a:t>            conn.execute("DELETE FROM api_sessions WHERE token_hash=?", (session["token_hash"],))</a:t>
            </a:r>
          </a:p>
          <a:p xmlns:a="http://schemas.openxmlformats.org/drawingml/2006/main">
            <a:r>
              <a:t>        return {"revoked": True}</a:t>
            </a:r>
          </a:p>
          <a:p xmlns:a="http://schemas.openxmlformats.org/drawingml/2006/main">
            <a:r>
              <a:t/>
            </a:r>
          </a:p>
          <a:p xmlns:a="http://schemas.openxmlformats.org/drawingml/2006/main">
            <a:r>
              <a:t>    @app.get("/api/products")</a:t>
            </a:r>
          </a:p>
          <a:p xmlns:a="http://schemas.openxmlformats.org/drawingml/2006/main">
            <a:r>
              <a:t>    # Trả danh sách sản phẩm đang bán theo định dạng mà frontend sử dụng.</a:t>
            </a:r>
          </a:p>
          <a:p xmlns:a="http://schemas.openxmlformats.org/drawingml/2006/main">
            <a:r>
              <a:t>    def products():</a:t>
            </a:r>
          </a:p>
          <a:p xmlns:a="http://schemas.openxmlformats.org/drawingml/2006/main">
            <a:r>
              <a:t>        with db() as conn:</a:t>
            </a:r>
          </a:p>
          <a:p xmlns:a="http://schemas.openxmlformats.org/drawingml/2006/main">
            <a:r>
              <a:t>            return {"products": [product_view(p) for p in catalog.list_products(conn)]}</a:t>
            </a:r>
          </a:p>
          <a:p xmlns:a="http://schemas.openxmlformats.org/drawingml/2006/main">
            <a:r>
              <a:t/>
            </a:r>
          </a:p>
          <a:p xmlns:a="http://schemas.openxmlformats.org/drawingml/2006/main">
            <a:r>
              <a:t>    @app.get("/api/products/{product_id}")</a:t>
            </a:r>
          </a:p>
          <a:p xmlns:a="http://schemas.openxmlformats.org/drawingml/2006/main">
            <a:r>
              <a:t>    # Trả chi tiết một sản phẩm cùng giá, biến thể và tồn kho trong database.</a:t>
            </a:r>
          </a:p>
          <a:p xmlns:a="http://schemas.openxmlformats.org/drawingml/2006/main">
            <a:r>
              <a:t>    def product(product_id: int):</a:t>
            </a:r>
          </a:p>
          <a:p xmlns:a="http://schemas.openxmlformats.org/drawingml/2006/main">
            <a:r>
              <a:t>        with db() as conn:</a:t>
            </a:r>
          </a:p>
          <a:p xmlns:a="http://schemas.openxmlformats.org/drawingml/2006/main">
            <a:r>
              <a:t>            return product_view(catalog.get_product(conn, product_id))</a:t>
            </a:r>
          </a:p>
          <a:p xmlns:a="http://schemas.openxmlformats.org/drawingml/2006/main">
            <a:r>
              <a:t/>
            </a:r>
          </a:p>
          <a:p xmlns:a="http://schemas.openxmlformats.org/drawingml/2006/main">
            <a:r>
              <a:t>    @app.get("/api/cart")</a:t>
            </a:r>
          </a:p>
          <a:p xmlns:a="http://schemas.openxmlformats.org/drawingml/2006/main">
            <a:r>
              <a:t>    # Đọc giỏ hàng thuộc phiên đã xác thực; chưa có giỏ thì trả giỏ trống.</a:t>
            </a:r>
          </a:p>
          <a:p xmlns:a="http://schemas.openxmlformats.org/drawingml/2006/main">
            <a:r>
              <a:t>    def get_cart(request: Request):</a:t>
            </a:r>
          </a:p>
          <a:p xmlns:a="http://schemas.openxmlformats.org/drawingml/2006/main">
            <a:r>
              <a:t>        with session_db(request) as (conn, session, ctx):</a:t>
            </a:r>
          </a:p>
          <a:p xmlns:a="http://schemas.openxmlformats.org/drawingml/2006/main">
            <a:r>
              <a:t>            return cart_view(conn, session, ctx)</a:t>
            </a:r>
          </a:p>
          <a:p xmlns:a="http://schemas.openxmlformats.org/drawingml/2006/main">
            <a:r>
              <a:t/>
            </a:r>
          </a:p>
          <a:p xmlns:a="http://schemas.openxmlformats.org/drawingml/2006/main">
            <a:r>
              <a:t>    @app.post("/api/cart/items")</a:t>
            </a:r>
          </a:p>
          <a:p xmlns:a="http://schemas.openxmlformats.org/drawingml/2006/main">
            <a:r>
              <a:t>    # Thêm hoặc gộp sản phẩm vào giỏ của phiên và kiểm tra số lượng, tồn kho.</a:t>
            </a:r>
          </a:p>
          <a:p xmlns:a="http://schemas.openxmlformats.org/drawingml/2006/main">
            <a:r>
              <a:t>    def add_cart_item(body: CartItem, request: Request):</a:t>
            </a:r>
          </a:p>
          <a:p xmlns:a="http://schemas.openxmlformats.org/drawingml/2006/main">
            <a:r>
              <a:t>        with session_db(request) as (conn, session, ctx), transaction(conn):</a:t>
            </a:r>
          </a:p>
          <a:p xmlns:a="http://schemas.openxmlformats.org/drawingml/2006/main">
            <a:r>
              <a:t>            cart = cart_order(conn, session, ctx, create=True)</a:t>
            </a:r>
          </a:p>
          <a:p xmlns:a="http://schemas.openxmlformats.org/drawingml/2006/main">
            <a:r>
              <a:t>            return order_view(conn, orders.add_item(conn, ctx, cart["id"], body.sku, body.quantity))</a:t>
            </a:r>
          </a:p>
          <a:p xmlns:a="http://schemas.openxmlformats.org/drawingml/2006/main">
            <a:r>
              <a:t/>
            </a:r>
          </a:p>
          <a:p xmlns:a="http://schemas.openxmlformats.org/drawingml/2006/main">
            <a:r>
              <a:t>    @app.patch("/api/cart/items/{item_id}")</a:t>
            </a:r>
          </a:p>
          <a:p xmlns:a="http://schemas.openxmlformats.org/drawingml/2006/main">
            <a:r>
              <a:t>    # Đổi số lượng của một dòng trong giỏ hiện tại và trả giỏ đã tính lại tiền.</a:t>
            </a:r>
          </a:p>
          <a:p xmlns:a="http://schemas.openxmlformats.org/drawingml/2006/main">
            <a:r>
              <a:t>    def edit_cart_item(item_id: str, body: QuantityChange, request: Request):</a:t>
            </a:r>
          </a:p>
          <a:p xmlns:a="http://schemas.openxmlformats.org/drawingml/2006/main">
            <a:r>
              <a:t>        with session_db(request) as (conn, session, ctx), transaction(conn):</a:t>
            </a:r>
          </a:p>
          <a:p xmlns:a="http://schemas.openxmlformats.org/drawingml/2006/main">
            <a:r>
              <a:t>            cart = cart_order(conn, session, ctx)</a:t>
            </a:r>
          </a:p>
          <a:p xmlns:a="http://schemas.openxmlformats.org/drawingml/2006/main">
            <a:r>
              <a:t>            if cart is None:</a:t>
            </a:r>
          </a:p>
          <a:p xmlns:a="http://schemas.openxmlformats.org/drawingml/2006/main">
            <a:r>
              <a:t>                raise ApiProblem(404, "not_found", "Giỏ hàng đang trống.")</a:t>
            </a:r>
          </a:p>
          <a:p xmlns:a="http://schemas.openxmlformats.org/drawingml/2006/main">
            <a:r>
              <a:t>            row = item_row(conn, cart["id"], item_id)</a:t>
            </a:r>
          </a:p>
          <a:p xmlns:a="http://schemas.openxmlformats.org/drawingml/2006/main">
            <a:r>
              <a:t>            return order_view(conn, orders.set_item_quantity(conn, ctx, cart["id"], row["sku"], body.quantity))</a:t>
            </a:r>
          </a:p>
          <a:p xmlns:a="http://schemas.openxmlformats.org/drawingml/2006/main">
            <a:r>
              <a:t/>
            </a:r>
          </a:p>
          <a:p xmlns:a="http://schemas.openxmlformats.org/drawingml/2006/main">
            <a:r>
              <a:t>    @app.delete("/api/cart/items/{item_id}")</a:t>
            </a:r>
          </a:p>
          <a:p xmlns:a="http://schemas.openxmlformats.org/drawingml/2006/main">
            <a:r>
              <a:t>    # Xóa một dòng khỏi giỏ hiện tại và trả trạng thái giỏ sau khi xóa.</a:t>
            </a:r>
          </a:p>
          <a:p xmlns:a="http://schemas.openxmlformats.org/drawingml/2006/main">
            <a:r>
              <a:t>    def delete_cart_item(item_id: str, request: Request):</a:t>
            </a:r>
          </a:p>
          <a:p xmlns:a="http://schemas.openxmlformats.org/drawingml/2006/main">
            <a:r>
              <a:t>        with session_db(request) as (conn, session, ctx), transaction(conn):</a:t>
            </a:r>
          </a:p>
          <a:p xmlns:a="http://schemas.openxmlformats.org/drawingml/2006/main">
            <a:r>
              <a:t>            cart = cart_order(conn, session, ctx)</a:t>
            </a:r>
          </a:p>
          <a:p xmlns:a="http://schemas.openxmlformats.org/drawingml/2006/main">
            <a:r>
              <a:t>            if cart is None:</a:t>
            </a:r>
          </a:p>
          <a:p xmlns:a="http://schemas.openxmlformats.org/drawingml/2006/main">
            <a:r>
              <a:t>                raise ApiProblem(404, "not_found", "Giỏ hàng đang trống.")</a:t>
            </a:r>
          </a:p>
          <a:p xmlns:a="http://schemas.openxmlformats.org/drawingml/2006/main">
            <a:r>
              <a:t>            row = item_row(conn, cart["id"], item_id)</a:t>
            </a:r>
          </a:p>
          <a:p xmlns:a="http://schemas.openxmlformats.org/drawingml/2006/main">
            <a:r>
              <a:t>            return order_view(conn, orders.remove_item(conn, ctx, cart["id"], row["sku"]))</a:t>
            </a:r>
          </a:p>
          <a:p xmlns:a="http://schemas.openxmlformats.org/drawingml/2006/main">
            <a:r>
              <a:t/>
            </a:r>
          </a:p>
          <a:p xmlns:a="http://schemas.openxmlformats.org/drawingml/2006/main">
            <a:r>
              <a:t>    @app.post("/api/orders")</a:t>
            </a:r>
          </a:p>
          <a:p xmlns:a="http://schemas.openxmlformats.org/drawingml/2006/main">
            <a:r>
              <a:t>    # Gửi giỏ hàng thành đơn chờ xác nhận, dùng khóa chống tạo trùng nếu được cung cấp.</a:t>
            </a:r>
          </a:p>
          <a:p xmlns:a="http://schemas.openxmlformats.org/drawingml/2006/main">
            <a:r>
              <a:t>    def create_order(body: Checkout, request: Request):</a:t>
            </a:r>
          </a:p>
          <a:p xmlns:a="http://schemas.openxmlformats.org/drawingml/2006/main">
            <a:r>
              <a:t>        key = request_key(request.headers.get("Idempotency-Key"))</a:t>
            </a:r>
          </a:p>
          <a:p xmlns:a="http://schemas.openxmlformats.org/drawingml/2006/main">
            <a:r>
              <a:t>        with session_db(request) as (conn, session, ctx):</a:t>
            </a:r>
          </a:p>
          <a:p xmlns:a="http://schemas.openxmlformats.org/drawingml/2006/main">
            <a:r>
              <a:t>            return checkout(conn, ctx, session, body.shipping.model_dump(), key)</a:t>
            </a:r>
          </a:p>
          <a:p xmlns:a="http://schemas.openxmlformats.org/drawingml/2006/main">
            <a:r>
              <a:t/>
            </a:r>
          </a:p>
          <a:p xmlns:a="http://schemas.openxmlformats.org/drawingml/2006/main">
            <a:r>
              <a:t>    @app.get("/api/orders")</a:t>
            </a:r>
          </a:p>
          <a:p xmlns:a="http://schemas.openxmlformats.org/drawingml/2006/main">
            <a:r>
              <a:t>    # Liệt kê tối đa 100 đơn đã gửi của chính phiên hiện tại, không gồm giỏ chưa gửi.</a:t>
            </a:r>
          </a:p>
          <a:p xmlns:a="http://schemas.openxmlformats.org/drawingml/2006/main">
            <a:r>
              <a:t>    def list_orders(request: Request):</a:t>
            </a:r>
          </a:p>
          <a:p xmlns:a="http://schemas.openxmlformats.org/drawingml/2006/main">
            <a:r>
              <a:t>        with session_db(request) as (conn, session, ctx):</a:t>
            </a:r>
          </a:p>
          <a:p xmlns:a="http://schemas.openxmlformats.org/drawingml/2006/main">
            <a:r>
              <a:t>            found = orders.list_orders(conn, session["owner_id"], statuses=["pending_confirmation", "confirmed", "cancelled"], limit=100)</a:t>
            </a:r>
          </a:p>
          <a:p xmlns:a="http://schemas.openxmlformats.org/drawingml/2006/main">
            <a:r>
              <a:t>            return {"orders": [order_view(conn, o) for o in found]}</a:t>
            </a:r>
          </a:p>
          <a:p xmlns:a="http://schemas.openxmlformats.org/drawingml/2006/main">
            <a:r>
              <a:t/>
            </a:r>
          </a:p>
          <a:p xmlns:a="http://schemas.openxmlformats.org/drawingml/2006/main">
            <a:r>
              <a:t>    @app.get("/api/orders/{order_id}")</a:t>
            </a:r>
          </a:p>
          <a:p xmlns:a="http://schemas.openxmlformats.org/drawingml/2006/main">
            <a:r>
              <a:t>    # Lấy chi tiết đơn sau khi kiểm tra mã đơn và quyền sở hữu của phiên.</a:t>
            </a:r>
          </a:p>
          <a:p xmlns:a="http://schemas.openxmlformats.org/drawingml/2006/main">
            <a:r>
              <a:t>    def get_order(order_id: str, request: Request):</a:t>
            </a:r>
          </a:p>
          <a:p xmlns:a="http://schemas.openxmlformats.org/drawingml/2006/main">
            <a:r>
              <a:t>        with session_db(request) as (conn, session, ctx):</a:t>
            </a:r>
          </a:p>
          <a:p xmlns:a="http://schemas.openxmlformats.org/drawingml/2006/main">
            <a:r>
              <a:t>            return order_view(conn, owned_order(conn, session["owner_id"], order_number(order_id)))</a:t>
            </a:r>
          </a:p>
          <a:p xmlns:a="http://schemas.openxmlformats.org/drawingml/2006/main">
            <a:r>
              <a:t/>
            </a:r>
          </a:p>
          <a:p xmlns:a="http://schemas.openxmlformats.org/drawingml/2006/main">
            <a:r>
              <a:t>    @app.patch("/api/orders/{order_id}/items/{item_id}")</a:t>
            </a:r>
          </a:p>
          <a:p xmlns:a="http://schemas.openxmlformats.org/drawingml/2006/main">
            <a:r>
              <a:t>    # Cập nhật số lượng hoặc biến thể của một dòng đơn mà phiên được phép sửa.</a:t>
            </a:r>
          </a:p>
          <a:p xmlns:a="http://schemas.openxmlformats.org/drawingml/2006/main">
            <a:r>
              <a:t>    def edit_order_item(order_id: str, item_id: str, body: ItemChange, request: Request):</a:t>
            </a:r>
          </a:p>
          <a:p xmlns:a="http://schemas.openxmlformats.org/drawingml/2006/main">
            <a:r>
              <a:t>        with session_db(request) as (conn, session, ctx):</a:t>
            </a:r>
          </a:p>
          <a:p xmlns:a="http://schemas.openxmlformats.org/drawingml/2006/main">
            <a:r>
              <a:t>            order = update_item(conn, ctx, session["owner_id"], order_number(order_id), item_id,</a:t>
            </a:r>
          </a:p>
          <a:p xmlns:a="http://schemas.openxmlformats.org/drawingml/2006/main">
            <a:r>
              <a:t>                                body.model_dump(exclude_unset=True))</a:t>
            </a:r>
          </a:p>
          <a:p xmlns:a="http://schemas.openxmlformats.org/drawingml/2006/main">
            <a:r>
              <a:t>            return order_view(conn, order)</a:t>
            </a:r>
          </a:p>
          <a:p xmlns:a="http://schemas.openxmlformats.org/drawingml/2006/main">
            <a:r>
              <a:t/>
            </a:r>
          </a:p>
          <a:p xmlns:a="http://schemas.openxmlformats.org/drawingml/2006/main">
            <a:r>
              <a:t>    @app.post("/api/chat")</a:t>
            </a:r>
          </a:p>
          <a:p xmlns:a="http://schemas.openxmlformats.org/drawingml/2006/main">
            <a:r>
              <a:t>    # Nhận tin nhắn, kiểm tra phiên/giới hạn gọi chat rồi chuyển sang luồng xử lý bot.</a:t>
            </a:r>
          </a:p>
          <a:p xmlns:a="http://schemas.openxmlformats.org/drawingml/2006/main">
            <a:r>
              <a:t>    def chat_message(body: ChatRequest, request: Request):</a:t>
            </a:r>
          </a:p>
          <a:p xmlns:a="http://schemas.openxmlformats.org/drawingml/2006/main">
            <a:r>
              <a:t>        key = request_key(request.headers.get("Idempotency-Key"))</a:t>
            </a:r>
          </a:p>
          <a:p xmlns:a="http://schemas.openxmlformats.org/drawingml/2006/main">
            <a:r>
              <a:t>        with session_db(request) as (conn, session, ctx):</a:t>
            </a:r>
          </a:p>
          <a:p xmlns:a="http://schemas.openxmlformats.org/drawingml/2006/main">
            <a:r>
              <a:t>            limiter.check("chat", session["owner_id"], settings.chat_limit)</a:t>
            </a:r>
          </a:p>
          <a:p xmlns:a="http://schemas.openxmlformats.org/drawingml/2006/main">
            <a:r>
              <a:t>            return chat(conn, ctx, session, body.message, app.state.llm_client, key)</a:t>
            </a:r>
          </a:p>
          <a:p xmlns:a="http://schemas.openxmlformats.org/drawingml/2006/main">
            <a:r>
              <a:t/>
            </a:r>
          </a:p>
          <a:p xmlns:a="http://schemas.openxmlformats.org/drawingml/2006/main">
            <a:r>
              <a:t>    return app</a:t>
            </a:r>
          </a:p>
          <a:p xmlns:a="http://schemas.openxmlformats.org/drawingml/2006/main">
            <a:r>
              <a:t/>
            </a:r>
          </a:p>
          <a:p xmlns:a="http://schemas.openxmlformats.org/drawingml/2006/main">
            <a:r>
              <a:t>Nguồn code của bản chụp 22/10/2026:</a:t>
            </a:r>
          </a:p>
          <a:p xmlns:a="http://schemas.openxmlformats.org/drawingml/2006/main">
            <a:r>
              <a:t>backend/main.py:50-54   /   backend/main.py:58-245</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create_app.lifespan</a:t>
            </a:r>
          </a:p>
          <a:p xmlns:a="http://schemas.openxmlformats.org/drawingml/2006/main">
            <a:r>
              <a:t>Chức năng: Chuẩn bị database và catalog mẫu trước khi ứng dụng bắt đầu nhận request.</a:t>
            </a:r>
          </a:p>
          <a:p xmlns:a="http://schemas.openxmlformats.org/drawingml/2006/main">
            <a:r>
              <a:t>Đầu vào: app</a:t>
            </a:r>
          </a:p>
          <a:p xmlns:a="http://schemas.openxmlformats.org/drawingml/2006/main">
            <a:r>
              <a:t>Đầu ra/tác động: Async context manager khởi tạo DB trước yield.</a:t>
            </a:r>
          </a:p>
          <a:p xmlns:a="http://schemas.openxmlformats.org/drawingml/2006/main">
            <a:r>
              <a:t>Nguồn: backend/main.py:63-65</a:t>
            </a:r>
          </a:p>
          <a:p xmlns:a="http://schemas.openxmlformats.org/drawingml/2006/main">
            <a:r>
              <a:t>Code đầy đủ:</a:t>
            </a:r>
          </a:p>
          <a:p xmlns:a="http://schemas.openxmlformats.org/drawingml/2006/main">
            <a:r>
              <a:t>    async def lifespan(app):</a:t>
            </a:r>
          </a:p>
          <a:p xmlns:a="http://schemas.openxmlformats.org/drawingml/2006/main">
            <a:r>
              <a:t>        initialize(settings.db_path)</a:t>
            </a:r>
          </a:p>
          <a:p xmlns:a="http://schemas.openxmlformats.org/drawingml/2006/main">
            <a:r>
              <a:t>        yield</a:t>
            </a:r>
          </a:p>
          <a:p xmlns:a="http://schemas.openxmlformats.org/drawingml/2006/main">
            <a:r>
              <a:t/>
            </a:r>
          </a:p>
          <a:p xmlns:a="http://schemas.openxmlformats.org/drawingml/2006/main">
            <a:r>
              <a:t>create_app.request_context</a:t>
            </a:r>
          </a:p>
          <a:p xmlns:a="http://schemas.openxmlformats.org/drawingml/2006/main">
            <a:r>
              <a:t>Chức năng: Gắn mã theo dõi, giới hạn request/kích thước body và xử lý lỗi chung cho mỗi lượt gọi.</a:t>
            </a:r>
          </a:p>
          <a:p xmlns:a="http://schemas.openxmlformats.org/drawingml/2006/main">
            <a:r>
              <a:t>Đầu vào: request, call_next</a:t>
            </a:r>
          </a:p>
          <a:p xmlns:a="http://schemas.openxmlformats.org/drawingml/2006/main">
            <a:r>
              <a:t>Đầu ra/tác động: HTTP response có X-Request-ID và Cache-Control.</a:t>
            </a:r>
          </a:p>
          <a:p xmlns:a="http://schemas.openxmlformats.org/drawingml/2006/main">
            <a:r>
              <a:t>Nguồn: backend/main.py:74-94</a:t>
            </a:r>
          </a:p>
          <a:p xmlns:a="http://schemas.openxmlformats.org/drawingml/2006/main">
            <a:r>
              <a:t>Code đầy đủ:</a:t>
            </a:r>
          </a:p>
          <a:p xmlns:a="http://schemas.openxmlformats.org/drawingml/2006/main">
            <a:r>
              <a:t>    async def request_context(request, call_next):</a:t>
            </a:r>
          </a:p>
          <a:p xmlns:a="http://schemas.openxmlformats.org/drawingml/2006/main">
            <a:r>
              <a:t>        request.state.request_id = uuid.uuid4().hex</a:t>
            </a:r>
          </a:p>
          <a:p xmlns:a="http://schemas.openxmlformats.org/drawingml/2006/main">
            <a:r>
              <a:t>        try:</a:t>
            </a:r>
          </a:p>
          <a:p xmlns:a="http://schemas.openxmlformats.org/drawingml/2006/main">
            <a:r>
              <a:t>            limiter.check("http", request.client.host if request.client else "local", settings.request_limit)</a:t>
            </a:r>
          </a:p>
          <a:p xmlns:a="http://schemas.openxmlformats.org/drawingml/2006/main">
            <a:r>
              <a:t>            body = bytearray()</a:t>
            </a:r>
          </a:p>
          <a:p xmlns:a="http://schemas.openxmlformats.org/drawingml/2006/main">
            <a:r>
              <a:t>            async for chunk in request.stream():</a:t>
            </a:r>
          </a:p>
          <a:p xmlns:a="http://schemas.openxmlformats.org/drawingml/2006/main">
            <a:r>
              <a:t>                body.extend(chunk)</a:t>
            </a:r>
          </a:p>
          <a:p xmlns:a="http://schemas.openxmlformats.org/drawingml/2006/main">
            <a:r>
              <a:t>                if len(body) &gt; 16384:</a:t>
            </a:r>
          </a:p>
          <a:p xmlns:a="http://schemas.openxmlformats.org/drawingml/2006/main">
            <a:r>
              <a:t>                    raise ApiProblem(413, "request_too_large", "Nội dung request vượt giới hạn 16 KB.")</a:t>
            </a:r>
          </a:p>
          <a:p xmlns:a="http://schemas.openxmlformats.org/drawingml/2006/main">
            <a:r>
              <a:t>            # Starlette reuses the cached body when dispatching to the route.</a:t>
            </a:r>
          </a:p>
          <a:p xmlns:a="http://schemas.openxmlformats.org/drawingml/2006/main">
            <a:r>
              <a:t>            request._body = bytes(body)</a:t>
            </a:r>
          </a:p>
          <a:p xmlns:a="http://schemas.openxmlformats.org/drawingml/2006/main">
            <a:r>
              <a:t>            response = await call_next(request)</a:t>
            </a:r>
          </a:p>
          <a:p xmlns:a="http://schemas.openxmlformats.org/drawingml/2006/main">
            <a:r>
              <a:t>        except ApiProblem as err:</a:t>
            </a:r>
          </a:p>
          <a:p xmlns:a="http://schemas.openxmlformats.org/drawingml/2006/main">
            <a:r>
              <a:t>            response = _error(err, request.state.request_id)</a:t>
            </a:r>
          </a:p>
          <a:p xmlns:a="http://schemas.openxmlformats.org/drawingml/2006/main">
            <a:r>
              <a:t>        except Exception as err:</a:t>
            </a:r>
          </a:p>
          <a:p xmlns:a="http://schemas.openxmlformats.org/drawingml/2006/main">
            <a:r>
              <a:t>            logging.getLogger("shop.api").error(json.dumps({"request_id": request.state.request_id,</a:t>
            </a:r>
          </a:p>
          <a:p xmlns:a="http://schemas.openxmlformats.org/drawingml/2006/main">
            <a:r>
              <a:t>                                                           "error_type": type(err).__name__}))</a:t>
            </a:r>
          </a:p>
          <a:p xmlns:a="http://schemas.openxmlformats.org/drawingml/2006/main">
            <a:r>
              <a:t>            response = _error(ApiProblem(500, "server", "Máy chủ chưa xử lý được yêu cầu. Vui lòng thử lại."), request.state.request_id)</a:t>
            </a:r>
          </a:p>
          <a:p xmlns:a="http://schemas.openxmlformats.org/drawingml/2006/main">
            <a:r>
              <a:t>        response.headers["X-Request-ID"] = request.state.request_id</a:t>
            </a:r>
          </a:p>
          <a:p xmlns:a="http://schemas.openxmlformats.org/drawingml/2006/main">
            <a:r>
              <a:t>        response.headers["Cache-Control"] = "no-store"</a:t>
            </a:r>
          </a:p>
          <a:p xmlns:a="http://schemas.openxmlformats.org/drawingml/2006/main">
            <a:r>
              <a:t>        return response</a:t>
            </a:r>
          </a:p>
          <a:p xmlns:a="http://schemas.openxmlformats.org/drawingml/2006/main">
            <a:r>
              <a:t/>
            </a:r>
          </a:p>
          <a:p xmlns:a="http://schemas.openxmlformats.org/drawingml/2006/main">
            <a:r>
              <a:t>Nguồn code của bản chụp 22/10/2026:</a:t>
            </a:r>
          </a:p>
          <a:p xmlns:a="http://schemas.openxmlformats.org/drawingml/2006/main">
            <a:r>
              <a:t>backend/main.py:63-65   /   backend/main.py:74-94</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create_app.api_error</a:t>
            </a:r>
          </a:p>
          <a:p xmlns:a="http://schemas.openxmlformats.org/drawingml/2006/main">
            <a:r>
              <a:t>Chức năng: Chuyển lỗi nghiệp vụ API thành phản hồi JSON có mã HTTP tương ứng.</a:t>
            </a:r>
          </a:p>
          <a:p xmlns:a="http://schemas.openxmlformats.org/drawingml/2006/main">
            <a:r>
              <a:t>Đầu vào: request, err</a:t>
            </a:r>
          </a:p>
          <a:p xmlns:a="http://schemas.openxmlformats.org/drawingml/2006/main">
            <a:r>
              <a:t>Đầu ra/tác động: JSON lỗi nghiệp vụ API.</a:t>
            </a:r>
          </a:p>
          <a:p xmlns:a="http://schemas.openxmlformats.org/drawingml/2006/main">
            <a:r>
              <a:t>Nguồn: backend/main.py:98-99</a:t>
            </a:r>
          </a:p>
          <a:p xmlns:a="http://schemas.openxmlformats.org/drawingml/2006/main">
            <a:r>
              <a:t>Code đầy đủ:</a:t>
            </a:r>
          </a:p>
          <a:p xmlns:a="http://schemas.openxmlformats.org/drawingml/2006/main">
            <a:r>
              <a:t>    async def api_error(request, err):</a:t>
            </a:r>
          </a:p>
          <a:p xmlns:a="http://schemas.openxmlformats.org/drawingml/2006/main">
            <a:r>
              <a:t>        return _error(err, request.state.request_id)</a:t>
            </a:r>
          </a:p>
          <a:p xmlns:a="http://schemas.openxmlformats.org/drawingml/2006/main">
            <a:r>
              <a:t/>
            </a:r>
          </a:p>
          <a:p xmlns:a="http://schemas.openxmlformats.org/drawingml/2006/main">
            <a:r>
              <a:t>create_app.db_error</a:t>
            </a:r>
          </a:p>
          <a:p xmlns:a="http://schemas.openxmlformats.org/drawingml/2006/main">
            <a:r>
              <a:t>Chức năng: Chuyển lỗi từ lớp database thành lỗi API dễ hiểu cho frontend.</a:t>
            </a:r>
          </a:p>
          <a:p xmlns:a="http://schemas.openxmlformats.org/drawingml/2006/main">
            <a:r>
              <a:t>Đầu vào: request, err</a:t>
            </a:r>
          </a:p>
          <a:p xmlns:a="http://schemas.openxmlformats.org/drawingml/2006/main">
            <a:r>
              <a:t>Đầu ra/tác động: JSON lỗi đã ánh xạ từ database.</a:t>
            </a:r>
          </a:p>
          <a:p xmlns:a="http://schemas.openxmlformats.org/drawingml/2006/main">
            <a:r>
              <a:t>Nguồn: backend/main.py:103-104</a:t>
            </a:r>
          </a:p>
          <a:p xmlns:a="http://schemas.openxmlformats.org/drawingml/2006/main">
            <a:r>
              <a:t>Code đầy đủ:</a:t>
            </a:r>
          </a:p>
          <a:p xmlns:a="http://schemas.openxmlformats.org/drawingml/2006/main">
            <a:r>
              <a:t>    async def db_error(request, err):</a:t>
            </a:r>
          </a:p>
          <a:p xmlns:a="http://schemas.openxmlformats.org/drawingml/2006/main">
            <a:r>
              <a:t>        return _error(database_problem(err), request.state.request_id)</a:t>
            </a:r>
          </a:p>
          <a:p xmlns:a="http://schemas.openxmlformats.org/drawingml/2006/main">
            <a:r>
              <a:t/>
            </a:r>
          </a:p>
          <a:p xmlns:a="http://schemas.openxmlformats.org/drawingml/2006/main">
            <a:r>
              <a:t>Nguồn code của bản chụp 22/10/2026:</a:t>
            </a:r>
          </a:p>
          <a:p xmlns:a="http://schemas.openxmlformats.org/drawingml/2006/main">
            <a:r>
              <a:t>backend/main.py:98-99   /   backend/main.py:103-104</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create_app.validation_error</a:t>
            </a:r>
          </a:p>
          <a:p xmlns:a="http://schemas.openxmlformats.org/drawingml/2006/main">
            <a:r>
              <a:t>Chức năng: Báo các trường đầu vào thiếu, sai kiểu hoặc không được phép gửi.</a:t>
            </a:r>
          </a:p>
          <a:p xmlns:a="http://schemas.openxmlformats.org/drawingml/2006/main">
            <a:r>
              <a:t>Đầu vào: request, err</a:t>
            </a:r>
          </a:p>
          <a:p xmlns:a="http://schemas.openxmlformats.org/drawingml/2006/main">
            <a:r>
              <a:t>Đầu ra/tác động: JSON 422 với lỗi theo tên trường.</a:t>
            </a:r>
          </a:p>
          <a:p xmlns:a="http://schemas.openxmlformats.org/drawingml/2006/main">
            <a:r>
              <a:t>Nguồn: backend/main.py:108-113</a:t>
            </a:r>
          </a:p>
          <a:p xmlns:a="http://schemas.openxmlformats.org/drawingml/2006/main">
            <a:r>
              <a:t>Code đầy đủ:</a:t>
            </a:r>
          </a:p>
          <a:p xmlns:a="http://schemas.openxmlformats.org/drawingml/2006/main">
            <a:r>
              <a:t>    async def validation_error(request, err):</a:t>
            </a:r>
          </a:p>
          <a:p xmlns:a="http://schemas.openxmlformats.org/drawingml/2006/main">
            <a:r>
              <a:t>        fields = {}</a:t>
            </a:r>
          </a:p>
          <a:p xmlns:a="http://schemas.openxmlformats.org/drawingml/2006/main">
            <a:r>
              <a:t>        for error in err.errors():</a:t>
            </a:r>
          </a:p>
          <a:p xmlns:a="http://schemas.openxmlformats.org/drawingml/2006/main">
            <a:r>
              <a:t>            name = str(error["loc"][-1])</a:t>
            </a:r>
          </a:p>
          <a:p xmlns:a="http://schemas.openxmlformats.org/drawingml/2006/main">
            <a:r>
              <a:t>            fields[name] = "Trường không được phép." if error["type"] == "extra_forbidden" else "Giá trị không hợp lệ hoặc còn thiếu."</a:t>
            </a:r>
          </a:p>
          <a:p xmlns:a="http://schemas.openxmlformats.org/drawingml/2006/main">
            <a:r>
              <a:t>        return _error(ApiProblem(422, "validation", "Dữ liệu gửi lên chưa hợp lệ.", fields), request.state.request_id)</a:t>
            </a:r>
          </a:p>
          <a:p xmlns:a="http://schemas.openxmlformats.org/drawingml/2006/main">
            <a:r>
              <a:t/>
            </a:r>
          </a:p>
          <a:p xmlns:a="http://schemas.openxmlformats.org/drawingml/2006/main">
            <a:r>
              <a:t>create_app.http_error</a:t>
            </a:r>
          </a:p>
          <a:p xmlns:a="http://schemas.openxmlformats.org/drawingml/2006/main">
            <a:r>
              <a:t>Chức năng: Trả thông báo thống nhất khi endpoint không tồn tại hoặc request không được hỗ trợ.</a:t>
            </a:r>
          </a:p>
          <a:p xmlns:a="http://schemas.openxmlformats.org/drawingml/2006/main">
            <a:r>
              <a:t>Đầu vào: request, err</a:t>
            </a:r>
          </a:p>
          <a:p xmlns:a="http://schemas.openxmlformats.org/drawingml/2006/main">
            <a:r>
              <a:t>Đầu ra/tác động: JSON lỗi endpoint hoặc method.</a:t>
            </a:r>
          </a:p>
          <a:p xmlns:a="http://schemas.openxmlformats.org/drawingml/2006/main">
            <a:r>
              <a:t>Nguồn: backend/main.py:117-119</a:t>
            </a:r>
          </a:p>
          <a:p xmlns:a="http://schemas.openxmlformats.org/drawingml/2006/main">
            <a:r>
              <a:t>Code đầy đủ:</a:t>
            </a:r>
          </a:p>
          <a:p xmlns:a="http://schemas.openxmlformats.org/drawingml/2006/main">
            <a:r>
              <a:t>    async def http_error(request, err):</a:t>
            </a:r>
          </a:p>
          <a:p xmlns:a="http://schemas.openxmlformats.org/drawingml/2006/main">
            <a:r>
              <a:t>        return _error(ApiProblem(err.status_code, "not_found" if err.status_code == 404 else "request_error",</a:t>
            </a:r>
          </a:p>
          <a:p xmlns:a="http://schemas.openxmlformats.org/drawingml/2006/main">
            <a:r>
              <a:t>                                 "Không tìm thấy endpoint." if err.status_code == 404 else "Yêu cầu không được hỗ trợ."), request.state.request_id)</a:t>
            </a:r>
          </a:p>
          <a:p xmlns:a="http://schemas.openxmlformats.org/drawingml/2006/main">
            <a:r>
              <a:t/>
            </a:r>
          </a:p>
          <a:p xmlns:a="http://schemas.openxmlformats.org/drawingml/2006/main">
            <a:r>
              <a:t>Nguồn code của bản chụp 22/10/2026:</a:t>
            </a:r>
          </a:p>
          <a:p xmlns:a="http://schemas.openxmlformats.org/drawingml/2006/main">
            <a:r>
              <a:t>backend/main.py:108-113   /   backend/main.py:117-119</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create_app.busy_error</a:t>
            </a:r>
          </a:p>
          <a:p xmlns:a="http://schemas.openxmlformats.org/drawingml/2006/main">
            <a:r>
              <a:t>Chức năng: Trả lỗi 503 khi SQLite tạm thời không truy cập được để khách có thể thử lại.</a:t>
            </a:r>
          </a:p>
          <a:p xmlns:a="http://schemas.openxmlformats.org/drawingml/2006/main">
            <a:r>
              <a:t>Đầu vào: request, err</a:t>
            </a:r>
          </a:p>
          <a:p xmlns:a="http://schemas.openxmlformats.org/drawingml/2006/main">
            <a:r>
              <a:t>Đầu ra/tác động: JSON 503 khi SQLite gặp OperationalError.</a:t>
            </a:r>
          </a:p>
          <a:p xmlns:a="http://schemas.openxmlformats.org/drawingml/2006/main">
            <a:r>
              <a:t>Nguồn: backend/main.py:123-124</a:t>
            </a:r>
          </a:p>
          <a:p xmlns:a="http://schemas.openxmlformats.org/drawingml/2006/main">
            <a:r>
              <a:t>Code đầy đủ:</a:t>
            </a:r>
          </a:p>
          <a:p xmlns:a="http://schemas.openxmlformats.org/drawingml/2006/main">
            <a:r>
              <a:t>    async def busy_error(request, err):</a:t>
            </a:r>
          </a:p>
          <a:p xmlns:a="http://schemas.openxmlformats.org/drawingml/2006/main">
            <a:r>
              <a:t>        return _error(ApiProblem(503, "database_unavailable", "Dữ liệu tạm thời chưa truy cập được. Vui lòng thử lại."), request.state.request_id)</a:t>
            </a:r>
          </a:p>
          <a:p xmlns:a="http://schemas.openxmlformats.org/drawingml/2006/main">
            <a:r>
              <a:t/>
            </a:r>
          </a:p>
          <a:p xmlns:a="http://schemas.openxmlformats.org/drawingml/2006/main">
            <a:r>
              <a:t>create_app.db</a:t>
            </a:r>
          </a:p>
          <a:p xmlns:a="http://schemas.openxmlformats.org/drawingml/2006/main">
            <a:r>
              <a:t>Chức năng: Mở kết nối database cho một khối xử lý và luôn đóng kết nối khi khối kết thúc.</a:t>
            </a:r>
          </a:p>
          <a:p xmlns:a="http://schemas.openxmlformats.org/drawingml/2006/main">
            <a:r>
              <a:t>Đầu vào: không có tham số ngoài đối tượng</a:t>
            </a:r>
          </a:p>
          <a:p xmlns:a="http://schemas.openxmlformats.org/drawingml/2006/main">
            <a:r>
              <a:t>Đầu ra/tác động: Yield kết nối rồi đóng trong finally.</a:t>
            </a:r>
          </a:p>
          <a:p xmlns:a="http://schemas.openxmlformats.org/drawingml/2006/main">
            <a:r>
              <a:t>Nguồn: backend/main.py:128-133</a:t>
            </a:r>
          </a:p>
          <a:p xmlns:a="http://schemas.openxmlformats.org/drawingml/2006/main">
            <a:r>
              <a:t>Code đầy đủ:</a:t>
            </a:r>
          </a:p>
          <a:p xmlns:a="http://schemas.openxmlformats.org/drawingml/2006/main">
            <a:r>
              <a:t>    def db():</a:t>
            </a:r>
          </a:p>
          <a:p xmlns:a="http://schemas.openxmlformats.org/drawingml/2006/main">
            <a:r>
              <a:t>        conn = connect(settings.db_path)</a:t>
            </a:r>
          </a:p>
          <a:p xmlns:a="http://schemas.openxmlformats.org/drawingml/2006/main">
            <a:r>
              <a:t>        try:</a:t>
            </a:r>
          </a:p>
          <a:p xmlns:a="http://schemas.openxmlformats.org/drawingml/2006/main">
            <a:r>
              <a:t>            yield conn</a:t>
            </a:r>
          </a:p>
          <a:p xmlns:a="http://schemas.openxmlformats.org/drawingml/2006/main">
            <a:r>
              <a:t>        finally:</a:t>
            </a:r>
          </a:p>
          <a:p xmlns:a="http://schemas.openxmlformats.org/drawingml/2006/main">
            <a:r>
              <a:t>            conn.close()</a:t>
            </a:r>
          </a:p>
          <a:p xmlns:a="http://schemas.openxmlformats.org/drawingml/2006/main">
            <a:r>
              <a:t/>
            </a:r>
          </a:p>
          <a:p xmlns:a="http://schemas.openxmlformats.org/drawingml/2006/main">
            <a:r>
              <a:t>Nguồn code của bản chụp 22/10/2026:</a:t>
            </a:r>
          </a:p>
          <a:p xmlns:a="http://schemas.openxmlformats.org/drawingml/2006/main">
            <a:r>
              <a:t>backend/main.py:123-124   /   backend/main.py:128-133</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create_app.session_db</a:t>
            </a:r>
          </a:p>
          <a:p xmlns:a="http://schemas.openxmlformats.org/drawingml/2006/main">
            <a:r>
              <a:t>Chức năng: Xác thực Bearer token và cung cấp database, phiên cùng thông tin ghi audit.</a:t>
            </a:r>
          </a:p>
          <a:p xmlns:a="http://schemas.openxmlformats.org/drawingml/2006/main">
            <a:r>
              <a:t>Đầu vào: request</a:t>
            </a:r>
          </a:p>
          <a:p xmlns:a="http://schemas.openxmlformats.org/drawingml/2006/main">
            <a:r>
              <a:t>Đầu ra/tác động: Yield (conn, session, ctx) sau xác thực.</a:t>
            </a:r>
          </a:p>
          <a:p xmlns:a="http://schemas.openxmlformats.org/drawingml/2006/main">
            <a:r>
              <a:t>Nguồn: backend/main.py:137-141</a:t>
            </a:r>
          </a:p>
          <a:p xmlns:a="http://schemas.openxmlformats.org/drawingml/2006/main">
            <a:r>
              <a:t>Code đầy đủ:</a:t>
            </a:r>
          </a:p>
          <a:p xmlns:a="http://schemas.openxmlformats.org/drawingml/2006/main">
            <a:r>
              <a:t>    def session_db(request):</a:t>
            </a:r>
          </a:p>
          <a:p xmlns:a="http://schemas.openxmlformats.org/drawingml/2006/main">
            <a:r>
              <a:t>        with db() as conn:</a:t>
            </a:r>
          </a:p>
          <a:p xmlns:a="http://schemas.openxmlformats.org/drawingml/2006/main">
            <a:r>
              <a:t>            session = authenticate(conn, request.headers.get("Authorization"))</a:t>
            </a:r>
          </a:p>
          <a:p xmlns:a="http://schemas.openxmlformats.org/drawingml/2006/main">
            <a:r>
              <a:t>            ctx = Ctx("customer", session["owner_id"], request.state.request_id)</a:t>
            </a:r>
          </a:p>
          <a:p xmlns:a="http://schemas.openxmlformats.org/drawingml/2006/main">
            <a:r>
              <a:t>            yield conn, session, ctx</a:t>
            </a:r>
          </a:p>
          <a:p xmlns:a="http://schemas.openxmlformats.org/drawingml/2006/main">
            <a:r>
              <a:t/>
            </a:r>
          </a:p>
          <a:p xmlns:a="http://schemas.openxmlformats.org/drawingml/2006/main">
            <a:r>
              <a:t>create_app.health</a:t>
            </a:r>
          </a:p>
          <a:p xmlns:a="http://schemas.openxmlformats.org/drawingml/2006/main">
            <a:r>
              <a:t>Chức năng: Kiểm tra database và trả provider/model hiện tại mà không gọi Gemini.</a:t>
            </a:r>
          </a:p>
          <a:p xmlns:a="http://schemas.openxmlformats.org/drawingml/2006/main">
            <a:r>
              <a:t>Đầu vào: không có tham số ngoài đối tượng</a:t>
            </a:r>
          </a:p>
          <a:p xmlns:a="http://schemas.openxmlformats.org/drawingml/2006/main">
            <a:r>
              <a:t>Đầu ra/tác động: status, llm_provider, model_id.</a:t>
            </a:r>
          </a:p>
          <a:p xmlns:a="http://schemas.openxmlformats.org/drawingml/2006/main">
            <a:r>
              <a:t>Nguồn: backend/main.py:145-148</a:t>
            </a:r>
          </a:p>
          <a:p xmlns:a="http://schemas.openxmlformats.org/drawingml/2006/main">
            <a:r>
              <a:t>Code đầy đủ:</a:t>
            </a:r>
          </a:p>
          <a:p xmlns:a="http://schemas.openxmlformats.org/drawingml/2006/main">
            <a:r>
              <a:t>    def health():</a:t>
            </a:r>
          </a:p>
          <a:p xmlns:a="http://schemas.openxmlformats.org/drawingml/2006/main">
            <a:r>
              <a:t>        with db() as conn:</a:t>
            </a:r>
          </a:p>
          <a:p xmlns:a="http://schemas.openxmlformats.org/drawingml/2006/main">
            <a:r>
              <a:t>            conn.execute("SELECT 1 FROM products LIMIT 1").fetchone()</a:t>
            </a:r>
          </a:p>
          <a:p xmlns:a="http://schemas.openxmlformats.org/drawingml/2006/main">
            <a:r>
              <a:t>        return {"status": "ok", "llm_provider": settings.llm_provider, "model_id": app.state.llm_client.model_id}</a:t>
            </a:r>
          </a:p>
          <a:p xmlns:a="http://schemas.openxmlformats.org/drawingml/2006/main">
            <a:r>
              <a:t/>
            </a:r>
          </a:p>
          <a:p xmlns:a="http://schemas.openxmlformats.org/drawingml/2006/main">
            <a:r>
              <a:t>Nguồn code của bản chụp 22/10/2026:</a:t>
            </a:r>
          </a:p>
          <a:p xmlns:a="http://schemas.openxmlformats.org/drawingml/2006/main">
            <a:r>
              <a:t>backend/main.py:137-141   /   backend/main.py:145-148</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create_app.start_session</a:t>
            </a:r>
          </a:p>
          <a:p xmlns:a="http://schemas.openxmlformats.org/drawingml/2006/main">
            <a:r>
              <a:t>Chức năng: Tạo phiên mua sắm mới sau khi kiểm tra giới hạn tạo phiên theo IP.</a:t>
            </a:r>
          </a:p>
          <a:p xmlns:a="http://schemas.openxmlformats.org/drawingml/2006/main">
            <a:r>
              <a:t>Đầu vào: request</a:t>
            </a:r>
          </a:p>
          <a:p xmlns:a="http://schemas.openxmlformats.org/drawingml/2006/main">
            <a:r>
              <a:t>Đầu ra/tác động: token mới và expires_at.</a:t>
            </a:r>
          </a:p>
          <a:p xmlns:a="http://schemas.openxmlformats.org/drawingml/2006/main">
            <a:r>
              <a:t>Nguồn: backend/main.py:152-155</a:t>
            </a:r>
          </a:p>
          <a:p xmlns:a="http://schemas.openxmlformats.org/drawingml/2006/main">
            <a:r>
              <a:t>Code đầy đủ:</a:t>
            </a:r>
          </a:p>
          <a:p xmlns:a="http://schemas.openxmlformats.org/drawingml/2006/main">
            <a:r>
              <a:t>    def start_session(request: Request):</a:t>
            </a:r>
          </a:p>
          <a:p xmlns:a="http://schemas.openxmlformats.org/drawingml/2006/main">
            <a:r>
              <a:t>        limiter.check("session", request.client.host if request.client else "local", settings.session_limit)</a:t>
            </a:r>
          </a:p>
          <a:p xmlns:a="http://schemas.openxmlformats.org/drawingml/2006/main">
            <a:r>
              <a:t>        with db() as conn:</a:t>
            </a:r>
          </a:p>
          <a:p xmlns:a="http://schemas.openxmlformats.org/drawingml/2006/main">
            <a:r>
              <a:t>            return new_session(conn, settings.session_ttl)</a:t>
            </a:r>
          </a:p>
          <a:p xmlns:a="http://schemas.openxmlformats.org/drawingml/2006/main">
            <a:r>
              <a:t/>
            </a:r>
          </a:p>
          <a:p xmlns:a="http://schemas.openxmlformats.org/drawingml/2006/main">
            <a:r>
              <a:t>create_app.end_session</a:t>
            </a:r>
          </a:p>
          <a:p xmlns:a="http://schemas.openxmlformats.org/drawingml/2006/main">
            <a:r>
              <a:t>Chức năng: Thu hồi token của phiên hiện tại để token đó không truy cập tiếp được.</a:t>
            </a:r>
          </a:p>
          <a:p xmlns:a="http://schemas.openxmlformats.org/drawingml/2006/main">
            <a:r>
              <a:t>Đầu vào: request</a:t>
            </a:r>
          </a:p>
          <a:p xmlns:a="http://schemas.openxmlformats.org/drawingml/2006/main">
            <a:r>
              <a:t>Đầu ra/tác động: {revoked: True}, token không còn dùng được.</a:t>
            </a:r>
          </a:p>
          <a:p xmlns:a="http://schemas.openxmlformats.org/drawingml/2006/main">
            <a:r>
              <a:t>Nguồn: backend/main.py:159-162</a:t>
            </a:r>
          </a:p>
          <a:p xmlns:a="http://schemas.openxmlformats.org/drawingml/2006/main">
            <a:r>
              <a:t>Code đầy đủ:</a:t>
            </a:r>
          </a:p>
          <a:p xmlns:a="http://schemas.openxmlformats.org/drawingml/2006/main">
            <a:r>
              <a:t>    def end_session(request: Request):</a:t>
            </a:r>
          </a:p>
          <a:p xmlns:a="http://schemas.openxmlformats.org/drawingml/2006/main">
            <a:r>
              <a:t>        with session_db(request) as (conn, session, ctx):</a:t>
            </a:r>
          </a:p>
          <a:p xmlns:a="http://schemas.openxmlformats.org/drawingml/2006/main">
            <a:r>
              <a:t>            conn.execute("DELETE FROM api_sessions WHERE token_hash=?", (session["token_hash"],))</a:t>
            </a:r>
          </a:p>
          <a:p xmlns:a="http://schemas.openxmlformats.org/drawingml/2006/main">
            <a:r>
              <a:t>        return {"revoked": True}</a:t>
            </a:r>
          </a:p>
          <a:p xmlns:a="http://schemas.openxmlformats.org/drawingml/2006/main">
            <a:r>
              <a:t/>
            </a:r>
          </a:p>
          <a:p xmlns:a="http://schemas.openxmlformats.org/drawingml/2006/main">
            <a:r>
              <a:t>Nguồn code của bản chụp 22/10/2026:</a:t>
            </a:r>
          </a:p>
          <a:p xmlns:a="http://schemas.openxmlformats.org/drawingml/2006/main">
            <a:r>
              <a:t>backend/main.py:152-155   /   backend/main.py:159-162</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create_app.products</a:t>
            </a:r>
          </a:p>
          <a:p xmlns:a="http://schemas.openxmlformats.org/drawingml/2006/main">
            <a:r>
              <a:t>Chức năng: Trả danh sách sản phẩm đang bán theo định dạng mà frontend sử dụng.</a:t>
            </a:r>
          </a:p>
          <a:p xmlns:a="http://schemas.openxmlformats.org/drawingml/2006/main">
            <a:r>
              <a:t>Đầu vào: không có tham số ngoài đối tượng</a:t>
            </a:r>
          </a:p>
          <a:p xmlns:a="http://schemas.openxmlformats.org/drawingml/2006/main">
            <a:r>
              <a:t>Đầu ra/tác động: {products: [...]}.</a:t>
            </a:r>
          </a:p>
          <a:p xmlns:a="http://schemas.openxmlformats.org/drawingml/2006/main">
            <a:r>
              <a:t>Nguồn: backend/main.py:166-168</a:t>
            </a:r>
          </a:p>
          <a:p xmlns:a="http://schemas.openxmlformats.org/drawingml/2006/main">
            <a:r>
              <a:t>Code đầy đủ:</a:t>
            </a:r>
          </a:p>
          <a:p xmlns:a="http://schemas.openxmlformats.org/drawingml/2006/main">
            <a:r>
              <a:t>    def products():</a:t>
            </a:r>
          </a:p>
          <a:p xmlns:a="http://schemas.openxmlformats.org/drawingml/2006/main">
            <a:r>
              <a:t>        with db() as conn:</a:t>
            </a:r>
          </a:p>
          <a:p xmlns:a="http://schemas.openxmlformats.org/drawingml/2006/main">
            <a:r>
              <a:t>            return {"products": [product_view(p) for p in catalog.list_products(conn)]}</a:t>
            </a:r>
          </a:p>
          <a:p xmlns:a="http://schemas.openxmlformats.org/drawingml/2006/main">
            <a:r>
              <a:t/>
            </a:r>
          </a:p>
          <a:p xmlns:a="http://schemas.openxmlformats.org/drawingml/2006/main">
            <a:r>
              <a:t>create_app.product</a:t>
            </a:r>
          </a:p>
          <a:p xmlns:a="http://schemas.openxmlformats.org/drawingml/2006/main">
            <a:r>
              <a:t>Chức năng: Trả chi tiết một sản phẩm cùng giá, biến thể và tồn kho trong database.</a:t>
            </a:r>
          </a:p>
          <a:p xmlns:a="http://schemas.openxmlformats.org/drawingml/2006/main">
            <a:r>
              <a:t>Đầu vào: product_id</a:t>
            </a:r>
          </a:p>
          <a:p xmlns:a="http://schemas.openxmlformats.org/drawingml/2006/main">
            <a:r>
              <a:t>Đầu ra/tác động: Một product_view.</a:t>
            </a:r>
          </a:p>
          <a:p xmlns:a="http://schemas.openxmlformats.org/drawingml/2006/main">
            <a:r>
              <a:t>Nguồn: backend/main.py:172-174</a:t>
            </a:r>
          </a:p>
          <a:p xmlns:a="http://schemas.openxmlformats.org/drawingml/2006/main">
            <a:r>
              <a:t>Code đầy đủ:</a:t>
            </a:r>
          </a:p>
          <a:p xmlns:a="http://schemas.openxmlformats.org/drawingml/2006/main">
            <a:r>
              <a:t>    def product(product_id: int):</a:t>
            </a:r>
          </a:p>
          <a:p xmlns:a="http://schemas.openxmlformats.org/drawingml/2006/main">
            <a:r>
              <a:t>        with db() as conn:</a:t>
            </a:r>
          </a:p>
          <a:p xmlns:a="http://schemas.openxmlformats.org/drawingml/2006/main">
            <a:r>
              <a:t>            return product_view(catalog.get_product(conn, product_id))</a:t>
            </a:r>
          </a:p>
          <a:p xmlns:a="http://schemas.openxmlformats.org/drawingml/2006/main">
            <a:r>
              <a:t/>
            </a:r>
          </a:p>
          <a:p xmlns:a="http://schemas.openxmlformats.org/drawingml/2006/main">
            <a:r>
              <a:t>Nguồn code của bản chụp 22/10/2026:</a:t>
            </a:r>
          </a:p>
          <a:p xmlns:a="http://schemas.openxmlformats.org/drawingml/2006/main">
            <a:r>
              <a:t>backend/main.py:166-168   /   backend/main.py:172-174</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create_app.get_cart</a:t>
            </a:r>
          </a:p>
          <a:p xmlns:a="http://schemas.openxmlformats.org/drawingml/2006/main">
            <a:r>
              <a:t>Chức năng: Đọc giỏ hàng thuộc phiên đã xác thực; chưa có giỏ thì trả giỏ trống.</a:t>
            </a:r>
          </a:p>
          <a:p xmlns:a="http://schemas.openxmlformats.org/drawingml/2006/main">
            <a:r>
              <a:t>Đầu vào: request</a:t>
            </a:r>
          </a:p>
          <a:p xmlns:a="http://schemas.openxmlformats.org/drawingml/2006/main">
            <a:r>
              <a:t>Đầu ra/tác động: Giỏ của phiên hoặc giỏ trống.</a:t>
            </a:r>
          </a:p>
          <a:p xmlns:a="http://schemas.openxmlformats.org/drawingml/2006/main">
            <a:r>
              <a:t>Nguồn: backend/main.py:178-180</a:t>
            </a:r>
          </a:p>
          <a:p xmlns:a="http://schemas.openxmlformats.org/drawingml/2006/main">
            <a:r>
              <a:t>Code đầy đủ:</a:t>
            </a:r>
          </a:p>
          <a:p xmlns:a="http://schemas.openxmlformats.org/drawingml/2006/main">
            <a:r>
              <a:t>    def get_cart(request: Request):</a:t>
            </a:r>
          </a:p>
          <a:p xmlns:a="http://schemas.openxmlformats.org/drawingml/2006/main">
            <a:r>
              <a:t>        with session_db(request) as (conn, session, ctx):</a:t>
            </a:r>
          </a:p>
          <a:p xmlns:a="http://schemas.openxmlformats.org/drawingml/2006/main">
            <a:r>
              <a:t>            return cart_view(conn, session, ctx)</a:t>
            </a:r>
          </a:p>
          <a:p xmlns:a="http://schemas.openxmlformats.org/drawingml/2006/main">
            <a:r>
              <a:t/>
            </a:r>
          </a:p>
          <a:p xmlns:a="http://schemas.openxmlformats.org/drawingml/2006/main">
            <a:r>
              <a:t>create_app.add_cart_item</a:t>
            </a:r>
          </a:p>
          <a:p xmlns:a="http://schemas.openxmlformats.org/drawingml/2006/main">
            <a:r>
              <a:t>Chức năng: Thêm hoặc gộp sản phẩm vào giỏ của phiên và kiểm tra số lượng, tồn kho.</a:t>
            </a:r>
          </a:p>
          <a:p xmlns:a="http://schemas.openxmlformats.org/drawingml/2006/main">
            <a:r>
              <a:t>Đầu vào: body, request</a:t>
            </a:r>
          </a:p>
          <a:p xmlns:a="http://schemas.openxmlformats.org/drawingml/2006/main">
            <a:r>
              <a:t>Đầu ra/tác động: Giỏ đã thêm/gộp hàng.</a:t>
            </a:r>
          </a:p>
          <a:p xmlns:a="http://schemas.openxmlformats.org/drawingml/2006/main">
            <a:r>
              <a:t>Nguồn: backend/main.py:184-187</a:t>
            </a:r>
          </a:p>
          <a:p xmlns:a="http://schemas.openxmlformats.org/drawingml/2006/main">
            <a:r>
              <a:t>Code đầy đủ:</a:t>
            </a:r>
          </a:p>
          <a:p xmlns:a="http://schemas.openxmlformats.org/drawingml/2006/main">
            <a:r>
              <a:t>    def add_cart_item(body: CartItem, request: Request):</a:t>
            </a:r>
          </a:p>
          <a:p xmlns:a="http://schemas.openxmlformats.org/drawingml/2006/main">
            <a:r>
              <a:t>        with session_db(request) as (conn, session, ctx), transaction(conn):</a:t>
            </a:r>
          </a:p>
          <a:p xmlns:a="http://schemas.openxmlformats.org/drawingml/2006/main">
            <a:r>
              <a:t>            cart = cart_order(conn, session, ctx, create=True)</a:t>
            </a:r>
          </a:p>
          <a:p xmlns:a="http://schemas.openxmlformats.org/drawingml/2006/main">
            <a:r>
              <a:t>            return order_view(conn, orders.add_item(conn, ctx, cart["id"], body.sku, body.quantity))</a:t>
            </a:r>
          </a:p>
          <a:p xmlns:a="http://schemas.openxmlformats.org/drawingml/2006/main">
            <a:r>
              <a:t/>
            </a:r>
          </a:p>
          <a:p xmlns:a="http://schemas.openxmlformats.org/drawingml/2006/main">
            <a:r>
              <a:t>Nguồn code của bản chụp 22/10/2026:</a:t>
            </a:r>
          </a:p>
          <a:p xmlns:a="http://schemas.openxmlformats.org/drawingml/2006/main">
            <a:r>
              <a:t>backend/main.py:178-180   /   backend/main.py:184-187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create_app.edit_cart_item</a:t>
            </a:r>
          </a:p>
          <a:p xmlns:a="http://schemas.openxmlformats.org/drawingml/2006/main">
            <a:r>
              <a:t>Chức năng: Đổi số lượng của một dòng trong giỏ hiện tại và trả giỏ đã tính lại tiền.</a:t>
            </a:r>
          </a:p>
          <a:p xmlns:a="http://schemas.openxmlformats.org/drawingml/2006/main">
            <a:r>
              <a:t>Đầu vào: item_id, body, request</a:t>
            </a:r>
          </a:p>
          <a:p xmlns:a="http://schemas.openxmlformats.org/drawingml/2006/main">
            <a:r>
              <a:t>Đầu ra/tác động: Giỏ với số lượng và tiền đã tính lại.</a:t>
            </a:r>
          </a:p>
          <a:p xmlns:a="http://schemas.openxmlformats.org/drawingml/2006/main">
            <a:r>
              <a:t>Nguồn: backend/main.py:191-197</a:t>
            </a:r>
          </a:p>
          <a:p xmlns:a="http://schemas.openxmlformats.org/drawingml/2006/main">
            <a:r>
              <a:t>Code đầy đủ:</a:t>
            </a:r>
          </a:p>
          <a:p xmlns:a="http://schemas.openxmlformats.org/drawingml/2006/main">
            <a:r>
              <a:t>    def edit_cart_item(item_id: str, body: QuantityChange, request: Request):</a:t>
            </a:r>
          </a:p>
          <a:p xmlns:a="http://schemas.openxmlformats.org/drawingml/2006/main">
            <a:r>
              <a:t>        with session_db(request) as (conn, session, ctx), transaction(conn):</a:t>
            </a:r>
          </a:p>
          <a:p xmlns:a="http://schemas.openxmlformats.org/drawingml/2006/main">
            <a:r>
              <a:t>            cart = cart_order(conn, session, ctx)</a:t>
            </a:r>
          </a:p>
          <a:p xmlns:a="http://schemas.openxmlformats.org/drawingml/2006/main">
            <a:r>
              <a:t>            if cart is None:</a:t>
            </a:r>
          </a:p>
          <a:p xmlns:a="http://schemas.openxmlformats.org/drawingml/2006/main">
            <a:r>
              <a:t>                raise ApiProblem(404, "not_found", "Giỏ hàng đang trống.")</a:t>
            </a:r>
          </a:p>
          <a:p xmlns:a="http://schemas.openxmlformats.org/drawingml/2006/main">
            <a:r>
              <a:t>            row = item_row(conn, cart["id"], item_id)</a:t>
            </a:r>
          </a:p>
          <a:p xmlns:a="http://schemas.openxmlformats.org/drawingml/2006/main">
            <a:r>
              <a:t>            return order_view(conn, orders.set_item_quantity(conn, ctx, cart["id"], row["sku"], body.quantity))</a:t>
            </a:r>
          </a:p>
          <a:p xmlns:a="http://schemas.openxmlformats.org/drawingml/2006/main">
            <a:r>
              <a:t/>
            </a:r>
          </a:p>
          <a:p xmlns:a="http://schemas.openxmlformats.org/drawingml/2006/main">
            <a:r>
              <a:t>create_app.delete_cart_item</a:t>
            </a:r>
          </a:p>
          <a:p xmlns:a="http://schemas.openxmlformats.org/drawingml/2006/main">
            <a:r>
              <a:t>Chức năng: Xóa một dòng khỏi giỏ hiện tại và trả trạng thái giỏ sau khi xóa.</a:t>
            </a:r>
          </a:p>
          <a:p xmlns:a="http://schemas.openxmlformats.org/drawingml/2006/main">
            <a:r>
              <a:t>Đầu vào: item_id, request</a:t>
            </a:r>
          </a:p>
          <a:p xmlns:a="http://schemas.openxmlformats.org/drawingml/2006/main">
            <a:r>
              <a:t>Đầu ra/tác động: Giỏ sau khi xóa dòng.</a:t>
            </a:r>
          </a:p>
          <a:p xmlns:a="http://schemas.openxmlformats.org/drawingml/2006/main">
            <a:r>
              <a:t>Nguồn: backend/main.py:201-207</a:t>
            </a:r>
          </a:p>
          <a:p xmlns:a="http://schemas.openxmlformats.org/drawingml/2006/main">
            <a:r>
              <a:t>Code đầy đủ:</a:t>
            </a:r>
          </a:p>
          <a:p xmlns:a="http://schemas.openxmlformats.org/drawingml/2006/main">
            <a:r>
              <a:t>    def delete_cart_item(item_id: str, request: Request):</a:t>
            </a:r>
          </a:p>
          <a:p xmlns:a="http://schemas.openxmlformats.org/drawingml/2006/main">
            <a:r>
              <a:t>        with session_db(request) as (conn, session, ctx), transaction(conn):</a:t>
            </a:r>
          </a:p>
          <a:p xmlns:a="http://schemas.openxmlformats.org/drawingml/2006/main">
            <a:r>
              <a:t>            cart = cart_order(conn, session, ctx)</a:t>
            </a:r>
          </a:p>
          <a:p xmlns:a="http://schemas.openxmlformats.org/drawingml/2006/main">
            <a:r>
              <a:t>            if cart is None:</a:t>
            </a:r>
          </a:p>
          <a:p xmlns:a="http://schemas.openxmlformats.org/drawingml/2006/main">
            <a:r>
              <a:t>                raise ApiProblem(404, "not_found", "Giỏ hàng đang trống.")</a:t>
            </a:r>
          </a:p>
          <a:p xmlns:a="http://schemas.openxmlformats.org/drawingml/2006/main">
            <a:r>
              <a:t>            row = item_row(conn, cart["id"], item_id)</a:t>
            </a:r>
          </a:p>
          <a:p xmlns:a="http://schemas.openxmlformats.org/drawingml/2006/main">
            <a:r>
              <a:t>            return order_view(conn, orders.remove_item(conn, ctx, cart["id"], row["sku"]))</a:t>
            </a:r>
          </a:p>
          <a:p xmlns:a="http://schemas.openxmlformats.org/drawingml/2006/main">
            <a:r>
              <a:t/>
            </a:r>
          </a:p>
          <a:p xmlns:a="http://schemas.openxmlformats.org/drawingml/2006/main">
            <a:r>
              <a:t>Nguồn code của bản chụp 22/10/2026:</a:t>
            </a:r>
          </a:p>
          <a:p xmlns:a="http://schemas.openxmlformats.org/drawingml/2006/main">
            <a:r>
              <a:t>backend/main.py:191-197   /   backend/main.py:201-207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create_app.create_order</a:t>
            </a:r>
          </a:p>
          <a:p xmlns:a="http://schemas.openxmlformats.org/drawingml/2006/main">
            <a:r>
              <a:t>Chức năng: Gửi giỏ hàng thành đơn chờ xác nhận, dùng khóa chống tạo trùng nếu được cung cấp.</a:t>
            </a:r>
          </a:p>
          <a:p xmlns:a="http://schemas.openxmlformats.org/drawingml/2006/main">
            <a:r>
              <a:t>Đầu vào: body, request</a:t>
            </a:r>
          </a:p>
          <a:p xmlns:a="http://schemas.openxmlformats.org/drawingml/2006/main">
            <a:r>
              <a:t>Đầu ra/tác động: Đơn pending_confirmation hoặc kết quả replay.</a:t>
            </a:r>
          </a:p>
          <a:p xmlns:a="http://schemas.openxmlformats.org/drawingml/2006/main">
            <a:r>
              <a:t>Nguồn: backend/main.py:211-214</a:t>
            </a:r>
          </a:p>
          <a:p xmlns:a="http://schemas.openxmlformats.org/drawingml/2006/main">
            <a:r>
              <a:t>Code đầy đủ:</a:t>
            </a:r>
          </a:p>
          <a:p xmlns:a="http://schemas.openxmlformats.org/drawingml/2006/main">
            <a:r>
              <a:t>    def create_order(body: Checkout, request: Request):</a:t>
            </a:r>
          </a:p>
          <a:p xmlns:a="http://schemas.openxmlformats.org/drawingml/2006/main">
            <a:r>
              <a:t>        key = request_key(request.headers.get("Idempotency-Key"))</a:t>
            </a:r>
          </a:p>
          <a:p xmlns:a="http://schemas.openxmlformats.org/drawingml/2006/main">
            <a:r>
              <a:t>        with session_db(request) as (conn, session, ctx):</a:t>
            </a:r>
          </a:p>
          <a:p xmlns:a="http://schemas.openxmlformats.org/drawingml/2006/main">
            <a:r>
              <a:t>            return checkout(conn, ctx, session, body.shipping.model_dump(), key)</a:t>
            </a:r>
          </a:p>
          <a:p xmlns:a="http://schemas.openxmlformats.org/drawingml/2006/main">
            <a:r>
              <a:t/>
            </a:r>
          </a:p>
          <a:p xmlns:a="http://schemas.openxmlformats.org/drawingml/2006/main">
            <a:r>
              <a:t>create_app.list_orders</a:t>
            </a:r>
          </a:p>
          <a:p xmlns:a="http://schemas.openxmlformats.org/drawingml/2006/main">
            <a:r>
              <a:t>Chức năng: Liệt kê tối đa 100 đơn đã gửi của chính phiên hiện tại, không gồm giỏ chưa gửi.</a:t>
            </a:r>
          </a:p>
          <a:p xmlns:a="http://schemas.openxmlformats.org/drawingml/2006/main">
            <a:r>
              <a:t>Đầu vào: request</a:t>
            </a:r>
          </a:p>
          <a:p xmlns:a="http://schemas.openxmlformats.org/drawingml/2006/main">
            <a:r>
              <a:t>Đầu ra/tác động: {orders: [...]}, tối đa 100 đơn của phiên.</a:t>
            </a:r>
          </a:p>
          <a:p xmlns:a="http://schemas.openxmlformats.org/drawingml/2006/main">
            <a:r>
              <a:t>Nguồn: backend/main.py:218-221</a:t>
            </a:r>
          </a:p>
          <a:p xmlns:a="http://schemas.openxmlformats.org/drawingml/2006/main">
            <a:r>
              <a:t>Code đầy đủ:</a:t>
            </a:r>
          </a:p>
          <a:p xmlns:a="http://schemas.openxmlformats.org/drawingml/2006/main">
            <a:r>
              <a:t>    def list_orders(request: Request):</a:t>
            </a:r>
          </a:p>
          <a:p xmlns:a="http://schemas.openxmlformats.org/drawingml/2006/main">
            <a:r>
              <a:t>        with session_db(request) as (conn, session, ctx):</a:t>
            </a:r>
          </a:p>
          <a:p xmlns:a="http://schemas.openxmlformats.org/drawingml/2006/main">
            <a:r>
              <a:t>            found = orders.list_orders(conn, session["owner_id"], statuses=["pending_confirmation", "confirmed", "cancelled"], limit=100)</a:t>
            </a:r>
          </a:p>
          <a:p xmlns:a="http://schemas.openxmlformats.org/drawingml/2006/main">
            <a:r>
              <a:t>            return {"orders": [order_view(conn, o) for o in found]}</a:t>
            </a:r>
          </a:p>
          <a:p xmlns:a="http://schemas.openxmlformats.org/drawingml/2006/main">
            <a:r>
              <a:t/>
            </a:r>
          </a:p>
          <a:p xmlns:a="http://schemas.openxmlformats.org/drawingml/2006/main">
            <a:r>
              <a:t>Nguồn code của bản chụp 22/10/2026:</a:t>
            </a:r>
          </a:p>
          <a:p xmlns:a="http://schemas.openxmlformats.org/drawingml/2006/main">
            <a:r>
              <a:t>backend/main.py:211-214   /   backend/main.py:218-221</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create_app.get_order</a:t>
            </a:r>
          </a:p>
          <a:p xmlns:a="http://schemas.openxmlformats.org/drawingml/2006/main">
            <a:r>
              <a:t>Chức năng: Lấy chi tiết đơn sau khi kiểm tra mã đơn và quyền sở hữu của phiên.</a:t>
            </a:r>
          </a:p>
          <a:p xmlns:a="http://schemas.openxmlformats.org/drawingml/2006/main">
            <a:r>
              <a:t>Đầu vào: order_id, request</a:t>
            </a:r>
          </a:p>
          <a:p xmlns:a="http://schemas.openxmlformats.org/drawingml/2006/main">
            <a:r>
              <a:t>Đầu ra/tác động: Đơn đã kiểm tra quyền sở hữu.</a:t>
            </a:r>
          </a:p>
          <a:p xmlns:a="http://schemas.openxmlformats.org/drawingml/2006/main">
            <a:r>
              <a:t>Nguồn: backend/main.py:225-227</a:t>
            </a:r>
          </a:p>
          <a:p xmlns:a="http://schemas.openxmlformats.org/drawingml/2006/main">
            <a:r>
              <a:t>Code đầy đủ:</a:t>
            </a:r>
          </a:p>
          <a:p xmlns:a="http://schemas.openxmlformats.org/drawingml/2006/main">
            <a:r>
              <a:t>    def get_order(order_id: str, request: Request):</a:t>
            </a:r>
          </a:p>
          <a:p xmlns:a="http://schemas.openxmlformats.org/drawingml/2006/main">
            <a:r>
              <a:t>        with session_db(request) as (conn, session, ctx):</a:t>
            </a:r>
          </a:p>
          <a:p xmlns:a="http://schemas.openxmlformats.org/drawingml/2006/main">
            <a:r>
              <a:t>            return order_view(conn, owned_order(conn, session["owner_id"], order_number(order_id)))</a:t>
            </a:r>
          </a:p>
          <a:p xmlns:a="http://schemas.openxmlformats.org/drawingml/2006/main">
            <a:r>
              <a:t/>
            </a:r>
          </a:p>
          <a:p xmlns:a="http://schemas.openxmlformats.org/drawingml/2006/main">
            <a:r>
              <a:t>create_app.edit_order_item</a:t>
            </a:r>
          </a:p>
          <a:p xmlns:a="http://schemas.openxmlformats.org/drawingml/2006/main">
            <a:r>
              <a:t>Chức năng: Cập nhật số lượng hoặc biến thể của một dòng đơn mà phiên được phép sửa.</a:t>
            </a:r>
          </a:p>
          <a:p xmlns:a="http://schemas.openxmlformats.org/drawingml/2006/main">
            <a:r>
              <a:t>Đầu vào: order_id, item_id, body, request</a:t>
            </a:r>
          </a:p>
          <a:p xmlns:a="http://schemas.openxmlformats.org/drawingml/2006/main">
            <a:r>
              <a:t>Đầu ra/tác động: Đơn sau sửa quantity/SKU.</a:t>
            </a:r>
          </a:p>
          <a:p xmlns:a="http://schemas.openxmlformats.org/drawingml/2006/main">
            <a:r>
              <a:t>Nguồn: backend/main.py:231-235</a:t>
            </a:r>
          </a:p>
          <a:p xmlns:a="http://schemas.openxmlformats.org/drawingml/2006/main">
            <a:r>
              <a:t>Code đầy đủ:</a:t>
            </a:r>
          </a:p>
          <a:p xmlns:a="http://schemas.openxmlformats.org/drawingml/2006/main">
            <a:r>
              <a:t>    def edit_order_item(order_id: str, item_id: str, body: ItemChange, request: Request):</a:t>
            </a:r>
          </a:p>
          <a:p xmlns:a="http://schemas.openxmlformats.org/drawingml/2006/main">
            <a:r>
              <a:t>        with session_db(request) as (conn, session, ctx):</a:t>
            </a:r>
          </a:p>
          <a:p xmlns:a="http://schemas.openxmlformats.org/drawingml/2006/main">
            <a:r>
              <a:t>            order = update_item(conn, ctx, session["owner_id"], order_number(order_id), item_id,</a:t>
            </a:r>
          </a:p>
          <a:p xmlns:a="http://schemas.openxmlformats.org/drawingml/2006/main">
            <a:r>
              <a:t>                                body.model_dump(exclude_unset=True))</a:t>
            </a:r>
          </a:p>
          <a:p xmlns:a="http://schemas.openxmlformats.org/drawingml/2006/main">
            <a:r>
              <a:t>            return order_view(conn, order)</a:t>
            </a:r>
          </a:p>
          <a:p xmlns:a="http://schemas.openxmlformats.org/drawingml/2006/main">
            <a:r>
              <a:t/>
            </a:r>
          </a:p>
          <a:p xmlns:a="http://schemas.openxmlformats.org/drawingml/2006/main">
            <a:r>
              <a:t>Nguồn code của bản chụp 22/10/2026:</a:t>
            </a:r>
          </a:p>
          <a:p xmlns:a="http://schemas.openxmlformats.org/drawingml/2006/main">
            <a:r>
              <a:t>backend/main.py:225-227   /   backend/main.py:231-235</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create_app.chat_message</a:t>
            </a:r>
          </a:p>
          <a:p xmlns:a="http://schemas.openxmlformats.org/drawingml/2006/main">
            <a:r>
              <a:t>Chức năng: Nhận tin nhắn, kiểm tra phiên/giới hạn gọi chat rồi chuyển sang luồng xử lý bot.</a:t>
            </a:r>
          </a:p>
          <a:p xmlns:a="http://schemas.openxmlformats.org/drawingml/2006/main">
            <a:r>
              <a:t>Đầu vào: body, request</a:t>
            </a:r>
          </a:p>
          <a:p xmlns:a="http://schemas.openxmlformats.org/drawingml/2006/main">
            <a:r>
              <a:t>Đầu ra/tác động: Kết quả workflow chat với route và reply.</a:t>
            </a:r>
          </a:p>
          <a:p xmlns:a="http://schemas.openxmlformats.org/drawingml/2006/main">
            <a:r>
              <a:t>Nguồn: backend/main.py:239-243</a:t>
            </a:r>
          </a:p>
          <a:p xmlns:a="http://schemas.openxmlformats.org/drawingml/2006/main">
            <a:r>
              <a:t>Code đầy đủ:</a:t>
            </a:r>
          </a:p>
          <a:p xmlns:a="http://schemas.openxmlformats.org/drawingml/2006/main">
            <a:r>
              <a:t>    def chat_message(body: ChatRequest, request: Request):</a:t>
            </a:r>
          </a:p>
          <a:p xmlns:a="http://schemas.openxmlformats.org/drawingml/2006/main">
            <a:r>
              <a:t>        key = request_key(request.headers.get("Idempotency-Key"))</a:t>
            </a:r>
          </a:p>
          <a:p xmlns:a="http://schemas.openxmlformats.org/drawingml/2006/main">
            <a:r>
              <a:t>        with session_db(request) as (conn, session, ctx):</a:t>
            </a:r>
          </a:p>
          <a:p xmlns:a="http://schemas.openxmlformats.org/drawingml/2006/main">
            <a:r>
              <a:t>            limiter.check("chat", session["owner_id"], settings.chat_limit)</a:t>
            </a:r>
          </a:p>
          <a:p xmlns:a="http://schemas.openxmlformats.org/drawingml/2006/main">
            <a:r>
              <a:t>            return chat(conn, ctx, session, body.message, app.state.llm_client, key)</a:t>
            </a:r>
          </a:p>
          <a:p xmlns:a="http://schemas.openxmlformats.org/drawingml/2006/main">
            <a:r>
              <a:t/>
            </a:r>
          </a:p>
          <a:p xmlns:a="http://schemas.openxmlformats.org/drawingml/2006/main">
            <a:r>
              <a:t>Nguồn code của bản chụp 22/10/2026:</a:t>
            </a:r>
          </a:p>
          <a:p xmlns:a="http://schemas.openxmlformats.org/drawingml/2006/main">
            <a:r>
              <a:t>backend/main.py:239-243</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response</a:t>
            </a:r>
          </a:p>
          <a:p xmlns:a="http://schemas.openxmlformats.org/drawingml/2006/main">
            <a:r>
              <a:t>Chức năng: Tạo cấu trúc phản hồi chat chung gồm lời nhắn, nhánh xử lý, trường thiếu và đơn nếu có.</a:t>
            </a:r>
          </a:p>
          <a:p xmlns:a="http://schemas.openxmlformats.org/drawingml/2006/main">
            <a:r>
              <a:t>Đầu vào: reply, route, missing, order</a:t>
            </a:r>
          </a:p>
          <a:p xmlns:a="http://schemas.openxmlformats.org/drawingml/2006/main">
            <a:r>
              <a:t>Đầu ra/tác động: Dictionary reply, route, missing_fields, order và phần bổ sung.</a:t>
            </a:r>
          </a:p>
          <a:p xmlns:a="http://schemas.openxmlformats.org/drawingml/2006/main">
            <a:r>
              <a:t>Nguồn: backend/chat_service.py:33-34</a:t>
            </a:r>
          </a:p>
          <a:p xmlns:a="http://schemas.openxmlformats.org/drawingml/2006/main">
            <a:r>
              <a:t>Code đầy đủ:</a:t>
            </a:r>
          </a:p>
          <a:p xmlns:a="http://schemas.openxmlformats.org/drawingml/2006/main">
            <a:r>
              <a:t>def response(reply, route, missing=(), order=None, **extra):</a:t>
            </a:r>
          </a:p>
          <a:p xmlns:a="http://schemas.openxmlformats.org/drawingml/2006/main">
            <a:r>
              <a:t>    return {"reply": reply, "route": route, "missing_fields": list(missing), "order": order, **extra}</a:t>
            </a:r>
          </a:p>
          <a:p xmlns:a="http://schemas.openxmlformats.org/drawingml/2006/main">
            <a:r>
              <a:t/>
            </a:r>
          </a:p>
          <a:p xmlns:a="http://schemas.openxmlformats.org/drawingml/2006/main">
            <a:r>
              <a:t>ask</a:t>
            </a:r>
          </a:p>
          <a:p xmlns:a="http://schemas.openxmlformats.org/drawingml/2006/main">
            <a:r>
              <a:t>Chức năng: Đổi tên các trường còn thiếu sang tiếng Việt và tạo câu hỏi bổ sung thông tin.</a:t>
            </a:r>
          </a:p>
          <a:p xmlns:a="http://schemas.openxmlformats.org/drawingml/2006/main">
            <a:r>
              <a:t>Đầu vào: fields, detail</a:t>
            </a:r>
          </a:p>
          <a:p xmlns:a="http://schemas.openxmlformats.org/drawingml/2006/main">
            <a:r>
              <a:t>Đầu ra/tác động: Response ask_missing với nhãn trường bằng tiếng Việt.</a:t>
            </a:r>
          </a:p>
          <a:p xmlns:a="http://schemas.openxmlformats.org/drawingml/2006/main">
            <a:r>
              <a:t>Nguồn: backend/chat_service.py:38-41</a:t>
            </a:r>
          </a:p>
          <a:p xmlns:a="http://schemas.openxmlformats.org/drawingml/2006/main">
            <a:r>
              <a:t>Code đầy đủ:</a:t>
            </a:r>
          </a:p>
          <a:p xmlns:a="http://schemas.openxmlformats.org/drawingml/2006/main">
            <a:r>
              <a:t>def ask(fields, detail=""):</a:t>
            </a:r>
          </a:p>
          <a:p xmlns:a="http://schemas.openxmlformats.org/drawingml/2006/main">
            <a:r>
              <a:t>    fields = list(dict.fromkeys(fields))</a:t>
            </a:r>
          </a:p>
          <a:p xmlns:a="http://schemas.openxmlformats.org/drawingml/2006/main">
            <a:r>
              <a:t>    text = ", ".join(FIELD_NAMES.get(f, f) for f in fields)</a:t>
            </a:r>
          </a:p>
          <a:p xmlns:a="http://schemas.openxmlformats.org/drawingml/2006/main">
            <a:r>
              <a:t>    return response((detail + " Vui lòng bổ sung: " + text + ".").strip(), "ask_missing", fields)</a:t>
            </a:r>
          </a:p>
          <a:p xmlns:a="http://schemas.openxmlformats.org/drawingml/2006/main">
            <a:r>
              <a:t/>
            </a:r>
          </a:p>
          <a:p xmlns:a="http://schemas.openxmlformats.org/drawingml/2006/main">
            <a:r>
              <a:t>Nguồn code của bản chụp 22/10/2026:</a:t>
            </a:r>
          </a:p>
          <a:p xmlns:a="http://schemas.openxmlformats.org/drawingml/2006/main">
            <a:r>
              <a:t>backend/chat_service.py:33-34   /   backend/chat_service.py:38-41</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_catalog_context</a:t>
            </a:r>
          </a:p>
          <a:p xmlns:a="http://schemas.openxmlformats.org/drawingml/2006/main">
            <a:r>
              <a:t>Chức năng: Chọn sản phẩm liên quan từ database làm ngữ cảnh để LLM nhận diện yêu cầu.</a:t>
            </a:r>
          </a:p>
          <a:p xmlns:a="http://schemas.openxmlformats.org/drawingml/2006/main">
            <a:r>
              <a:t>Đầu vào: conn, message, context</a:t>
            </a:r>
          </a:p>
          <a:p xmlns:a="http://schemas.openxmlformats.org/drawingml/2006/main">
            <a:r>
              <a:t>Đầu ra/tác động: Tối đa 6 sản phẩm, alias và định danh biến thể cho prompt.</a:t>
            </a:r>
          </a:p>
          <a:p xmlns:a="http://schemas.openxmlformats.org/drawingml/2006/main">
            <a:r>
              <a:t>Nguồn: backend/chat_service.py:45-57</a:t>
            </a:r>
          </a:p>
          <a:p xmlns:a="http://schemas.openxmlformats.org/drawingml/2006/main">
            <a:r>
              <a:t>Code đầy đủ:</a:t>
            </a:r>
          </a:p>
          <a:p xmlns:a="http://schemas.openxmlformats.org/drawingml/2006/main">
            <a:r>
              <a:t>def _catalog_context(conn, message, context):</a:t>
            </a:r>
          </a:p>
          <a:p xmlns:a="http://schemas.openxmlformats.org/drawingml/2006/main">
            <a:r>
              <a:t>    found = catalog.search_products(conn, message, limit=3)</a:t>
            </a:r>
          </a:p>
          <a:p xmlns:a="http://schemas.openxmlformats.org/drawingml/2006/main">
            <a:r>
              <a:t>    for item in context.get("items", []):</a:t>
            </a:r>
          </a:p>
          <a:p xmlns:a="http://schemas.openxmlformats.org/drawingml/2006/main">
            <a:r>
              <a:t>        found += catalog.search_products(conn, item.get("requested_product") or item.get("sku"), limit=2)</a:t>
            </a:r>
          </a:p>
          <a:p xmlns:a="http://schemas.openxmlformats.org/drawingml/2006/main">
            <a:r>
              <a:t>    if not found:</a:t>
            </a:r>
          </a:p>
          <a:p xmlns:a="http://schemas.openxmlformats.org/drawingml/2006/main">
            <a:r>
              <a:t>        found = catalog.list_products(conn, limit=6)</a:t>
            </a:r>
          </a:p>
          <a:p xmlns:a="http://schemas.openxmlformats.org/drawingml/2006/main">
            <a:r>
              <a:t>    unique = {p["product_id"]: p for p in found}</a:t>
            </a:r>
          </a:p>
          <a:p xmlns:a="http://schemas.openxmlformats.org/drawingml/2006/main">
            <a:r>
              <a:t>    result = []</a:t>
            </a:r>
          </a:p>
          <a:p xmlns:a="http://schemas.openxmlformats.org/drawingml/2006/main">
            <a:r>
              <a:t>    for p in list(unique.values())[:6]:</a:t>
            </a:r>
          </a:p>
          <a:p xmlns:a="http://schemas.openxmlformats.org/drawingml/2006/main">
            <a:r>
              <a:t>        aliases = [r[0] for r in conn.execute("SELECT alias FROM product_aliases WHERE product_id=? LIMIT 10", (p["product_id"],))]</a:t>
            </a:r>
          </a:p>
          <a:p xmlns:a="http://schemas.openxmlformats.org/drawingml/2006/main">
            <a:r>
              <a:t>        result.append({"name": p["name"], "category": p["category"], "description": p["description"], "aliases": aliases,</a:t>
            </a:r>
          </a:p>
          <a:p xmlns:a="http://schemas.openxmlformats.org/drawingml/2006/main">
            <a:r>
              <a:t>                       "variants": [{k: v[k] for k in ("sku", "color", "size")} for v in p["variants"]]})</a:t>
            </a:r>
          </a:p>
          <a:p xmlns:a="http://schemas.openxmlformats.org/drawingml/2006/main">
            <a:r>
              <a:t>    return result</a:t>
            </a:r>
          </a:p>
          <a:p xmlns:a="http://schemas.openxmlformats.org/drawingml/2006/main">
            <a:r>
              <a:t/>
            </a:r>
          </a:p>
          <a:p xmlns:a="http://schemas.openxmlformats.org/drawingml/2006/main">
            <a:r>
              <a:t>_merge_items</a:t>
            </a:r>
          </a:p>
          <a:p xmlns:a="http://schemas.openxmlformats.org/drawingml/2006/main">
            <a:r>
              <a:t>Chức năng: Gộp thông tin bổ sung của cùng một sản phẩm với dữ liệu đã thu thập ở lượt trước.</a:t>
            </a:r>
          </a:p>
          <a:p xmlns:a="http://schemas.openxmlformats.org/drawingml/2006/main">
            <a:r>
              <a:t>Đầu vào: previous, incoming</a:t>
            </a:r>
          </a:p>
          <a:p xmlns:a="http://schemas.openxmlformats.org/drawingml/2006/main">
            <a:r>
              <a:t>Đầu ra/tác động: Danh sách item đã ghép hoặc danh sách mới.</a:t>
            </a:r>
          </a:p>
          <a:p xmlns:a="http://schemas.openxmlformats.org/drawingml/2006/main">
            <a:r>
              <a:t>Nguồn: backend/chat_service.py:61-73</a:t>
            </a:r>
          </a:p>
          <a:p xmlns:a="http://schemas.openxmlformats.org/drawingml/2006/main">
            <a:r>
              <a:t>Code đầy đủ:</a:t>
            </a:r>
          </a:p>
          <a:p xmlns:a="http://schemas.openxmlformats.org/drawingml/2006/main">
            <a:r>
              <a:t>def _merge_items(previous, incoming):</a:t>
            </a:r>
          </a:p>
          <a:p xmlns:a="http://schemas.openxmlformats.org/drawingml/2006/main">
            <a:r>
              <a:t>    if not incoming:</a:t>
            </a:r>
          </a:p>
          <a:p xmlns:a="http://schemas.openxmlformats.org/drawingml/2006/main">
            <a:r>
              <a:t>        return previous</a:t>
            </a:r>
          </a:p>
          <a:p xmlns:a="http://schemas.openxmlformats.org/drawingml/2006/main">
            <a:r>
              <a:t>    if len(previous) == len(incoming) == 1:</a:t>
            </a:r>
          </a:p>
          <a:p xmlns:a="http://schemas.openxmlformats.org/drawingml/2006/main">
            <a:r>
              <a:t>        old, new = previous[0], incoming[0]</a:t>
            </a:r>
          </a:p>
          <a:p xmlns:a="http://schemas.openxmlformats.org/drawingml/2006/main">
            <a:r>
              <a:t>        same = not new.get("requested_product") or normalize(new["requested_product"]) == normalize(old.get("requested_product"))</a:t>
            </a:r>
          </a:p>
          <a:p xmlns:a="http://schemas.openxmlformats.org/drawingml/2006/main">
            <a:r>
              <a:t>        if same and not (new.get("sku") and old.get("sku") and new["sku"] != old["sku"]):</a:t>
            </a:r>
          </a:p>
          <a:p xmlns:a="http://schemas.openxmlformats.org/drawingml/2006/main">
            <a:r>
              <a:t>            variant = {**old["variant"], **{k: v for k, v in new["variant"].items() if v is not None}}</a:t>
            </a:r>
          </a:p>
          <a:p xmlns:a="http://schemas.openxmlformats.org/drawingml/2006/main">
            <a:r>
              <a:t>            result = {**old, **{k: v for k, v in new.items() if v is not None}, "variant": variant}</a:t>
            </a:r>
          </a:p>
          <a:p xmlns:a="http://schemas.openxmlformats.org/drawingml/2006/main">
            <a:r>
              <a:t>            if any(new["variant"].values()) and not new.get("sku"):</a:t>
            </a:r>
          </a:p>
          <a:p xmlns:a="http://schemas.openxmlformats.org/drawingml/2006/main">
            <a:r>
              <a:t>                result["sku"] = None</a:t>
            </a:r>
          </a:p>
          <a:p xmlns:a="http://schemas.openxmlformats.org/drawingml/2006/main">
            <a:r>
              <a:t>            return [result]</a:t>
            </a:r>
          </a:p>
          <a:p xmlns:a="http://schemas.openxmlformats.org/drawingml/2006/main">
            <a:r>
              <a:t>    return incoming</a:t>
            </a:r>
          </a:p>
          <a:p xmlns:a="http://schemas.openxmlformats.org/drawingml/2006/main">
            <a:r>
              <a:t/>
            </a:r>
          </a:p>
          <a:p xmlns:a="http://schemas.openxmlformats.org/drawingml/2006/main">
            <a:r>
              <a:t>Nguồn code của bản chụp 22/10/2026:</a:t>
            </a:r>
          </a:p>
          <a:p xmlns:a="http://schemas.openxmlformats.org/drawingml/2006/main">
            <a:r>
              <a:t>backend/chat_service.py:45-57   /   backend/chat_service.py:61-73</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resolve_item</a:t>
            </a:r>
          </a:p>
          <a:p xmlns:a="http://schemas.openxmlformats.org/drawingml/2006/main">
            <a:r>
              <a:t>Chức năng: Đối chiếu tên/SKU, màu và size với catalog; hỏi lại khi chưa xác định duy nhất biến thể.</a:t>
            </a:r>
          </a:p>
          <a:p xmlns:a="http://schemas.openxmlformats.org/drawingml/2006/main">
            <a:r>
              <a:t>Đầu vào: conn, item</a:t>
            </a:r>
          </a:p>
          <a:p xmlns:a="http://schemas.openxmlformats.org/drawingml/2006/main">
            <a:r>
              <a:t>Đầu ra/tác động: (variant, None) hoặc (None, câu hỏi bổ sung).</a:t>
            </a:r>
          </a:p>
          <a:p xmlns:a="http://schemas.openxmlformats.org/drawingml/2006/main">
            <a:r>
              <a:t>Nguồn: backend/chat_service.py:77-98</a:t>
            </a:r>
          </a:p>
          <a:p xmlns:a="http://schemas.openxmlformats.org/drawingml/2006/main">
            <a:r>
              <a:t>Code đầy đủ:</a:t>
            </a:r>
          </a:p>
          <a:p xmlns:a="http://schemas.openxmlformats.org/drawingml/2006/main">
            <a:r>
              <a:t>def resolve_item(conn, item):</a:t>
            </a:r>
          </a:p>
          <a:p xmlns:a="http://schemas.openxmlformats.org/drawingml/2006/main">
            <a:r>
              <a:t>    if item.get("sku"):</a:t>
            </a:r>
          </a:p>
          <a:p xmlns:a="http://schemas.openxmlformats.org/drawingml/2006/main">
            <a:r>
              <a:t>        candidates = [catalog.get_variant(conn, item["sku"])]</a:t>
            </a:r>
          </a:p>
          <a:p xmlns:a="http://schemas.openxmlformats.org/drawingml/2006/main">
            <a:r>
              <a:t>    elif item.get("requested_product"):</a:t>
            </a:r>
          </a:p>
          <a:p xmlns:a="http://schemas.openxmlformats.org/drawingml/2006/main">
            <a:r>
              <a:t>        found = catalog.search_products(conn, item["requested_product"], limit=5)</a:t>
            </a:r>
          </a:p>
          <a:p xmlns:a="http://schemas.openxmlformats.org/drawingml/2006/main">
            <a:r>
              <a:t>        if not found:</a:t>
            </a:r>
          </a:p>
          <a:p xmlns:a="http://schemas.openxmlformats.org/drawingml/2006/main">
            <a:r>
              <a:t>            return None, ask(["product"], "Không tìm thấy sản phẩm trong catalog.")</a:t>
            </a:r>
          </a:p>
          <a:p xmlns:a="http://schemas.openxmlformats.org/drawingml/2006/main">
            <a:r>
              <a:t>        close = [p for p in found if found[0]["score"] - p["score"] &lt; 10]</a:t>
            </a:r>
          </a:p>
          <a:p xmlns:a="http://schemas.openxmlformats.org/drawingml/2006/main">
            <a:r>
              <a:t>        candidates = [v for p in close for v in p["variants"]]</a:t>
            </a:r>
          </a:p>
          <a:p xmlns:a="http://schemas.openxmlformats.org/drawingml/2006/main">
            <a:r>
              <a:t>    else:</a:t>
            </a:r>
          </a:p>
          <a:p xmlns:a="http://schemas.openxmlformats.org/drawingml/2006/main">
            <a:r>
              <a:t>        return None, ask(["product"])</a:t>
            </a:r>
          </a:p>
          <a:p xmlns:a="http://schemas.openxmlformats.org/drawingml/2006/main">
            <a:r>
              <a:t>    for key in ("color", "size"):</a:t>
            </a:r>
          </a:p>
          <a:p xmlns:a="http://schemas.openxmlformats.org/drawingml/2006/main">
            <a:r>
              <a:t>        value = item["variant"].get(key)</a:t>
            </a:r>
          </a:p>
          <a:p xmlns:a="http://schemas.openxmlformats.org/drawingml/2006/main">
            <a:r>
              <a:t>        if value:</a:t>
            </a:r>
          </a:p>
          <a:p xmlns:a="http://schemas.openxmlformats.org/drawingml/2006/main">
            <a:r>
              <a:t>            requested = attribute_value(value, key)</a:t>
            </a:r>
          </a:p>
          <a:p xmlns:a="http://schemas.openxmlformats.org/drawingml/2006/main">
            <a:r>
              <a:t>            candidates = [v for v in candidates if requested == attribute_value(v[key], key)</a:t>
            </a:r>
          </a:p>
          <a:p xmlns:a="http://schemas.openxmlformats.org/drawingml/2006/main">
            <a:r>
              <a:t>                          or (key == "color" and attribute_value(v[key], key).startswith(requested + " "))]</a:t>
            </a:r>
          </a:p>
          <a:p xmlns:a="http://schemas.openxmlformats.org/drawingml/2006/main">
            <a:r>
              <a:t>    if len(candidates) != 1:</a:t>
            </a:r>
          </a:p>
          <a:p xmlns:a="http://schemas.openxmlformats.org/drawingml/2006/main">
            <a:r>
              <a:t>        options = "; ".join(f"{v['sku']} ({v['variant_name']})" for v in candidates[:8])</a:t>
            </a:r>
          </a:p>
          <a:p xmlns:a="http://schemas.openxmlformats.org/drawingml/2006/main">
            <a:r>
              <a:t>        detail = "Có nhiều biến thể phù hợp: " + options if candidates else "Không có biến thể khớp màu/size đã yêu cầu."</a:t>
            </a:r>
          </a:p>
          <a:p xmlns:a="http://schemas.openxmlformats.org/drawingml/2006/main">
            <a:r>
              <a:t>        return None, ask(["variant"], detail)</a:t>
            </a:r>
          </a:p>
          <a:p xmlns:a="http://schemas.openxmlformats.org/drawingml/2006/main">
            <a:r>
              <a:t>    return candidates[0], None</a:t>
            </a:r>
          </a:p>
          <a:p xmlns:a="http://schemas.openxmlformats.org/drawingml/2006/main">
            <a:r>
              <a:t/>
            </a:r>
          </a:p>
          <a:p xmlns:a="http://schemas.openxmlformats.org/drawingml/2006/main">
            <a:r>
              <a:t>_shipping</a:t>
            </a:r>
          </a:p>
          <a:p xmlns:a="http://schemas.openxmlformats.org/drawingml/2006/main">
            <a:r>
              <a:t>Chức năng: Kiểm tra tên, điện thoại, địa chỉ và trả giao nhận đã chuẩn hóa hoặc danh sách trường lỗi.</a:t>
            </a:r>
          </a:p>
          <a:p xmlns:a="http://schemas.openxmlformats.org/drawingml/2006/main">
            <a:r>
              <a:t>Đầu vào: customer</a:t>
            </a:r>
          </a:p>
          <a:p xmlns:a="http://schemas.openxmlformats.org/drawingml/2006/main">
            <a:r>
              <a:t>Đầu ra/tác động: (giao nhận sạch, []) hoặc (None, các trường thiếu/sai).</a:t>
            </a:r>
          </a:p>
          <a:p xmlns:a="http://schemas.openxmlformats.org/drawingml/2006/main">
            <a:r>
              <a:t>Nguồn: backend/chat_service.py:102-117</a:t>
            </a:r>
          </a:p>
          <a:p xmlns:a="http://schemas.openxmlformats.org/drawingml/2006/main">
            <a:r>
              <a:t>Code đầy đủ:</a:t>
            </a:r>
          </a:p>
          <a:p xmlns:a="http://schemas.openxmlformats.org/drawingml/2006/main">
            <a:r>
              <a:t>def _shipping(customer):</a:t>
            </a:r>
          </a:p>
          <a:p xmlns:a="http://schemas.openxmlformats.org/drawingml/2006/main">
            <a:r>
              <a:t>    mapped = {"recipient_name": customer.get("name"), "phone": customer.get("phone"), "address": customer.get("address")}</a:t>
            </a:r>
          </a:p>
          <a:p xmlns:a="http://schemas.openxmlformats.org/drawingml/2006/main">
            <a:r>
              <a:t>    missing = [k for k, v in mapped.items() if not v]</a:t>
            </a:r>
          </a:p>
          <a:p xmlns:a="http://schemas.openxmlformats.org/drawingml/2006/main">
            <a:r>
              <a:t>    if missing:</a:t>
            </a:r>
          </a:p>
          <a:p xmlns:a="http://schemas.openxmlformats.org/drawingml/2006/main">
            <a:r>
              <a:t>        return None, missing</a:t>
            </a:r>
          </a:p>
          <a:p xmlns:a="http://schemas.openxmlformats.org/drawingml/2006/main">
            <a:r>
              <a:t>    try:</a:t>
            </a:r>
          </a:p>
          <a:p xmlns:a="http://schemas.openxmlformats.org/drawingml/2006/main">
            <a:r>
              <a:t>        shipping = Shipping.model_validate(mapped)</a:t>
            </a:r>
          </a:p>
          <a:p xmlns:a="http://schemas.openxmlformats.org/drawingml/2006/main">
            <a:r>
              <a:t>    except ValueError:</a:t>
            </a:r>
          </a:p>
          <a:p xmlns:a="http://schemas.openxmlformats.org/drawingml/2006/main">
            <a:r>
              <a:t>        return None, [k for k, v in mapped.items() if not v or (k == "address" and len(v) &lt; 10)] or ["recipient_name"]</a:t>
            </a:r>
          </a:p>
          <a:p xmlns:a="http://schemas.openxmlformats.org/drawingml/2006/main">
            <a:r>
              <a:t>    from database.shop_db.validation import validate_delivery</a:t>
            </a:r>
          </a:p>
          <a:p xmlns:a="http://schemas.openxmlformats.org/drawingml/2006/main">
            <a:r>
              <a:t>    try:</a:t>
            </a:r>
          </a:p>
          <a:p xmlns:a="http://schemas.openxmlformats.org/drawingml/2006/main">
            <a:r>
              <a:t>        clean = validate_delivery({"customer_name": shipping.recipient_name, "phone": shipping.phone,</a:t>
            </a:r>
          </a:p>
          <a:p xmlns:a="http://schemas.openxmlformats.org/drawingml/2006/main">
            <a:r>
              <a:t>                                   "address": shipping.address}, require_all=True)</a:t>
            </a:r>
          </a:p>
          <a:p xmlns:a="http://schemas.openxmlformats.org/drawingml/2006/main">
            <a:r>
              <a:t>    except DataServiceError as err:</a:t>
            </a:r>
          </a:p>
          <a:p xmlns:a="http://schemas.openxmlformats.org/drawingml/2006/main">
            <a:r>
              <a:t>        return None, ["recipient_name" if f == "customer_name" else f for f in err.details.get("errors", {})]</a:t>
            </a:r>
          </a:p>
          <a:p xmlns:a="http://schemas.openxmlformats.org/drawingml/2006/main">
            <a:r>
              <a:t>    return clean, []</a:t>
            </a:r>
          </a:p>
          <a:p xmlns:a="http://schemas.openxmlformats.org/drawingml/2006/main">
            <a:r>
              <a:t/>
            </a:r>
          </a:p>
          <a:p xmlns:a="http://schemas.openxmlformats.org/drawingml/2006/main">
            <a:r>
              <a:t>Nguồn code của bản chụp 22/10/2026:</a:t>
            </a:r>
          </a:p>
          <a:p xmlns:a="http://schemas.openxmlformats.org/drawingml/2006/main">
            <a:r>
              <a:t>backend/chat_service.py:77-98   /   backend/chat_service.py:102-117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_draft</a:t>
            </a:r>
          </a:p>
          <a:p xmlns:a="http://schemas.openxmlformats.org/drawingml/2006/main">
            <a:r>
              <a:t>Chức năng: Kiểm tra hàng, số lượng, giao nhận; hỏi phần còn thiếu hoặc tạo đơn nháp từ hội thoại.</a:t>
            </a:r>
          </a:p>
          <a:p xmlns:a="http://schemas.openxmlformats.org/drawingml/2006/main">
            <a:r>
              <a:t>Đầu vào: conn, ctx, session, slots, key</a:t>
            </a:r>
          </a:p>
          <a:p xmlns:a="http://schemas.openxmlformats.org/drawingml/2006/main">
            <a:r>
              <a:t>Đầu ra/tác động: ask_missing/purchase, out_of_stock hoặc draft_created/order.</a:t>
            </a:r>
          </a:p>
          <a:p xmlns:a="http://schemas.openxmlformats.org/drawingml/2006/main">
            <a:r>
              <a:t>Nguồn: backend/chat_service.py:121-156</a:t>
            </a:r>
          </a:p>
          <a:p xmlns:a="http://schemas.openxmlformats.org/drawingml/2006/main">
            <a:r>
              <a:t>Code đầy đủ:</a:t>
            </a:r>
          </a:p>
          <a:p xmlns:a="http://schemas.openxmlformats.org/drawingml/2006/main">
            <a:r>
              <a:t>def _draft(conn, ctx, session, slots, key):</a:t>
            </a:r>
          </a:p>
          <a:p xmlns:a="http://schemas.openxmlformats.org/drawingml/2006/main">
            <a:r>
              <a:t>    items = slots.get("items", [])</a:t>
            </a:r>
          </a:p>
          <a:p xmlns:a="http://schemas.openxmlformats.org/drawingml/2006/main">
            <a:r>
              <a:t>    if not items:</a:t>
            </a:r>
          </a:p>
          <a:p xmlns:a="http://schemas.openxmlformats.org/drawingml/2006/main">
            <a:r>
              <a:t>        return ask(["product", "quantity"])</a:t>
            </a:r>
          </a:p>
          <a:p xmlns:a="http://schemas.openxmlformats.org/drawingml/2006/main">
            <a:r>
              <a:t>    resolved, selected, missing = [], [], []</a:t>
            </a:r>
          </a:p>
          <a:p xmlns:a="http://schemas.openxmlformats.org/drawingml/2006/main">
            <a:r>
              <a:t>    for item in items:</a:t>
            </a:r>
          </a:p>
          <a:p xmlns:a="http://schemas.openxmlformats.org/drawingml/2006/main">
            <a:r>
              <a:t>        variant, problem = resolve_item(conn, item)</a:t>
            </a:r>
          </a:p>
          <a:p xmlns:a="http://schemas.openxmlformats.org/drawingml/2006/main">
            <a:r>
              <a:t>        if problem:</a:t>
            </a:r>
          </a:p>
          <a:p xmlns:a="http://schemas.openxmlformats.org/drawingml/2006/main">
            <a:r>
              <a:t>            return problem</a:t>
            </a:r>
          </a:p>
          <a:p xmlns:a="http://schemas.openxmlformats.org/drawingml/2006/main">
            <a:r>
              <a:t>        selected.append({"sku": variant["sku"], "name": variant["product_name"],</a:t>
            </a:r>
          </a:p>
          <a:p xmlns:a="http://schemas.openxmlformats.org/drawingml/2006/main">
            <a:r>
              <a:t>                         "variant_label": variant["variant_name"], "unit_price": variant["price"],</a:t>
            </a:r>
          </a:p>
          <a:p xmlns:a="http://schemas.openxmlformats.org/drawingml/2006/main">
            <a:r>
              <a:t>                         "stock": variant["stock"], "quantity": item.get("quantity")})</a:t>
            </a:r>
          </a:p>
          <a:p xmlns:a="http://schemas.openxmlformats.org/drawingml/2006/main">
            <a:r>
              <a:t>        if variant["stock"] &lt;= 0:</a:t>
            </a:r>
          </a:p>
          <a:p xmlns:a="http://schemas.openxmlformats.org/drawingml/2006/main">
            <a:r>
              <a:t>            return response(f"Không đủ hàng: {variant['sku']} còn 0. Vui lòng chọn biến thể khác.", "out_of_stock")</a:t>
            </a:r>
          </a:p>
          <a:p xmlns:a="http://schemas.openxmlformats.org/drawingml/2006/main">
            <a:r>
              <a:t>        if item.get("quantity") is None:</a:t>
            </a:r>
          </a:p>
          <a:p xmlns:a="http://schemas.openxmlformats.org/drawingml/2006/main">
            <a:r>
              <a:t>            missing.append("quantity")</a:t>
            </a:r>
          </a:p>
          <a:p xmlns:a="http://schemas.openxmlformats.org/drawingml/2006/main">
            <a:r>
              <a:t>            continue</a:t>
            </a:r>
          </a:p>
          <a:p xmlns:a="http://schemas.openxmlformats.org/drawingml/2006/main">
            <a:r>
              <a:t>        resolved.append({"sku": variant["sku"], "quantity": item["quantity"]})</a:t>
            </a:r>
          </a:p>
          <a:p xmlns:a="http://schemas.openxmlformats.org/drawingml/2006/main">
            <a:r>
              <a:t>    delivery, delivery_missing = _shipping(slots.get("customer", {}))</a:t>
            </a:r>
          </a:p>
          <a:p xmlns:a="http://schemas.openxmlformats.org/drawingml/2006/main">
            <a:r>
              <a:t>    missing.extend(delivery_missing)</a:t>
            </a:r>
          </a:p>
          <a:p xmlns:a="http://schemas.openxmlformats.org/drawingml/2006/main">
            <a:r>
              <a:t>    if missing:</a:t>
            </a:r>
          </a:p>
          <a:p xmlns:a="http://schemas.openxmlformats.org/drawingml/2006/main">
            <a:r>
              <a:t>        # Validate any explicit quantities even when another line is incomplete.</a:t>
            </a:r>
          </a:p>
          <a:p xmlns:a="http://schemas.openxmlformats.org/drawingml/2006/main">
            <a:r>
              <a:t>        stock = catalog.check_items(conn, resolved) if resolved else {"ok": True}</a:t>
            </a:r>
          </a:p>
          <a:p xmlns:a="http://schemas.openxmlformats.org/drawingml/2006/main">
            <a:r>
              <a:t>        if stock["ok"]:</a:t>
            </a:r>
          </a:p>
          <a:p xmlns:a="http://schemas.openxmlformats.org/drawingml/2006/main">
            <a:r>
              <a:t>            detail = "Đã chọn: " + "; ".join(f"{i['name']} — {i['variant_label']} ({i['unit_price']:,} VND/sản phẩm)" for i in selected) + "."</a:t>
            </a:r>
          </a:p>
          <a:p xmlns:a="http://schemas.openxmlformats.org/drawingml/2006/main">
            <a:r>
              <a:t>            result = ask(missing, detail)</a:t>
            </a:r>
          </a:p>
          <a:p xmlns:a="http://schemas.openxmlformats.org/drawingml/2006/main">
            <a:r>
              <a:t>            result["purchase"] = {"items": selected}</a:t>
            </a:r>
          </a:p>
          <a:p xmlns:a="http://schemas.openxmlformats.org/drawingml/2006/main">
            <a:r>
              <a:t>            return result</a:t>
            </a:r>
          </a:p>
          <a:p xmlns:a="http://schemas.openxmlformats.org/drawingml/2006/main">
            <a:r>
              <a:t>    resolved = [{"sku": s, "quantity": q} for s, q in normalize_items(resolved)]</a:t>
            </a:r>
          </a:p>
          <a:p xmlns:a="http://schemas.openxmlformats.org/drawingml/2006/main">
            <a:r>
              <a:t>    stock = catalog.check_items(conn, resolved)</a:t>
            </a:r>
          </a:p>
          <a:p xmlns:a="http://schemas.openxmlformats.org/drawingml/2006/main">
            <a:r>
              <a:t>    if not stock["ok"]:</a:t>
            </a:r>
          </a:p>
          <a:p xmlns:a="http://schemas.openxmlformats.org/drawingml/2006/main">
            <a:r>
              <a:t>        details = "; ".join(f"{r['sku']} còn {r['available']}, bạn yêu cầu {r['requested']}" for r in stock["results"] if not r["ok"])</a:t>
            </a:r>
          </a:p>
          <a:p xmlns:a="http://schemas.openxmlformats.org/drawingml/2006/main">
            <a:r>
              <a:t>        return response("Không đủ hàng: " + details + ". Vui lòng chọn lại số lượng hoặc biến thể.", "out_of_stock")</a:t>
            </a:r>
          </a:p>
          <a:p xmlns:a="http://schemas.openxmlformats.org/drawingml/2006/main">
            <a:r>
              <a:t>    order = orders.create_draft_order(conn, ctx, session["owner_id"], resolved, delivery, source="chat", idempotency_key=key)</a:t>
            </a:r>
          </a:p>
          <a:p xmlns:a="http://schemas.openxmlformats.org/drawingml/2006/main">
            <a:r>
              <a:t>    return response("Đã tạo đơn nháp. Bạn có thể xem và sửa ở trang Đơn hàng; đơn đang chờ xác nhận.",</a:t>
            </a:r>
          </a:p>
          <a:p xmlns:a="http://schemas.openxmlformats.org/drawingml/2006/main">
            <a:r>
              <a:t>                    "draft_created", order=order_view(conn, order))</a:t>
            </a:r>
          </a:p>
          <a:p xmlns:a="http://schemas.openxmlformats.org/drawingml/2006/main">
            <a:r>
              <a:t/>
            </a:r>
          </a:p>
          <a:p xmlns:a="http://schemas.openxmlformats.org/drawingml/2006/main">
            <a:r>
              <a:t>_query</a:t>
            </a:r>
          </a:p>
          <a:p xmlns:a="http://schemas.openxmlformats.org/drawingml/2006/main">
            <a:r>
              <a:t>Chức năng: Yêu cầu tên sản phẩm nếu chưa rõ, rồi trả thông tin catalog, giá hoặc tồn kho từ database.</a:t>
            </a:r>
          </a:p>
          <a:p xmlns:a="http://schemas.openxmlformats.org/drawingml/2006/main">
            <a:r>
              <a:t>Đầu vào: conn, items, intent, filters</a:t>
            </a:r>
          </a:p>
          <a:p xmlns:a="http://schemas.openxmlformats.org/drawingml/2006/main">
            <a:r>
              <a:t>Đầu ra/tác động: Câu hỏi tên hàng hoặc kết quả giá/tồn/catalog từ DB.</a:t>
            </a:r>
          </a:p>
          <a:p xmlns:a="http://schemas.openxmlformats.org/drawingml/2006/main">
            <a:r>
              <a:t>Nguồn: backend/chat_service.py:160-163</a:t>
            </a:r>
          </a:p>
          <a:p xmlns:a="http://schemas.openxmlformats.org/drawingml/2006/main">
            <a:r>
              <a:t>Code đầy đủ:</a:t>
            </a:r>
          </a:p>
          <a:p xmlns:a="http://schemas.openxmlformats.org/drawingml/2006/main">
            <a:r>
              <a:t>def _query(conn, items, intent, filters):</a:t>
            </a:r>
          </a:p>
          <a:p xmlns:a="http://schemas.openxmlformats.org/drawingml/2006/main">
            <a:r>
              <a:t>    if not items or any(not i.get("requested_product") and not i.get("sku") for i in items):</a:t>
            </a:r>
          </a:p>
          <a:p xmlns:a="http://schemas.openxmlformats.org/drawingml/2006/main">
            <a:r>
              <a:t>        return ask(["product"])</a:t>
            </a:r>
          </a:p>
          <a:p xmlns:a="http://schemas.openxmlformats.org/drawingml/2006/main">
            <a:r>
              <a:t>    return catalog_reply(conn, items, filters, intent)</a:t>
            </a:r>
          </a:p>
          <a:p xmlns:a="http://schemas.openxmlformats.org/drawingml/2006/main">
            <a:r>
              <a:t/>
            </a:r>
          </a:p>
          <a:p xmlns:a="http://schemas.openxmlformats.org/drawingml/2006/main">
            <a:r>
              <a:t>Nguồn code của bản chụp 22/10/2026:</a:t>
            </a:r>
          </a:p>
          <a:p xmlns:a="http://schemas.openxmlformats.org/drawingml/2006/main">
            <a:r>
              <a:t>backend/chat_service.py:121-156   /   backend/chat_service.py:160-163</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_update</a:t>
            </a:r>
          </a:p>
          <a:p xmlns:a="http://schemas.openxmlformats.org/drawingml/2006/main">
            <a:r>
              <a:t>Chức năng: Xác định đúng đơn/dòng hàng được phép sửa và cập nhật số lượng hoặc biến thể theo yêu cầu.</a:t>
            </a:r>
          </a:p>
          <a:p xmlns:a="http://schemas.openxmlformats.org/drawingml/2006/main">
            <a:r>
              <a:t>Đầu vào: conn, ctx, session, slots</a:t>
            </a:r>
          </a:p>
          <a:p xmlns:a="http://schemas.openxmlformats.org/drawingml/2006/main">
            <a:r>
              <a:t>Đầu ra/tác động: order_updated hoặc câu hỏi làm rõ đích sửa.</a:t>
            </a:r>
          </a:p>
          <a:p xmlns:a="http://schemas.openxmlformats.org/drawingml/2006/main">
            <a:r>
              <a:t>Nguồn: backend/chat_service.py:167-206</a:t>
            </a:r>
          </a:p>
          <a:p xmlns:a="http://schemas.openxmlformats.org/drawingml/2006/main">
            <a:r>
              <a:t>Code đầy đủ:</a:t>
            </a:r>
          </a:p>
          <a:p xmlns:a="http://schemas.openxmlformats.org/drawingml/2006/main">
            <a:r>
              <a:t>def _update(conn, ctx, session, slots):</a:t>
            </a:r>
          </a:p>
          <a:p xmlns:a="http://schemas.openxmlformats.org/drawingml/2006/main">
            <a:r>
              <a:t>    reference = slots.get("order_reference")</a:t>
            </a:r>
          </a:p>
          <a:p xmlns:a="http://schemas.openxmlformats.org/drawingml/2006/main">
            <a:r>
              <a:t>    if reference:</a:t>
            </a:r>
          </a:p>
          <a:p xmlns:a="http://schemas.openxmlformats.org/drawingml/2006/main">
            <a:r>
              <a:t>        order = owned_order(conn, session["owner_id"], order_number(reference))</a:t>
            </a:r>
          </a:p>
          <a:p xmlns:a="http://schemas.openxmlformats.org/drawingml/2006/main">
            <a:r>
              <a:t>    else:</a:t>
            </a:r>
          </a:p>
          <a:p xmlns:a="http://schemas.openxmlformats.org/drawingml/2006/main">
            <a:r>
              <a:t>        candidates = orders.list_orders(conn, session["owner_id"], statuses=["pending_confirmation"], limit=2)</a:t>
            </a:r>
          </a:p>
          <a:p xmlns:a="http://schemas.openxmlformats.org/drawingml/2006/main">
            <a:r>
              <a:t>        if len(candidates) != 1:</a:t>
            </a:r>
          </a:p>
          <a:p xmlns:a="http://schemas.openxmlformats.org/drawingml/2006/main">
            <a:r>
              <a:t>            return ask(["order_reference"], "Chưa xác định được duy nhất một đơn nháp trong phiên.")</a:t>
            </a:r>
          </a:p>
          <a:p xmlns:a="http://schemas.openxmlformats.org/drawingml/2006/main">
            <a:r>
              <a:t>        order = candidates[0]</a:t>
            </a:r>
          </a:p>
          <a:p xmlns:a="http://schemas.openxmlformats.org/drawingml/2006/main">
            <a:r>
              <a:t>    changes = slots.get("items", [])</a:t>
            </a:r>
          </a:p>
          <a:p xmlns:a="http://schemas.openxmlformats.org/drawingml/2006/main">
            <a:r>
              <a:t>    if len(changes) != 1:</a:t>
            </a:r>
          </a:p>
          <a:p xmlns:a="http://schemas.openxmlformats.org/drawingml/2006/main">
            <a:r>
              <a:t>        return ask(["product", "quantity"], "Mỗi lượt sửa một dòng sản phẩm để tránh nhầm đơn.")</a:t>
            </a:r>
          </a:p>
          <a:p xmlns:a="http://schemas.openxmlformats.org/drawingml/2006/main">
            <a:r>
              <a:t>    item = changes[0]</a:t>
            </a:r>
          </a:p>
          <a:p xmlns:a="http://schemas.openxmlformats.org/drawingml/2006/main">
            <a:r>
              <a:t>    if item.get("quantity") is None and not any(item["variant"].values()) and not item.get("sku"):</a:t>
            </a:r>
          </a:p>
          <a:p xmlns:a="http://schemas.openxmlformats.org/drawingml/2006/main">
            <a:r>
              <a:t>        return ask(["quantity", "variant"])</a:t>
            </a:r>
          </a:p>
          <a:p xmlns:a="http://schemas.openxmlformats.org/drawingml/2006/main">
            <a:r>
              <a:t>    lines = order_view(conn, order)["items"]</a:t>
            </a:r>
          </a:p>
          <a:p xmlns:a="http://schemas.openxmlformats.org/drawingml/2006/main">
            <a:r>
              <a:t>    target_variant = None</a:t>
            </a:r>
          </a:p>
          <a:p xmlns:a="http://schemas.openxmlformats.org/drawingml/2006/main">
            <a:r>
              <a:t>    if item.get("sku") or item.get("requested_product"):</a:t>
            </a:r>
          </a:p>
          <a:p xmlns:a="http://schemas.openxmlformats.org/drawingml/2006/main">
            <a:r>
              <a:t>        target_variant, problem = resolve_item(conn, item)</a:t>
            </a:r>
          </a:p>
          <a:p xmlns:a="http://schemas.openxmlformats.org/drawingml/2006/main">
            <a:r>
              <a:t>        if problem:</a:t>
            </a:r>
          </a:p>
          <a:p xmlns:a="http://schemas.openxmlformats.org/drawingml/2006/main">
            <a:r>
              <a:t>            return problem</a:t>
            </a:r>
          </a:p>
          <a:p xmlns:a="http://schemas.openxmlformats.org/drawingml/2006/main">
            <a:r>
              <a:t>        lines = [line for line in lines if catalog.get_variant(conn, line["sku"])["product_id"] == target_variant["product_id"]]</a:t>
            </a:r>
          </a:p>
          <a:p xmlns:a="http://schemas.openxmlformats.org/drawingml/2006/main">
            <a:r>
              <a:t>    if len(lines) != 1:</a:t>
            </a:r>
          </a:p>
          <a:p xmlns:a="http://schemas.openxmlformats.org/drawingml/2006/main">
            <a:r>
              <a:t>        return ask(["product"], "Đơn có nhiều dòng hoặc chưa xác định được dòng cần sửa. Hãy nêu SKU hiện tại hoặc sửa trên web.")</a:t>
            </a:r>
          </a:p>
          <a:p xmlns:a="http://schemas.openxmlformats.org/drawingml/2006/main">
            <a:r>
              <a:t>    line = lines[0]</a:t>
            </a:r>
          </a:p>
          <a:p xmlns:a="http://schemas.openxmlformats.org/drawingml/2006/main">
            <a:r>
              <a:t>    updates = {}</a:t>
            </a:r>
          </a:p>
          <a:p xmlns:a="http://schemas.openxmlformats.org/drawingml/2006/main">
            <a:r>
              <a:t>    if target_variant:</a:t>
            </a:r>
          </a:p>
          <a:p xmlns:a="http://schemas.openxmlformats.org/drawingml/2006/main">
            <a:r>
              <a:t>        updates["sku"] = target_variant["sku"]</a:t>
            </a:r>
          </a:p>
          <a:p xmlns:a="http://schemas.openxmlformats.org/drawingml/2006/main">
            <a:r>
              <a:t>    elif any(item["variant"].values()):</a:t>
            </a:r>
          </a:p>
          <a:p xmlns:a="http://schemas.openxmlformats.org/drawingml/2006/main">
            <a:r>
              <a:t>        current = catalog.get_variant(conn, line["sku"])</a:t>
            </a:r>
          </a:p>
          <a:p xmlns:a="http://schemas.openxmlformats.org/drawingml/2006/main">
            <a:r>
              <a:t>        desired = {"requested_product": current["product_name"], "sku": None,</a:t>
            </a:r>
          </a:p>
          <a:p xmlns:a="http://schemas.openxmlformats.org/drawingml/2006/main">
            <a:r>
              <a:t>                   "variant": {k: item["variant"].get(k) or current[k] for k in ("color", "size")}}</a:t>
            </a:r>
          </a:p>
          <a:p xmlns:a="http://schemas.openxmlformats.org/drawingml/2006/main">
            <a:r>
              <a:t>        target_variant, problem = resolve_item(conn, desired)</a:t>
            </a:r>
          </a:p>
          <a:p xmlns:a="http://schemas.openxmlformats.org/drawingml/2006/main">
            <a:r>
              <a:t>        if problem:</a:t>
            </a:r>
          </a:p>
          <a:p xmlns:a="http://schemas.openxmlformats.org/drawingml/2006/main">
            <a:r>
              <a:t>            return problem</a:t>
            </a:r>
          </a:p>
          <a:p xmlns:a="http://schemas.openxmlformats.org/drawingml/2006/main">
            <a:r>
              <a:t>        updates["sku"] = target_variant["sku"]</a:t>
            </a:r>
          </a:p>
          <a:p xmlns:a="http://schemas.openxmlformats.org/drawingml/2006/main">
            <a:r>
              <a:t>    if item.get("quantity") is not None:</a:t>
            </a:r>
          </a:p>
          <a:p xmlns:a="http://schemas.openxmlformats.org/drawingml/2006/main">
            <a:r>
              <a:t>        updates["quantity"] = item["quantity"]</a:t>
            </a:r>
          </a:p>
          <a:p xmlns:a="http://schemas.openxmlformats.org/drawingml/2006/main">
            <a:r>
              <a:t>    updated = update_item(conn, ctx, session["owner_id"], order["id"], line["item_id"], updates)</a:t>
            </a:r>
          </a:p>
          <a:p xmlns:a="http://schemas.openxmlformats.org/drawingml/2006/main">
            <a:r>
              <a:t>    return response("Đã cập nhật đơn nháp và kiểm tra lại tồn kho.", "order_updated", order=order_view(conn, updated))</a:t>
            </a:r>
          </a:p>
          <a:p xmlns:a="http://schemas.openxmlformats.org/drawingml/2006/main">
            <a:r>
              <a:t/>
            </a:r>
          </a:p>
          <a:p xmlns:a="http://schemas.openxmlformats.org/drawingml/2006/main">
            <a:r>
              <a:t>chat</a:t>
            </a:r>
          </a:p>
          <a:p xmlns:a="http://schemas.openxmlformats.org/drawingml/2006/main">
            <a:r>
              <a:t>Chức năng: Điều phối toàn bộ lượt chat: chống gửi trùng, gọi LLM, kiểm tra dữ liệu, xử lý đơn và ghi audit.</a:t>
            </a:r>
          </a:p>
          <a:p xmlns:a="http://schemas.openxmlformats.org/drawingml/2006/main">
            <a:r>
              <a:t>Đầu vào: conn, ctx, session, message, client, key</a:t>
            </a:r>
          </a:p>
          <a:p xmlns:a="http://schemas.openxmlformats.org/drawingml/2006/main">
            <a:r>
              <a:t>Đầu ra/tác động: Response chat, cập nhật context, receipt và audit trong DB.</a:t>
            </a:r>
          </a:p>
          <a:p xmlns:a="http://schemas.openxmlformats.org/drawingml/2006/main">
            <a:r>
              <a:t>Nguồn: backend/chat_service.py:210-320</a:t>
            </a:r>
          </a:p>
          <a:p xmlns:a="http://schemas.openxmlformats.org/drawingml/2006/main">
            <a:r>
              <a:t>Code đầy đủ:</a:t>
            </a:r>
          </a:p>
          <a:p xmlns:a="http://schemas.openxmlformats.org/drawingml/2006/main">
            <a:r>
              <a:t>def chat(conn, ctx, session, message, client, key):</a:t>
            </a:r>
          </a:p>
          <a:p xmlns:a="http://schemas.openxmlformats.org/drawingml/2006/main">
            <a:r>
              <a:t>    start = time.monotonic()</a:t>
            </a:r>
          </a:p>
          <a:p xmlns:a="http://schemas.openxmlformats.org/drawingml/2006/main">
            <a:r>
              <a:t>    owner, cid = session["owner_id"], session["conversation_id"]</a:t>
            </a:r>
          </a:p>
          <a:p xmlns:a="http://schemas.openxmlformats.org/drawingml/2006/main">
            <a:r>
              <a:t>    cached = replay(conn, owner, "chat", key, message)</a:t>
            </a:r>
          </a:p>
          <a:p xmlns:a="http://schemas.openxmlformats.org/drawingml/2006/main">
            <a:r>
              <a:t>    if cached:</a:t>
            </a:r>
          </a:p>
          <a:p xmlns:a="http://schemas.openxmlformats.org/drawingml/2006/main">
            <a:r>
              <a:t>        return cached</a:t>
            </a:r>
          </a:p>
          <a:p xmlns:a="http://schemas.openxmlformats.org/drawingml/2006/main">
            <a:r>
              <a:t>    conv = conversations.get_conversation(conn, cid)</a:t>
            </a:r>
          </a:p>
          <a:p xmlns:a="http://schemas.openxmlformats.org/drawingml/2006/main">
            <a:r>
              <a:t>    if conv["owner_id"] != owner:</a:t>
            </a:r>
          </a:p>
          <a:p xmlns:a="http://schemas.openxmlformats.org/drawingml/2006/main">
            <a:r>
              <a:t>        raise ApiProblem(404, "not_found", "Không tìm thấy hội thoại trong phiên.")</a:t>
            </a:r>
          </a:p>
          <a:p xmlns:a="http://schemas.openxmlformats.org/drawingml/2006/main">
            <a:r>
              <a:t>    revision = conn.execute("SELECT COALESCE(MAX(id),0) FROM conversation_messages WHERE conversation_id=?", (cid,)).fetchone()[0]</a:t>
            </a:r>
          </a:p>
          <a:p xmlns:a="http://schemas.openxmlformats.org/drawingml/2006/main">
            <a:r>
              <a:t>    result, data, llm = None, None, None</a:t>
            </a:r>
          </a:p>
          <a:p xmlns:a="http://schemas.openxmlformats.org/drawingml/2006/main">
            <a:r>
              <a:t>    meta = {"timestamp": datetime.now(timezone.utc).isoformat(), "request_id": ctx.request_id,</a:t>
            </a:r>
          </a:p>
          <a:p xmlns:a="http://schemas.openxmlformats.org/drawingml/2006/main">
            <a:r>
              <a:t>            "model_id": client.model_id, "prompt_template_version": PROMPT_VERSION,</a:t>
            </a:r>
          </a:p>
          <a:p xmlns:a="http://schemas.openxmlformats.org/drawingml/2006/main">
            <a:r>
              <a:t>            "intent": None, "validation_status": "passed", "input_tokens": None,</a:t>
            </a:r>
          </a:p>
          <a:p xmlns:a="http://schemas.openxmlformats.org/drawingml/2006/main">
            <a:r>
              <a:t>            "output_tokens": None, "retry_count": 0, "error_type": None,</a:t>
            </a:r>
          </a:p>
          <a:p xmlns:a="http://schemas.openxmlformats.org/drawingml/2006/main">
            <a:r>
              <a:t>            "interpretation_source": "gemini" if client.model_id.startswith("gemini-") else "fake"}</a:t>
            </a:r>
          </a:p>
          <a:p xmlns:a="http://schemas.openxmlformats.org/drawingml/2006/main">
            <a:r>
              <a:t>    if UNSAFE.search(normalize(message)):</a:t>
            </a:r>
          </a:p>
          <a:p xmlns:a="http://schemas.openxmlformats.org/drawingml/2006/main">
            <a:r>
              <a:t>        result = response("Yêu cầu này cần nhân viên xem lại. Hệ thống chưa thay đổi đơn hàng.", "handoff")</a:t>
            </a:r>
          </a:p>
          <a:p xmlns:a="http://schemas.openxmlformats.org/drawingml/2006/main">
            <a:r>
              <a:t>        meta.update(intent="unknown_or_handoff", model_id="local-policy", interpretation_source="local_policy")</a:t>
            </a:r>
          </a:p>
          <a:p xmlns:a="http://schemas.openxmlformats.org/drawingml/2006/main">
            <a:r>
              <a:t>    elif (local := local_catalog_request(message)) is not None:</a:t>
            </a:r>
          </a:p>
          <a:p xmlns:a="http://schemas.openxmlformats.org/drawingml/2006/main">
            <a:r>
              <a:t>        data = local</a:t>
            </a:r>
          </a:p>
          <a:p xmlns:a="http://schemas.openxmlformats.org/drawingml/2006/main">
            <a:r>
              <a:t>        meta.update(intent=data.intent, model_id="local-catalog", interpretation_source="local_catalog")</a:t>
            </a:r>
          </a:p>
          <a:p xmlns:a="http://schemas.openxmlformats.org/drawingml/2006/main">
            <a:r>
              <a:t>    else:</a:t>
            </a:r>
          </a:p>
          <a:p xmlns:a="http://schemas.openxmlformats.org/drawingml/2006/main">
            <a:r>
              <a:t>        try:</a:t>
            </a:r>
          </a:p>
          <a:p xmlns:a="http://schemas.openxmlformats.org/drawingml/2006/main">
            <a:r>
              <a:t>            context = {**conv["context"], "pending_intent": conv["pending_intent"]}</a:t>
            </a:r>
          </a:p>
          <a:p xmlns:a="http://schemas.openxmlformats.org/drawingml/2006/main">
            <a:r>
              <a:t>            context["recent_products"] = [{"name": p["name"], "category": p["category"]}</a:t>
            </a:r>
          </a:p>
          <a:p xmlns:a="http://schemas.openxmlformats.org/drawingml/2006/main">
            <a:r>
              <a:t>                                          for p in (catalog.get_product(conn, pid) for pid in context.get("catalog_product_ids", [])[:8])]</a:t>
            </a:r>
          </a:p>
          <a:p xmlns:a="http://schemas.openxmlformats.org/drawingml/2006/main">
            <a:r>
              <a:t>            llm = client.generate(message, _catalog_context(conn, message, context), context)</a:t>
            </a:r>
          </a:p>
          <a:p xmlns:a="http://schemas.openxmlformats.org/drawingml/2006/main">
            <a:r>
              <a:t>            meta.update(input_tokens=llm.input_tokens, output_tokens=llm.output_tokens, retry_count=llm.retry_count)</a:t>
            </a:r>
          </a:p>
          <a:p xmlns:a="http://schemas.openxmlformats.org/drawingml/2006/main">
            <a:r>
              <a:t>            parsed = parse_output(llm.text)</a:t>
            </a:r>
          </a:p>
          <a:p xmlns:a="http://schemas.openxmlformats.org/drawingml/2006/main">
            <a:r>
              <a:t>            quantities = [item.quantity for item in parsed.items]</a:t>
            </a:r>
          </a:p>
          <a:p xmlns:a="http://schemas.openxmlformats.org/drawingml/2006/main">
            <a:r>
              <a:t>            data = validate_grounding(discard_implicit_quantities(parsed, message), message)</a:t>
            </a:r>
          </a:p>
          <a:p xmlns:a="http://schemas.openxmlformats.org/drawingml/2006/main">
            <a:r>
              <a:t>            meta["discarded_implicit_quantity"] = quantities != [item.quantity for item in data.items]</a:t>
            </a:r>
          </a:p>
          <a:p xmlns:a="http://schemas.openxmlformats.org/drawingml/2006/main">
            <a:r>
              <a:t>            meta["intent"] = data.intent</a:t>
            </a:r>
          </a:p>
          <a:p xmlns:a="http://schemas.openxmlformats.org/drawingml/2006/main">
            <a:r>
              <a:t>        except (OutputError, LLMError) as err:</a:t>
            </a:r>
          </a:p>
          <a:p xmlns:a="http://schemas.openxmlformats.org/drawingml/2006/main">
            <a:r>
              <a:t>            meta.update(validation_status="failed", error_type=err.code, retry_count=getattr(err, "retry_count", 0))</a:t>
            </a:r>
          </a:p>
          <a:p xmlns:a="http://schemas.openxmlformats.org/drawingml/2006/main">
            <a:r>
              <a:t>            if err.code == "llm_daily_limit":</a:t>
            </a:r>
          </a:p>
          <a:p xmlns:a="http://schemas.openxmlformats.org/drawingml/2006/main">
            <a:r>
              <a:t>                explanation = "Đã chạm giới hạn gọi AI theo ngày của ứng dụng. Bạn vẫn có thể xem sản phẩm trên web hoặc hỏi cửa hàng bán những gì."</a:t>
            </a:r>
          </a:p>
          <a:p xmlns:a="http://schemas.openxmlformats.org/drawingml/2006/main">
            <a:r>
              <a:t>            elif err.code == "llm_rate_limit":</a:t>
            </a:r>
          </a:p>
          <a:p xmlns:a="http://schemas.openxmlformats.org/drawingml/2006/main">
            <a:r>
              <a:t>                explanation = "Dịch vụ AI đang giới hạn lượt yêu cầu. Vui lòng đợi khoảng một phút rồi gửi lại."</a:t>
            </a:r>
          </a:p>
          <a:p xmlns:a="http://schemas.openxmlformats.org/drawingml/2006/main">
            <a:r>
              <a:t>            elif err.code == "llm_timeout":</a:t>
            </a:r>
          </a:p>
          <a:p xmlns:a="http://schemas.openxmlformats.org/drawingml/2006/main">
            <a:r>
              <a:t>                explanation = "Dịch vụ AI phản hồi quá chậm. Vui lòng thử lại sau ít phút."</a:t>
            </a:r>
          </a:p>
          <a:p xmlns:a="http://schemas.openxmlformats.org/drawingml/2006/main">
            <a:r>
              <a:t>            else:</a:t>
            </a:r>
          </a:p>
          <a:p xmlns:a="http://schemas.openxmlformats.org/drawingml/2006/main">
            <a:r>
              <a:t>                explanation = "Chưa xử lý được tin nhắn do lỗi dịch vụ AI hoặc dữ liệu trả về không hợp lệ. Vui lòng thử lại."</a:t>
            </a:r>
          </a:p>
          <a:p xmlns:a="http://schemas.openxmlformats.org/drawingml/2006/main">
            <a:r>
              <a:t>            result = response(explanation + " Đơn hàng chưa thay đổi.", "failed_validation", error_type=err.code)</a:t>
            </a:r>
          </a:p>
          <a:p xmlns:a="http://schemas.openxmlformats.org/drawingml/2006/main">
            <a:r>
              <a:t>    with transaction(conn):</a:t>
            </a:r>
          </a:p>
          <a:p xmlns:a="http://schemas.openxmlformats.org/drawingml/2006/main">
            <a:r>
              <a:t>        active = conn.execute("SELECT 1 FROM api_sessions WHERE token_hash=? AND expires_at&gt;?",</a:t>
            </a:r>
          </a:p>
          <a:p xmlns:a="http://schemas.openxmlformats.org/drawingml/2006/main">
            <a:r>
              <a:t>                              (session["token_hash"], int(time.time()))).fetchone()</a:t>
            </a:r>
          </a:p>
          <a:p xmlns:a="http://schemas.openxmlformats.org/drawingml/2006/main">
            <a:r>
              <a:t>        if active is None:</a:t>
            </a:r>
          </a:p>
          <a:p xmlns:a="http://schemas.openxmlformats.org/drawingml/2006/main">
            <a:r>
              <a:t>            raise ApiProblem(401, "auth", "Phiên đã hết hạn hoặc bị thu hồi trong lúc xử lý. Vui lòng mở phiên mới.")</a:t>
            </a:r>
          </a:p>
          <a:p xmlns:a="http://schemas.openxmlformats.org/drawingml/2006/main">
            <a:r>
              <a:t>        cached = replay(conn, owner, "chat", key, message)</a:t>
            </a:r>
          </a:p>
          <a:p xmlns:a="http://schemas.openxmlformats.org/drawingml/2006/main">
            <a:r>
              <a:t>        if cached:</a:t>
            </a:r>
          </a:p>
          <a:p xmlns:a="http://schemas.openxmlformats.org/drawingml/2006/main">
            <a:r>
              <a:t>            return cached</a:t>
            </a:r>
          </a:p>
          <a:p xmlns:a="http://schemas.openxmlformats.org/drawingml/2006/main">
            <a:r>
              <a:t>        latest = conn.execute("SELECT COALESCE(MAX(id),0) FROM conversation_messages WHERE conversation_id=?", (cid,)).fetchone()[0]</a:t>
            </a:r>
          </a:p>
          <a:p xmlns:a="http://schemas.openxmlformats.org/drawingml/2006/main">
            <a:r>
              <a:t>        if revision != latest:</a:t>
            </a:r>
          </a:p>
          <a:p xmlns:a="http://schemas.openxmlformats.org/drawingml/2006/main">
            <a:r>
              <a:t>            raise ApiProblem(409, "conversation_busy", "Hội thoại vừa thay đổi. Vui lòng gửi lại sau khi tin trước xử lý xong.")</a:t>
            </a:r>
          </a:p>
          <a:p xmlns:a="http://schemas.openxmlformats.org/drawingml/2006/main">
            <a:r>
              <a:t>        slots = conv["context"]</a:t>
            </a:r>
          </a:p>
          <a:p xmlns:a="http://schemas.openxmlformats.org/drawingml/2006/main">
            <a:r>
              <a:t>        if data:</a:t>
            </a:r>
          </a:p>
          <a:p xmlns:a="http://schemas.openxmlformats.org/drawingml/2006/main">
            <a:r>
              <a:t>            if data.requires_human_review or data.confidence == "low" or data.intent == "unknown_or_handoff":</a:t>
            </a:r>
          </a:p>
          <a:p xmlns:a="http://schemas.openxmlformats.org/drawingml/2006/main">
            <a:r>
              <a:t>                result = response("Chưa đủ căn cứ xử lý tự động. Vui lòng nêu sản phẩm và yêu cầu cụ thể hoặc nhờ nhân viên hỗ trợ.", "handoff")</a:t>
            </a:r>
          </a:p>
          <a:p xmlns:a="http://schemas.openxmlformats.org/drawingml/2006/main">
            <a:r>
              <a:t>            else:</a:t>
            </a:r>
          </a:p>
          <a:p xmlns:a="http://schemas.openxmlformats.org/drawingml/2006/main">
            <a:r>
              <a:t>                continuing = data.intent == conv["pending_intent"]</a:t>
            </a:r>
          </a:p>
          <a:p xmlns:a="http://schemas.openxmlformats.org/drawingml/2006/main">
            <a:r>
              <a:t>                previous = slots if continuing else {}</a:t>
            </a:r>
          </a:p>
          <a:p xmlns:a="http://schemas.openxmlformats.org/drawingml/2006/main">
            <a:r>
              <a:t>                incoming = [i.model_dump() for i in data.items]</a:t>
            </a:r>
          </a:p>
          <a:p xmlns:a="http://schemas.openxmlformats.org/drawingml/2006/main">
            <a:r>
              <a:t>                if data.intent in {"create_order", "browse_catalog", "check_price", "check_stock"}:</a:t>
            </a:r>
          </a:p>
          <a:p xmlns:a="http://schemas.openxmlformats.org/drawingml/2006/main">
            <a:r>
              <a:t>                    if not incoming and data.intent in {"check_price", "check_stock"}:</a:t>
            </a:r>
          </a:p>
          <a:p xmlns:a="http://schemas.openxmlformats.org/drawingml/2006/main">
            <a:r>
              <a:t>                        incoming = [{"requested_product": None, "sku": None, "variant": {"color": None, "size": None}, "quantity": None}]</a:t>
            </a:r>
          </a:p>
          <a:p xmlns:a="http://schemas.openxmlformats.org/drawingml/2006/main">
            <a:r>
              <a:t>                    incoming = resolve_reference(conn, incoming, conv["context"], message)</a:t>
            </a:r>
          </a:p>
          <a:p xmlns:a="http://schemas.openxmlformats.org/drawingml/2006/main">
            <a:r>
              <a:t>                slots = {"items": _merge_items(previous.get("items", []), incoming),</a:t>
            </a:r>
          </a:p>
          <a:p xmlns:a="http://schemas.openxmlformats.org/drawingml/2006/main">
            <a:r>
              <a:t>                         "customer": {**previous.get("customer", {}), **{k: v for k, v in data.customer.model_dump().items() if v is not None}},</a:t>
            </a:r>
          </a:p>
          <a:p xmlns:a="http://schemas.openxmlformats.org/drawingml/2006/main">
            <a:r>
              <a:t>                         "order_reference": data.order_reference or previous.get("order_reference")}</a:t>
            </a:r>
          </a:p>
          <a:p xmlns:a="http://schemas.openxmlformats.org/drawingml/2006/main">
            <a:r>
              <a:t>                if data.intent in {"check_price", "check_stock"} and not any(i.get("requested_product") or i.get("sku") for i in incoming):</a:t>
            </a:r>
          </a:p>
          <a:p xmlns:a="http://schemas.openxmlformats.org/drawingml/2006/main">
            <a:r>
              <a:t>                    slots["items"] = _merge_items(conv["context"].get("items", []), incoming)</a:t>
            </a:r>
          </a:p>
          <a:p xmlns:a="http://schemas.openxmlformats.org/drawingml/2006/main">
            <a:r>
              <a:t>                if data.intent == "browse_catalog":</a:t>
            </a:r>
          </a:p>
          <a:p xmlns:a="http://schemas.openxmlformats.org/drawingml/2006/main">
            <a:r>
              <a:t>                    result = catalog_reply(conn, incoming, data.catalog_filters, data.intent)</a:t>
            </a:r>
          </a:p>
          <a:p xmlns:a="http://schemas.openxmlformats.org/drawingml/2006/main">
            <a:r>
              <a:t>                elif data.intent == "create_order":</a:t>
            </a:r>
          </a:p>
          <a:p xmlns:a="http://schemas.openxmlformats.org/drawingml/2006/main">
            <a:r>
              <a:t>                    result = _draft(conn, ctx, session, slots, key)</a:t>
            </a:r>
          </a:p>
          <a:p xmlns:a="http://schemas.openxmlformats.org/drawingml/2006/main">
            <a:r>
              <a:t>                elif data.intent == "update_order":</a:t>
            </a:r>
          </a:p>
          <a:p xmlns:a="http://schemas.openxmlformats.org/drawingml/2006/main">
            <a:r>
              <a:t>                    result = _update(conn, ctx, session, slots)</a:t>
            </a:r>
          </a:p>
          <a:p xmlns:a="http://schemas.openxmlformats.org/drawingml/2006/main">
            <a:r>
              <a:t>                else:</a:t>
            </a:r>
          </a:p>
          <a:p xmlns:a="http://schemas.openxmlformats.org/drawingml/2006/main">
            <a:r>
              <a:t>                    result = _query(conn, slots["items"], data.intent, data.catalog_filters)</a:t>
            </a:r>
          </a:p>
          <a:p xmlns:a="http://schemas.openxmlformats.org/drawingml/2006/main">
            <a:r>
              <a:t>                if data.intent in READ_INTENTS:</a:t>
            </a:r>
          </a:p>
          <a:p xmlns:a="http://schemas.openxmlformats.org/drawingml/2006/main">
            <a:r>
              <a:t>                    saved = browsing_context(result) if "products" in result else {}</a:t>
            </a:r>
          </a:p>
          <a:p xmlns:a="http://schemas.openxmlformats.org/drawingml/2006/main">
            <a:r>
              <a:t>                    if conv["pending_intent"] in {"create_order", "update_order"}:</a:t>
            </a:r>
          </a:p>
          <a:p xmlns:a="http://schemas.openxmlformats.org/drawingml/2006/main">
            <a:r>
              <a:t>                        slots = {**conv["context"], **saved}</a:t>
            </a:r>
          </a:p>
          <a:p xmlns:a="http://schemas.openxmlformats.org/drawingml/2006/main">
            <a:r>
              <a:t>                    else:</a:t>
            </a:r>
          </a:p>
          <a:p xmlns:a="http://schemas.openxmlformats.org/drawingml/2006/main">
            <a:r>
              <a:t>                        slots = {**conv["context"], **slots, **saved}</a:t>
            </a:r>
          </a:p>
          <a:p xmlns:a="http://schemas.openxmlformats.org/drawingml/2006/main">
            <a:r>
              <a:t>        route = result["route"]</a:t>
            </a:r>
          </a:p>
          <a:p xmlns:a="http://schemas.openxmlformats.org/drawingml/2006/main">
            <a:r>
              <a:t>        if route == "handoff":</a:t>
            </a:r>
          </a:p>
          <a:p xmlns:a="http://schemas.openxmlformats.org/drawingml/2006/main">
            <a:r>
              <a:t>            conversations.update_conversation(conn, cid, context={}, state="handoff", pending_intent=None)</a:t>
            </a:r>
          </a:p>
          <a:p xmlns:a="http://schemas.openxmlformats.org/drawingml/2006/main">
            <a:r>
              <a:t>        elif route in {"draft_created", "order_updated"}:</a:t>
            </a:r>
          </a:p>
          <a:p xmlns:a="http://schemas.openxmlformats.org/drawingml/2006/main">
            <a:r>
              <a:t>            conversations.update_conversation(conn, cid, context={}, state="awaiting_confirmation", pending_intent=None,</a:t>
            </a:r>
          </a:p>
          <a:p xmlns:a="http://schemas.openxmlformats.org/drawingml/2006/main">
            <a:r>
              <a:t>                                              last_order_id=order_number(result["order"]["order_id"]))</a:t>
            </a:r>
          </a:p>
          <a:p xmlns:a="http://schemas.openxmlformats.org/drawingml/2006/main">
            <a:r>
              <a:t>        elif data and route != "failed_validation":</a:t>
            </a:r>
          </a:p>
          <a:p xmlns:a="http://schemas.openxmlformats.org/drawingml/2006/main">
            <a:r>
              <a:t>            if data.intent in READ_INTENTS:</a:t>
            </a:r>
          </a:p>
          <a:p xmlns:a="http://schemas.openxmlformats.org/drawingml/2006/main">
            <a:r>
              <a:t>                pending = conv["pending_intent"] if conv["pending_intent"] in {"create_order", "update_order"} else None</a:t>
            </a:r>
          </a:p>
          <a:p xmlns:a="http://schemas.openxmlformats.org/drawingml/2006/main">
            <a:r>
              <a:t>            else:</a:t>
            </a:r>
          </a:p>
          <a:p xmlns:a="http://schemas.openxmlformats.org/drawingml/2006/main">
            <a:r>
              <a:t>                pending = data.intent</a:t>
            </a:r>
          </a:p>
          <a:p xmlns:a="http://schemas.openxmlformats.org/drawingml/2006/main">
            <a:r>
              <a:t>            conversations.update_conversation(conn, cid, context=slots, state="collecting_info" if pending else "idle", pending_intent=pending)</a:t>
            </a:r>
          </a:p>
          <a:p xmlns:a="http://schemas.openxmlformats.org/drawingml/2006/main">
            <a:r>
              <a:t>        conversations.add_message(conn, cid, "user", "[Nội dung không lưu; intent=" + str(meta["intent"]) + "]")</a:t>
            </a:r>
          </a:p>
          <a:p xmlns:a="http://schemas.openxmlformats.org/drawingml/2006/main">
            <a:r>
              <a:t>        conversations.add_message(conn, cid, "assistant", result["reply"])</a:t>
            </a:r>
          </a:p>
          <a:p xmlns:a="http://schemas.openxmlformats.org/drawingml/2006/main">
            <a:r>
              <a:t>        meta.update(route=route, latency_ms=round((time.monotonic() - start) * 1000, 2))</a:t>
            </a:r>
          </a:p>
          <a:p xmlns:a="http://schemas.openxmlformats.org/drawingml/2006/main">
            <a:r>
              <a:t>        result["request_id"] = ctx.request_id</a:t>
            </a:r>
          </a:p>
          <a:p xmlns:a="http://schemas.openxmlformats.org/drawingml/2006/main">
            <a:r>
              <a:t>        result["intent"] = meta["intent"]</a:t>
            </a:r>
          </a:p>
          <a:p xmlns:a="http://schemas.openxmlformats.org/drawingml/2006/main">
            <a:r>
              <a:t>        result["interpretation_source"] = meta["interpretation_source"]</a:t>
            </a:r>
          </a:p>
          <a:p xmlns:a="http://schemas.openxmlformats.org/drawingml/2006/main">
            <a:r>
              <a:t>        audit.log_event(conn, ctx, "chat_processed", details=meta)</a:t>
            </a:r>
          </a:p>
          <a:p xmlns:a="http://schemas.openxmlformats.org/drawingml/2006/main">
            <a:r>
              <a:t>        if route != "failed_validation":</a:t>
            </a:r>
          </a:p>
          <a:p xmlns:a="http://schemas.openxmlformats.org/drawingml/2006/main">
            <a:r>
              <a:t>            save_receipt(conn, owner, "chat", key, message, result)</a:t>
            </a:r>
          </a:p>
          <a:p xmlns:a="http://schemas.openxmlformats.org/drawingml/2006/main">
            <a:r>
              <a:t>    import json</a:t>
            </a:r>
          </a:p>
          <a:p xmlns:a="http://schemas.openxmlformats.org/drawingml/2006/main">
            <a:r>
              <a:t>    logger.info(json.dumps(meta, ensure_ascii=False))</a:t>
            </a:r>
          </a:p>
          <a:p xmlns:a="http://schemas.openxmlformats.org/drawingml/2006/main">
            <a:r>
              <a:t>    return result</a:t>
            </a:r>
          </a:p>
          <a:p xmlns:a="http://schemas.openxmlformats.org/drawingml/2006/main">
            <a:r>
              <a:t/>
            </a:r>
          </a:p>
          <a:p xmlns:a="http://schemas.openxmlformats.org/drawingml/2006/main">
            <a:r>
              <a:t>Nguồn code của bản chụp 22/10/2026:</a:t>
            </a:r>
          </a:p>
          <a:p xmlns:a="http://schemas.openxmlformats.org/drawingml/2006/main">
            <a:r>
              <a:t>backend/chat_service.py:167-206   /   backend/chat_service.py:210-320</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LLMError.__init__</a:t>
            </a:r>
          </a:p>
          <a:p xmlns:a="http://schemas.openxmlformats.org/drawingml/2006/main">
            <a:r>
              <a:t>Chức năng: Đóng gói mã lỗi provider và số lần retry để workflow trả thông báo phù hợp.</a:t>
            </a:r>
          </a:p>
          <a:p xmlns:a="http://schemas.openxmlformats.org/drawingml/2006/main">
            <a:r>
              <a:t>Đầu vào: code, retry_count</a:t>
            </a:r>
          </a:p>
          <a:p xmlns:a="http://schemas.openxmlformats.org/drawingml/2006/main">
            <a:r>
              <a:t>Đầu ra/tác động: Đối tượng lỗi có code và retry_count.</a:t>
            </a:r>
          </a:p>
          <a:p xmlns:a="http://schemas.openxmlformats.org/drawingml/2006/main">
            <a:r>
              <a:t>Nguồn: src/llm_client.py:28-30</a:t>
            </a:r>
          </a:p>
          <a:p xmlns:a="http://schemas.openxmlformats.org/drawingml/2006/main">
            <a:r>
              <a:t>Code đầy đủ:</a:t>
            </a:r>
          </a:p>
          <a:p xmlns:a="http://schemas.openxmlformats.org/drawingml/2006/main">
            <a:r>
              <a:t>    def __init__(self, code, retry_count=0):</a:t>
            </a:r>
          </a:p>
          <a:p xmlns:a="http://schemas.openxmlformats.org/drawingml/2006/main">
            <a:r>
              <a:t>        self.code = code</a:t>
            </a:r>
          </a:p>
          <a:p xmlns:a="http://schemas.openxmlformats.org/drawingml/2006/main">
            <a:r>
              <a:t>        self.retry_count = retry_count</a:t>
            </a:r>
          </a:p>
          <a:p xmlns:a="http://schemas.openxmlformats.org/drawingml/2006/main">
            <a:r>
              <a:t/>
            </a:r>
          </a:p>
          <a:p xmlns:a="http://schemas.openxmlformats.org/drawingml/2006/main">
            <a:r>
              <a:t>_retry_delay</a:t>
            </a:r>
          </a:p>
          <a:p xmlns:a="http://schemas.openxmlformats.org/drawingml/2006/main">
            <a:r>
              <a:t>Chức năng: Tính thời gian chờ từ Retry-After dạng giây hoặc ngày giờ, kết hợp backoff theo lượt.</a:t>
            </a:r>
          </a:p>
          <a:p xmlns:a="http://schemas.openxmlformats.org/drawingml/2006/main">
            <a:r>
              <a:t>Đầu vào: header, attempt</a:t>
            </a:r>
          </a:p>
          <a:p xmlns:a="http://schemas.openxmlformats.org/drawingml/2006/main">
            <a:r>
              <a:t>Đầu ra/tác động: Số giây cần chờ trước retry.</a:t>
            </a:r>
          </a:p>
          <a:p xmlns:a="http://schemas.openxmlformats.org/drawingml/2006/main">
            <a:r>
              <a:t>Nguồn: src/llm_client.py:33-41</a:t>
            </a:r>
          </a:p>
          <a:p xmlns:a="http://schemas.openxmlformats.org/drawingml/2006/main">
            <a:r>
              <a:t>Code đầy đủ:</a:t>
            </a:r>
          </a:p>
          <a:p xmlns:a="http://schemas.openxmlformats.org/drawingml/2006/main">
            <a:r>
              <a:t>def _retry_delay(header, attempt):</a:t>
            </a:r>
          </a:p>
          <a:p xmlns:a="http://schemas.openxmlformats.org/drawingml/2006/main">
            <a:r>
              <a:t>    try:</a:t>
            </a:r>
          </a:p>
          <a:p xmlns:a="http://schemas.openxmlformats.org/drawingml/2006/main">
            <a:r>
              <a:t>        seconds = float(header)</a:t>
            </a:r>
          </a:p>
          <a:p xmlns:a="http://schemas.openxmlformats.org/drawingml/2006/main">
            <a:r>
              <a:t>    except (ValueError, TypeError):</a:t>
            </a:r>
          </a:p>
          <a:p xmlns:a="http://schemas.openxmlformats.org/drawingml/2006/main">
            <a:r>
              <a:t>        try:</a:t>
            </a:r>
          </a:p>
          <a:p xmlns:a="http://schemas.openxmlformats.org/drawingml/2006/main">
            <a:r>
              <a:t>            seconds = (parsedate_to_datetime(header) - datetime.now(timezone.utc)).total_seconds()</a:t>
            </a:r>
          </a:p>
          <a:p xmlns:a="http://schemas.openxmlformats.org/drawingml/2006/main">
            <a:r>
              <a:t>        except (ValueError, TypeError, OverflowError):</a:t>
            </a:r>
          </a:p>
          <a:p xmlns:a="http://schemas.openxmlformats.org/drawingml/2006/main">
            <a:r>
              <a:t>            seconds = 0</a:t>
            </a:r>
          </a:p>
          <a:p xmlns:a="http://schemas.openxmlformats.org/drawingml/2006/main">
            <a:r>
              <a:t>    return max(0.25 * 2 ** attempt, seconds)</a:t>
            </a:r>
          </a:p>
          <a:p xmlns:a="http://schemas.openxmlformats.org/drawingml/2006/main">
            <a:r>
              <a:t/>
            </a:r>
          </a:p>
          <a:p xmlns:a="http://schemas.openxmlformats.org/drawingml/2006/main">
            <a:r>
              <a:t>Nguồn code của bản chụp 22/10/2026:</a:t>
            </a:r>
          </a:p>
          <a:p xmlns:a="http://schemas.openxmlformats.org/drawingml/2006/main">
            <a:r>
              <a:t>src/llm_client.py:28-30   /   src/llm_client.py:33-41</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GeminiLLMClient.__init__</a:t>
            </a:r>
          </a:p>
          <a:p xmlns:a="http://schemas.openxmlformats.org/drawingml/2006/main">
            <a:r>
              <a:t>Chức năng: Gắn cấu hình/model và khởi tạo bộ đếm ngân sách ngày nếu có đường dẫn ledger.</a:t>
            </a:r>
          </a:p>
          <a:p xmlns:a="http://schemas.openxmlformats.org/drawingml/2006/main">
            <a:r>
              <a:t>Đầu vào: settings</a:t>
            </a:r>
          </a:p>
          <a:p xmlns:a="http://schemas.openxmlformats.org/drawingml/2006/main">
            <a:r>
              <a:t>Đầu ra/tác động: Client giữ settings, model_id và DailyBudget/None.</a:t>
            </a:r>
          </a:p>
          <a:p xmlns:a="http://schemas.openxmlformats.org/drawingml/2006/main">
            <a:r>
              <a:t>Nguồn: src/llm_client.py:45-48</a:t>
            </a:r>
          </a:p>
          <a:p xmlns:a="http://schemas.openxmlformats.org/drawingml/2006/main">
            <a:r>
              <a:t>Code đầy đủ:</a:t>
            </a:r>
          </a:p>
          <a:p xmlns:a="http://schemas.openxmlformats.org/drawingml/2006/main">
            <a:r>
              <a:t>    def __init__(self, settings):</a:t>
            </a:r>
          </a:p>
          <a:p xmlns:a="http://schemas.openxmlformats.org/drawingml/2006/main">
            <a:r>
              <a:t>        self.settings = settings</a:t>
            </a:r>
          </a:p>
          <a:p xmlns:a="http://schemas.openxmlformats.org/drawingml/2006/main">
            <a:r>
              <a:t>        self.model_id = settings.model_id</a:t>
            </a:r>
          </a:p>
          <a:p xmlns:a="http://schemas.openxmlformats.org/drawingml/2006/main">
            <a:r>
              <a:t>        self.budget = DailyBudget(settings.llm_usage_path, settings.llm_daily_limit) if settings.llm_usage_path else None</a:t>
            </a:r>
          </a:p>
          <a:p xmlns:a="http://schemas.openxmlformats.org/drawingml/2006/main">
            <a:r>
              <a:t/>
            </a:r>
          </a:p>
          <a:p xmlns:a="http://schemas.openxmlformats.org/drawingml/2006/main">
            <a:r>
              <a:t>GeminiLLMClient.generate</a:t>
            </a:r>
          </a:p>
          <a:p xmlns:a="http://schemas.openxmlformats.org/drawingml/2006/main">
            <a:r>
              <a:t>Chức năng: Ghép prompt, giữ ngân sách, gọi Gemini REST, kiểm tra response và trả văn bản JSON cùng usage.</a:t>
            </a:r>
          </a:p>
          <a:p xmlns:a="http://schemas.openxmlformats.org/drawingml/2006/main">
            <a:r>
              <a:t>Đầu vào: message, catalog, context</a:t>
            </a:r>
          </a:p>
          <a:p xmlns:a="http://schemas.openxmlformats.org/drawingml/2006/main">
            <a:r>
              <a:t>Đầu ra/tác động: LLMResult(text, input_tokens, output_tokens, retry_count).</a:t>
            </a:r>
          </a:p>
          <a:p xmlns:a="http://schemas.openxmlformats.org/drawingml/2006/main">
            <a:r>
              <a:t>Nguồn: src/llm_client.py:50-99</a:t>
            </a:r>
          </a:p>
          <a:p xmlns:a="http://schemas.openxmlformats.org/drawingml/2006/main">
            <a:r>
              <a:t>Code đầy đủ:</a:t>
            </a:r>
          </a:p>
          <a:p xmlns:a="http://schemas.openxmlformats.org/drawingml/2006/main">
            <a:r>
              <a:t>    def generate(self, message, catalog, context):</a:t>
            </a:r>
          </a:p>
          <a:p xmlns:a="http://schemas.openxmlformats.org/drawingml/2006/main">
            <a:r>
              <a:t>        system, prompt = build_prompt(message, catalog, context)</a:t>
            </a:r>
          </a:p>
          <a:p xmlns:a="http://schemas.openxmlformats.org/drawingml/2006/main">
            <a:r>
              <a:t>        url = "https://generativelanguage.googleapis.com/v1beta/models/" + quote(self.model_id, safe="-") + ":generateContent"</a:t>
            </a:r>
          </a:p>
          <a:p xmlns:a="http://schemas.openxmlformats.org/drawingml/2006/main">
            <a:r>
              <a:t>        payload = {"systemInstruction": {"parts": [{"text": system}]},</a:t>
            </a:r>
          </a:p>
          <a:p xmlns:a="http://schemas.openxmlformats.org/drawingml/2006/main">
            <a:r>
              <a:t>                   "contents": [{"role": "user", "parts": [{"text": prompt}]}],</a:t>
            </a:r>
          </a:p>
          <a:p xmlns:a="http://schemas.openxmlformats.org/drawingml/2006/main">
            <a:r>
              <a:t>                   "generationConfig": {"temperature": 0, "maxOutputTokens": 2048,</a:t>
            </a:r>
          </a:p>
          <a:p xmlns:a="http://schemas.openxmlformats.org/drawingml/2006/main">
            <a:r>
              <a:t>                                        "responseFormat": {"text": {"mimeType": "APPLICATION_JSON",</a:t>
            </a:r>
          </a:p>
          <a:p xmlns:a="http://schemas.openxmlformats.org/drawingml/2006/main">
            <a:r>
              <a:t>                                                                    "schema": Extraction.model_json_schema()}}}}</a:t>
            </a:r>
          </a:p>
          <a:p xmlns:a="http://schemas.openxmlformats.org/drawingml/2006/main">
            <a:r>
              <a:t>        for attempt in range(self.settings.llm_max_retries + 1):</a:t>
            </a:r>
          </a:p>
          <a:p xmlns:a="http://schemas.openxmlformats.org/drawingml/2006/main">
            <a:r>
              <a:t>            if self.budget:</a:t>
            </a:r>
          </a:p>
          <a:p xmlns:a="http://schemas.openxmlformats.org/drawingml/2006/main">
            <a:r>
              <a:t>                try:</a:t>
            </a:r>
          </a:p>
          <a:p xmlns:a="http://schemas.openxmlformats.org/drawingml/2006/main">
            <a:r>
              <a:t>                    self.budget.reserve(self.model_id)</a:t>
            </a:r>
          </a:p>
          <a:p xmlns:a="http://schemas.openxmlformats.org/drawingml/2006/main">
            <a:r>
              <a:t>                except DailyLimitReached:</a:t>
            </a:r>
          </a:p>
          <a:p xmlns:a="http://schemas.openxmlformats.org/drawingml/2006/main">
            <a:r>
              <a:t>                    raise LLMError("llm_daily_limit", attempt) from None</a:t>
            </a:r>
          </a:p>
          <a:p xmlns:a="http://schemas.openxmlformats.org/drawingml/2006/main">
            <a:r>
              <a:t>            header = None</a:t>
            </a:r>
          </a:p>
          <a:p xmlns:a="http://schemas.openxmlformats.org/drawingml/2006/main">
            <a:r>
              <a:t>            try:</a:t>
            </a:r>
          </a:p>
          <a:p xmlns:a="http://schemas.openxmlformats.org/drawingml/2006/main">
            <a:r>
              <a:t>                response = requests.post(url, headers={"x-goog-api-key": self.settings.api_key}, json=payload,</a:t>
            </a:r>
          </a:p>
          <a:p xmlns:a="http://schemas.openxmlformats.org/drawingml/2006/main">
            <a:r>
              <a:t>                                         timeout=self.settings.llm_timeout, allow_redirects=False)</a:t>
            </a:r>
          </a:p>
          <a:p xmlns:a="http://schemas.openxmlformats.org/drawingml/2006/main">
            <a:r>
              <a:t>            except (requests.Timeout, requests.ConnectionError):</a:t>
            </a:r>
          </a:p>
          <a:p xmlns:a="http://schemas.openxmlformats.org/drawingml/2006/main">
            <a:r>
              <a:t>                error = "llm_timeout"</a:t>
            </a:r>
          </a:p>
          <a:p xmlns:a="http://schemas.openxmlformats.org/drawingml/2006/main">
            <a:r>
              <a:t>            except requests.RequestException:</a:t>
            </a:r>
          </a:p>
          <a:p xmlns:a="http://schemas.openxmlformats.org/drawingml/2006/main">
            <a:r>
              <a:t>                raise LLMError("llm_transport", attempt) from None</a:t>
            </a:r>
          </a:p>
          <a:p xmlns:a="http://schemas.openxmlformats.org/drawingml/2006/main">
            <a:r>
              <a:t>            else:</a:t>
            </a:r>
          </a:p>
          <a:p xmlns:a="http://schemas.openxmlformats.org/drawingml/2006/main">
            <a:r>
              <a:t>                if response.status_code == 429 or 500 &lt;= response.status_code &lt;= 599:</a:t>
            </a:r>
          </a:p>
          <a:p xmlns:a="http://schemas.openxmlformats.org/drawingml/2006/main">
            <a:r>
              <a:t>                    error = "llm_rate_limit" if response.status_code == 429 else "llm_unavailable"</a:t>
            </a:r>
          </a:p>
          <a:p xmlns:a="http://schemas.openxmlformats.org/drawingml/2006/main">
            <a:r>
              <a:t>                    header = response.headers.get("Retry-After")</a:t>
            </a:r>
          </a:p>
          <a:p xmlns:a="http://schemas.openxmlformats.org/drawingml/2006/main">
            <a:r>
              <a:t>                elif response.status_code != 200:</a:t>
            </a:r>
          </a:p>
          <a:p xmlns:a="http://schemas.openxmlformats.org/drawingml/2006/main">
            <a:r>
              <a:t>                    code = "llm_auth" if response.status_code in {401, 403} else "llm_request"</a:t>
            </a:r>
          </a:p>
          <a:p xmlns:a="http://schemas.openxmlformats.org/drawingml/2006/main">
            <a:r>
              <a:t>                    raise LLMError(code, attempt)</a:t>
            </a:r>
          </a:p>
          <a:p xmlns:a="http://schemas.openxmlformats.org/drawingml/2006/main">
            <a:r>
              <a:t>                else:</a:t>
            </a:r>
          </a:p>
          <a:p xmlns:a="http://schemas.openxmlformats.org/drawingml/2006/main">
            <a:r>
              <a:t>                    try:</a:t>
            </a:r>
          </a:p>
          <a:p xmlns:a="http://schemas.openxmlformats.org/drawingml/2006/main">
            <a:r>
              <a:t>                        body = response.json()</a:t>
            </a:r>
          </a:p>
          <a:p xmlns:a="http://schemas.openxmlformats.org/drawingml/2006/main">
            <a:r>
              <a:t>                        if body.get("promptFeedback", {}).get("blockReason"):</a:t>
            </a:r>
          </a:p>
          <a:p xmlns:a="http://schemas.openxmlformats.org/drawingml/2006/main">
            <a:r>
              <a:t>                            raise LLMError("llm_refusal", attempt)</a:t>
            </a:r>
          </a:p>
          <a:p xmlns:a="http://schemas.openxmlformats.org/drawingml/2006/main">
            <a:r>
              <a:t>                        candidate = body["candidates"][0]</a:t>
            </a:r>
          </a:p>
          <a:p xmlns:a="http://schemas.openxmlformats.org/drawingml/2006/main">
            <a:r>
              <a:t>                        if candidate.get("finishReason") != "STOP":</a:t>
            </a:r>
          </a:p>
          <a:p xmlns:a="http://schemas.openxmlformats.org/drawingml/2006/main">
            <a:r>
              <a:t>                            raise LLMError("llm_refusal", attempt)</a:t>
            </a:r>
          </a:p>
          <a:p xmlns:a="http://schemas.openxmlformats.org/drawingml/2006/main">
            <a:r>
              <a:t>                        parts = candidate["content"]["parts"]</a:t>
            </a:r>
          </a:p>
          <a:p xmlns:a="http://schemas.openxmlformats.org/drawingml/2006/main">
            <a:r>
              <a:t>                        text = "".join(p.get("text", "") for p in parts if not p.get("thought"))</a:t>
            </a:r>
          </a:p>
          <a:p xmlns:a="http://schemas.openxmlformats.org/drawingml/2006/main">
            <a:r>
              <a:t>                        usage = body.get("usageMetadata", {})</a:t>
            </a:r>
          </a:p>
          <a:p xmlns:a="http://schemas.openxmlformats.org/drawingml/2006/main">
            <a:r>
              <a:t>                        return LLMResult(text, usage.get("promptTokenCount"), usage.get("candidatesTokenCount"), attempt)</a:t>
            </a:r>
          </a:p>
          <a:p xmlns:a="http://schemas.openxmlformats.org/drawingml/2006/main">
            <a:r>
              <a:t>                    except (AttributeError, KeyError, IndexError, TypeError, ValueError):</a:t>
            </a:r>
          </a:p>
          <a:p xmlns:a="http://schemas.openxmlformats.org/drawingml/2006/main">
            <a:r>
              <a:t>                        raise LLMError("llm_response", attempt) from None</a:t>
            </a:r>
          </a:p>
          <a:p xmlns:a="http://schemas.openxmlformats.org/drawingml/2006/main">
            <a:r>
              <a:t>            if attempt &gt;= self.settings.llm_max_retries:</a:t>
            </a:r>
          </a:p>
          <a:p xmlns:a="http://schemas.openxmlformats.org/drawingml/2006/main">
            <a:r>
              <a:t>                raise LLMError(error, attempt)</a:t>
            </a:r>
          </a:p>
          <a:p xmlns:a="http://schemas.openxmlformats.org/drawingml/2006/main">
            <a:r>
              <a:t>            delay = _retry_delay(header, attempt)</a:t>
            </a:r>
          </a:p>
          <a:p xmlns:a="http://schemas.openxmlformats.org/drawingml/2006/main">
            <a:r>
              <a:t>            if delay &gt; 3:</a:t>
            </a:r>
          </a:p>
          <a:p xmlns:a="http://schemas.openxmlformats.org/drawingml/2006/main">
            <a:r>
              <a:t>                # Return a recoverable error rather than retrying before the provider permits it.</a:t>
            </a:r>
          </a:p>
          <a:p xmlns:a="http://schemas.openxmlformats.org/drawingml/2006/main">
            <a:r>
              <a:t>                raise LLMError(error, attempt)</a:t>
            </a:r>
          </a:p>
          <a:p xmlns:a="http://schemas.openxmlformats.org/drawingml/2006/main">
            <a:r>
              <a:t>            time.sleep(delay)</a:t>
            </a:r>
          </a:p>
          <a:p xmlns:a="http://schemas.openxmlformats.org/drawingml/2006/main">
            <a:r>
              <a:t/>
            </a:r>
          </a:p>
          <a:p xmlns:a="http://schemas.openxmlformats.org/drawingml/2006/main">
            <a:r>
              <a:t>Nguồn code của bản chụp 22/10/2026:</a:t>
            </a:r>
          </a:p>
          <a:p xmlns:a="http://schemas.openxmlformats.org/drawingml/2006/main">
            <a:r>
              <a:t>src/llm_client.py:45-48   /   src/llm_client.py:50-99</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_plain</a:t>
            </a:r>
          </a:p>
          <a:p xmlns:a="http://schemas.openxmlformats.org/drawingml/2006/main">
            <a:r>
              <a:t>Chức năng: Bỏ dấu và chuyển chữ thường để FakeLLM nhận diện các mẫu câu bằng regex.</a:t>
            </a:r>
          </a:p>
          <a:p xmlns:a="http://schemas.openxmlformats.org/drawingml/2006/main">
            <a:r>
              <a:t>Đầu vào: text</a:t>
            </a:r>
          </a:p>
          <a:p xmlns:a="http://schemas.openxmlformats.org/drawingml/2006/main">
            <a:r>
              <a:t>Đầu ra/tác động: Chuỗi không dấu để chạy regex.</a:t>
            </a:r>
          </a:p>
          <a:p xmlns:a="http://schemas.openxmlformats.org/drawingml/2006/main">
            <a:r>
              <a:t>Nguồn: src/llm_client.py:102-104</a:t>
            </a:r>
          </a:p>
          <a:p xmlns:a="http://schemas.openxmlformats.org/drawingml/2006/main">
            <a:r>
              <a:t>Code đầy đủ:</a:t>
            </a:r>
          </a:p>
          <a:p xmlns:a="http://schemas.openxmlformats.org/drawingml/2006/main">
            <a:r>
              <a:t>def _plain(text):</a:t>
            </a:r>
          </a:p>
          <a:p xmlns:a="http://schemas.openxmlformats.org/drawingml/2006/main">
            <a:r>
              <a:t>    text = unicodedata.normalize("NFD", text.lower().replace("đ", "d"))</a:t>
            </a:r>
          </a:p>
          <a:p xmlns:a="http://schemas.openxmlformats.org/drawingml/2006/main">
            <a:r>
              <a:t>    return "".join(c for c in text if unicodedata.category(c) != "Mn")</a:t>
            </a:r>
          </a:p>
          <a:p xmlns:a="http://schemas.openxmlformats.org/drawingml/2006/main">
            <a:r>
              <a:t/>
            </a:r>
          </a:p>
          <a:p xmlns:a="http://schemas.openxmlformats.org/drawingml/2006/main">
            <a:r>
              <a:t>_span</a:t>
            </a:r>
          </a:p>
          <a:p xmlns:a="http://schemas.openxmlformats.org/drawingml/2006/main">
            <a:r>
              <a:t>Chức năng: Tìm nhóm regex trên bản không dấu rồi lấy lại đoạn nguyên văn tương ứng trong tin nhắn.</a:t>
            </a:r>
          </a:p>
          <a:p xmlns:a="http://schemas.openxmlformats.org/drawingml/2006/main">
            <a:r>
              <a:t>Đầu vào: text, pattern</a:t>
            </a:r>
          </a:p>
          <a:p xmlns:a="http://schemas.openxmlformats.org/drawingml/2006/main">
            <a:r>
              <a:t>Đầu ra/tác động: Đoạn chữ nguyên văn hoặc None.</a:t>
            </a:r>
          </a:p>
          <a:p xmlns:a="http://schemas.openxmlformats.org/drawingml/2006/main">
            <a:r>
              <a:t>Nguồn: src/llm_client.py:107-109</a:t>
            </a:r>
          </a:p>
          <a:p xmlns:a="http://schemas.openxmlformats.org/drawingml/2006/main">
            <a:r>
              <a:t>Code đầy đủ:</a:t>
            </a:r>
          </a:p>
          <a:p xmlns:a="http://schemas.openxmlformats.org/drawingml/2006/main">
            <a:r>
              <a:t>def _span(text, pattern):</a:t>
            </a:r>
          </a:p>
          <a:p xmlns:a="http://schemas.openxmlformats.org/drawingml/2006/main">
            <a:r>
              <a:t>    match = re.search(pattern, _plain(text), flags=re.I)</a:t>
            </a:r>
          </a:p>
          <a:p xmlns:a="http://schemas.openxmlformats.org/drawingml/2006/main">
            <a:r>
              <a:t>    return text[match.start(1):match.end(1)].strip() if match else None</a:t>
            </a:r>
          </a:p>
          <a:p xmlns:a="http://schemas.openxmlformats.org/drawingml/2006/main">
            <a:r>
              <a:t/>
            </a:r>
          </a:p>
          <a:p xmlns:a="http://schemas.openxmlformats.org/drawingml/2006/main">
            <a:r>
              <a:t>Nguồn code của bản chụp 22/10/2026:</a:t>
            </a:r>
          </a:p>
          <a:p xmlns:a="http://schemas.openxmlformats.org/drawingml/2006/main">
            <a:r>
              <a:t>src/llm_client.py:102-104   /   src/llm_client.py:107-109</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FakeLLMClient.generate</a:t>
            </a:r>
          </a:p>
          <a:p xmlns:a="http://schemas.openxmlformats.org/drawingml/2006/main">
            <a:r>
              <a:t>Chức năng: Trích xuất theo rule cho demo và test offline, tạo JSON cùng schema với Gemini.</a:t>
            </a:r>
          </a:p>
          <a:p xmlns:a="http://schemas.openxmlformats.org/drawingml/2006/main">
            <a:r>
              <a:t>Đầu vào: message, catalog, context</a:t>
            </a:r>
          </a:p>
          <a:p xmlns:a="http://schemas.openxmlformats.org/drawingml/2006/main">
            <a:r>
              <a:t>Đầu ra/tác động: LLMResult chứa JSON rule-based, không gọi mạng.</a:t>
            </a:r>
          </a:p>
          <a:p xmlns:a="http://schemas.openxmlformats.org/drawingml/2006/main">
            <a:r>
              <a:t>Nguồn: src/llm_client.py:116-187</a:t>
            </a:r>
          </a:p>
          <a:p xmlns:a="http://schemas.openxmlformats.org/drawingml/2006/main">
            <a:r>
              <a:t>Code đầy đủ:</a:t>
            </a:r>
          </a:p>
          <a:p xmlns:a="http://schemas.openxmlformats.org/drawingml/2006/main">
            <a:r>
              <a:t>    def generate(self, message, catalog, context):</a:t>
            </a:r>
          </a:p>
          <a:p xmlns:a="http://schemas.openxmlformats.org/drawingml/2006/main">
            <a:r>
              <a:t>        text = _plain(message)</a:t>
            </a:r>
          </a:p>
          <a:p xmlns:a="http://schemas.openxmlformats.org/drawingml/2006/main">
            <a:r>
              <a:t>        pending = context.get("pending_intent")</a:t>
            </a:r>
          </a:p>
          <a:p xmlns:a="http://schemas.openxmlformats.org/drawingml/2006/main">
            <a:r>
              <a:t>        if re.search(r"\b(doi|sua|cap nhat)\b", text):</a:t>
            </a:r>
          </a:p>
          <a:p xmlns:a="http://schemas.openxmlformats.org/drawingml/2006/main">
            <a:r>
              <a:t>            intent = "update_order"</a:t>
            </a:r>
          </a:p>
          <a:p xmlns:a="http://schemas.openxmlformats.org/drawingml/2006/main">
            <a:r>
              <a:t>        elif re.search(r"\b(ban (?:nhung )?gi|tham khao|catalog|cho.*xem|tim|tu van|gioi thieu)\b", text):</a:t>
            </a:r>
          </a:p>
          <a:p xmlns:a="http://schemas.openxmlformats.org/drawingml/2006/main">
            <a:r>
              <a:t>            intent = "browse_catalog"</a:t>
            </a:r>
          </a:p>
          <a:p xmlns:a="http://schemas.openxmlformats.org/drawingml/2006/main">
            <a:r>
              <a:t>        elif re.search(r"\b(gia|bao nhieu tien)\b", text):</a:t>
            </a:r>
          </a:p>
          <a:p xmlns:a="http://schemas.openxmlformats.org/drawingml/2006/main">
            <a:r>
              <a:t>            intent = "check_price"</a:t>
            </a:r>
          </a:p>
          <a:p xmlns:a="http://schemas.openxmlformats.org/drawingml/2006/main">
            <a:r>
              <a:t>        elif re.search(r"\b(con|ton kho|het hang)\b", text):</a:t>
            </a:r>
          </a:p>
          <a:p xmlns:a="http://schemas.openxmlformats.org/drawingml/2006/main">
            <a:r>
              <a:t>            intent = "check_stock"</a:t>
            </a:r>
          </a:p>
          <a:p xmlns:a="http://schemas.openxmlformats.org/drawingml/2006/main">
            <a:r>
              <a:t>        elif re.search(r"\b(chot|mua|lay|dat)\b|\bcho\s+(?:em|anh|chi|toi|minh)\s+(?:\d+|mot|hai|ba|bon|nam|sau|bay|tam|chin|muoi)\b", text):</a:t>
            </a:r>
          </a:p>
          <a:p xmlns:a="http://schemas.openxmlformats.org/drawingml/2006/main">
            <a:r>
              <a:t>            intent = "create_order"</a:t>
            </a:r>
          </a:p>
          <a:p xmlns:a="http://schemas.openxmlformats.org/drawingml/2006/main">
            <a:r>
              <a:t>        elif re.search(r"\b(ban (?:nhung )?gi|tham khao|san pham|catalog|cho.*xem|tim|tu van|gioi thieu|mau nao|size nao|mau gi|thong tin)\b", text):</a:t>
            </a:r>
          </a:p>
          <a:p xmlns:a="http://schemas.openxmlformats.org/drawingml/2006/main">
            <a:r>
              <a:t>            intent = "browse_catalog"</a:t>
            </a:r>
          </a:p>
          <a:p xmlns:a="http://schemas.openxmlformats.org/drawingml/2006/main">
            <a:r>
              <a:t>        else:</a:t>
            </a:r>
          </a:p>
          <a:p xmlns:a="http://schemas.openxmlformats.org/drawingml/2006/main">
            <a:r>
              <a:t>            intent = pending or "unknown_or_handoff"</a:t>
            </a:r>
          </a:p>
          <a:p xmlns:a="http://schemas.openxmlformats.org/drawingml/2006/main">
            <a:r>
              <a:t>        name = _span(message, r"(?:ten(?: la)?|nguoi nhan)\s*[:=]?\s*([^,;\d]+)")</a:t>
            </a:r>
          </a:p>
          <a:p xmlns:a="http://schemas.openxmlformats.org/drawingml/2006/main">
            <a:r>
              <a:t>        phone = _span(message, r"(?&lt;!\d)((?:\+84|0)[\d .-]{8,16}\d)(?!\d)")</a:t>
            </a:r>
          </a:p>
          <a:p xmlns:a="http://schemas.openxmlformats.org/drawingml/2006/main">
            <a:r>
              <a:t>        address = _span(message, r"(?:giao (?:ve|den)|dia chi)\s*[:=]?\s*([^;]+)")</a:t>
            </a:r>
          </a:p>
          <a:p xmlns:a="http://schemas.openxmlformats.org/drawingml/2006/main">
            <a:r>
              <a:t>        reference = _span(message, r"\b(DH\d{6,10})\b")</a:t>
            </a:r>
          </a:p>
          <a:p xmlns:a="http://schemas.openxmlformats.org/drawingml/2006/main">
            <a:r>
              <a:t>        items = []</a:t>
            </a:r>
          </a:p>
          <a:p xmlns:a="http://schemas.openxmlformats.org/drawingml/2006/main">
            <a:r>
              <a:t>        item_text = re.split(r"(?:,\s*)?(?:ten|nguoi nhan|sdt|so dien thoai|giao ve|giao den|dia chi)\b", text)[0]</a:t>
            </a:r>
          </a:p>
          <a:p xmlns:a="http://schemas.openxmlformats.org/drawingml/2006/main">
            <a:r>
              <a:t>        original_items = message[:len(item_text)]</a:t>
            </a:r>
          </a:p>
          <a:p xmlns:a="http://schemas.openxmlformats.org/drawingml/2006/main">
            <a:r>
              <a:t>        chunks = re.split(r"\s+và\s+|;|,\s*(?=\d+\s+(?:áo|giày|dép|nón|balo))", original_items, flags=re.I)</a:t>
            </a:r>
          </a:p>
          <a:p xmlns:a="http://schemas.openxmlformats.org/drawingml/2006/main">
            <a:r>
              <a:t>        colors = ["xanh navy", "trắng", "đen", "xám", "xanh", "đỏ", "vàng"]</a:t>
            </a:r>
          </a:p>
          <a:p xmlns:a="http://schemas.openxmlformats.org/drawingml/2006/main">
            <a:r>
              <a:t>        for chunk in chunks:</a:t>
            </a:r>
          </a:p>
          <a:p xmlns:a="http://schemas.openxmlformats.org/drawingml/2006/main">
            <a:r>
              <a:t>            plain = _plain(chunk)</a:t>
            </a:r>
          </a:p>
          <a:p xmlns:a="http://schemas.openxmlformats.org/drawingml/2006/main">
            <a:r>
              <a:t>            aliases = [alias for p in catalog for alias in [p["name"], *p.get("aliases", [])]</a:t>
            </a:r>
          </a:p>
          <a:p xmlns:a="http://schemas.openxmlformats.org/drawingml/2006/main">
            <a:r>
              <a:t>                       if re.search(r"(?&lt;!\w)" + re.escape(_plain(alias)) + r"(?!\w)", plain)]</a:t>
            </a:r>
          </a:p>
          <a:p xmlns:a="http://schemas.openxmlformats.org/drawingml/2006/main">
            <a:r>
              <a:t>            alias = max(aliases, key=len) if aliases else None</a:t>
            </a:r>
          </a:p>
          <a:p xmlns:a="http://schemas.openxmlformats.org/drawingml/2006/main">
            <a:r>
              <a:t>            if not alias and intent == "browse_catalog":</a:t>
            </a:r>
          </a:p>
          <a:p xmlns:a="http://schemas.openxmlformats.org/drawingml/2006/main">
            <a:r>
              <a:t>                categories = {p.get("category", "") for p in catalog} - {""}</a:t>
            </a:r>
          </a:p>
          <a:p xmlns:a="http://schemas.openxmlformats.org/drawingml/2006/main">
            <a:r>
              <a:t>                alias = next((c for c in sorted(categories) if re.search(r"\b" + re.escape(_plain(c)) + r"\b", plain)), None)</a:t>
            </a:r>
          </a:p>
          <a:p xmlns:a="http://schemas.openxmlformats.org/drawingml/2006/main">
            <a:r>
              <a:t>            sku = _span(chunk, r"\b([A-Z][A-Z0-9]*-[A-Z0-9]+-[A-Z0-9]+)\b")</a:t>
            </a:r>
          </a:p>
          <a:p xmlns:a="http://schemas.openxmlformats.org/drawingml/2006/main">
            <a:r>
              <a:t>            color = next((_span(chunk, r"\b(" + re.escape(_plain(c)) + r")\b") for c in colors</a:t>
            </a:r>
          </a:p>
          <a:p xmlns:a="http://schemas.openxmlformats.org/drawingml/2006/main">
            <a:r>
              <a:t>                          if re.search(r"\b" + re.escape(_plain(c)) + r"\b", plain)), None)</a:t>
            </a:r>
          </a:p>
          <a:p xmlns:a="http://schemas.openxmlformats.org/drawingml/2006/main">
            <a:r>
              <a:t>            size = _span(chunk, r"\bsize\s+([a-z0-9]+)\b")</a:t>
            </a:r>
          </a:p>
          <a:p xmlns:a="http://schemas.openxmlformats.org/drawingml/2006/main">
            <a:r>
              <a:t>            if re.search(r"\b\d+(?:[.,]\d+)?\s*(?:inch|inches)\b", plain):</a:t>
            </a:r>
          </a:p>
          <a:p xmlns:a="http://schemas.openxmlformats.org/drawingml/2006/main">
            <a:r>
              <a:t>                size = _span(chunk, r"\b(\d+(?:[.,]\d+)?\s*(?:inches|inch))\b")</a:t>
            </a:r>
          </a:p>
          <a:p xmlns:a="http://schemas.openxmlformats.org/drawingml/2006/main">
            <a:r>
              <a:t>            qty_text = _span(chunk, r"(?:\bchot|\bmua|\blay|\bdat|\bthanh|\bcon|\bso luong|\bcho\s+(?:em|anh|chi|toi|minh))\s*[:=]?\s+(-?\d+(?:[.,]\d+)?|mot|hai|ba|bon|nam|sau|bay|tam|chin|muoi)\b")</a:t>
            </a:r>
          </a:p>
          <a:p xmlns:a="http://schemas.openxmlformats.org/drawingml/2006/main">
            <a:r>
              <a:t>            if qty_text is None:</a:t>
            </a:r>
          </a:p>
          <a:p xmlns:a="http://schemas.openxmlformats.org/drawingml/2006/main">
            <a:r>
              <a:t>                qty_text = _span(chunk, r"^\s*(\d+)\s+")</a:t>
            </a:r>
          </a:p>
          <a:p xmlns:a="http://schemas.openxmlformats.org/drawingml/2006/main">
            <a:r>
              <a:t>            qty = NUMBER_WORDS.get(_plain(qty_text or ""))</a:t>
            </a:r>
          </a:p>
          <a:p xmlns:a="http://schemas.openxmlformats.org/drawingml/2006/main">
            <a:r>
              <a:t>            if qty_text and qty is None:</a:t>
            </a:r>
          </a:p>
          <a:p xmlns:a="http://schemas.openxmlformats.org/drawingml/2006/main">
            <a:r>
              <a:t>                try:</a:t>
            </a:r>
          </a:p>
          <a:p xmlns:a="http://schemas.openxmlformats.org/drawingml/2006/main">
            <a:r>
              <a:t>                    qty = int(qty_text)</a:t>
            </a:r>
          </a:p>
          <a:p xmlns:a="http://schemas.openxmlformats.org/drawingml/2006/main">
            <a:r>
              <a:t>                except ValueError:</a:t>
            </a:r>
          </a:p>
          <a:p xmlns:a="http://schemas.openxmlformats.org/drawingml/2006/main">
            <a:r>
              <a:t>                    qty = 0</a:t>
            </a:r>
          </a:p>
          <a:p xmlns:a="http://schemas.openxmlformats.org/drawingml/2006/main">
            <a:r>
              <a:t>            requested = _span(chunk, "(" + re.escape(_plain(alias)) + ")") if alias else None</a:t>
            </a:r>
          </a:p>
          <a:p xmlns:a="http://schemas.openxmlformats.org/drawingml/2006/main">
            <a:r>
              <a:t>            if intent == "browse_catalog" and not requested:</a:t>
            </a:r>
          </a:p>
          <a:p xmlns:a="http://schemas.openxmlformats.org/drawingml/2006/main">
            <a:r>
              <a:t>                candidate = _span(chunk, r"(?:tim|xem|thong tin ve)\s+(.+?)(?=\s+(?:duoi|tren|tu|con hang)\b|[,;?]|$)")</a:t>
            </a:r>
          </a:p>
          <a:p xmlns:a="http://schemas.openxmlformats.org/drawingml/2006/main">
            <a:r>
              <a:t>                if candidate and normalize(candidate) not in {"san pham", "catalog", "danh muc san pham", "hang"}:</a:t>
            </a:r>
          </a:p>
          <a:p xmlns:a="http://schemas.openxmlformats.org/drawingml/2006/main">
            <a:r>
              <a:t>                    requested = candidate</a:t>
            </a:r>
          </a:p>
          <a:p xmlns:a="http://schemas.openxmlformats.org/drawingml/2006/main">
            <a:r>
              <a:t>            if requested or sku or color or size or qty is not None:</a:t>
            </a:r>
          </a:p>
          <a:p xmlns:a="http://schemas.openxmlformats.org/drawingml/2006/main">
            <a:r>
              <a:t>                items.append({"requested_product": requested, "sku": sku.upper() if sku else None,</a:t>
            </a:r>
          </a:p>
          <a:p xmlns:a="http://schemas.openxmlformats.org/drawingml/2006/main">
            <a:r>
              <a:t>                              "variant": {"color": color, "size": size}, "quantity": qty})</a:t>
            </a:r>
          </a:p>
          <a:p xmlns:a="http://schemas.openxmlformats.org/drawingml/2006/main">
            <a:r>
              <a:t>            elif intent in {"create_order", "check_stock", "check_price"} and plain.strip():</a:t>
            </a:r>
          </a:p>
          <a:p xmlns:a="http://schemas.openxmlformats.org/drawingml/2006/main">
            <a:r>
              <a:t>                generic = normalize(chunk) in {"gia bao nhieu", "con hang khong", "con khong"}</a:t>
            </a:r>
          </a:p>
          <a:p xmlns:a="http://schemas.openxmlformats.org/drawingml/2006/main">
            <a:r>
              <a:t>                items.append({"requested_product": None if generic else chunk.strip()[:180], "sku": None,</a:t>
            </a:r>
          </a:p>
          <a:p xmlns:a="http://schemas.openxmlformats.org/drawingml/2006/main">
            <a:r>
              <a:t>                              "variant": {"color": None, "size": None}, "quantity": None})</a:t>
            </a:r>
          </a:p>
          <a:p xmlns:a="http://schemas.openxmlformats.org/drawingml/2006/main">
            <a:r>
              <a:t>        minimum = _span(message, r"(?:tu|tren|it nhat)\s+(\d+(?:[.,]\d+)*\s*(?:k|nghin|ngan|trieu|tr)?)\b")</a:t>
            </a:r>
          </a:p>
          <a:p xmlns:a="http://schemas.openxmlformats.org/drawingml/2006/main">
            <a:r>
              <a:t>        maximum = _span(message, r"(?:duoi|toi da|khong qua)\s+(\d+(?:[.,]\d+)*\s*(?:k|nghin|ngan|trieu|tr)?)\b")</a:t>
            </a:r>
          </a:p>
          <a:p xmlns:a="http://schemas.openxmlformats.org/drawingml/2006/main">
            <a:r>
              <a:t>        result = {"intent": intent, "confidence": "low" if intent == "unknown_or_handoff" else "high",</a:t>
            </a:r>
          </a:p>
          <a:p xmlns:a="http://schemas.openxmlformats.org/drawingml/2006/main">
            <a:r>
              <a:t>                  "items": items, "customer": {"name": name, "phone": phone, "address": address},</a:t>
            </a:r>
          </a:p>
          <a:p xmlns:a="http://schemas.openxmlformats.org/drawingml/2006/main">
            <a:r>
              <a:t>                  "order_reference": reference.upper() if reference else None,</a:t>
            </a:r>
          </a:p>
          <a:p xmlns:a="http://schemas.openxmlformats.org/drawingml/2006/main">
            <a:r>
              <a:t>                  "missing_information": [], "requires_human_review": intent == "unknown_or_handoff",</a:t>
            </a:r>
          </a:p>
          <a:p xmlns:a="http://schemas.openxmlformats.org/drawingml/2006/main">
            <a:r>
              <a:t>                  "evidence": [message if len(message) &lt;= 200 else message[:200].rsplit(" ", 1)[0]],</a:t>
            </a:r>
          </a:p>
          <a:p xmlns:a="http://schemas.openxmlformats.org/drawingml/2006/main">
            <a:r>
              <a:t>                  "catalog_filters": {"category": None, "min_price": next(iter(money_amounts(minimum)), None) if minimum else None,</a:t>
            </a:r>
          </a:p>
          <a:p xmlns:a="http://schemas.openxmlformats.org/drawingml/2006/main">
            <a:r>
              <a:t>                                      "max_price": next(iter(money_amounts(maximum)), None) if maximum else None,</a:t>
            </a:r>
          </a:p>
          <a:p xmlns:a="http://schemas.openxmlformats.org/drawingml/2006/main">
            <a:r>
              <a:t>                                      "in_stock_only": "con hang" in text or "co san" in text}}</a:t>
            </a:r>
          </a:p>
          <a:p xmlns:a="http://schemas.openxmlformats.org/drawingml/2006/main">
            <a:r>
              <a:t>        return LLMResult(json.dumps(result, ensure_ascii=False))</a:t>
            </a:r>
          </a:p>
          <a:p xmlns:a="http://schemas.openxmlformats.org/drawingml/2006/main">
            <a:r>
              <a:t/>
            </a:r>
          </a:p>
          <a:p xmlns:a="http://schemas.openxmlformats.org/drawingml/2006/main">
            <a:r>
              <a:t>make_client</a:t>
            </a:r>
          </a:p>
          <a:p xmlns:a="http://schemas.openxmlformats.org/drawingml/2006/main">
            <a:r>
              <a:t>Chức năng: Chọn GeminiLLMClient hoặc FakeLLMClient theo cấu hình provider.</a:t>
            </a:r>
          </a:p>
          <a:p xmlns:a="http://schemas.openxmlformats.org/drawingml/2006/main">
            <a:r>
              <a:t>Đầu vào: settings</a:t>
            </a:r>
          </a:p>
          <a:p xmlns:a="http://schemas.openxmlformats.org/drawingml/2006/main">
            <a:r>
              <a:t>Đầu ra/tác động: Client Gemini hoặc FakeLLM theo settings.</a:t>
            </a:r>
          </a:p>
          <a:p xmlns:a="http://schemas.openxmlformats.org/drawingml/2006/main">
            <a:r>
              <a:t>Nguồn: src/llm_client.py:190-191</a:t>
            </a:r>
          </a:p>
          <a:p xmlns:a="http://schemas.openxmlformats.org/drawingml/2006/main">
            <a:r>
              <a:t>Code đầy đủ:</a:t>
            </a:r>
          </a:p>
          <a:p xmlns:a="http://schemas.openxmlformats.org/drawingml/2006/main">
            <a:r>
              <a:t>def make_client(settings):</a:t>
            </a:r>
          </a:p>
          <a:p xmlns:a="http://schemas.openxmlformats.org/drawingml/2006/main">
            <a:r>
              <a:t>    return GeminiLLMClient(settings) if settings.llm_provider == "gemini" else FakeLLMClient()</a:t>
            </a:r>
          </a:p>
          <a:p xmlns:a="http://schemas.openxmlformats.org/drawingml/2006/main">
            <a:r>
              <a:t/>
            </a:r>
          </a:p>
          <a:p xmlns:a="http://schemas.openxmlformats.org/drawingml/2006/main">
            <a:r>
              <a:t>Nguồn code của bản chụp 22/10/2026:</a:t>
            </a:r>
          </a:p>
          <a:p xmlns:a="http://schemas.openxmlformats.org/drawingml/2006/main">
            <a:r>
              <a:t>src/llm_client.py:116-187   /   src/llm_client.py:190-191</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build_prompt</a:t>
            </a:r>
          </a:p>
          <a:p xmlns:a="http://schemas.openxmlformats.org/drawingml/2006/main">
            <a:r>
              <a:t>Chức năng: Ghép message, catalog và context có giới hạn thành JSON, trả riêng system prompt và user payload.</a:t>
            </a:r>
          </a:p>
          <a:p xmlns:a="http://schemas.openxmlformats.org/drawingml/2006/main">
            <a:r>
              <a:t>Đầu vào: message, catalog, context</a:t>
            </a:r>
          </a:p>
          <a:p xmlns:a="http://schemas.openxmlformats.org/drawingml/2006/main">
            <a:r>
              <a:t>Đầu ra/tác động: Tuple (SYSTEM_PROMPT, JSON payload).</a:t>
            </a:r>
          </a:p>
          <a:p xmlns:a="http://schemas.openxmlformats.org/drawingml/2006/main">
            <a:r>
              <a:t>Nguồn: src/prompts.py:48-54</a:t>
            </a:r>
          </a:p>
          <a:p xmlns:a="http://schemas.openxmlformats.org/drawingml/2006/main">
            <a:r>
              <a:t>Code đầy đủ:</a:t>
            </a:r>
          </a:p>
          <a:p xmlns:a="http://schemas.openxmlformats.org/drawingml/2006/main">
            <a:r>
              <a:t>def build_prompt(message, catalog, context):</a:t>
            </a:r>
          </a:p>
          <a:p xmlns:a="http://schemas.openxmlformats.org/drawingml/2006/main">
            <a:r>
              <a:t>    safe_context = {"pending_intent": context.get("pending_intent"),</a:t>
            </a:r>
          </a:p>
          <a:p xmlns:a="http://schemas.openxmlformats.org/drawingml/2006/main">
            <a:r>
              <a:t>                    "pending_items": context.get("items", []),</a:t>
            </a:r>
          </a:p>
          <a:p xmlns:a="http://schemas.openxmlformats.org/drawingml/2006/main">
            <a:r>
              <a:t>                    "recent_products": context.get("recent_products", [])}</a:t>
            </a:r>
          </a:p>
          <a:p xmlns:a="http://schemas.openxmlformats.org/drawingml/2006/main">
            <a:r>
              <a:t>    payload = {"CUSTOMER_MESSAGE": message, "CATALOG_CONTEXT": catalog,</a:t>
            </a:r>
          </a:p>
          <a:p xmlns:a="http://schemas.openxmlformats.org/drawingml/2006/main">
            <a:r>
              <a:t>               "CONVERSATION_CONTEXT": safe_context, "OUTPUT_SCHEMA": Extraction.model_json_schema()}</a:t>
            </a:r>
          </a:p>
          <a:p xmlns:a="http://schemas.openxmlformats.org/drawingml/2006/main">
            <a:r>
              <a:t>    return SYSTEM_PROMPT, json.dumps(payload, ensure_ascii=False)</a:t>
            </a:r>
          </a:p>
          <a:p xmlns:a="http://schemas.openxmlformats.org/drawingml/2006/main">
            <a:r>
              <a:t/>
            </a:r>
          </a:p>
          <a:p xmlns:a="http://schemas.openxmlformats.org/drawingml/2006/main">
            <a:r>
              <a:t>Nguồn code của bản chụp 22/10/2026:</a:t>
            </a:r>
          </a:p>
          <a:p xmlns:a="http://schemas.openxmlformats.org/drawingml/2006/main">
            <a:r>
              <a:t>src/prompts.py:48-54</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OutputError.__init__</a:t>
            </a:r>
          </a:p>
          <a:p xmlns:a="http://schemas.openxmlformats.org/drawingml/2006/main">
            <a:r>
              <a:t>Chức năng: Gắn mã lỗi kiểm tra output để workflow phân biệt lỗi JSON, schema và evidence.</a:t>
            </a:r>
          </a:p>
          <a:p xmlns:a="http://schemas.openxmlformats.org/drawingml/2006/main">
            <a:r>
              <a:t>Đầu vào: code</a:t>
            </a:r>
          </a:p>
          <a:p xmlns:a="http://schemas.openxmlformats.org/drawingml/2006/main">
            <a:r>
              <a:t>Đầu ra/tác động: Đối tượng lỗi output có code.</a:t>
            </a:r>
          </a:p>
          <a:p xmlns:a="http://schemas.openxmlformats.org/drawingml/2006/main">
            <a:r>
              <a:t>Nguồn: src/parser.py:54-55</a:t>
            </a:r>
          </a:p>
          <a:p xmlns:a="http://schemas.openxmlformats.org/drawingml/2006/main">
            <a:r>
              <a:t>Code đầy đủ:</a:t>
            </a:r>
          </a:p>
          <a:p xmlns:a="http://schemas.openxmlformats.org/drawingml/2006/main">
            <a:r>
              <a:t>    def __init__(self, code):</a:t>
            </a:r>
          </a:p>
          <a:p xmlns:a="http://schemas.openxmlformats.org/drawingml/2006/main">
            <a:r>
              <a:t>        self.code = code</a:t>
            </a:r>
          </a:p>
          <a:p xmlns:a="http://schemas.openxmlformats.org/drawingml/2006/main">
            <a:r>
              <a:t/>
            </a:r>
          </a:p>
          <a:p xmlns:a="http://schemas.openxmlformats.org/drawingml/2006/main">
            <a:r>
              <a:t>_unique_object</a:t>
            </a:r>
          </a:p>
          <a:p xmlns:a="http://schemas.openxmlformats.org/drawingml/2006/main">
            <a:r>
              <a:t>Chức năng: Phát hiện khóa JSON lặp trong cùng một object và từ chối kết quả đó.</a:t>
            </a:r>
          </a:p>
          <a:p xmlns:a="http://schemas.openxmlformats.org/drawingml/2006/main">
            <a:r>
              <a:t>Đầu vào: pairs</a:t>
            </a:r>
          </a:p>
          <a:p xmlns:a="http://schemas.openxmlformats.org/drawingml/2006/main">
            <a:r>
              <a:t>Đầu ra/tác động: Dictionary không có khóa trùng hoặc ValueError.</a:t>
            </a:r>
          </a:p>
          <a:p xmlns:a="http://schemas.openxmlformats.org/drawingml/2006/main">
            <a:r>
              <a:t>Nguồn: src/parser.py:58-64</a:t>
            </a:r>
          </a:p>
          <a:p xmlns:a="http://schemas.openxmlformats.org/drawingml/2006/main">
            <a:r>
              <a:t>Code đầy đủ:</a:t>
            </a:r>
          </a:p>
          <a:p xmlns:a="http://schemas.openxmlformats.org/drawingml/2006/main">
            <a:r>
              <a:t>def _unique_object(pairs):</a:t>
            </a:r>
          </a:p>
          <a:p xmlns:a="http://schemas.openxmlformats.org/drawingml/2006/main">
            <a:r>
              <a:t>    result = {}</a:t>
            </a:r>
          </a:p>
          <a:p xmlns:a="http://schemas.openxmlformats.org/drawingml/2006/main">
            <a:r>
              <a:t>    for key, value in pairs:</a:t>
            </a:r>
          </a:p>
          <a:p xmlns:a="http://schemas.openxmlformats.org/drawingml/2006/main">
            <a:r>
              <a:t>        if key in result:</a:t>
            </a:r>
          </a:p>
          <a:p xmlns:a="http://schemas.openxmlformats.org/drawingml/2006/main">
            <a:r>
              <a:t>            raise ValueError("duplicate key")</a:t>
            </a:r>
          </a:p>
          <a:p xmlns:a="http://schemas.openxmlformats.org/drawingml/2006/main">
            <a:r>
              <a:t>        result[key] = value</a:t>
            </a:r>
          </a:p>
          <a:p xmlns:a="http://schemas.openxmlformats.org/drawingml/2006/main">
            <a:r>
              <a:t>    return result</a:t>
            </a:r>
          </a:p>
          <a:p xmlns:a="http://schemas.openxmlformats.org/drawingml/2006/main">
            <a:r>
              <a:t/>
            </a:r>
          </a:p>
          <a:p xmlns:a="http://schemas.openxmlformats.org/drawingml/2006/main">
            <a:r>
              <a:t>Nguồn code của bản chụp 22/10/2026:</a:t>
            </a:r>
          </a:p>
          <a:p xmlns:a="http://schemas.openxmlformats.org/drawingml/2006/main">
            <a:r>
              <a:t>src/parser.py:54-55   /   src/parser.py:58-64</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parse_output</a:t>
            </a:r>
          </a:p>
          <a:p xmlns:a="http://schemas.openxmlformats.org/drawingml/2006/main">
            <a:r>
              <a:t>Chức năng: Giới hạn kích thước, parse JSON nghiêm ngặt và kiểm tra đối tượng Extraction bằng Pydantic.</a:t>
            </a:r>
          </a:p>
          <a:p xmlns:a="http://schemas.openxmlformats.org/drawingml/2006/main">
            <a:r>
              <a:t>Đầu vào: raw</a:t>
            </a:r>
          </a:p>
          <a:p xmlns:a="http://schemas.openxmlformats.org/drawingml/2006/main">
            <a:r>
              <a:t>Đầu ra/tác động: Extraction hợp schema hoặc OutputError.</a:t>
            </a:r>
          </a:p>
          <a:p xmlns:a="http://schemas.openxmlformats.org/drawingml/2006/main">
            <a:r>
              <a:t>Nguồn: src/parser.py:67-78</a:t>
            </a:r>
          </a:p>
          <a:p xmlns:a="http://schemas.openxmlformats.org/drawingml/2006/main">
            <a:r>
              <a:t>Code đầy đủ:</a:t>
            </a:r>
          </a:p>
          <a:p xmlns:a="http://schemas.openxmlformats.org/drawingml/2006/main">
            <a:r>
              <a:t>def parse_output(raw):</a:t>
            </a:r>
          </a:p>
          <a:p xmlns:a="http://schemas.openxmlformats.org/drawingml/2006/main">
            <a:r>
              <a:t>    if not isinstance(raw, str) or not raw.strip() or len(raw) &gt; 16000:</a:t>
            </a:r>
          </a:p>
          <a:p xmlns:a="http://schemas.openxmlformats.org/drawingml/2006/main">
            <a:r>
              <a:t>        raise OutputError("invalid_json")</a:t>
            </a:r>
          </a:p>
          <a:p xmlns:a="http://schemas.openxmlformats.org/drawingml/2006/main">
            <a:r>
              <a:t>    try:</a:t>
            </a:r>
          </a:p>
          <a:p xmlns:a="http://schemas.openxmlformats.org/drawingml/2006/main">
            <a:r>
              <a:t>        value = json.loads(raw, object_pairs_hook=_unique_object,</a:t>
            </a:r>
          </a:p>
          <a:p xmlns:a="http://schemas.openxmlformats.org/drawingml/2006/main">
            <a:r>
              <a:t>                           parse_constant=lambda _: (_ for _ in ()).throw(ValueError("non-finite")))</a:t>
            </a:r>
          </a:p>
          <a:p xmlns:a="http://schemas.openxmlformats.org/drawingml/2006/main">
            <a:r>
              <a:t>    except (ValueError, RecursionError):</a:t>
            </a:r>
          </a:p>
          <a:p xmlns:a="http://schemas.openxmlformats.org/drawingml/2006/main">
            <a:r>
              <a:t>        raise OutputError("invalid_json") from None</a:t>
            </a:r>
          </a:p>
          <a:p xmlns:a="http://schemas.openxmlformats.org/drawingml/2006/main">
            <a:r>
              <a:t>    try:</a:t>
            </a:r>
          </a:p>
          <a:p xmlns:a="http://schemas.openxmlformats.org/drawingml/2006/main">
            <a:r>
              <a:t>        return Extraction.model_validate(value)</a:t>
            </a:r>
          </a:p>
          <a:p xmlns:a="http://schemas.openxmlformats.org/drawingml/2006/main">
            <a:r>
              <a:t>    except ValidationError:</a:t>
            </a:r>
          </a:p>
          <a:p xmlns:a="http://schemas.openxmlformats.org/drawingml/2006/main">
            <a:r>
              <a:t>        raise OutputError("invalid_schema") from None</a:t>
            </a:r>
          </a:p>
          <a:p xmlns:a="http://schemas.openxmlformats.org/drawingml/2006/main">
            <a:r>
              <a:t/>
            </a:r>
          </a:p>
          <a:p xmlns:a="http://schemas.openxmlformats.org/drawingml/2006/main">
            <a:r>
              <a:t>money_amounts</a:t>
            </a:r>
          </a:p>
          <a:p xmlns:a="http://schemas.openxmlformats.org/drawingml/2006/main">
            <a:r>
              <a:t>Chức năng: Trích các mức tiền khách thực sự nêu, đổi k/nghìn/triệu thành số nguyên VND.</a:t>
            </a:r>
          </a:p>
          <a:p xmlns:a="http://schemas.openxmlformats.org/drawingml/2006/main">
            <a:r>
              <a:t>Đầu vào: text</a:t>
            </a:r>
          </a:p>
          <a:p xmlns:a="http://schemas.openxmlformats.org/drawingml/2006/main">
            <a:r>
              <a:t>Đầu ra/tác động: Tập các số tiền nguyên VND có trong câu.</a:t>
            </a:r>
          </a:p>
          <a:p xmlns:a="http://schemas.openxmlformats.org/drawingml/2006/main">
            <a:r>
              <a:t>Nguồn: src/parser.py:84-96</a:t>
            </a:r>
          </a:p>
          <a:p xmlns:a="http://schemas.openxmlformats.org/drawingml/2006/main">
            <a:r>
              <a:t>Code đầy đủ:</a:t>
            </a:r>
          </a:p>
          <a:p xmlns:a="http://schemas.openxmlformats.org/drawingml/2006/main">
            <a:r>
              <a:t>def money_amounts(text):</a:t>
            </a:r>
          </a:p>
          <a:p xmlns:a="http://schemas.openxmlformats.org/drawingml/2006/main">
            <a:r>
              <a:t>    matches = re.findall(r"(?&lt;![a-z0-9])(\d+(?:[.,]\d+)*)\s*(trieu|tr|nghin|ngan|k)?\b", normalize_money(text))</a:t>
            </a:r>
          </a:p>
          <a:p xmlns:a="http://schemas.openxmlformats.org/drawingml/2006/main">
            <a:r>
              <a:t>    amounts = set()</a:t>
            </a:r>
          </a:p>
          <a:p xmlns:a="http://schemas.openxmlformats.org/drawingml/2006/main">
            <a:r>
              <a:t>    for number, unit in matches:</a:t>
            </a:r>
          </a:p>
          <a:p xmlns:a="http://schemas.openxmlformats.org/drawingml/2006/main">
            <a:r>
              <a:t>        if re.fullmatch(r"\d{1,3}(?:[.,]\d{3})+", number):</a:t>
            </a:r>
          </a:p>
          <a:p xmlns:a="http://schemas.openxmlformats.org/drawingml/2006/main">
            <a:r>
              <a:t>            number = number.replace(",", "").replace(".", "")</a:t>
            </a:r>
          </a:p>
          <a:p xmlns:a="http://schemas.openxmlformats.org/drawingml/2006/main">
            <a:r>
              <a:t>        try:</a:t>
            </a:r>
          </a:p>
          <a:p xmlns:a="http://schemas.openxmlformats.org/drawingml/2006/main">
            <a:r>
              <a:t>            value = float(number.replace(",", ".")) * ({"trieu": 1000000, "tr": 1000000, "nghin": 1000, "ngan": 1000, "k": 1000}.get(unit, 1))</a:t>
            </a:r>
          </a:p>
          <a:p xmlns:a="http://schemas.openxmlformats.org/drawingml/2006/main">
            <a:r>
              <a:t>            if value.is_integer():</a:t>
            </a:r>
          </a:p>
          <a:p xmlns:a="http://schemas.openxmlformats.org/drawingml/2006/main">
            <a:r>
              <a:t>                amounts.add(int(value))</a:t>
            </a:r>
          </a:p>
          <a:p xmlns:a="http://schemas.openxmlformats.org/drawingml/2006/main">
            <a:r>
              <a:t>        except ValueError:</a:t>
            </a:r>
          </a:p>
          <a:p xmlns:a="http://schemas.openxmlformats.org/drawingml/2006/main">
            <a:r>
              <a:t>            continue</a:t>
            </a:r>
          </a:p>
          <a:p xmlns:a="http://schemas.openxmlformats.org/drawingml/2006/main">
            <a:r>
              <a:t>    return amounts</a:t>
            </a:r>
          </a:p>
          <a:p xmlns:a="http://schemas.openxmlformats.org/drawingml/2006/main">
            <a:r>
              <a:t/>
            </a:r>
          </a:p>
          <a:p xmlns:a="http://schemas.openxmlformats.org/drawingml/2006/main">
            <a:r>
              <a:t>Nguồn code của bản chụp 22/10/2026:</a:t>
            </a:r>
          </a:p>
          <a:p xmlns:a="http://schemas.openxmlformats.org/drawingml/2006/main">
            <a:r>
              <a:t>src/parser.py:67-78   /   src/parser.py:84-96</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normalize_money</a:t>
            </a:r>
          </a:p>
          <a:p xmlns:a="http://schemas.openxmlformats.org/drawingml/2006/main">
            <a:r>
              <a:t>Chức năng: Bỏ dấu và chuyển chữ thường nhưng giữ dấu thập phân để đọc các biểu thức tiền.</a:t>
            </a:r>
          </a:p>
          <a:p xmlns:a="http://schemas.openxmlformats.org/drawingml/2006/main">
            <a:r>
              <a:t>Đầu vào: text</a:t>
            </a:r>
          </a:p>
          <a:p xmlns:a="http://schemas.openxmlformats.org/drawingml/2006/main">
            <a:r>
              <a:t>Đầu ra/tác động: Chuỗi không dấu vẫn giữ ký hiệu tiền/số.</a:t>
            </a:r>
          </a:p>
          <a:p xmlns:a="http://schemas.openxmlformats.org/drawingml/2006/main">
            <a:r>
              <a:t>Nguồn: src/parser.py:99-101</a:t>
            </a:r>
          </a:p>
          <a:p xmlns:a="http://schemas.openxmlformats.org/drawingml/2006/main">
            <a:r>
              <a:t>Code đầy đủ:</a:t>
            </a:r>
          </a:p>
          <a:p xmlns:a="http://schemas.openxmlformats.org/drawingml/2006/main">
            <a:r>
              <a:t>def normalize_money(text):</a:t>
            </a:r>
          </a:p>
          <a:p xmlns:a="http://schemas.openxmlformats.org/drawingml/2006/main">
            <a:r>
              <a:t>    import unicodedata</a:t>
            </a:r>
          </a:p>
          <a:p xmlns:a="http://schemas.openxmlformats.org/drawingml/2006/main">
            <a:r>
              <a:t>    return "".join(c for c in unicodedata.normalize("NFD", text.lower().replace("đ", "d")) if unicodedata.category(c) != "Mn")</a:t>
            </a:r>
          </a:p>
          <a:p xmlns:a="http://schemas.openxmlformats.org/drawingml/2006/main">
            <a:r>
              <a:t/>
            </a:r>
          </a:p>
          <a:p xmlns:a="http://schemas.openxmlformats.org/drawingml/2006/main">
            <a:r>
              <a:t>quantity_source</a:t>
            </a:r>
          </a:p>
          <a:p xmlns:a="http://schemas.openxmlformats.org/drawingml/2006/main">
            <a:r>
              <a:t>Chức năng: Loại phần giao nhận, SKU và số đo khỏi nguồn kiểm tra số lượng, đánh dấu lượng âm/lẻ.</a:t>
            </a:r>
          </a:p>
          <a:p xmlns:a="http://schemas.openxmlformats.org/drawingml/2006/main">
            <a:r>
              <a:t>Đầu vào: message, customer</a:t>
            </a:r>
          </a:p>
          <a:p xmlns:a="http://schemas.openxmlformats.org/drawingml/2006/main">
            <a:r>
              <a:t>Đầu ra/tác động: Chuỗi chỉ phục vụ kiểm tra evidence số lượng.</a:t>
            </a:r>
          </a:p>
          <a:p xmlns:a="http://schemas.openxmlformats.org/drawingml/2006/main">
            <a:r>
              <a:t>Nguồn: src/parser.py:104-115</a:t>
            </a:r>
          </a:p>
          <a:p xmlns:a="http://schemas.openxmlformats.org/drawingml/2006/main">
            <a:r>
              <a:t>Code đầy đủ:</a:t>
            </a:r>
          </a:p>
          <a:p xmlns:a="http://schemas.openxmlformats.org/drawingml/2006/main">
            <a:r>
              <a:t>def quantity_source(message, customer=None):</a:t>
            </a:r>
          </a:p>
          <a:p xmlns:a="http://schemas.openxmlformats.org/drawingml/2006/main">
            <a:r>
              <a:t>    text = normalize_money(message)</a:t>
            </a:r>
          </a:p>
          <a:p xmlns:a="http://schemas.openxmlformats.org/drawingml/2006/main">
            <a:r>
              <a:t>    text = re.split(r"\b(?:ten|nguoi nhan|sdt|so dien thoai|giao ve|giao den|dia chi)\b", text)[0]</a:t>
            </a:r>
          </a:p>
          <a:p xmlns:a="http://schemas.openxmlformats.org/drawingml/2006/main">
            <a:r>
              <a:t>    if customer:</a:t>
            </a:r>
          </a:p>
          <a:p xmlns:a="http://schemas.openxmlformats.org/drawingml/2006/main">
            <a:r>
              <a:t>        for value in customer.model_dump().values():</a:t>
            </a:r>
          </a:p>
          <a:p xmlns:a="http://schemas.openxmlformats.org/drawingml/2006/main">
            <a:r>
              <a:t>            if value:</a:t>
            </a:r>
          </a:p>
          <a:p xmlns:a="http://schemas.openxmlformats.org/drawingml/2006/main">
            <a:r>
              <a:t>                text = text.replace(normalize_money(value), " ")</a:t>
            </a:r>
          </a:p>
          <a:p xmlns:a="http://schemas.openxmlformats.org/drawingml/2006/main">
            <a:r>
              <a:t>    text = re.sub(r"\b[a-z][a-z0-9]*(?:-[a-z0-9]+){2,}\b", " ", text)</a:t>
            </a:r>
          </a:p>
          <a:p xmlns:a="http://schemas.openxmlformats.org/drawingml/2006/main">
            <a:r>
              <a:t>    text = re.sub(r"\b\d+(?:[.,]\d+)?\s*(?:inches|inch|cm|mm|kg|g|ml)\b", " ", text)</a:t>
            </a:r>
          </a:p>
          <a:p xmlns:a="http://schemas.openxmlformats.org/drawingml/2006/main">
            <a:r>
              <a:t>    text = re.sub(r"\bsize\s+[a-z0-9]+\b", " ", text)</a:t>
            </a:r>
          </a:p>
          <a:p xmlns:a="http://schemas.openxmlformats.org/drawingml/2006/main">
            <a:r>
              <a:t>    text = re.sub(r"(?&lt;!\w)-\d+(?:[.,]\d+)?|\b\d+[.,]\d+\b", " invalidquantity ", text)</a:t>
            </a:r>
          </a:p>
          <a:p xmlns:a="http://schemas.openxmlformats.org/drawingml/2006/main">
            <a:r>
              <a:t>    return " " + normalize(text) + " "</a:t>
            </a:r>
          </a:p>
          <a:p xmlns:a="http://schemas.openxmlformats.org/drawingml/2006/main">
            <a:r>
              <a:t/>
            </a:r>
          </a:p>
          <a:p xmlns:a="http://schemas.openxmlformats.org/drawingml/2006/main">
            <a:r>
              <a:t>Nguồn code của bản chụp 22/10/2026:</a:t>
            </a:r>
          </a:p>
          <a:p xmlns:a="http://schemas.openxmlformats.org/drawingml/2006/main">
            <a:r>
              <a:t>src/parser.py:99-101   /   src/parser.py:104-115</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discard_implicit_quantities</a:t>
            </a:r>
          </a:p>
          <a:p xmlns:a="http://schemas.openxmlformats.org/drawingml/2006/main">
            <a:r>
              <a:t>Chức năng: Bỏ số lượng do model tự điền khi khách không nêu lượng, để workflow hỏi lại.</a:t>
            </a:r>
          </a:p>
          <a:p xmlns:a="http://schemas.openxmlformats.org/drawingml/2006/main">
            <a:r>
              <a:t>Đầu vào: data, message</a:t>
            </a:r>
          </a:p>
          <a:p xmlns:a="http://schemas.openxmlformats.org/drawingml/2006/main">
            <a:r>
              <a:t>Đầu ra/tác động: Extraction với quantity chưa nêu đã về None.</a:t>
            </a:r>
          </a:p>
          <a:p xmlns:a="http://schemas.openxmlformats.org/drawingml/2006/main">
            <a:r>
              <a:t>Nguồn: src/parser.py:118-124</a:t>
            </a:r>
          </a:p>
          <a:p xmlns:a="http://schemas.openxmlformats.org/drawingml/2006/main">
            <a:r>
              <a:t>Code đầy đủ:</a:t>
            </a:r>
          </a:p>
          <a:p xmlns:a="http://schemas.openxmlformats.org/drawingml/2006/main">
            <a:r>
              <a:t>def discard_implicit_quantities(data, message):</a:t>
            </a:r>
          </a:p>
          <a:p xmlns:a="http://schemas.openxmlformats.org/drawingml/2006/main">
            <a:r>
              <a:t>    source = quantity_source(message, data.customer)</a:t>
            </a:r>
          </a:p>
          <a:p xmlns:a="http://schemas.openxmlformats.org/drawingml/2006/main">
            <a:r>
              <a:t>    explicit = " invalidquantity " in source or re.search(r"\b\d+\b", source) or any(" " + word + " " in source for word in NUMBER_WORDS)</a:t>
            </a:r>
          </a:p>
          <a:p xmlns:a="http://schemas.openxmlformats.org/drawingml/2006/main">
            <a:r>
              <a:t>    if data.intent in {"create_order", "update_order"} and not explicit:</a:t>
            </a:r>
          </a:p>
          <a:p xmlns:a="http://schemas.openxmlformats.org/drawingml/2006/main">
            <a:r>
              <a:t>        for item in data.items:</a:t>
            </a:r>
          </a:p>
          <a:p xmlns:a="http://schemas.openxmlformats.org/drawingml/2006/main">
            <a:r>
              <a:t>            item.quantity = None</a:t>
            </a:r>
          </a:p>
          <a:p xmlns:a="http://schemas.openxmlformats.org/drawingml/2006/main">
            <a:r>
              <a:t>    return data</a:t>
            </a:r>
          </a:p>
          <a:p xmlns:a="http://schemas.openxmlformats.org/drawingml/2006/main">
            <a:r>
              <a:t/>
            </a:r>
          </a:p>
          <a:p xmlns:a="http://schemas.openxmlformats.org/drawingml/2006/main">
            <a:r>
              <a:t>validate_grounding</a:t>
            </a:r>
          </a:p>
          <a:p xmlns:a="http://schemas.openxmlformats.org/drawingml/2006/main">
            <a:r>
              <a:t>Chức năng: Kiểm tra các trường và bộ lọc bám câu hiện tại trước khi gộp vào context phía server.</a:t>
            </a:r>
          </a:p>
          <a:p xmlns:a="http://schemas.openxmlformats.org/drawingml/2006/main">
            <a:r>
              <a:t>Đầu vào: data, message</a:t>
            </a:r>
          </a:p>
          <a:p xmlns:a="http://schemas.openxmlformats.org/drawingml/2006/main">
            <a:r>
              <a:t>Đầu ra/tác động: Extraction đã kiểm tra hoặc OutputError.</a:t>
            </a:r>
          </a:p>
          <a:p xmlns:a="http://schemas.openxmlformats.org/drawingml/2006/main">
            <a:r>
              <a:t>Nguồn: src/parser.py:127-163</a:t>
            </a:r>
          </a:p>
          <a:p xmlns:a="http://schemas.openxmlformats.org/drawingml/2006/main">
            <a:r>
              <a:t>Code đầy đủ:</a:t>
            </a:r>
          </a:p>
          <a:p xmlns:a="http://schemas.openxmlformats.org/drawingml/2006/main">
            <a:r>
              <a:t>def validate_grounding(data, message):</a:t>
            </a:r>
          </a:p>
          <a:p xmlns:a="http://schemas.openxmlformats.org/drawingml/2006/main">
            <a:r>
              <a:t>    """Reject invented fields before merging them into server-owned conversation state."""</a:t>
            </a:r>
          </a:p>
          <a:p xmlns:a="http://schemas.openxmlformats.org/drawingml/2006/main">
            <a:r>
              <a:t>    text = " " + normalize(message) + " "</a:t>
            </a:r>
          </a:p>
          <a:p xmlns:a="http://schemas.openxmlformats.org/drawingml/2006/main">
            <a:r>
              <a:t>    def present(value):</a:t>
            </a:r>
          </a:p>
          <a:p xmlns:a="http://schemas.openxmlformats.org/drawingml/2006/main">
            <a:r>
              <a:t>        return value is None or (normalize(value) and " " + normalize(value) + " " in text)</a:t>
            </a:r>
          </a:p>
          <a:p xmlns:a="http://schemas.openxmlformats.org/drawingml/2006/main">
            <a:r>
              <a:t>    for item in data.items:</a:t>
            </a:r>
          </a:p>
          <a:p xmlns:a="http://schemas.openxmlformats.org/drawingml/2006/main">
            <a:r>
              <a:t>        if not all(present(v) for v in (item.requested_product, item.sku, item.variant.color)):</a:t>
            </a:r>
          </a:p>
          <a:p xmlns:a="http://schemas.openxmlformats.org/drawingml/2006/main">
            <a:r>
              <a:t>            raise OutputError("ungrounded_output")</a:t>
            </a:r>
          </a:p>
          <a:p xmlns:a="http://schemas.openxmlformats.org/drawingml/2006/main">
            <a:r>
              <a:t>        if item.variant.size and not present(item.variant.size):</a:t>
            </a:r>
          </a:p>
          <a:p xmlns:a="http://schemas.openxmlformats.org/drawingml/2006/main">
            <a:r>
              <a:t>            if " " + size_value(item.variant.size) + " " not in " " + size_value(message) + " ":</a:t>
            </a:r>
          </a:p>
          <a:p xmlns:a="http://schemas.openxmlformats.org/drawingml/2006/main">
            <a:r>
              <a:t>                raise OutputError("ungrounded_output")</a:t>
            </a:r>
          </a:p>
          <a:p xmlns:a="http://schemas.openxmlformats.org/drawingml/2006/main">
            <a:r>
              <a:t>        if item.quantity is not None:</a:t>
            </a:r>
          </a:p>
          <a:p xmlns:a="http://schemas.openxmlformats.org/drawingml/2006/main">
            <a:r>
              <a:t>            words = [w for w, n in NUMBER_WORDS.items() if n == item.quantity]</a:t>
            </a:r>
          </a:p>
          <a:p xmlns:a="http://schemas.openxmlformats.org/drawingml/2006/main">
            <a:r>
              <a:t>            if not any(" " + q + " " in quantity_source(message, data.customer) for q in [str(item.quantity), *words]):</a:t>
            </a:r>
          </a:p>
          <a:p xmlns:a="http://schemas.openxmlformats.org/drawingml/2006/main">
            <a:r>
              <a:t>                raise OutputError("ungrounded_output")</a:t>
            </a:r>
          </a:p>
          <a:p xmlns:a="http://schemas.openxmlformats.org/drawingml/2006/main">
            <a:r>
              <a:t>    if not all(present(v) for v in (data.customer.name, data.customer.address, data.order_reference)):</a:t>
            </a:r>
          </a:p>
          <a:p xmlns:a="http://schemas.openxmlformats.org/drawingml/2006/main">
            <a:r>
              <a:t>        raise OutputError("ungrounded_output")</a:t>
            </a:r>
          </a:p>
          <a:p xmlns:a="http://schemas.openxmlformats.org/drawingml/2006/main">
            <a:r>
              <a:t>    if data.customer.phone:</a:t>
            </a:r>
          </a:p>
          <a:p xmlns:a="http://schemas.openxmlformats.org/drawingml/2006/main">
            <a:r>
              <a:t>        phone = re.sub(r"\D", "", data.customer.phone)</a:t>
            </a:r>
          </a:p>
          <a:p xmlns:a="http://schemas.openxmlformats.org/drawingml/2006/main">
            <a:r>
              <a:t>        source = re.sub(r"[ .+\-]", "", message)</a:t>
            </a:r>
          </a:p>
          <a:p xmlns:a="http://schemas.openxmlformats.org/drawingml/2006/main">
            <a:r>
              <a:t>        if not phone or phone not in source:</a:t>
            </a:r>
          </a:p>
          <a:p xmlns:a="http://schemas.openxmlformats.org/drawingml/2006/main">
            <a:r>
              <a:t>            raise OutputError("ungrounded_output")</a:t>
            </a:r>
          </a:p>
          <a:p xmlns:a="http://schemas.openxmlformats.org/drawingml/2006/main">
            <a:r>
              <a:t>    if any(not present(e) for e in data.evidence):</a:t>
            </a:r>
          </a:p>
          <a:p xmlns:a="http://schemas.openxmlformats.org/drawingml/2006/main">
            <a:r>
              <a:t>        raise OutputError("ungrounded_output")</a:t>
            </a:r>
          </a:p>
          <a:p xmlns:a="http://schemas.openxmlformats.org/drawingml/2006/main">
            <a:r>
              <a:t>    filters = data.catalog_filters</a:t>
            </a:r>
          </a:p>
          <a:p xmlns:a="http://schemas.openxmlformats.org/drawingml/2006/main">
            <a:r>
              <a:t>    if not present(filters.category):</a:t>
            </a:r>
          </a:p>
          <a:p xmlns:a="http://schemas.openxmlformats.org/drawingml/2006/main">
            <a:r>
              <a:t>        raise OutputError("ungrounded_output")</a:t>
            </a:r>
          </a:p>
          <a:p xmlns:a="http://schemas.openxmlformats.org/drawingml/2006/main">
            <a:r>
              <a:t>    amounts = money_amounts(message)</a:t>
            </a:r>
          </a:p>
          <a:p xmlns:a="http://schemas.openxmlformats.org/drawingml/2006/main">
            <a:r>
              <a:t>    if any(p is not None and p not in amounts for p in (filters.min_price, filters.max_price)):</a:t>
            </a:r>
          </a:p>
          <a:p xmlns:a="http://schemas.openxmlformats.org/drawingml/2006/main">
            <a:r>
              <a:t>        raise OutputError("ungrounded_output")</a:t>
            </a:r>
          </a:p>
          <a:p xmlns:a="http://schemas.openxmlformats.org/drawingml/2006/main">
            <a:r>
              <a:t>    if filters.min_price is not None and filters.max_price is not None and filters.min_price &gt; filters.max_price:</a:t>
            </a:r>
          </a:p>
          <a:p xmlns:a="http://schemas.openxmlformats.org/drawingml/2006/main">
            <a:r>
              <a:t>        raise OutputError("invalid_price_range")</a:t>
            </a:r>
          </a:p>
          <a:p xmlns:a="http://schemas.openxmlformats.org/drawingml/2006/main">
            <a:r>
              <a:t>    if filters.in_stock_only and not any(p in text for p in (" con hang ", " co san ", " dang co hang ")):</a:t>
            </a:r>
          </a:p>
          <a:p xmlns:a="http://schemas.openxmlformats.org/drawingml/2006/main">
            <a:r>
              <a:t>        raise OutputError("ungrounded_output")</a:t>
            </a:r>
          </a:p>
          <a:p xmlns:a="http://schemas.openxmlformats.org/drawingml/2006/main">
            <a:r>
              <a:t>    if (data.items or any(data.customer.model_dump().values()) or data.order_reference) and not data.evidence:</a:t>
            </a:r>
          </a:p>
          <a:p xmlns:a="http://schemas.openxmlformats.org/drawingml/2006/main">
            <a:r>
              <a:t>        raise OutputError("missing_evidence")</a:t>
            </a:r>
          </a:p>
          <a:p xmlns:a="http://schemas.openxmlformats.org/drawingml/2006/main">
            <a:r>
              <a:t>    return data</a:t>
            </a:r>
          </a:p>
          <a:p xmlns:a="http://schemas.openxmlformats.org/drawingml/2006/main">
            <a:r>
              <a:t/>
            </a:r>
          </a:p>
          <a:p xmlns:a="http://schemas.openxmlformats.org/drawingml/2006/main">
            <a:r>
              <a:t>Nguồn code của bản chụp 22/10/2026:</a:t>
            </a:r>
          </a:p>
          <a:p xmlns:a="http://schemas.openxmlformats.org/drawingml/2006/main">
            <a:r>
              <a:t>src/parser.py:118-124   /   src/parser.py:127-163</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validate_grounding.present</a:t>
            </a:r>
          </a:p>
          <a:p xmlns:a="http://schemas.openxmlformats.org/drawingml/2006/main">
            <a:r>
              <a:t>Chức năng: Kiểm tra giá trị null hoặc chuỗi đã chuẩn hóa có xuất hiện thành đoạn trong câu khách.</a:t>
            </a:r>
          </a:p>
          <a:p xmlns:a="http://schemas.openxmlformats.org/drawingml/2006/main">
            <a:r>
              <a:t>Đầu vào: value</a:t>
            </a:r>
          </a:p>
          <a:p xmlns:a="http://schemas.openxmlformats.org/drawingml/2006/main">
            <a:r>
              <a:t>Đầu ra/tác động: Boolean trường null hoặc có đoạn văn bản tương ứng.</a:t>
            </a:r>
          </a:p>
          <a:p xmlns:a="http://schemas.openxmlformats.org/drawingml/2006/main">
            <a:r>
              <a:t>Nguồn: src/parser.py:130-131</a:t>
            </a:r>
          </a:p>
          <a:p xmlns:a="http://schemas.openxmlformats.org/drawingml/2006/main">
            <a:r>
              <a:t>Code đầy đủ:</a:t>
            </a:r>
          </a:p>
          <a:p xmlns:a="http://schemas.openxmlformats.org/drawingml/2006/main">
            <a:r>
              <a:t>    def present(value):</a:t>
            </a:r>
          </a:p>
          <a:p xmlns:a="http://schemas.openxmlformats.org/drawingml/2006/main">
            <a:r>
              <a:t>        return value is None or (normalize(value) and " " + normalize(value) + " " in text)</a:t>
            </a:r>
          </a:p>
          <a:p xmlns:a="http://schemas.openxmlformats.org/drawingml/2006/main">
            <a:r>
              <a:t/>
            </a:r>
          </a:p>
          <a:p xmlns:a="http://schemas.openxmlformats.org/drawingml/2006/main">
            <a:r>
              <a:t>Nguồn code của bản chụp 22/10/2026:</a:t>
            </a:r>
          </a:p>
          <a:p xmlns:a="http://schemas.openxmlformats.org/drawingml/2006/main">
            <a:r>
              <a:t>src/parser.py:130-131</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DailyBudget.__init__</a:t>
            </a:r>
          </a:p>
          <a:p xmlns:a="http://schemas.openxmlformats.org/drawingml/2006/main">
            <a:r>
              <a:t>Chức năng: Chuẩn bị ledger SQLite riêng và bảng lưu số HTTP attempt theo model/ngày.</a:t>
            </a:r>
          </a:p>
          <a:p xmlns:a="http://schemas.openxmlformats.org/drawingml/2006/main">
            <a:r>
              <a:t>Đầu vào: path, limit</a:t>
            </a:r>
          </a:p>
          <a:p xmlns:a="http://schemas.openxmlformats.org/drawingml/2006/main">
            <a:r>
              <a:t>Đầu ra/tác động: Ledger có bảng llm_daily_usage.</a:t>
            </a:r>
          </a:p>
          <a:p xmlns:a="http://schemas.openxmlformats.org/drawingml/2006/main">
            <a:r>
              <a:t>Nguồn: src/quota.py:13-20</a:t>
            </a:r>
          </a:p>
          <a:p xmlns:a="http://schemas.openxmlformats.org/drawingml/2006/main">
            <a:r>
              <a:t>Code đầy đủ:</a:t>
            </a:r>
          </a:p>
          <a:p xmlns:a="http://schemas.openxmlformats.org/drawingml/2006/main">
            <a:r>
              <a:t>    def __init__(self, path, limit):</a:t>
            </a:r>
          </a:p>
          <a:p xmlns:a="http://schemas.openxmlformats.org/drawingml/2006/main">
            <a:r>
              <a:t>        self.path = str(path)</a:t>
            </a:r>
          </a:p>
          <a:p xmlns:a="http://schemas.openxmlformats.org/drawingml/2006/main">
            <a:r>
              <a:t>        self.limit = limit</a:t>
            </a:r>
          </a:p>
          <a:p xmlns:a="http://schemas.openxmlformats.org/drawingml/2006/main">
            <a:r>
              <a:t>        Path(self.path).parent.mkdir(parents=True, exist_ok=True)</a:t>
            </a:r>
          </a:p>
          <a:p xmlns:a="http://schemas.openxmlformats.org/drawingml/2006/main">
            <a:r>
              <a:t>        with closing(sqlite3.connect(self.path)) as conn, conn:</a:t>
            </a:r>
          </a:p>
          <a:p xmlns:a="http://schemas.openxmlformats.org/drawingml/2006/main">
            <a:r>
              <a:t>            conn.execute("CREATE TABLE IF NOT EXISTS llm_daily_usage ("</a:t>
            </a:r>
          </a:p>
          <a:p xmlns:a="http://schemas.openxmlformats.org/drawingml/2006/main">
            <a:r>
              <a:t>                         "model_id TEXT NOT NULL, quota_day TEXT NOT NULL, attempts INTEGER NOT NULL,"</a:t>
            </a:r>
          </a:p>
          <a:p xmlns:a="http://schemas.openxmlformats.org/drawingml/2006/main">
            <a:r>
              <a:t>                         "PRIMARY KEY(model_id,quota_day))")</a:t>
            </a:r>
          </a:p>
          <a:p xmlns:a="http://schemas.openxmlformats.org/drawingml/2006/main">
            <a:r>
              <a:t/>
            </a:r>
          </a:p>
          <a:p xmlns:a="http://schemas.openxmlformats.org/drawingml/2006/main">
            <a:r>
              <a:t>DailyBudget.reserve</a:t>
            </a:r>
          </a:p>
          <a:p xmlns:a="http://schemas.openxmlformats.org/drawingml/2006/main">
            <a:r>
              <a:t>Chức năng: Giữ một lượt gọi trước khi gửi HTTP, chặn vượt ngân sách trong transaction theo ngày Pacific.</a:t>
            </a:r>
          </a:p>
          <a:p xmlns:a="http://schemas.openxmlformats.org/drawingml/2006/main">
            <a:r>
              <a:t>Đầu vào: model_id, now</a:t>
            </a:r>
          </a:p>
          <a:p xmlns:a="http://schemas.openxmlformats.org/drawingml/2006/main">
            <a:r>
              <a:t>Đầu ra/tác động: Số lượt đã dùng sau tăng, hoặc DailyLimitReached.</a:t>
            </a:r>
          </a:p>
          <a:p xmlns:a="http://schemas.openxmlformats.org/drawingml/2006/main">
            <a:r>
              <a:t>Nguồn: src/quota.py:22-32</a:t>
            </a:r>
          </a:p>
          <a:p xmlns:a="http://schemas.openxmlformats.org/drawingml/2006/main">
            <a:r>
              <a:t>Code đầy đủ:</a:t>
            </a:r>
          </a:p>
          <a:p xmlns:a="http://schemas.openxmlformats.org/drawingml/2006/main">
            <a:r>
              <a:t>    def reserve(self, model_id, now=None):</a:t>
            </a:r>
          </a:p>
          <a:p xmlns:a="http://schemas.openxmlformats.org/drawingml/2006/main">
            <a:r>
              <a:t>        day = (now or datetime.now(ZoneInfo("America/Los_Angeles"))).astimezone(ZoneInfo("America/Los_Angeles")).date().isoformat()</a:t>
            </a:r>
          </a:p>
          <a:p xmlns:a="http://schemas.openxmlformats.org/drawingml/2006/main">
            <a:r>
              <a:t>        with closing(sqlite3.connect(self.path, timeout=10)) as conn, conn:</a:t>
            </a:r>
          </a:p>
          <a:p xmlns:a="http://schemas.openxmlformats.org/drawingml/2006/main">
            <a:r>
              <a:t>            conn.execute("BEGIN IMMEDIATE")</a:t>
            </a:r>
          </a:p>
          <a:p xmlns:a="http://schemas.openxmlformats.org/drawingml/2006/main">
            <a:r>
              <a:t>            row = conn.execute("SELECT attempts FROM llm_daily_usage WHERE model_id=? AND quota_day=?", (model_id, day)).fetchone()</a:t>
            </a:r>
          </a:p>
          <a:p xmlns:a="http://schemas.openxmlformats.org/drawingml/2006/main">
            <a:r>
              <a:t>            used = row[0] if row else 0</a:t>
            </a:r>
          </a:p>
          <a:p xmlns:a="http://schemas.openxmlformats.org/drawingml/2006/main">
            <a:r>
              <a:t>            if used &gt;= self.limit:</a:t>
            </a:r>
          </a:p>
          <a:p xmlns:a="http://schemas.openxmlformats.org/drawingml/2006/main">
            <a:r>
              <a:t>                raise DailyLimitReached()</a:t>
            </a:r>
          </a:p>
          <a:p xmlns:a="http://schemas.openxmlformats.org/drawingml/2006/main">
            <a:r>
              <a:t>            conn.execute("INSERT INTO llm_daily_usage VALUES (?,?,1) ON CONFLICT(model_id,quota_day)"</a:t>
            </a:r>
          </a:p>
          <a:p xmlns:a="http://schemas.openxmlformats.org/drawingml/2006/main">
            <a:r>
              <a:t>                         " DO UPDATE SET attempts=attempts+1", (model_id, day))</a:t>
            </a:r>
          </a:p>
          <a:p xmlns:a="http://schemas.openxmlformats.org/drawingml/2006/main">
            <a:r>
              <a:t>            return used + 1</a:t>
            </a:r>
          </a:p>
          <a:p xmlns:a="http://schemas.openxmlformats.org/drawingml/2006/main">
            <a:r>
              <a:t/>
            </a:r>
          </a:p>
          <a:p xmlns:a="http://schemas.openxmlformats.org/drawingml/2006/main">
            <a:r>
              <a:t>Nguồn code của bản chụp 22/10/2026:</a:t>
            </a:r>
          </a:p>
          <a:p xmlns:a="http://schemas.openxmlformats.org/drawingml/2006/main">
            <a:r>
              <a:t>src/quota.py:13-20   /   src/quota.py:22-32</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product_view</a:t>
            </a:r>
          </a:p>
          <a:p xmlns:a="http://schemas.openxmlformats.org/drawingml/2006/main">
            <a:r>
              <a:t>Chức năng: Đổi dữ liệu catalog nội bộ thành cấu trúc sản phẩm/biến thể cho frontend.</a:t>
            </a:r>
          </a:p>
          <a:p xmlns:a="http://schemas.openxmlformats.org/drawingml/2006/main">
            <a:r>
              <a:t>Đầu vào: product</a:t>
            </a:r>
          </a:p>
          <a:p xmlns:a="http://schemas.openxmlformats.org/drawingml/2006/main">
            <a:r>
              <a:t>Đầu ra/tác động: Dictionary product/variants theo hợp đồng frontend.</a:t>
            </a:r>
          </a:p>
          <a:p xmlns:a="http://schemas.openxmlformats.org/drawingml/2006/main">
            <a:r>
              <a:t>Nguồn: backend/services.py:12-19</a:t>
            </a:r>
          </a:p>
          <a:p xmlns:a="http://schemas.openxmlformats.org/drawingml/2006/main">
            <a:r>
              <a:t>Code đầy đủ:</a:t>
            </a:r>
          </a:p>
          <a:p xmlns:a="http://schemas.openxmlformats.org/drawingml/2006/main">
            <a:r>
              <a:t>def product_view(product):</a:t>
            </a:r>
          </a:p>
          <a:p xmlns:a="http://schemas.openxmlformats.org/drawingml/2006/main">
            <a:r>
              <a:t>    return {</a:t>
            </a:r>
          </a:p>
          <a:p xmlns:a="http://schemas.openxmlformats.org/drawingml/2006/main">
            <a:r>
              <a:t>        **{k: product[k] for k in ("product_id", "name", "category", "description", "in_stock")},</a:t>
            </a:r>
          </a:p>
          <a:p xmlns:a="http://schemas.openxmlformats.org/drawingml/2006/main">
            <a:r>
              <a:t>        "price_from": product["price_min"], "price_to": product["price_max"],</a:t>
            </a:r>
          </a:p>
          <a:p xmlns:a="http://schemas.openxmlformats.org/drawingml/2006/main">
            <a:r>
              <a:t>        "variants": [{"sku": v["sku"], "label": v["variant_name"], "unit_price": v["price"],</a:t>
            </a:r>
          </a:p>
          <a:p xmlns:a="http://schemas.openxmlformats.org/drawingml/2006/main">
            <a:r>
              <a:t>                      "stock": v["stock"], "color": v["color"], "size": v["size"]}</a:t>
            </a:r>
          </a:p>
          <a:p xmlns:a="http://schemas.openxmlformats.org/drawingml/2006/main">
            <a:r>
              <a:t>                     for v in product["variants"]],</a:t>
            </a:r>
          </a:p>
          <a:p xmlns:a="http://schemas.openxmlformats.org/drawingml/2006/main">
            <a:r>
              <a:t>    }</a:t>
            </a:r>
          </a:p>
          <a:p xmlns:a="http://schemas.openxmlformats.org/drawingml/2006/main">
            <a:r>
              <a:t/>
            </a:r>
          </a:p>
          <a:p xmlns:a="http://schemas.openxmlformats.org/drawingml/2006/main">
            <a:r>
              <a:t>order_number</a:t>
            </a:r>
          </a:p>
          <a:p xmlns:a="http://schemas.openxmlformats.org/drawingml/2006/main">
            <a:r>
              <a:t>Chức năng: Kiểm tra mã đơn dạng DH000001 rồi lấy phần ID số để truy vấn database.</a:t>
            </a:r>
          </a:p>
          <a:p xmlns:a="http://schemas.openxmlformats.org/drawingml/2006/main">
            <a:r>
              <a:t>Đầu vào: value</a:t>
            </a:r>
          </a:p>
          <a:p xmlns:a="http://schemas.openxmlformats.org/drawingml/2006/main">
            <a:r>
              <a:t>Đầu ra/tác động: ID đơn kiểu int hoặc lỗi 404.</a:t>
            </a:r>
          </a:p>
          <a:p xmlns:a="http://schemas.openxmlformats.org/drawingml/2006/main">
            <a:r>
              <a:t>Nguồn: backend/services.py:23-26</a:t>
            </a:r>
          </a:p>
          <a:p xmlns:a="http://schemas.openxmlformats.org/drawingml/2006/main">
            <a:r>
              <a:t>Code đầy đủ:</a:t>
            </a:r>
          </a:p>
          <a:p xmlns:a="http://schemas.openxmlformats.org/drawingml/2006/main">
            <a:r>
              <a:t>def order_number(value):</a:t>
            </a:r>
          </a:p>
          <a:p xmlns:a="http://schemas.openxmlformats.org/drawingml/2006/main">
            <a:r>
              <a:t>    if not isinstance(value, str) or not re.fullmatch(r"DH\d{6,10}", value):</a:t>
            </a:r>
          </a:p>
          <a:p xmlns:a="http://schemas.openxmlformats.org/drawingml/2006/main">
            <a:r>
              <a:t>        raise ApiProblem(404, "not_found", "Không tìm thấy đơn hàng trong phiên của bạn.")</a:t>
            </a:r>
          </a:p>
          <a:p xmlns:a="http://schemas.openxmlformats.org/drawingml/2006/main">
            <a:r>
              <a:t>    return int(value[2:])</a:t>
            </a:r>
          </a:p>
          <a:p xmlns:a="http://schemas.openxmlformats.org/drawingml/2006/main">
            <a:r>
              <a:t/>
            </a:r>
          </a:p>
          <a:p xmlns:a="http://schemas.openxmlformats.org/drawingml/2006/main">
            <a:r>
              <a:t>Nguồn code của bản chụp 22/10/2026:</a:t>
            </a:r>
          </a:p>
          <a:p xmlns:a="http://schemas.openxmlformats.org/drawingml/2006/main">
            <a:r>
              <a:t>backend/services.py:12-19   /   backend/services.py:23-26</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owned_order</a:t>
            </a:r>
          </a:p>
          <a:p xmlns:a="http://schemas.openxmlformats.org/drawingml/2006/main">
            <a:r>
              <a:t>Chức năng: Lấy đơn và từ chối truy cập nếu đơn không thuộc chủ phiên đang yêu cầu.</a:t>
            </a:r>
          </a:p>
          <a:p xmlns:a="http://schemas.openxmlformats.org/drawingml/2006/main">
            <a:r>
              <a:t>Đầu vào: conn, owner, order_id</a:t>
            </a:r>
          </a:p>
          <a:p xmlns:a="http://schemas.openxmlformats.org/drawingml/2006/main">
            <a:r>
              <a:t>Đầu ra/tác động: Đơn nội bộ của owner hoặc lỗi 404.</a:t>
            </a:r>
          </a:p>
          <a:p xmlns:a="http://schemas.openxmlformats.org/drawingml/2006/main">
            <a:r>
              <a:t>Nguồn: backend/services.py:30-34</a:t>
            </a:r>
          </a:p>
          <a:p xmlns:a="http://schemas.openxmlformats.org/drawingml/2006/main">
            <a:r>
              <a:t>Code đầy đủ:</a:t>
            </a:r>
          </a:p>
          <a:p xmlns:a="http://schemas.openxmlformats.org/drawingml/2006/main">
            <a:r>
              <a:t>def owned_order(conn, owner, order_id):</a:t>
            </a:r>
          </a:p>
          <a:p xmlns:a="http://schemas.openxmlformats.org/drawingml/2006/main">
            <a:r>
              <a:t>    order = orders.get_order(conn, order_id)</a:t>
            </a:r>
          </a:p>
          <a:p xmlns:a="http://schemas.openxmlformats.org/drawingml/2006/main">
            <a:r>
              <a:t>    if order["owner_id"] != owner:</a:t>
            </a:r>
          </a:p>
          <a:p xmlns:a="http://schemas.openxmlformats.org/drawingml/2006/main">
            <a:r>
              <a:t>        raise ApiProblem(404, "not_found", "Không tìm thấy đơn hàng trong phiên của bạn.")</a:t>
            </a:r>
          </a:p>
          <a:p xmlns:a="http://schemas.openxmlformats.org/drawingml/2006/main">
            <a:r>
              <a:t>    return order</a:t>
            </a:r>
          </a:p>
          <a:p xmlns:a="http://schemas.openxmlformats.org/drawingml/2006/main">
            <a:r>
              <a:t/>
            </a:r>
          </a:p>
          <a:p xmlns:a="http://schemas.openxmlformats.org/drawingml/2006/main">
            <a:r>
              <a:t>order_view</a:t>
            </a:r>
          </a:p>
          <a:p xmlns:a="http://schemas.openxmlformats.org/drawingml/2006/main">
            <a:r>
              <a:t>Chức năng: Ghép dòng hàng, biến thể có thể đổi và giao nhận thành dữ liệu đơn cho frontend.</a:t>
            </a:r>
          </a:p>
          <a:p xmlns:a="http://schemas.openxmlformats.org/drawingml/2006/main">
            <a:r>
              <a:t>Đầu vào: conn, order</a:t>
            </a:r>
          </a:p>
          <a:p xmlns:a="http://schemas.openxmlformats.org/drawingml/2006/main">
            <a:r>
              <a:t>Đầu ra/tác động: Dictionary đơn, dòng hàng, tổng, giao nhận và editable.</a:t>
            </a:r>
          </a:p>
          <a:p xmlns:a="http://schemas.openxmlformats.org/drawingml/2006/main">
            <a:r>
              <a:t>Nguồn: backend/services.py:38-53</a:t>
            </a:r>
          </a:p>
          <a:p xmlns:a="http://schemas.openxmlformats.org/drawingml/2006/main">
            <a:r>
              <a:t>Code đầy đủ:</a:t>
            </a:r>
          </a:p>
          <a:p xmlns:a="http://schemas.openxmlformats.org/drawingml/2006/main">
            <a:r>
              <a:t>def order_view(conn, order):</a:t>
            </a:r>
          </a:p>
          <a:p xmlns:a="http://schemas.openxmlformats.org/drawingml/2006/main">
            <a:r>
              <a:t>    rows = conn.execute("SELECT * FROM order_items WHERE order_id=? ORDER BY id", (order["id"],)).fetchall()</a:t>
            </a:r>
          </a:p>
          <a:p xmlns:a="http://schemas.openxmlformats.org/drawingml/2006/main">
            <a:r>
              <a:t>    items = []</a:t>
            </a:r>
          </a:p>
          <a:p xmlns:a="http://schemas.openxmlformats.org/drawingml/2006/main">
            <a:r>
              <a:t>    for row in rows:</a:t>
            </a:r>
          </a:p>
          <a:p xmlns:a="http://schemas.openxmlformats.org/drawingml/2006/main">
            <a:r>
              <a:t>        variants = conn.execute(</a:t>
            </a:r>
          </a:p>
          <a:p xmlns:a="http://schemas.openxmlformats.org/drawingml/2006/main">
            <a:r>
              <a:t>            "SELECT v.sku, v.variant_name FROM product_variants v JOIN products p ON p.id=v.product_id"</a:t>
            </a:r>
          </a:p>
          <a:p xmlns:a="http://schemas.openxmlformats.org/drawingml/2006/main">
            <a:r>
              <a:t>            " WHERE v.product_id=(SELECT product_id FROM product_variants WHERE sku=?)"</a:t>
            </a:r>
          </a:p>
          <a:p xmlns:a="http://schemas.openxmlformats.org/drawingml/2006/main">
            <a:r>
              <a:t>            " AND v.is_active=1 AND p.is_active=1 ORDER BY v.sku", (row["sku"],)).fetchall()</a:t>
            </a:r>
          </a:p>
          <a:p xmlns:a="http://schemas.openxmlformats.org/drawingml/2006/main">
            <a:r>
              <a:t>        items.append({"item_id": str(row["id"]), "sku": row["sku"], "name": row["product_name"],</a:t>
            </a:r>
          </a:p>
          <a:p xmlns:a="http://schemas.openxmlformats.org/drawingml/2006/main">
            <a:r>
              <a:t>                      "variant_label": row["variant_name"], "quantity": row["quantity"],</a:t>
            </a:r>
          </a:p>
          <a:p xmlns:a="http://schemas.openxmlformats.org/drawingml/2006/main">
            <a:r>
              <a:t>                      "unit_price": row["unit_price"], "line_total": row["line_total"],</a:t>
            </a:r>
          </a:p>
          <a:p xmlns:a="http://schemas.openxmlformats.org/drawingml/2006/main">
            <a:r>
              <a:t>                      "available_variants": [{"sku": v["sku"], "label": v["variant_name"]} for v in variants]})</a:t>
            </a:r>
          </a:p>
          <a:p xmlns:a="http://schemas.openxmlformats.org/drawingml/2006/main">
            <a:r>
              <a:t>    return {"order_id": f"DH{order['id']:06d}", "status": order["status"],</a:t>
            </a:r>
          </a:p>
          <a:p xmlns:a="http://schemas.openxmlformats.org/drawingml/2006/main">
            <a:r>
              <a:t>            "editable": order["status"] in {"cart", "pending_confirmation"},</a:t>
            </a:r>
          </a:p>
          <a:p xmlns:a="http://schemas.openxmlformats.org/drawingml/2006/main">
            <a:r>
              <a:t>            "shipping": {"recipient_name": order["customer_name"], "phone": order["phone"], "address": order["address"]},</a:t>
            </a:r>
          </a:p>
          <a:p xmlns:a="http://schemas.openxmlformats.org/drawingml/2006/main">
            <a:r>
              <a:t>            "items": items, "total": order["total_amount"], "source": order["source"]}</a:t>
            </a:r>
          </a:p>
          <a:p xmlns:a="http://schemas.openxmlformats.org/drawingml/2006/main">
            <a:r>
              <a:t/>
            </a:r>
          </a:p>
          <a:p xmlns:a="http://schemas.openxmlformats.org/drawingml/2006/main">
            <a:r>
              <a:t>Nguồn code của bản chụp 22/10/2026:</a:t>
            </a:r>
          </a:p>
          <a:p xmlns:a="http://schemas.openxmlformats.org/drawingml/2006/main">
            <a:r>
              <a:t>backend/services.py:30-34   /   backend/services.py:38-53</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cart_order</a:t>
            </a:r>
          </a:p>
          <a:p xmlns:a="http://schemas.openxmlformats.org/drawingml/2006/main">
            <a:r>
              <a:t>Chức năng: Tìm giỏ gắn với phiên; chỉ tạo giỏ mới khi tham số create được bật.</a:t>
            </a:r>
          </a:p>
          <a:p xmlns:a="http://schemas.openxmlformats.org/drawingml/2006/main">
            <a:r>
              <a:t>Đầu vào: conn, session, ctx, create</a:t>
            </a:r>
          </a:p>
          <a:p xmlns:a="http://schemas.openxmlformats.org/drawingml/2006/main">
            <a:r>
              <a:t>Đầu ra/tác động: Đơn cart của phiên, giỏ mới hoặc None.</a:t>
            </a:r>
          </a:p>
          <a:p xmlns:a="http://schemas.openxmlformats.org/drawingml/2006/main">
            <a:r>
              <a:t>Nguồn: backend/services.py:57-65</a:t>
            </a:r>
          </a:p>
          <a:p xmlns:a="http://schemas.openxmlformats.org/drawingml/2006/main">
            <a:r>
              <a:t>Code đầy đủ:</a:t>
            </a:r>
          </a:p>
          <a:p xmlns:a="http://schemas.openxmlformats.org/drawingml/2006/main">
            <a:r>
              <a:t>def cart_order(conn, session, ctx, create=False):</a:t>
            </a:r>
          </a:p>
          <a:p xmlns:a="http://schemas.openxmlformats.org/drawingml/2006/main">
            <a:r>
              <a:t>    row = conn.execute("SELECT cart_id FROM api_sessions WHERE owner_id=?", (session["owner_id"],)).fetchone()</a:t>
            </a:r>
          </a:p>
          <a:p xmlns:a="http://schemas.openxmlformats.org/drawingml/2006/main">
            <a:r>
              <a:t>    if row and row["cart_id"]:</a:t>
            </a:r>
          </a:p>
          <a:p xmlns:a="http://schemas.openxmlformats.org/drawingml/2006/main">
            <a:r>
              <a:t>        return owned_order(conn, session["owner_id"], row["cart_id"])</a:t>
            </a:r>
          </a:p>
          <a:p xmlns:a="http://schemas.openxmlformats.org/drawingml/2006/main">
            <a:r>
              <a:t>    if create:</a:t>
            </a:r>
          </a:p>
          <a:p xmlns:a="http://schemas.openxmlformats.org/drawingml/2006/main">
            <a:r>
              <a:t>        order = orders.create_cart(conn, ctx, session["owner_id"], [])</a:t>
            </a:r>
          </a:p>
          <a:p xmlns:a="http://schemas.openxmlformats.org/drawingml/2006/main">
            <a:r>
              <a:t>        conn.execute("UPDATE api_sessions SET cart_id=? WHERE owner_id=?", (order["id"], session["owner_id"]))</a:t>
            </a:r>
          </a:p>
          <a:p xmlns:a="http://schemas.openxmlformats.org/drawingml/2006/main">
            <a:r>
              <a:t>        return order</a:t>
            </a:r>
          </a:p>
          <a:p xmlns:a="http://schemas.openxmlformats.org/drawingml/2006/main">
            <a:r>
              <a:t>    return None</a:t>
            </a:r>
          </a:p>
          <a:p xmlns:a="http://schemas.openxmlformats.org/drawingml/2006/main">
            <a:r>
              <a:t/>
            </a:r>
          </a:p>
          <a:p xmlns:a="http://schemas.openxmlformats.org/drawingml/2006/main">
            <a:r>
              <a:t>cart_view</a:t>
            </a:r>
          </a:p>
          <a:p xmlns:a="http://schemas.openxmlformats.org/drawingml/2006/main">
            <a:r>
              <a:t>Chức năng: Trả giỏ theo định dạng frontend hoặc cấu trúc giỏ trống nếu chưa có giỏ.</a:t>
            </a:r>
          </a:p>
          <a:p xmlns:a="http://schemas.openxmlformats.org/drawingml/2006/main">
            <a:r>
              <a:t>Đầu vào: conn, session, ctx</a:t>
            </a:r>
          </a:p>
          <a:p xmlns:a="http://schemas.openxmlformats.org/drawingml/2006/main">
            <a:r>
              <a:t>Đầu ra/tác động: order_view hoặc {items: [], total: 0}.</a:t>
            </a:r>
          </a:p>
          <a:p xmlns:a="http://schemas.openxmlformats.org/drawingml/2006/main">
            <a:r>
              <a:t>Nguồn: backend/services.py:69-73</a:t>
            </a:r>
          </a:p>
          <a:p xmlns:a="http://schemas.openxmlformats.org/drawingml/2006/main">
            <a:r>
              <a:t>Code đầy đủ:</a:t>
            </a:r>
          </a:p>
          <a:p xmlns:a="http://schemas.openxmlformats.org/drawingml/2006/main">
            <a:r>
              <a:t>def cart_view(conn, session, ctx):</a:t>
            </a:r>
          </a:p>
          <a:p xmlns:a="http://schemas.openxmlformats.org/drawingml/2006/main">
            <a:r>
              <a:t>    order = cart_order(conn, session, ctx)</a:t>
            </a:r>
          </a:p>
          <a:p xmlns:a="http://schemas.openxmlformats.org/drawingml/2006/main">
            <a:r>
              <a:t>    if order is None:</a:t>
            </a:r>
          </a:p>
          <a:p xmlns:a="http://schemas.openxmlformats.org/drawingml/2006/main">
            <a:r>
              <a:t>        return {"items": [], "total": 0}</a:t>
            </a:r>
          </a:p>
          <a:p xmlns:a="http://schemas.openxmlformats.org/drawingml/2006/main">
            <a:r>
              <a:t>    return order_view(conn, order)</a:t>
            </a:r>
          </a:p>
          <a:p xmlns:a="http://schemas.openxmlformats.org/drawingml/2006/main">
            <a:r>
              <a:t/>
            </a:r>
          </a:p>
          <a:p xmlns:a="http://schemas.openxmlformats.org/drawingml/2006/main">
            <a:r>
              <a:t>Nguồn code của bản chụp 22/10/2026:</a:t>
            </a:r>
          </a:p>
          <a:p xmlns:a="http://schemas.openxmlformats.org/drawingml/2006/main">
            <a:r>
              <a:t>backend/services.py:57-65   /   backend/services.py:69-73</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item_row</a:t>
            </a:r>
          </a:p>
          <a:p xmlns:a="http://schemas.openxmlformats.org/drawingml/2006/main">
            <a:r>
              <a:t>Chức năng: Lấy dòng hàng theo cả mã đơn và item ID để tránh thao tác nhầm đơn.</a:t>
            </a:r>
          </a:p>
          <a:p xmlns:a="http://schemas.openxmlformats.org/drawingml/2006/main">
            <a:r>
              <a:t>Đầu vào: conn, order_id, item_id</a:t>
            </a:r>
          </a:p>
          <a:p xmlns:a="http://schemas.openxmlformats.org/drawingml/2006/main">
            <a:r>
              <a:t>Đầu ra/tác động: Row order_items hoặc ItemNotFound.</a:t>
            </a:r>
          </a:p>
          <a:p xmlns:a="http://schemas.openxmlformats.org/drawingml/2006/main">
            <a:r>
              <a:t>Nguồn: backend/services.py:77-82</a:t>
            </a:r>
          </a:p>
          <a:p xmlns:a="http://schemas.openxmlformats.org/drawingml/2006/main">
            <a:r>
              <a:t>Code đầy đủ:</a:t>
            </a:r>
          </a:p>
          <a:p xmlns:a="http://schemas.openxmlformats.org/drawingml/2006/main">
            <a:r>
              <a:t>def item_row(conn, order_id, item_id):</a:t>
            </a:r>
          </a:p>
          <a:p xmlns:a="http://schemas.openxmlformats.org/drawingml/2006/main">
            <a:r>
              <a:t>    row = conn.execute("SELECT * FROM order_items WHERE order_id=? AND CAST(id AS TEXT)=?",</a:t>
            </a:r>
          </a:p>
          <a:p xmlns:a="http://schemas.openxmlformats.org/drawingml/2006/main">
            <a:r>
              <a:t>                       (order_id, item_id)).fetchone()</a:t>
            </a:r>
          </a:p>
          <a:p xmlns:a="http://schemas.openxmlformats.org/drawingml/2006/main">
            <a:r>
              <a:t>    if row is None:</a:t>
            </a:r>
          </a:p>
          <a:p xmlns:a="http://schemas.openxmlformats.org/drawingml/2006/main">
            <a:r>
              <a:t>        raise ItemNotFound("Không tìm thấy sản phẩm trong đơn.")</a:t>
            </a:r>
          </a:p>
          <a:p xmlns:a="http://schemas.openxmlformats.org/drawingml/2006/main">
            <a:r>
              <a:t>    return row</a:t>
            </a:r>
          </a:p>
          <a:p xmlns:a="http://schemas.openxmlformats.org/drawingml/2006/main">
            <a:r>
              <a:t/>
            </a:r>
          </a:p>
          <a:p xmlns:a="http://schemas.openxmlformats.org/drawingml/2006/main">
            <a:r>
              <a:t>update_item</a:t>
            </a:r>
          </a:p>
          <a:p xmlns:a="http://schemas.openxmlformats.org/drawingml/2006/main">
            <a:r>
              <a:t>Chức năng: Sửa số lượng/biến thể trong transaction, kiểm tra quyền và trạng thái cho phép sửa.</a:t>
            </a:r>
          </a:p>
          <a:p xmlns:a="http://schemas.openxmlformats.org/drawingml/2006/main">
            <a:r>
              <a:t>Đầu vào: conn, ctx, owner, order_id, item_id, changes</a:t>
            </a:r>
          </a:p>
          <a:p xmlns:a="http://schemas.openxmlformats.org/drawingml/2006/main">
            <a:r>
              <a:t>Đầu ra/tác động: Đơn sau thay đổi, rollback nếu có lỗi.</a:t>
            </a:r>
          </a:p>
          <a:p xmlns:a="http://schemas.openxmlformats.org/drawingml/2006/main">
            <a:r>
              <a:t>Nguồn: backend/services.py:86-99</a:t>
            </a:r>
          </a:p>
          <a:p xmlns:a="http://schemas.openxmlformats.org/drawingml/2006/main">
            <a:r>
              <a:t>Code đầy đủ:</a:t>
            </a:r>
          </a:p>
          <a:p xmlns:a="http://schemas.openxmlformats.org/drawingml/2006/main">
            <a:r>
              <a:t>def update_item(conn, ctx, owner, order_id, item_id, changes):</a:t>
            </a:r>
          </a:p>
          <a:p xmlns:a="http://schemas.openxmlformats.org/drawingml/2006/main">
            <a:r>
              <a:t>    with transaction(conn):</a:t>
            </a:r>
          </a:p>
          <a:p xmlns:a="http://schemas.openxmlformats.org/drawingml/2006/main">
            <a:r>
              <a:t>        order = owned_order(conn, owner, order_id)</a:t>
            </a:r>
          </a:p>
          <a:p xmlns:a="http://schemas.openxmlformats.org/drawingml/2006/main">
            <a:r>
              <a:t>        if order["status"] not in {"cart", "pending_confirmation"}:</a:t>
            </a:r>
          </a:p>
          <a:p xmlns:a="http://schemas.openxmlformats.org/drawingml/2006/main">
            <a:r>
              <a:t>            raise OrderNotEditable("Đơn không còn cho phép chỉnh sửa.")</a:t>
            </a:r>
          </a:p>
          <a:p xmlns:a="http://schemas.openxmlformats.org/drawingml/2006/main">
            <a:r>
              <a:t>        old = item_row(conn, order_id, item_id)</a:t>
            </a:r>
          </a:p>
          <a:p xmlns:a="http://schemas.openxmlformats.org/drawingml/2006/main">
            <a:r>
              <a:t>        sku, qty = changes.get("sku", old["sku"]), changes.get("quantity", old["quantity"])</a:t>
            </a:r>
          </a:p>
          <a:p xmlns:a="http://schemas.openxmlformats.org/drawingml/2006/main">
            <a:r>
              <a:t>        if sku == old["sku"]:</a:t>
            </a:r>
          </a:p>
          <a:p xmlns:a="http://schemas.openxmlformats.org/drawingml/2006/main">
            <a:r>
              <a:t>            return orders.set_item_quantity(conn, ctx, order_id, sku, qty)</a:t>
            </a:r>
          </a:p>
          <a:p xmlns:a="http://schemas.openxmlformats.org/drawingml/2006/main">
            <a:r>
              <a:t>        before, after = catalog.get_variant(conn, old["sku"]), catalog.get_variant(conn, sku)</a:t>
            </a:r>
          </a:p>
          <a:p xmlns:a="http://schemas.openxmlformats.org/drawingml/2006/main">
            <a:r>
              <a:t>        if before["product_id"] != after["product_id"]:</a:t>
            </a:r>
          </a:p>
          <a:p xmlns:a="http://schemas.openxmlformats.org/drawingml/2006/main">
            <a:r>
              <a:t>            raise ValidationError("Chỉ được đổi biến thể thuộc cùng sản phẩm.", field="sku")</a:t>
            </a:r>
          </a:p>
          <a:p xmlns:a="http://schemas.openxmlformats.org/drawingml/2006/main">
            <a:r>
              <a:t>        orders.remove_item(conn, ctx, order_id, old["sku"])</a:t>
            </a:r>
          </a:p>
          <a:p xmlns:a="http://schemas.openxmlformats.org/drawingml/2006/main">
            <a:r>
              <a:t>        return orders.add_item(conn, ctx, order_id, sku, qty)</a:t>
            </a:r>
          </a:p>
          <a:p xmlns:a="http://schemas.openxmlformats.org/drawingml/2006/main">
            <a:r>
              <a:t/>
            </a:r>
          </a:p>
          <a:p xmlns:a="http://schemas.openxmlformats.org/drawingml/2006/main">
            <a:r>
              <a:t>Nguồn code của bản chụp 22/10/2026:</a:t>
            </a:r>
          </a:p>
          <a:p xmlns:a="http://schemas.openxmlformats.org/drawingml/2006/main">
            <a:r>
              <a:t>backend/services.py:77-82   /   backend/services.py:86-99</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checkout</a:t>
            </a:r>
          </a:p>
          <a:p xmlns:a="http://schemas.openxmlformats.org/drawingml/2006/main">
            <a:r>
              <a:t>Chức năng: Chuyển giỏ thành đơn chờ xác nhận, tách giỏ khỏi phiên và lưu kết quả chống gửi trùng.</a:t>
            </a:r>
          </a:p>
          <a:p xmlns:a="http://schemas.openxmlformats.org/drawingml/2006/main">
            <a:r>
              <a:t>Đầu vào: conn, ctx, session, shipping, key</a:t>
            </a:r>
          </a:p>
          <a:p xmlns:a="http://schemas.openxmlformats.org/drawingml/2006/main">
            <a:r>
              <a:t>Đầu ra/tác động: Đơn đã gửi, xóa liên kết cart_id và lưu receipt.</a:t>
            </a:r>
          </a:p>
          <a:p xmlns:a="http://schemas.openxmlformats.org/drawingml/2006/main">
            <a:r>
              <a:t>Nguồn: backend/services.py:103-117</a:t>
            </a:r>
          </a:p>
          <a:p xmlns:a="http://schemas.openxmlformats.org/drawingml/2006/main">
            <a:r>
              <a:t>Code đầy đủ:</a:t>
            </a:r>
          </a:p>
          <a:p xmlns:a="http://schemas.openxmlformats.org/drawingml/2006/main">
            <a:r>
              <a:t>def checkout(conn, ctx, session, shipping, key):</a:t>
            </a:r>
          </a:p>
          <a:p xmlns:a="http://schemas.openxmlformats.org/drawingml/2006/main">
            <a:r>
              <a:t>    owner = session["owner_id"]</a:t>
            </a:r>
          </a:p>
          <a:p xmlns:a="http://schemas.openxmlformats.org/drawingml/2006/main">
            <a:r>
              <a:t>    with transaction(conn):</a:t>
            </a:r>
          </a:p>
          <a:p xmlns:a="http://schemas.openxmlformats.org/drawingml/2006/main">
            <a:r>
              <a:t>        existing = replay(conn, owner, "checkout", key, shipping)</a:t>
            </a:r>
          </a:p>
          <a:p xmlns:a="http://schemas.openxmlformats.org/drawingml/2006/main">
            <a:r>
              <a:t>        if existing:</a:t>
            </a:r>
          </a:p>
          <a:p xmlns:a="http://schemas.openxmlformats.org/drawingml/2006/main">
            <a:r>
              <a:t>            return existing</a:t>
            </a:r>
          </a:p>
          <a:p xmlns:a="http://schemas.openxmlformats.org/drawingml/2006/main">
            <a:r>
              <a:t>        cart = cart_order(conn, session, ctx)</a:t>
            </a:r>
          </a:p>
          <a:p xmlns:a="http://schemas.openxmlformats.org/drawingml/2006/main">
            <a:r>
              <a:t>        if not cart or not cart["items"]:</a:t>
            </a:r>
          </a:p>
          <a:p xmlns:a="http://schemas.openxmlformats.org/drawingml/2006/main">
            <a:r>
              <a:t>            raise ApiProblem(409, "empty_cart", "Giỏ hàng đang trống.")</a:t>
            </a:r>
          </a:p>
          <a:p xmlns:a="http://schemas.openxmlformats.org/drawingml/2006/main">
            <a:r>
              <a:t>        delivery = {"customer_name": shipping["recipient_name"], "phone": shipping["phone"], "address": shipping["address"]}</a:t>
            </a:r>
          </a:p>
          <a:p xmlns:a="http://schemas.openxmlformats.org/drawingml/2006/main">
            <a:r>
              <a:t>        order = orders.submit_order(conn, ctx, cart["id"], delivery)</a:t>
            </a:r>
          </a:p>
          <a:p xmlns:a="http://schemas.openxmlformats.org/drawingml/2006/main">
            <a:r>
              <a:t>        conn.execute("UPDATE api_sessions SET cart_id=NULL WHERE owner_id=?", (owner,))</a:t>
            </a:r>
          </a:p>
          <a:p xmlns:a="http://schemas.openxmlformats.org/drawingml/2006/main">
            <a:r>
              <a:t>        result = order_view(conn, order)</a:t>
            </a:r>
          </a:p>
          <a:p xmlns:a="http://schemas.openxmlformats.org/drawingml/2006/main">
            <a:r>
              <a:t>        save_receipt(conn, owner, "checkout", key, shipping, result)</a:t>
            </a:r>
          </a:p>
          <a:p xmlns:a="http://schemas.openxmlformats.org/drawingml/2006/main">
            <a:r>
              <a:t>        return result</a:t>
            </a:r>
          </a:p>
          <a:p xmlns:a="http://schemas.openxmlformats.org/drawingml/2006/main">
            <a:r>
              <a:t/>
            </a:r>
          </a:p>
          <a:p xmlns:a="http://schemas.openxmlformats.org/drawingml/2006/main">
            <a:r>
              <a:t>Nguồn code của bản chụp 22/10/2026:</a:t>
            </a:r>
          </a:p>
          <a:p xmlns:a="http://schemas.openxmlformats.org/drawingml/2006/main">
            <a:r>
              <a:t>backend/services.py:103-117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initialize</a:t>
            </a:r>
          </a:p>
          <a:p xmlns:a="http://schemas.openxmlformats.org/drawingml/2006/main">
            <a:r>
              <a:t>Chức năng: Chạy migration, seed catalog nếu chưa có sản phẩm và tạo bảng phiên/chống gửi trùng.</a:t>
            </a:r>
          </a:p>
          <a:p xmlns:a="http://schemas.openxmlformats.org/drawingml/2006/main">
            <a:r>
              <a:t>Đầu vào: path</a:t>
            </a:r>
          </a:p>
          <a:p xmlns:a="http://schemas.openxmlformats.org/drawingml/2006/main">
            <a:r>
              <a:t>Đầu ra/tác động: Chuẩn bị schema/seed/bảng phụ, không trả dữ liệu.</a:t>
            </a:r>
          </a:p>
          <a:p xmlns:a="http://schemas.openxmlformats.org/drawingml/2006/main">
            <a:r>
              <a:t>Nguồn: backend/storage.py:35-44</a:t>
            </a:r>
          </a:p>
          <a:p xmlns:a="http://schemas.openxmlformats.org/drawingml/2006/main">
            <a:r>
              <a:t>Code đầy đủ:</a:t>
            </a:r>
          </a:p>
          <a:p xmlns:a="http://schemas.openxmlformats.org/drawingml/2006/main">
            <a:r>
              <a:t>def initialize(path):</a:t>
            </a:r>
          </a:p>
          <a:p xmlns:a="http://schemas.openxmlformats.org/drawingml/2006/main">
            <a:r>
              <a:t>    conn = connect(path)</a:t>
            </a:r>
          </a:p>
          <a:p xmlns:a="http://schemas.openxmlformats.org/drawingml/2006/main">
            <a:r>
              <a:t>    try:</a:t>
            </a:r>
          </a:p>
          <a:p xmlns:a="http://schemas.openxmlformats.org/drawingml/2006/main">
            <a:r>
              <a:t>        migrate(conn)</a:t>
            </a:r>
          </a:p>
          <a:p xmlns:a="http://schemas.openxmlformats.org/drawingml/2006/main">
            <a:r>
              <a:t>        with transaction(conn):</a:t>
            </a:r>
          </a:p>
          <a:p xmlns:a="http://schemas.openxmlformats.org/drawingml/2006/main">
            <a:r>
              <a:t>            if not conn.execute("SELECT 1 FROM products LIMIT 1").fetchone():</a:t>
            </a:r>
          </a:p>
          <a:p xmlns:a="http://schemas.openxmlformats.org/drawingml/2006/main">
            <a:r>
              <a:t>                seed_catalog(conn)</a:t>
            </a:r>
          </a:p>
          <a:p xmlns:a="http://schemas.openxmlformats.org/drawingml/2006/main">
            <a:r>
              <a:t>        conn.executescript(SCHEMA)</a:t>
            </a:r>
          </a:p>
          <a:p xmlns:a="http://schemas.openxmlformats.org/drawingml/2006/main">
            <a:r>
              <a:t>    finally:</a:t>
            </a:r>
          </a:p>
          <a:p xmlns:a="http://schemas.openxmlformats.org/drawingml/2006/main">
            <a:r>
              <a:t>        conn.close()</a:t>
            </a:r>
          </a:p>
          <a:p xmlns:a="http://schemas.openxmlformats.org/drawingml/2006/main">
            <a:r>
              <a:t/>
            </a:r>
          </a:p>
          <a:p xmlns:a="http://schemas.openxmlformats.org/drawingml/2006/main">
            <a:r>
              <a:t>new_session</a:t>
            </a:r>
          </a:p>
          <a:p xmlns:a="http://schemas.openxmlformats.org/drawingml/2006/main">
            <a:r>
              <a:t>Chức năng: Tạo token, chủ phiên và hội thoại mới; database chỉ lưu hash của token cùng hạn dùng.</a:t>
            </a:r>
          </a:p>
          <a:p xmlns:a="http://schemas.openxmlformats.org/drawingml/2006/main">
            <a:r>
              <a:t>Đầu vào: conn, ttl</a:t>
            </a:r>
          </a:p>
          <a:p xmlns:a="http://schemas.openxmlformats.org/drawingml/2006/main">
            <a:r>
              <a:t>Đầu ra/tác động: Token thô cho client và thời điểm hết hạn.</a:t>
            </a:r>
          </a:p>
          <a:p xmlns:a="http://schemas.openxmlformats.org/drawingml/2006/main">
            <a:r>
              <a:t>Nguồn: backend/storage.py:48-58</a:t>
            </a:r>
          </a:p>
          <a:p xmlns:a="http://schemas.openxmlformats.org/drawingml/2006/main">
            <a:r>
              <a:t>Code đầy đủ:</a:t>
            </a:r>
          </a:p>
          <a:p xmlns:a="http://schemas.openxmlformats.org/drawingml/2006/main">
            <a:r>
              <a:t>def new_session(conn, ttl):</a:t>
            </a:r>
          </a:p>
          <a:p xmlns:a="http://schemas.openxmlformats.org/drawingml/2006/main">
            <a:r>
              <a:t>    token = secrets.token_urlsafe(32)</a:t>
            </a:r>
          </a:p>
          <a:p xmlns:a="http://schemas.openxmlformats.org/drawingml/2006/main">
            <a:r>
              <a:t>    owner = uuid.uuid4().hex</a:t>
            </a:r>
          </a:p>
          <a:p xmlns:a="http://schemas.openxmlformats.org/drawingml/2006/main">
            <a:r>
              <a:t>    expiry = int(time.time()) + ttl</a:t>
            </a:r>
          </a:p>
          <a:p xmlns:a="http://schemas.openxmlformats.org/drawingml/2006/main">
            <a:r>
              <a:t>    with transaction(conn):</a:t>
            </a:r>
          </a:p>
          <a:p xmlns:a="http://schemas.openxmlformats.org/drawingml/2006/main">
            <a:r>
              <a:t>        conv = conversations.create_conversation(conn, owner)</a:t>
            </a:r>
          </a:p>
          <a:p xmlns:a="http://schemas.openxmlformats.org/drawingml/2006/main">
            <a:r>
              <a:t>        conn.execute(</a:t>
            </a:r>
          </a:p>
          <a:p xmlns:a="http://schemas.openxmlformats.org/drawingml/2006/main">
            <a:r>
              <a:t>            "INSERT INTO api_sessions(token_hash, owner_id, conversation_id, expires_at) VALUES (?,?,?,?)",</a:t>
            </a:r>
          </a:p>
          <a:p xmlns:a="http://schemas.openxmlformats.org/drawingml/2006/main">
            <a:r>
              <a:t>            (hashlib.sha256(token.encode()).hexdigest(), owner, conv["id"], expiry),</a:t>
            </a:r>
          </a:p>
          <a:p xmlns:a="http://schemas.openxmlformats.org/drawingml/2006/main">
            <a:r>
              <a:t>        )</a:t>
            </a:r>
          </a:p>
          <a:p xmlns:a="http://schemas.openxmlformats.org/drawingml/2006/main">
            <a:r>
              <a:t>    return {"token": token, "expires_at": expiry}</a:t>
            </a:r>
          </a:p>
          <a:p xmlns:a="http://schemas.openxmlformats.org/drawingml/2006/main">
            <a:r>
              <a:t/>
            </a:r>
          </a:p>
          <a:p xmlns:a="http://schemas.openxmlformats.org/drawingml/2006/main">
            <a:r>
              <a:t>Nguồn code của bản chụp 22/10/2026:</a:t>
            </a:r>
          </a:p>
          <a:p xmlns:a="http://schemas.openxmlformats.org/drawingml/2006/main">
            <a:r>
              <a:t>backend/storage.py:35-44   /   backend/storage.py:48-58</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authenticate</a:t>
            </a:r>
          </a:p>
          <a:p xmlns:a="http://schemas.openxmlformats.org/drawingml/2006/main">
            <a:r>
              <a:t>Chức năng: Kiểm tra Bearer token và trả phiên tương ứng nếu token hợp lệ, chưa hết hạn.</a:t>
            </a:r>
          </a:p>
          <a:p xmlns:a="http://schemas.openxmlformats.org/drawingml/2006/main">
            <a:r>
              <a:t>Đầu vào: conn, authorization</a:t>
            </a:r>
          </a:p>
          <a:p xmlns:a="http://schemas.openxmlformats.org/drawingml/2006/main">
            <a:r>
              <a:t>Đầu ra/tác động: Dictionary phiên đã xác thực hoặc lỗi 401.</a:t>
            </a:r>
          </a:p>
          <a:p xmlns:a="http://schemas.openxmlformats.org/drawingml/2006/main">
            <a:r>
              <a:t>Nguồn: backend/storage.py:62-70</a:t>
            </a:r>
          </a:p>
          <a:p xmlns:a="http://schemas.openxmlformats.org/drawingml/2006/main">
            <a:r>
              <a:t>Code đầy đủ:</a:t>
            </a:r>
          </a:p>
          <a:p xmlns:a="http://schemas.openxmlformats.org/drawingml/2006/main">
            <a:r>
              <a:t>def authenticate(conn, authorization):</a:t>
            </a:r>
          </a:p>
          <a:p xmlns:a="http://schemas.openxmlformats.org/drawingml/2006/main">
            <a:r>
              <a:t>    scheme, _, token = (authorization or "").partition(" ")</a:t>
            </a:r>
          </a:p>
          <a:p xmlns:a="http://schemas.openxmlformats.org/drawingml/2006/main">
            <a:r>
              <a:t>    if scheme.lower() != "bearer" or not 20 &lt;= len(token) &lt;= 200:</a:t>
            </a:r>
          </a:p>
          <a:p xmlns:a="http://schemas.openxmlformats.org/drawingml/2006/main">
            <a:r>
              <a:t>        raise ApiProblem(401, "auth", "Cần phiên khách hàng hợp lệ.")</a:t>
            </a:r>
          </a:p>
          <a:p xmlns:a="http://schemas.openxmlformats.org/drawingml/2006/main">
            <a:r>
              <a:t>    row = conn.execute("SELECT * FROM api_sessions WHERE token_hash = ? AND expires_at &gt; ?",</a:t>
            </a:r>
          </a:p>
          <a:p xmlns:a="http://schemas.openxmlformats.org/drawingml/2006/main">
            <a:r>
              <a:t>                       (hashlib.sha256(token.encode()).hexdigest(), int(time.time()))).fetchone()</a:t>
            </a:r>
          </a:p>
          <a:p xmlns:a="http://schemas.openxmlformats.org/drawingml/2006/main">
            <a:r>
              <a:t>    if row is None:</a:t>
            </a:r>
          </a:p>
          <a:p xmlns:a="http://schemas.openxmlformats.org/drawingml/2006/main">
            <a:r>
              <a:t>        raise ApiProblem(401, "auth", "Phiên đã hết hạn hoặc không hợp lệ. Hãy mở phiên mới.")</a:t>
            </a:r>
          </a:p>
          <a:p xmlns:a="http://schemas.openxmlformats.org/drawingml/2006/main">
            <a:r>
              <a:t>    return dict(row)</a:t>
            </a:r>
          </a:p>
          <a:p xmlns:a="http://schemas.openxmlformats.org/drawingml/2006/main">
            <a:r>
              <a:t/>
            </a:r>
          </a:p>
          <a:p xmlns:a="http://schemas.openxmlformats.org/drawingml/2006/main">
            <a:r>
              <a:t>request_key</a:t>
            </a:r>
          </a:p>
          <a:p xmlns:a="http://schemas.openxmlformats.org/drawingml/2006/main">
            <a:r>
              <a:t>Chức năng: Kiểm tra định dạng khóa Idempotency-Key dùng để nhận biết các request gửi lại.</a:t>
            </a:r>
          </a:p>
          <a:p xmlns:a="http://schemas.openxmlformats.org/drawingml/2006/main">
            <a:r>
              <a:t>Đầu vào: value</a:t>
            </a:r>
          </a:p>
          <a:p xmlns:a="http://schemas.openxmlformats.org/drawingml/2006/main">
            <a:r>
              <a:t>Đầu ra/tác động: Khóa hợp lệ/None hoặc lỗi 422.</a:t>
            </a:r>
          </a:p>
          <a:p xmlns:a="http://schemas.openxmlformats.org/drawingml/2006/main">
            <a:r>
              <a:t>Nguồn: backend/storage.py:74-77</a:t>
            </a:r>
          </a:p>
          <a:p xmlns:a="http://schemas.openxmlformats.org/drawingml/2006/main">
            <a:r>
              <a:t>Code đầy đủ:</a:t>
            </a:r>
          </a:p>
          <a:p xmlns:a="http://schemas.openxmlformats.org/drawingml/2006/main">
            <a:r>
              <a:t>def request_key(value):</a:t>
            </a:r>
          </a:p>
          <a:p xmlns:a="http://schemas.openxmlformats.org/drawingml/2006/main">
            <a:r>
              <a:t>    if value is not None and not re.fullmatch(r"[A-Za-z0-9_.:-]{8,100}", value):</a:t>
            </a:r>
          </a:p>
          <a:p xmlns:a="http://schemas.openxmlformats.org/drawingml/2006/main">
            <a:r>
              <a:t>        raise ApiProblem(422, "validation", "Idempotency-Key phải dài 8-100 ký tự gồm chữ, số và _-:.")</a:t>
            </a:r>
          </a:p>
          <a:p xmlns:a="http://schemas.openxmlformats.org/drawingml/2006/main">
            <a:r>
              <a:t>    return value</a:t>
            </a:r>
          </a:p>
          <a:p xmlns:a="http://schemas.openxmlformats.org/drawingml/2006/main">
            <a:r>
              <a:t/>
            </a:r>
          </a:p>
          <a:p xmlns:a="http://schemas.openxmlformats.org/drawingml/2006/main">
            <a:r>
              <a:t>Nguồn code của bản chụp 22/10/2026:</a:t>
            </a:r>
          </a:p>
          <a:p xmlns:a="http://schemas.openxmlformats.org/drawingml/2006/main">
            <a:r>
              <a:t>backend/storage.py:62-70   /   backend/storage.py:74-77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digest</a:t>
            </a:r>
          </a:p>
          <a:p xmlns:a="http://schemas.openxmlformats.org/drawingml/2006/main">
            <a:r>
              <a:t>Chức năng: Tạo hash SHA-256 từ nội dung JSON đã sắp xếp khóa để so sánh các request.</a:t>
            </a:r>
          </a:p>
          <a:p xmlns:a="http://schemas.openxmlformats.org/drawingml/2006/main">
            <a:r>
              <a:t>Đầu vào: payload</a:t>
            </a:r>
          </a:p>
          <a:p xmlns:a="http://schemas.openxmlformats.org/drawingml/2006/main">
            <a:r>
              <a:t>Đầu ra/tác động: Chuỗi hash SHA-256 của payload JSON.</a:t>
            </a:r>
          </a:p>
          <a:p xmlns:a="http://schemas.openxmlformats.org/drawingml/2006/main">
            <a:r>
              <a:t>Nguồn: backend/storage.py:81-82</a:t>
            </a:r>
          </a:p>
          <a:p xmlns:a="http://schemas.openxmlformats.org/drawingml/2006/main">
            <a:r>
              <a:t>Code đầy đủ:</a:t>
            </a:r>
          </a:p>
          <a:p xmlns:a="http://schemas.openxmlformats.org/drawingml/2006/main">
            <a:r>
              <a:t>def digest(payload):</a:t>
            </a:r>
          </a:p>
          <a:p xmlns:a="http://schemas.openxmlformats.org/drawingml/2006/main">
            <a:r>
              <a:t>    return hashlib.sha256(json.dumps(payload, ensure_ascii=False, sort_keys=True).encode()).hexdigest()</a:t>
            </a:r>
          </a:p>
          <a:p xmlns:a="http://schemas.openxmlformats.org/drawingml/2006/main">
            <a:r>
              <a:t/>
            </a:r>
          </a:p>
          <a:p xmlns:a="http://schemas.openxmlformats.org/drawingml/2006/main">
            <a:r>
              <a:t>replay</a:t>
            </a:r>
          </a:p>
          <a:p xmlns:a="http://schemas.openxmlformats.org/drawingml/2006/main">
            <a:r>
              <a:t>Chức năng: Trả kết quả đã lưu cho request lặp; báo xung đột nếu cùng khóa nhưng khác nội dung.</a:t>
            </a:r>
          </a:p>
          <a:p xmlns:a="http://schemas.openxmlformats.org/drawingml/2006/main">
            <a:r>
              <a:t>Đầu vào: conn, owner, scope, key, payload</a:t>
            </a:r>
          </a:p>
          <a:p xmlns:a="http://schemas.openxmlformats.org/drawingml/2006/main">
            <a:r>
              <a:t>Đầu ra/tác động: Response đã lưu/None hoặc xung đột 409.</a:t>
            </a:r>
          </a:p>
          <a:p xmlns:a="http://schemas.openxmlformats.org/drawingml/2006/main">
            <a:r>
              <a:t>Nguồn: backend/storage.py:86-95</a:t>
            </a:r>
          </a:p>
          <a:p xmlns:a="http://schemas.openxmlformats.org/drawingml/2006/main">
            <a:r>
              <a:t>Code đầy đủ:</a:t>
            </a:r>
          </a:p>
          <a:p xmlns:a="http://schemas.openxmlformats.org/drawingml/2006/main">
            <a:r>
              <a:t>def replay(conn, owner, scope, key, payload):</a:t>
            </a:r>
          </a:p>
          <a:p xmlns:a="http://schemas.openxmlformats.org/drawingml/2006/main">
            <a:r>
              <a:t>    if not key:</a:t>
            </a:r>
          </a:p>
          <a:p xmlns:a="http://schemas.openxmlformats.org/drawingml/2006/main">
            <a:r>
              <a:t>        return None</a:t>
            </a:r>
          </a:p>
          <a:p xmlns:a="http://schemas.openxmlformats.org/drawingml/2006/main">
            <a:r>
              <a:t>    row = conn.execute("SELECT * FROM api_receipts WHERE owner_id=? AND scope=? AND request_key=?",</a:t>
            </a:r>
          </a:p>
          <a:p xmlns:a="http://schemas.openxmlformats.org/drawingml/2006/main">
            <a:r>
              <a:t>                       (owner, scope, key)).fetchone()</a:t>
            </a:r>
          </a:p>
          <a:p xmlns:a="http://schemas.openxmlformats.org/drawingml/2006/main">
            <a:r>
              <a:t>    if row is None:</a:t>
            </a:r>
          </a:p>
          <a:p xmlns:a="http://schemas.openxmlformats.org/drawingml/2006/main">
            <a:r>
              <a:t>        return None</a:t>
            </a:r>
          </a:p>
          <a:p xmlns:a="http://schemas.openxmlformats.org/drawingml/2006/main">
            <a:r>
              <a:t>    if row["request_hash"] != digest(payload):</a:t>
            </a:r>
          </a:p>
          <a:p xmlns:a="http://schemas.openxmlformats.org/drawingml/2006/main">
            <a:r>
              <a:t>        raise ApiProblem(409, "idempotency_conflict", "Khóa này đã được dùng cho nội dung khác.")</a:t>
            </a:r>
          </a:p>
          <a:p xmlns:a="http://schemas.openxmlformats.org/drawingml/2006/main">
            <a:r>
              <a:t>    return json.loads(row["response"])</a:t>
            </a:r>
          </a:p>
          <a:p xmlns:a="http://schemas.openxmlformats.org/drawingml/2006/main">
            <a:r>
              <a:t/>
            </a:r>
          </a:p>
          <a:p xmlns:a="http://schemas.openxmlformats.org/drawingml/2006/main">
            <a:r>
              <a:t>Nguồn code của bản chụp 22/10/2026:</a:t>
            </a:r>
          </a:p>
          <a:p xmlns:a="http://schemas.openxmlformats.org/drawingml/2006/main">
            <a:r>
              <a:t>backend/storage.py:81-82   /   backend/storage.py:86-95</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save_receipt</a:t>
            </a:r>
          </a:p>
          <a:p xmlns:a="http://schemas.openxmlformats.org/drawingml/2006/main">
            <a:r>
              <a:t>Chức năng: Lưu hash nội dung và kết quả theo phiên/phạm vi/khóa để xử lý request lặp sau này.</a:t>
            </a:r>
          </a:p>
          <a:p xmlns:a="http://schemas.openxmlformats.org/drawingml/2006/main">
            <a:r>
              <a:t>Đầu vào: conn, owner, scope, key, payload, response</a:t>
            </a:r>
          </a:p>
          <a:p xmlns:a="http://schemas.openxmlformats.org/drawingml/2006/main">
            <a:r>
              <a:t>Đầu ra/tác động: Lưu response khi có key, không trả dữ liệu.</a:t>
            </a:r>
          </a:p>
          <a:p xmlns:a="http://schemas.openxmlformats.org/drawingml/2006/main">
            <a:r>
              <a:t>Nguồn: backend/storage.py:99-102</a:t>
            </a:r>
          </a:p>
          <a:p xmlns:a="http://schemas.openxmlformats.org/drawingml/2006/main">
            <a:r>
              <a:t>Code đầy đủ:</a:t>
            </a:r>
          </a:p>
          <a:p xmlns:a="http://schemas.openxmlformats.org/drawingml/2006/main">
            <a:r>
              <a:t>def save_receipt(conn, owner, scope, key, payload, response):</a:t>
            </a:r>
          </a:p>
          <a:p xmlns:a="http://schemas.openxmlformats.org/drawingml/2006/main">
            <a:r>
              <a:t>    if key:</a:t>
            </a:r>
          </a:p>
          <a:p xmlns:a="http://schemas.openxmlformats.org/drawingml/2006/main">
            <a:r>
              <a:t>        conn.execute("INSERT INTO api_receipts VALUES (?,?,?,?,?)",</a:t>
            </a:r>
          </a:p>
          <a:p xmlns:a="http://schemas.openxmlformats.org/drawingml/2006/main">
            <a:r>
              <a:t>                     (owner, scope, key, digest(payload), json.dumps(response, ensure_ascii=False)))</a:t>
            </a:r>
          </a:p>
          <a:p xmlns:a="http://schemas.openxmlformats.org/drawingml/2006/main">
            <a:r>
              <a:t/>
            </a:r>
          </a:p>
          <a:p xmlns:a="http://schemas.openxmlformats.org/drawingml/2006/main">
            <a:r>
              <a:t>Nguồn code của bản chụp 22/10/2026:</a:t>
            </a:r>
          </a:p>
          <a:p xmlns:a="http://schemas.openxmlformats.org/drawingml/2006/main">
            <a:r>
              <a:t>backend/storage.py:99-102</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local_catalog_request</a:t>
            </a:r>
          </a:p>
          <a:p xmlns:a="http://schemas.openxmlformats.org/drawingml/2006/main">
            <a:r>
              <a:t>Chức năng: Nhận diện một số câu hỏi catalog/giá/tồn rõ nghĩa bằng rule để không cần gọi LLM.</a:t>
            </a:r>
          </a:p>
          <a:p xmlns:a="http://schemas.openxmlformats.org/drawingml/2006/main">
            <a:r>
              <a:t>Đầu vào: message</a:t>
            </a:r>
          </a:p>
          <a:p xmlns:a="http://schemas.openxmlformats.org/drawingml/2006/main">
            <a:r>
              <a:t>Đầu ra/tác động: Extraction theo rule hoặc None để chuyển sang LLM.</a:t>
            </a:r>
          </a:p>
          <a:p xmlns:a="http://schemas.openxmlformats.org/drawingml/2006/main">
            <a:r>
              <a:t>Nguồn: backend/catalog_chat.py:10-25</a:t>
            </a:r>
          </a:p>
          <a:p xmlns:a="http://schemas.openxmlformats.org/drawingml/2006/main">
            <a:r>
              <a:t>Code đầy đủ:</a:t>
            </a:r>
          </a:p>
          <a:p xmlns:a="http://schemas.openxmlformats.org/drawingml/2006/main">
            <a:r>
              <a:t>def local_catalog_request(message):</a:t>
            </a:r>
          </a:p>
          <a:p xmlns:a="http://schemas.openxmlformats.org/drawingml/2006/main">
            <a:r>
              <a:t>    text = normalize(message)</a:t>
            </a:r>
          </a:p>
          <a:p xmlns:a="http://schemas.openxmlformats.org/drawingml/2006/main">
            <a:r>
              <a:t>    browse = {"cua hang ban gi", "cua hang ban nhung gi", "cua hang ban ban nhung gi", "shop ban gi", "shop ban nhung gi",</a:t>
            </a:r>
          </a:p>
          <a:p xmlns:a="http://schemas.openxmlformats.org/drawingml/2006/main">
            <a:r>
              <a:t>              "toi muon tham khao san pham", "toi muon tham khao san pham cua hang ban ban nhung gi",</a:t>
            </a:r>
          </a:p>
          <a:p xmlns:a="http://schemas.openxmlformats.org/drawingml/2006/main">
            <a:r>
              <a:t>              "cho toi xem san pham", "cho xem san pham", "xem catalog", "xem danh muc san pham"}</a:t>
            </a:r>
          </a:p>
          <a:p xmlns:a="http://schemas.openxmlformats.org/drawingml/2006/main">
            <a:r>
              <a:t>    price = {"gia bao nhieu", "mau nay gia bao nhieu", "gia mau nay bao nhieu"}</a:t>
            </a:r>
          </a:p>
          <a:p xmlns:a="http://schemas.openxmlformats.org/drawingml/2006/main">
            <a:r>
              <a:t>    stock = {"con hang khong", "mau nay con hang khong", "mau nay con khong"}</a:t>
            </a:r>
          </a:p>
          <a:p xmlns:a="http://schemas.openxmlformats.org/drawingml/2006/main">
            <a:r>
              <a:t>    intent = "browse_catalog" if text in browse else "check_price" if text in price else "check_stock" if text in stock else None</a:t>
            </a:r>
          </a:p>
          <a:p xmlns:a="http://schemas.openxmlformats.org/drawingml/2006/main">
            <a:r>
              <a:t>    if intent is None:</a:t>
            </a:r>
          </a:p>
          <a:p xmlns:a="http://schemas.openxmlformats.org/drawingml/2006/main">
            <a:r>
              <a:t>        return None</a:t>
            </a:r>
          </a:p>
          <a:p xmlns:a="http://schemas.openxmlformats.org/drawingml/2006/main">
            <a:r>
              <a:t>    items = [] if intent == "browse_catalog" else [{"requested_product": None, "sku": None, "quantity": None,</a:t>
            </a:r>
          </a:p>
          <a:p xmlns:a="http://schemas.openxmlformats.org/drawingml/2006/main">
            <a:r>
              <a:t>                                                  "variant": {"color": None, "size": None}}]</a:t>
            </a:r>
          </a:p>
          <a:p xmlns:a="http://schemas.openxmlformats.org/drawingml/2006/main">
            <a:r>
              <a:t>    return Extraction.model_validate({"intent": intent, "confidence": "high", "items": items,</a:t>
            </a:r>
          </a:p>
          <a:p xmlns:a="http://schemas.openxmlformats.org/drawingml/2006/main">
            <a:r>
              <a:t>                                      "customer": {"name": None, "phone": None, "address": None},</a:t>
            </a:r>
          </a:p>
          <a:p xmlns:a="http://schemas.openxmlformats.org/drawingml/2006/main">
            <a:r>
              <a:t>                                      "order_reference": None, "missing_information": [], "requires_human_review": False,</a:t>
            </a:r>
          </a:p>
          <a:p xmlns:a="http://schemas.openxmlformats.org/drawingml/2006/main">
            <a:r>
              <a:t>                                      "evidence": [message]})</a:t>
            </a:r>
          </a:p>
          <a:p xmlns:a="http://schemas.openxmlformats.org/drawingml/2006/main">
            <a:r>
              <a:t/>
            </a:r>
          </a:p>
          <a:p xmlns:a="http://schemas.openxmlformats.org/drawingml/2006/main">
            <a:r>
              <a:t>_matches</a:t>
            </a:r>
          </a:p>
          <a:p xmlns:a="http://schemas.openxmlformats.org/drawingml/2006/main">
            <a:r>
              <a:t>Chức năng: So khớp thuộc tính đã chuẩn hóa; cho phép màu chung khớp tên màu chi tiết trong catalog.</a:t>
            </a:r>
          </a:p>
          <a:p xmlns:a="http://schemas.openxmlformats.org/drawingml/2006/main">
            <a:r>
              <a:t>Đầu vào: value, actual, field</a:t>
            </a:r>
          </a:p>
          <a:p xmlns:a="http://schemas.openxmlformats.org/drawingml/2006/main">
            <a:r>
              <a:t>Đầu ra/tác động: Boolean thuộc tính yêu cầu khớp catalog.</a:t>
            </a:r>
          </a:p>
          <a:p xmlns:a="http://schemas.openxmlformats.org/drawingml/2006/main">
            <a:r>
              <a:t>Nguồn: backend/catalog_chat.py:29-31</a:t>
            </a:r>
          </a:p>
          <a:p xmlns:a="http://schemas.openxmlformats.org/drawingml/2006/main">
            <a:r>
              <a:t>Code đầy đủ:</a:t>
            </a:r>
          </a:p>
          <a:p xmlns:a="http://schemas.openxmlformats.org/drawingml/2006/main">
            <a:r>
              <a:t>def _matches(value, actual, field=None):</a:t>
            </a:r>
          </a:p>
          <a:p xmlns:a="http://schemas.openxmlformats.org/drawingml/2006/main">
            <a:r>
              <a:t>    requested, known = attribute_value(value, field), attribute_value(actual, field)</a:t>
            </a:r>
          </a:p>
          <a:p xmlns:a="http://schemas.openxmlformats.org/drawingml/2006/main">
            <a:r>
              <a:t>    return not value or requested == known or (field == "color" and known.startswith(requested + " "))</a:t>
            </a:r>
          </a:p>
          <a:p xmlns:a="http://schemas.openxmlformats.org/drawingml/2006/main">
            <a:r>
              <a:t/>
            </a:r>
          </a:p>
          <a:p xmlns:a="http://schemas.openxmlformats.org/drawingml/2006/main">
            <a:r>
              <a:t>Nguồn code của bản chụp 22/10/2026:</a:t>
            </a:r>
          </a:p>
          <a:p xmlns:a="http://schemas.openxmlformats.org/drawingml/2006/main">
            <a:r>
              <a:t>backend/catalog_chat.py:10-25   /   backend/catalog_chat.py:29-31</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find_products</a:t>
            </a:r>
          </a:p>
          <a:p xmlns:a="http://schemas.openxmlformats.org/drawingml/2006/main">
            <a:r>
              <a:t>Chức năng: Tìm sản phẩm theo tên/SKU và lọc biến thể theo danh mục, màu, size, giá, tồn kho.</a:t>
            </a:r>
          </a:p>
          <a:p xmlns:a="http://schemas.openxmlformats.org/drawingml/2006/main">
            <a:r>
              <a:t>Đầu vào: conn, items, filters</a:t>
            </a:r>
          </a:p>
          <a:p xmlns:a="http://schemas.openxmlformats.org/drawingml/2006/main">
            <a:r>
              <a:t>Đầu ra/tác động: Danh sách sản phẩm và biến thể qua các bộ lọc.</a:t>
            </a:r>
          </a:p>
          <a:p xmlns:a="http://schemas.openxmlformats.org/drawingml/2006/main">
            <a:r>
              <a:t>Nguồn: backend/catalog_chat.py:35-67</a:t>
            </a:r>
          </a:p>
          <a:p xmlns:a="http://schemas.openxmlformats.org/drawingml/2006/main">
            <a:r>
              <a:t>Code đầy đủ:</a:t>
            </a:r>
          </a:p>
          <a:p xmlns:a="http://schemas.openxmlformats.org/drawingml/2006/main">
            <a:r>
              <a:t>def find_products(conn, items, filters):</a:t>
            </a:r>
          </a:p>
          <a:p xmlns:a="http://schemas.openxmlformats.org/drawingml/2006/main">
            <a:r>
              <a:t>    found = {}</a:t>
            </a:r>
          </a:p>
          <a:p xmlns:a="http://schemas.openxmlformats.org/drawingml/2006/main">
            <a:r>
              <a:t>    for item in items or [{"requested_product": None, "sku": None, "variant": {}}]:</a:t>
            </a:r>
          </a:p>
          <a:p xmlns:a="http://schemas.openxmlformats.org/drawingml/2006/main">
            <a:r>
              <a:t>        query, sku = item.get("requested_product"), item.get("sku")</a:t>
            </a:r>
          </a:p>
          <a:p xmlns:a="http://schemas.openxmlformats.org/drawingml/2006/main">
            <a:r>
              <a:t>        if sku:</a:t>
            </a:r>
          </a:p>
          <a:p xmlns:a="http://schemas.openxmlformats.org/drawingml/2006/main">
            <a:r>
              <a:t>            variant = catalog.get_variant(conn, sku)</a:t>
            </a:r>
          </a:p>
          <a:p xmlns:a="http://schemas.openxmlformats.org/drawingml/2006/main">
            <a:r>
              <a:t>            products = [catalog.get_product(conn, variant["product_id"])]</a:t>
            </a:r>
          </a:p>
          <a:p xmlns:a="http://schemas.openxmlformats.org/drawingml/2006/main">
            <a:r>
              <a:t>        elif query:</a:t>
            </a:r>
          </a:p>
          <a:p xmlns:a="http://schemas.openxmlformats.org/drawingml/2006/main">
            <a:r>
              <a:t>            categories = [c for c in catalog.list_categories(conn) if normalize(c) == normalize(query)]</a:t>
            </a:r>
          </a:p>
          <a:p xmlns:a="http://schemas.openxmlformats.org/drawingml/2006/main">
            <a:r>
              <a:t>            products = catalog.list_products(conn, category=categories[0], limit=100) if categories else catalog.search_products(conn, query, limit=20)</a:t>
            </a:r>
          </a:p>
          <a:p xmlns:a="http://schemas.openxmlformats.org/drawingml/2006/main">
            <a:r>
              <a:t>        else:</a:t>
            </a:r>
          </a:p>
          <a:p xmlns:a="http://schemas.openxmlformats.org/drawingml/2006/main">
            <a:r>
              <a:t>            products = catalog.list_products(conn, limit=100)</a:t>
            </a:r>
          </a:p>
          <a:p xmlns:a="http://schemas.openxmlformats.org/drawingml/2006/main">
            <a:r>
              <a:t>        for p in products:</a:t>
            </a:r>
          </a:p>
          <a:p xmlns:a="http://schemas.openxmlformats.org/drawingml/2006/main">
            <a:r>
              <a:t>            if filters.category and not _matches(filters.category, p["category"]):</a:t>
            </a:r>
          </a:p>
          <a:p xmlns:a="http://schemas.openxmlformats.org/drawingml/2006/main">
            <a:r>
              <a:t>                continue</a:t>
            </a:r>
          </a:p>
          <a:p xmlns:a="http://schemas.openxmlformats.org/drawingml/2006/main">
            <a:r>
              <a:t>            requested = item.get("variant", {})</a:t>
            </a:r>
          </a:p>
          <a:p xmlns:a="http://schemas.openxmlformats.org/drawingml/2006/main">
            <a:r>
              <a:t>            variants = [v for v in p["variants"]</a:t>
            </a:r>
          </a:p>
          <a:p xmlns:a="http://schemas.openxmlformats.org/drawingml/2006/main">
            <a:r>
              <a:t>                        if (not sku or v["sku"] == sku)</a:t>
            </a:r>
          </a:p>
          <a:p xmlns:a="http://schemas.openxmlformats.org/drawingml/2006/main">
            <a:r>
              <a:t>                        and _matches(requested.get("color"), v["color"], field="color")</a:t>
            </a:r>
          </a:p>
          <a:p xmlns:a="http://schemas.openxmlformats.org/drawingml/2006/main">
            <a:r>
              <a:t>                        and _matches(requested.get("size"), v["size"], field="size")</a:t>
            </a:r>
          </a:p>
          <a:p xmlns:a="http://schemas.openxmlformats.org/drawingml/2006/main">
            <a:r>
              <a:t>                        and (filters.min_price is None or v["price"] &gt;= filters.min_price)</a:t>
            </a:r>
          </a:p>
          <a:p xmlns:a="http://schemas.openxmlformats.org/drawingml/2006/main">
            <a:r>
              <a:t>                        and (filters.max_price is None or v["price"] &lt;= filters.max_price)</a:t>
            </a:r>
          </a:p>
          <a:p xmlns:a="http://schemas.openxmlformats.org/drawingml/2006/main">
            <a:r>
              <a:t>                        and (not filters.in_stock_only or v["stock"] &gt; 0)]</a:t>
            </a:r>
          </a:p>
          <a:p xmlns:a="http://schemas.openxmlformats.org/drawingml/2006/main">
            <a:r>
              <a:t>            if not variants:</a:t>
            </a:r>
          </a:p>
          <a:p xmlns:a="http://schemas.openxmlformats.org/drawingml/2006/main">
            <a:r>
              <a:t>                continue</a:t>
            </a:r>
          </a:p>
          <a:p xmlns:a="http://schemas.openxmlformats.org/drawingml/2006/main">
            <a:r>
              <a:t>            if p["product_id"] in found:</a:t>
            </a:r>
          </a:p>
          <a:p xmlns:a="http://schemas.openxmlformats.org/drawingml/2006/main">
            <a:r>
              <a:t>                previous = found[p["product_id"]]["variants"]</a:t>
            </a:r>
          </a:p>
          <a:p xmlns:a="http://schemas.openxmlformats.org/drawingml/2006/main">
            <a:r>
              <a:t>                variants = list({v["sku"]: v for v in [*previous, *variants]}.values())</a:t>
            </a:r>
          </a:p>
          <a:p xmlns:a="http://schemas.openxmlformats.org/drawingml/2006/main">
            <a:r>
              <a:t>            found[p["product_id"]] = {**p, "variants": variants,</a:t>
            </a:r>
          </a:p>
          <a:p xmlns:a="http://schemas.openxmlformats.org/drawingml/2006/main">
            <a:r>
              <a:t>                                      "price_min": min(v["price"] for v in variants),</a:t>
            </a:r>
          </a:p>
          <a:p xmlns:a="http://schemas.openxmlformats.org/drawingml/2006/main">
            <a:r>
              <a:t>                                      "price_max": max(v["price"] for v in variants),</a:t>
            </a:r>
          </a:p>
          <a:p xmlns:a="http://schemas.openxmlformats.org/drawingml/2006/main">
            <a:r>
              <a:t>                                      "in_stock": any(v["stock"] &gt; 0 for v in variants)}</a:t>
            </a:r>
          </a:p>
          <a:p xmlns:a="http://schemas.openxmlformats.org/drawingml/2006/main">
            <a:r>
              <a:t>    return list(found.values())</a:t>
            </a:r>
          </a:p>
          <a:p xmlns:a="http://schemas.openxmlformats.org/drawingml/2006/main">
            <a:r>
              <a:t/>
            </a:r>
          </a:p>
          <a:p xmlns:a="http://schemas.openxmlformats.org/drawingml/2006/main">
            <a:r>
              <a:t>catalog_reply</a:t>
            </a:r>
          </a:p>
          <a:p xmlns:a="http://schemas.openxmlformats.org/drawingml/2006/main">
            <a:r>
              <a:t>Chức năng: Tạo câu trả lời và danh sách sản phẩm bằng giá/tồn thực tế lấy từ database.</a:t>
            </a:r>
          </a:p>
          <a:p xmlns:a="http://schemas.openxmlformats.org/drawingml/2006/main">
            <a:r>
              <a:t>Đầu vào: conn, items, filters, intent</a:t>
            </a:r>
          </a:p>
          <a:p xmlns:a="http://schemas.openxmlformats.org/drawingml/2006/main">
            <a:r>
              <a:t>Đầu ra/tác động: Response đọc catalog/giá/tồn cùng products.</a:t>
            </a:r>
          </a:p>
          <a:p xmlns:a="http://schemas.openxmlformats.org/drawingml/2006/main">
            <a:r>
              <a:t>Nguồn: backend/catalog_chat.py:71-98</a:t>
            </a:r>
          </a:p>
          <a:p xmlns:a="http://schemas.openxmlformats.org/drawingml/2006/main">
            <a:r>
              <a:t>Code đầy đủ:</a:t>
            </a:r>
          </a:p>
          <a:p xmlns:a="http://schemas.openxmlformats.org/drawingml/2006/main">
            <a:r>
              <a:t>def catalog_reply(conn, items, filters, intent):</a:t>
            </a:r>
          </a:p>
          <a:p xmlns:a="http://schemas.openxmlformats.org/drawingml/2006/main">
            <a:r>
              <a:t>    products = find_products(conn, items, filters)</a:t>
            </a:r>
          </a:p>
          <a:p xmlns:a="http://schemas.openxmlformats.org/drawingml/2006/main">
            <a:r>
              <a:t>    if not products:</a:t>
            </a:r>
          </a:p>
          <a:p xmlns:a="http://schemas.openxmlformats.org/drawingml/2006/main">
            <a:r>
              <a:t>        return {"reply": "Hiện cửa hàng chưa có sản phẩm khớp yêu cầu trong catalog. Bạn có thể đổi từ khóa, màu/size hoặc mức giá để mình tìm lại.",</a:t>
            </a:r>
          </a:p>
          <a:p xmlns:a="http://schemas.openxmlformats.org/drawingml/2006/main">
            <a:r>
              <a:t>                "route": "catalog_empty", "missing_fields": [], "order": None, "products": []}</a:t>
            </a:r>
          </a:p>
          <a:p xmlns:a="http://schemas.openxmlformats.org/drawingml/2006/main">
            <a:r>
              <a:t>    shown = products[:8]</a:t>
            </a:r>
          </a:p>
          <a:p xmlns:a="http://schemas.openxmlformats.org/drawingml/2006/main">
            <a:r>
              <a:t>    if intent == "browse_catalog":</a:t>
            </a:r>
          </a:p>
          <a:p xmlns:a="http://schemas.openxmlformats.org/drawingml/2006/main">
            <a:r>
              <a:t>        lines = ["Mình tìm được các sản phẩm sau trong cửa hàng:"]</a:t>
            </a:r>
          </a:p>
          <a:p xmlns:a="http://schemas.openxmlformats.org/drawingml/2006/main">
            <a:r>
              <a:t>    else:</a:t>
            </a:r>
          </a:p>
          <a:p xmlns:a="http://schemas.openxmlformats.org/drawingml/2006/main">
            <a:r>
              <a:t>        lines = ["Thông tin hiện tại từ cửa hàng:"]</a:t>
            </a:r>
          </a:p>
          <a:p xmlns:a="http://schemas.openxmlformats.org/drawingml/2006/main">
            <a:r>
              <a:t>    for index, p in enumerate(shown, 1):</a:t>
            </a:r>
          </a:p>
          <a:p xmlns:a="http://schemas.openxmlformats.org/drawingml/2006/main">
            <a:r>
              <a:t>        lines.append(f"\n{index}. {p['name']} ({p['category']})")</a:t>
            </a:r>
          </a:p>
          <a:p xmlns:a="http://schemas.openxmlformats.org/drawingml/2006/main">
            <a:r>
              <a:t>        if intent == "browse_catalog" and p.get("description"):</a:t>
            </a:r>
          </a:p>
          <a:p xmlns:a="http://schemas.openxmlformats.org/drawingml/2006/main">
            <a:r>
              <a:t>            lines.append(p["description"])</a:t>
            </a:r>
          </a:p>
          <a:p xmlns:a="http://schemas.openxmlformats.org/drawingml/2006/main">
            <a:r>
              <a:t>        if intent == "browse_catalog" and len(shown) &gt; 1:</a:t>
            </a:r>
          </a:p>
          <a:p xmlns:a="http://schemas.openxmlformats.org/drawingml/2006/main">
            <a:r>
              <a:t>            price = f"{p['price_min']:,} VND" if p["price_min"] == p["price_max"] else f"{p['price_min']:,}–{p['price_max']:,} VND"</a:t>
            </a:r>
          </a:p>
          <a:p xmlns:a="http://schemas.openxmlformats.org/drawingml/2006/main">
            <a:r>
              <a:t>            lines.append(f"Giá {price}; " + ("còn hàng." if p["in_stock"] else "hiện hết hàng."))</a:t>
            </a:r>
          </a:p>
          <a:p xmlns:a="http://schemas.openxmlformats.org/drawingml/2006/main">
            <a:r>
              <a:t>            continue</a:t>
            </a:r>
          </a:p>
          <a:p xmlns:a="http://schemas.openxmlformats.org/drawingml/2006/main">
            <a:r>
              <a:t>        for v in p["variants"]:</a:t>
            </a:r>
          </a:p>
          <a:p xmlns:a="http://schemas.openxmlformats.org/drawingml/2006/main">
            <a:r>
              <a:t>            stock = f"còn {v['stock']} sản phẩm" if v["stock"] else "hết hàng (còn 0 sản phẩm)"</a:t>
            </a:r>
          </a:p>
          <a:p xmlns:a="http://schemas.openxmlformats.org/drawingml/2006/main">
            <a:r>
              <a:t>            facts = f"giá {v['price']:,} VND; {stock}"</a:t>
            </a:r>
          </a:p>
          <a:p xmlns:a="http://schemas.openxmlformats.org/drawingml/2006/main">
            <a:r>
              <a:t>            lines.append(f"- {v['variant_name']} ({v['sku']}): {facts}.")</a:t>
            </a:r>
          </a:p>
          <a:p xmlns:a="http://schemas.openxmlformats.org/drawingml/2006/main">
            <a:r>
              <a:t>    if len(products) &gt; len(shown):</a:t>
            </a:r>
          </a:p>
          <a:p xmlns:a="http://schemas.openxmlformats.org/drawingml/2006/main">
            <a:r>
              <a:t>        lines.append(f"\nĐang hiển thị {len(shown)}/{len(products)} sản phẩm phù hợp. Bạn muốn xem nhóm nào cụ thể?")</a:t>
            </a:r>
          </a:p>
          <a:p xmlns:a="http://schemas.openxmlformats.org/drawingml/2006/main">
            <a:r>
              <a:t>    else:</a:t>
            </a:r>
          </a:p>
          <a:p xmlns:a="http://schemas.openxmlformats.org/drawingml/2006/main">
            <a:r>
              <a:t>        lines.append("\nBạn muốn xem kỹ sản phẩm, màu hoặc size nào?")</a:t>
            </a:r>
          </a:p>
          <a:p xmlns:a="http://schemas.openxmlformats.org/drawingml/2006/main">
            <a:r>
              <a:t>    return {"reply": "\n".join(lines), "route": {"browse_catalog": "catalog_shown", "check_price": "price_checked", "check_stock": "stock_checked"}[intent],</a:t>
            </a:r>
          </a:p>
          <a:p xmlns:a="http://schemas.openxmlformats.org/drawingml/2006/main">
            <a:r>
              <a:t>            "missing_fields": [], "order": None, "products": [product_view(p) for p in shown]}</a:t>
            </a:r>
          </a:p>
          <a:p xmlns:a="http://schemas.openxmlformats.org/drawingml/2006/main">
            <a:r>
              <a:t/>
            </a:r>
          </a:p>
          <a:p xmlns:a="http://schemas.openxmlformats.org/drawingml/2006/main">
            <a:r>
              <a:t>Nguồn code của bản chụp 22/10/2026:</a:t>
            </a:r>
          </a:p>
          <a:p xmlns:a="http://schemas.openxmlformats.org/drawingml/2006/main">
            <a:r>
              <a:t>backend/catalog_chat.py:35-67   /   backend/catalog_chat.py:71-98</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browsing_context</a:t>
            </a:r>
          </a:p>
          <a:p xmlns:a="http://schemas.openxmlformats.org/drawingml/2006/main">
            <a:r>
              <a:t>Chức năng: Lưu ID sản phẩm và SKU vừa hiển thị để hiểu các câu hỏi tiếp theo của khách.</a:t>
            </a:r>
          </a:p>
          <a:p xmlns:a="http://schemas.openxmlformats.org/drawingml/2006/main">
            <a:r>
              <a:t>Đầu vào: result</a:t>
            </a:r>
          </a:p>
          <a:p xmlns:a="http://schemas.openxmlformats.org/drawingml/2006/main">
            <a:r>
              <a:t>Đầu ra/tác động: catalog_product_ids và tối đa 40 catalog_skus.</a:t>
            </a:r>
          </a:p>
          <a:p xmlns:a="http://schemas.openxmlformats.org/drawingml/2006/main">
            <a:r>
              <a:t>Nguồn: backend/catalog_chat.py:102-105</a:t>
            </a:r>
          </a:p>
          <a:p xmlns:a="http://schemas.openxmlformats.org/drawingml/2006/main">
            <a:r>
              <a:t>Code đầy đủ:</a:t>
            </a:r>
          </a:p>
          <a:p xmlns:a="http://schemas.openxmlformats.org/drawingml/2006/main">
            <a:r>
              <a:t>def browsing_context(result):</a:t>
            </a:r>
          </a:p>
          <a:p xmlns:a="http://schemas.openxmlformats.org/drawingml/2006/main">
            <a:r>
              <a:t>    products = result.get("products", [])</a:t>
            </a:r>
          </a:p>
          <a:p xmlns:a="http://schemas.openxmlformats.org/drawingml/2006/main">
            <a:r>
              <a:t>    return {"catalog_product_ids": [p["product_id"] for p in products],</a:t>
            </a:r>
          </a:p>
          <a:p xmlns:a="http://schemas.openxmlformats.org/drawingml/2006/main">
            <a:r>
              <a:t>            "catalog_skus": [v["sku"] for p in products for v in p["variants"]][:40]}</a:t>
            </a:r>
          </a:p>
          <a:p xmlns:a="http://schemas.openxmlformats.org/drawingml/2006/main">
            <a:r>
              <a:t/>
            </a:r>
          </a:p>
          <a:p xmlns:a="http://schemas.openxmlformats.org/drawingml/2006/main">
            <a:r>
              <a:t>resolve_reference</a:t>
            </a:r>
          </a:p>
          <a:p xmlns:a="http://schemas.openxmlformats.org/drawingml/2006/main">
            <a:r>
              <a:t>Chức năng: Hiểu “mẫu này”, “mẫu đầu tiên” từ lịch sử xem hàng, chỉ chọn khi tham chiếu đủ rõ.</a:t>
            </a:r>
          </a:p>
          <a:p xmlns:a="http://schemas.openxmlformats.org/drawingml/2006/main">
            <a:r>
              <a:t>Đầu vào: conn, items, context, message</a:t>
            </a:r>
          </a:p>
          <a:p xmlns:a="http://schemas.openxmlformats.org/drawingml/2006/main">
            <a:r>
              <a:t>Đầu ra/tác động: Item gắn sản phẩm/SKU rõ nghĩa hoặc giữ nguyên để hỏi lại.</a:t>
            </a:r>
          </a:p>
          <a:p xmlns:a="http://schemas.openxmlformats.org/drawingml/2006/main">
            <a:r>
              <a:t>Nguồn: backend/catalog_chat.py:109-132</a:t>
            </a:r>
          </a:p>
          <a:p xmlns:a="http://schemas.openxmlformats.org/drawingml/2006/main">
            <a:r>
              <a:t>Code đầy đủ:</a:t>
            </a:r>
          </a:p>
          <a:p xmlns:a="http://schemas.openxmlformats.org/drawingml/2006/main">
            <a:r>
              <a:t>def resolve_reference(conn, items, context, message):</a:t>
            </a:r>
          </a:p>
          <a:p xmlns:a="http://schemas.openxmlformats.org/drawingml/2006/main">
            <a:r>
              <a:t>    ids = context.get("catalog_product_ids", [])</a:t>
            </a:r>
          </a:p>
          <a:p xmlns:a="http://schemas.openxmlformats.org/drawingml/2006/main">
            <a:r>
              <a:t>    if not ids or not items or len(items) != 1:</a:t>
            </a:r>
          </a:p>
          <a:p xmlns:a="http://schemas.openxmlformats.org/drawingml/2006/main">
            <a:r>
              <a:t>        return items</a:t>
            </a:r>
          </a:p>
          <a:p xmlns:a="http://schemas.openxmlformats.org/drawingml/2006/main">
            <a:r>
              <a:t>    item = items[0]</a:t>
            </a:r>
          </a:p>
          <a:p xmlns:a="http://schemas.openxmlformats.org/drawingml/2006/main">
            <a:r>
              <a:t>    query = normalize(item.get("requested_product"))</a:t>
            </a:r>
          </a:p>
          <a:p xmlns:a="http://schemas.openxmlformats.org/drawingml/2006/main">
            <a:r>
              <a:t>    references = {"mau nay", "mau do", "cai nay", "cai do", "ao nay", "ao do", "san pham nay", "san pham do", "mau dau tien", "mau cuoi"}</a:t>
            </a:r>
          </a:p>
          <a:p xmlns:a="http://schemas.openxmlformats.org/drawingml/2006/main">
            <a:r>
              <a:t>    if item.get("sku") or (query and query not in references):</a:t>
            </a:r>
          </a:p>
          <a:p xmlns:a="http://schemas.openxmlformats.org/drawingml/2006/main">
            <a:r>
              <a:t>        return items</a:t>
            </a:r>
          </a:p>
          <a:p xmlns:a="http://schemas.openxmlformats.org/drawingml/2006/main">
            <a:r>
              <a:t>    text = normalize(message)</a:t>
            </a:r>
          </a:p>
          <a:p xmlns:a="http://schemas.openxmlformats.org/drawingml/2006/main">
            <a:r>
              <a:t>    if "mau dau tien" in text or "san pham dau tien" in text:</a:t>
            </a:r>
          </a:p>
          <a:p xmlns:a="http://schemas.openxmlformats.org/drawingml/2006/main">
            <a:r>
              <a:t>        target = ids[0]</a:t>
            </a:r>
          </a:p>
          <a:p xmlns:a="http://schemas.openxmlformats.org/drawingml/2006/main">
            <a:r>
              <a:t>    elif "mau cuoi" in text or "san pham cuoi" in text:</a:t>
            </a:r>
          </a:p>
          <a:p xmlns:a="http://schemas.openxmlformats.org/drawingml/2006/main">
            <a:r>
              <a:t>        target = ids[-1]</a:t>
            </a:r>
          </a:p>
          <a:p xmlns:a="http://schemas.openxmlformats.org/drawingml/2006/main">
            <a:r>
              <a:t>    elif len(ids) == 1:</a:t>
            </a:r>
          </a:p>
          <a:p xmlns:a="http://schemas.openxmlformats.org/drawingml/2006/main">
            <a:r>
              <a:t>        target = ids[0]</a:t>
            </a:r>
          </a:p>
          <a:p xmlns:a="http://schemas.openxmlformats.org/drawingml/2006/main">
            <a:r>
              <a:t>    else:</a:t>
            </a:r>
          </a:p>
          <a:p xmlns:a="http://schemas.openxmlformats.org/drawingml/2006/main">
            <a:r>
              <a:t>        return items</a:t>
            </a:r>
          </a:p>
          <a:p xmlns:a="http://schemas.openxmlformats.org/drawingml/2006/main">
            <a:r>
              <a:t>    product = catalog.get_product(conn, target)</a:t>
            </a:r>
          </a:p>
          <a:p xmlns:a="http://schemas.openxmlformats.org/drawingml/2006/main">
            <a:r>
              <a:t>    result = {**item, "requested_product": product["name"]}</a:t>
            </a:r>
          </a:p>
          <a:p xmlns:a="http://schemas.openxmlformats.org/drawingml/2006/main">
            <a:r>
              <a:t>    skus = [v["sku"] for v in product["variants"] if v["sku"] in context.get("catalog_skus", [])]</a:t>
            </a:r>
          </a:p>
          <a:p xmlns:a="http://schemas.openxmlformats.org/drawingml/2006/main">
            <a:r>
              <a:t>    if len(skus) == 1 and not any(item["variant"].values()):</a:t>
            </a:r>
          </a:p>
          <a:p xmlns:a="http://schemas.openxmlformats.org/drawingml/2006/main">
            <a:r>
              <a:t>        result["sku"] = skus[0]</a:t>
            </a:r>
          </a:p>
          <a:p xmlns:a="http://schemas.openxmlformats.org/drawingml/2006/main">
            <a:r>
              <a:t>    return [result]</a:t>
            </a:r>
          </a:p>
          <a:p xmlns:a="http://schemas.openxmlformats.org/drawingml/2006/main">
            <a:r>
              <a:t/>
            </a:r>
          </a:p>
          <a:p xmlns:a="http://schemas.openxmlformats.org/drawingml/2006/main">
            <a:r>
              <a:t>Nguồn code của bản chụp 22/10/2026:</a:t>
            </a:r>
          </a:p>
          <a:p xmlns:a="http://schemas.openxmlformats.org/drawingml/2006/main">
            <a:r>
              <a:t>backend/catalog_chat.py:102-105   /   backend/catalog_chat.py:109-132</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size_value</a:t>
            </a:r>
          </a:p>
          <a:p xmlns:a="http://schemas.openxmlformats.org/drawingml/2006/main">
            <a:r>
              <a:t>Chức năng: Chuẩn hóa cách viết size để “15inch” và “15 inch” được đối chiếu như nhau.</a:t>
            </a:r>
          </a:p>
          <a:p xmlns:a="http://schemas.openxmlformats.org/drawingml/2006/main">
            <a:r>
              <a:t>Đầu vào: value</a:t>
            </a:r>
          </a:p>
          <a:p xmlns:a="http://schemas.openxmlformats.org/drawingml/2006/main">
            <a:r>
              <a:t>Đầu ra/tác động: Chuỗi size đã chuẩn hóa cách viết inch.</a:t>
            </a:r>
          </a:p>
          <a:p xmlns:a="http://schemas.openxmlformats.org/drawingml/2006/main">
            <a:r>
              <a:t>Nguồn: backend/variant_utils.py:7-8</a:t>
            </a:r>
          </a:p>
          <a:p xmlns:a="http://schemas.openxmlformats.org/drawingml/2006/main">
            <a:r>
              <a:t>Code đầy đủ:</a:t>
            </a:r>
          </a:p>
          <a:p xmlns:a="http://schemas.openxmlformats.org/drawingml/2006/main">
            <a:r>
              <a:t>def size_value(value):</a:t>
            </a:r>
          </a:p>
          <a:p xmlns:a="http://schemas.openxmlformats.org/drawingml/2006/main">
            <a:r>
              <a:t>    return re.sub(r"(?&lt;=\d)\s*(?:inches|inch)\b", " inch", normalize(value))</a:t>
            </a:r>
          </a:p>
          <a:p xmlns:a="http://schemas.openxmlformats.org/drawingml/2006/main">
            <a:r>
              <a:t/>
            </a:r>
          </a:p>
          <a:p xmlns:a="http://schemas.openxmlformats.org/drawingml/2006/main">
            <a:r>
              <a:t>attribute_value</a:t>
            </a:r>
          </a:p>
          <a:p xmlns:a="http://schemas.openxmlformats.org/drawingml/2006/main">
            <a:r>
              <a:t>Chức năng: Bỏ nhãn “màu”, “size”, “cỡ” và chuẩn hóa giá trị trước khi so với biến thể.</a:t>
            </a:r>
          </a:p>
          <a:p xmlns:a="http://schemas.openxmlformats.org/drawingml/2006/main">
            <a:r>
              <a:t>Đầu vào: value, field</a:t>
            </a:r>
          </a:p>
          <a:p xmlns:a="http://schemas.openxmlformats.org/drawingml/2006/main">
            <a:r>
              <a:t>Đầu ra/tác động: Chuỗi màu/size đã bỏ nhãn để so khớp.</a:t>
            </a:r>
          </a:p>
          <a:p xmlns:a="http://schemas.openxmlformats.org/drawingml/2006/main">
            <a:r>
              <a:t>Nguồn: backend/variant_utils.py:12-19</a:t>
            </a:r>
          </a:p>
          <a:p xmlns:a="http://schemas.openxmlformats.org/drawingml/2006/main">
            <a:r>
              <a:t>Code đầy đủ:</a:t>
            </a:r>
          </a:p>
          <a:p xmlns:a="http://schemas.openxmlformats.org/drawingml/2006/main">
            <a:r>
              <a:t>def attribute_value(value, field):</a:t>
            </a:r>
          </a:p>
          <a:p xmlns:a="http://schemas.openxmlformats.org/drawingml/2006/main">
            <a:r>
              <a:t>    text = normalize(value)</a:t>
            </a:r>
          </a:p>
          <a:p xmlns:a="http://schemas.openxmlformats.org/drawingml/2006/main">
            <a:r>
              <a:t>    prefixes = {"color": ("mau", "color"), "size": ("kich co", "size", "co")}</a:t>
            </a:r>
          </a:p>
          <a:p xmlns:a="http://schemas.openxmlformats.org/drawingml/2006/main">
            <a:r>
              <a:t>    for prefix in prefixes.get(field, ()):</a:t>
            </a:r>
          </a:p>
          <a:p xmlns:a="http://schemas.openxmlformats.org/drawingml/2006/main">
            <a:r>
              <a:t>        if text.startswith(prefix + " "):</a:t>
            </a:r>
          </a:p>
          <a:p xmlns:a="http://schemas.openxmlformats.org/drawingml/2006/main">
            <a:r>
              <a:t>            text = text[len(prefix) + 1:]</a:t>
            </a:r>
          </a:p>
          <a:p xmlns:a="http://schemas.openxmlformats.org/drawingml/2006/main">
            <a:r>
              <a:t>            break</a:t>
            </a:r>
          </a:p>
          <a:p xmlns:a="http://schemas.openxmlformats.org/drawingml/2006/main">
            <a:r>
              <a:t>    return size_value(text) if field == "size" else text</a:t>
            </a:r>
          </a:p>
          <a:p xmlns:a="http://schemas.openxmlformats.org/drawingml/2006/main">
            <a:r>
              <a:t/>
            </a:r>
          </a:p>
          <a:p xmlns:a="http://schemas.openxmlformats.org/drawingml/2006/main">
            <a:r>
              <a:t>Nguồn code của bản chụp 22/10/2026:</a:t>
            </a:r>
          </a:p>
          <a:p xmlns:a="http://schemas.openxmlformats.org/drawingml/2006/main">
            <a:r>
              <a:t>backend/variant_utils.py:7-8   /   backend/variant_utils.py:12-19</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ItemChange.require_change</a:t>
            </a:r>
          </a:p>
          <a:p xmlns:a="http://schemas.openxmlformats.org/drawingml/2006/main">
            <a:r>
              <a:t>Chức năng: Bắt buộc yêu cầu sửa dòng hàng có ít nhất một trường sku hoặc quantity khác null.</a:t>
            </a:r>
          </a:p>
          <a:p xmlns:a="http://schemas.openxmlformats.org/drawingml/2006/main">
            <a:r>
              <a:t>Đầu vào: không có tham số ngoài đối tượng</a:t>
            </a:r>
          </a:p>
          <a:p xmlns:a="http://schemas.openxmlformats.org/drawingml/2006/main">
            <a:r>
              <a:t>Đầu ra/tác động: self hợp lệ hoặc ValueError nếu không có trường sửa.</a:t>
            </a:r>
          </a:p>
          <a:p xmlns:a="http://schemas.openxmlformats.org/drawingml/2006/main">
            <a:r>
              <a:t>Nguồn: backend/models.py:39-42</a:t>
            </a:r>
          </a:p>
          <a:p xmlns:a="http://schemas.openxmlformats.org/drawingml/2006/main">
            <a:r>
              <a:t>Code đầy đủ:</a:t>
            </a:r>
          </a:p>
          <a:p xmlns:a="http://schemas.openxmlformats.org/drawingml/2006/main">
            <a:r>
              <a:t>    def require_change(self):</a:t>
            </a:r>
          </a:p>
          <a:p xmlns:a="http://schemas.openxmlformats.org/drawingml/2006/main">
            <a:r>
              <a:t>        if not self.model_fields_set or any(getattr(self, f) is None for f in self.model_fields_set):</a:t>
            </a:r>
          </a:p>
          <a:p xmlns:a="http://schemas.openxmlformats.org/drawingml/2006/main">
            <a:r>
              <a:t>            raise ValueError("Cần sku hoặc quantity có giá trị hợp lệ")</a:t>
            </a:r>
          </a:p>
          <a:p xmlns:a="http://schemas.openxmlformats.org/drawingml/2006/main">
            <a:r>
              <a:t>        return self</a:t>
            </a:r>
          </a:p>
          <a:p xmlns:a="http://schemas.openxmlformats.org/drawingml/2006/main">
            <a:r>
              <a:t/>
            </a:r>
          </a:p>
          <a:p xmlns:a="http://schemas.openxmlformats.org/drawingml/2006/main">
            <a:r>
              <a:t>Nguồn code của bản chụp 22/10/2026:</a:t>
            </a:r>
          </a:p>
          <a:p xmlns:a="http://schemas.openxmlformats.org/drawingml/2006/main">
            <a:r>
              <a:t>backend/models.py:39-42</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Settings.from_env</a:t>
            </a:r>
          </a:p>
          <a:p xmlns:a="http://schemas.openxmlformats.org/drawingml/2006/main">
            <a:r>
              <a:t>Chức năng: Đọc cấu hình từ .env/biến môi trường và kiểm tra key, timeout, retry cùng các giới hạn.</a:t>
            </a:r>
          </a:p>
          <a:p xmlns:a="http://schemas.openxmlformats.org/drawingml/2006/main">
            <a:r>
              <a:t>Đầu vào: không có tham số ngoài đối tượng</a:t>
            </a:r>
          </a:p>
          <a:p xmlns:a="http://schemas.openxmlformats.org/drawingml/2006/main">
            <a:r>
              <a:t>Đầu ra/tác động: Settings bất biến hoặc ValueError nếu cấu hình sai.</a:t>
            </a:r>
          </a:p>
          <a:p xmlns:a="http://schemas.openxmlformats.org/drawingml/2006/main">
            <a:r>
              <a:t>Nguồn: backend/config.py:27-54</a:t>
            </a:r>
          </a:p>
          <a:p xmlns:a="http://schemas.openxmlformats.org/drawingml/2006/main">
            <a:r>
              <a:t>Code đầy đủ:</a:t>
            </a:r>
          </a:p>
          <a:p xmlns:a="http://schemas.openxmlformats.org/drawingml/2006/main">
            <a:r>
              <a:t>    def from_env(cls):</a:t>
            </a:r>
          </a:p>
          <a:p xmlns:a="http://schemas.openxmlformats.org/drawingml/2006/main">
            <a:r>
              <a:t>        load_dotenv()</a:t>
            </a:r>
          </a:p>
          <a:p xmlns:a="http://schemas.openxmlformats.org/drawingml/2006/main">
            <a:r>
              <a:t>        settings = cls(</a:t>
            </a:r>
          </a:p>
          <a:p xmlns:a="http://schemas.openxmlformats.org/drawingml/2006/main">
            <a:r>
              <a:t>            db_path=get_db_path(),</a:t>
            </a:r>
          </a:p>
          <a:p xmlns:a="http://schemas.openxmlformats.org/drawingml/2006/main">
            <a:r>
              <a:t>            llm_provider=os.getenv("LLM_PROVIDER", "fake"),</a:t>
            </a:r>
          </a:p>
          <a:p xmlns:a="http://schemas.openxmlformats.org/drawingml/2006/main">
            <a:r>
              <a:t>            model_id=os.getenv("LLM_MODEL_ID", "gemini-3.5-flash-lite"),</a:t>
            </a:r>
          </a:p>
          <a:p xmlns:a="http://schemas.openxmlformats.org/drawingml/2006/main">
            <a:r>
              <a:t>            api_key=os.getenv("GEMINI_API_KEY", ""),</a:t>
            </a:r>
          </a:p>
          <a:p xmlns:a="http://schemas.openxmlformats.org/drawingml/2006/main">
            <a:r>
              <a:t>            llm_timeout=float(os.getenv("LLM_TIMEOUT_SECONDS", "12")),</a:t>
            </a:r>
          </a:p>
          <a:p xmlns:a="http://schemas.openxmlformats.org/drawingml/2006/main">
            <a:r>
              <a:t>            llm_max_retries=int(os.getenv("LLM_MAX_RETRIES", "0")),</a:t>
            </a:r>
          </a:p>
          <a:p xmlns:a="http://schemas.openxmlformats.org/drawingml/2006/main">
            <a:r>
              <a:t>            llm_daily_limit=int(os.getenv("LLM_DAILY_REQUEST_LIMIT", "500")),</a:t>
            </a:r>
          </a:p>
          <a:p xmlns:a="http://schemas.openxmlformats.org/drawingml/2006/main">
            <a:r>
              <a:t>            llm_usage_path=os.getenv("LLM_USAGE_DB_PATH", str(Path(__file__).resolve().parents[1] / "database/data/llm_usage.db")),</a:t>
            </a:r>
          </a:p>
          <a:p xmlns:a="http://schemas.openxmlformats.org/drawingml/2006/main">
            <a:r>
              <a:t>            session_ttl=int(os.getenv("SESSION_TTL_SECONDS", "86400")),</a:t>
            </a:r>
          </a:p>
          <a:p xmlns:a="http://schemas.openxmlformats.org/drawingml/2006/main">
            <a:r>
              <a:t>            request_limit=int(os.getenv("API_REQUESTS_PER_MINUTE", "120")),</a:t>
            </a:r>
          </a:p>
          <a:p xmlns:a="http://schemas.openxmlformats.org/drawingml/2006/main">
            <a:r>
              <a:t>            chat_limit=int(os.getenv("CHAT_REQUESTS_PER_MINUTE", "10")),</a:t>
            </a:r>
          </a:p>
          <a:p xmlns:a="http://schemas.openxmlformats.org/drawingml/2006/main">
            <a:r>
              <a:t>            session_limit=int(os.getenv("SESSION_REQUESTS_PER_MINUTE", "20")),</a:t>
            </a:r>
          </a:p>
          <a:p xmlns:a="http://schemas.openxmlformats.org/drawingml/2006/main">
            <a:r>
              <a:t>        )</a:t>
            </a:r>
          </a:p>
          <a:p xmlns:a="http://schemas.openxmlformats.org/drawingml/2006/main">
            <a:r>
              <a:t>        if settings.llm_provider not in {"fake", "gemini"}:</a:t>
            </a:r>
          </a:p>
          <a:p xmlns:a="http://schemas.openxmlformats.org/drawingml/2006/main">
            <a:r>
              <a:t>            raise ValueError("LLM_PROVIDER phải là fake hoặc gemini")</a:t>
            </a:r>
          </a:p>
          <a:p xmlns:a="http://schemas.openxmlformats.org/drawingml/2006/main">
            <a:r>
              <a:t>        if settings.llm_provider == "gemini" and not settings.api_key:</a:t>
            </a:r>
          </a:p>
          <a:p xmlns:a="http://schemas.openxmlformats.org/drawingml/2006/main">
            <a:r>
              <a:t>            raise ValueError("Chưa cấu hình GEMINI_API_KEY trong .env")</a:t>
            </a:r>
          </a:p>
          <a:p xmlns:a="http://schemas.openxmlformats.org/drawingml/2006/main">
            <a:r>
              <a:t>        if not 1 &lt;= settings.llm_timeout &lt;= 30 or not 0 &lt;= settings.llm_max_retries &lt;= 2:</a:t>
            </a:r>
          </a:p>
          <a:p xmlns:a="http://schemas.openxmlformats.org/drawingml/2006/main">
            <a:r>
              <a:t>            raise ValueError("Timeout phải từ 1-30 giây, retry từ 0-2")</a:t>
            </a:r>
          </a:p>
          <a:p xmlns:a="http://schemas.openxmlformats.org/drawingml/2006/main">
            <a:r>
              <a:t>        maximum = 500 if settings.model_id == "gemini-3.5-flash-lite" else 20</a:t>
            </a:r>
          </a:p>
          <a:p xmlns:a="http://schemas.openxmlformats.org/drawingml/2006/main">
            <a:r>
              <a:t>        if not 0 &lt;= settings.llm_daily_limit &lt;= maximum:</a:t>
            </a:r>
          </a:p>
          <a:p xmlns:a="http://schemas.openxmlformats.org/drawingml/2006/main">
            <a:r>
              <a:t>            raise ValueError(f"Giới hạn gọi {settings.model_id} mỗi ngày phải từ 0-{maximum}")</a:t>
            </a:r>
          </a:p>
          <a:p xmlns:a="http://schemas.openxmlformats.org/drawingml/2006/main">
            <a:r>
              <a:t>        if min(settings.session_ttl, settings.request_limit, settings.chat_limit, settings.session_limit) &lt; 1:</a:t>
            </a:r>
          </a:p>
          <a:p xmlns:a="http://schemas.openxmlformats.org/drawingml/2006/main">
            <a:r>
              <a:t>            raise ValueError("TTL và giới hạn request phải lớn hơn 0")</a:t>
            </a:r>
          </a:p>
          <a:p xmlns:a="http://schemas.openxmlformats.org/drawingml/2006/main">
            <a:r>
              <a:t>        return settings</a:t>
            </a:r>
          </a:p>
          <a:p xmlns:a="http://schemas.openxmlformats.org/drawingml/2006/main">
            <a:r>
              <a:t/>
            </a:r>
          </a:p>
          <a:p xmlns:a="http://schemas.openxmlformats.org/drawingml/2006/main">
            <a:r>
              <a:t>Nguồn code của bản chụp 22/10/2026:</a:t>
            </a:r>
          </a:p>
          <a:p xmlns:a="http://schemas.openxmlformats.org/drawingml/2006/main">
            <a:r>
              <a:t>backend/config.py:27-54</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ApiProblem.__init__</a:t>
            </a:r>
          </a:p>
          <a:p xmlns:a="http://schemas.openxmlformats.org/drawingml/2006/main">
            <a:r>
              <a:t>Chức năng: Lưu mã HTTP, mã lỗi, thông báo và lỗi từng trường để API phản hồi thống nhất.</a:t>
            </a:r>
          </a:p>
          <a:p xmlns:a="http://schemas.openxmlformats.org/drawingml/2006/main">
            <a:r>
              <a:t>Đầu vào: status, code, message, fields</a:t>
            </a:r>
          </a:p>
          <a:p xmlns:a="http://schemas.openxmlformats.org/drawingml/2006/main">
            <a:r>
              <a:t>Đầu ra/tác động: Đối tượng lỗi có status, code, message, fields.</a:t>
            </a:r>
          </a:p>
          <a:p xmlns:a="http://schemas.openxmlformats.org/drawingml/2006/main">
            <a:r>
              <a:t>Nguồn: backend/errors.py:6-10</a:t>
            </a:r>
          </a:p>
          <a:p xmlns:a="http://schemas.openxmlformats.org/drawingml/2006/main">
            <a:r>
              <a:t>Code đầy đủ:</a:t>
            </a:r>
          </a:p>
          <a:p xmlns:a="http://schemas.openxmlformats.org/drawingml/2006/main">
            <a:r>
              <a:t>    def __init__(self, status, code, message, fields=None):</a:t>
            </a:r>
          </a:p>
          <a:p xmlns:a="http://schemas.openxmlformats.org/drawingml/2006/main">
            <a:r>
              <a:t>        self.status = status</a:t>
            </a:r>
          </a:p>
          <a:p xmlns:a="http://schemas.openxmlformats.org/drawingml/2006/main">
            <a:r>
              <a:t>        self.code = code</a:t>
            </a:r>
          </a:p>
          <a:p xmlns:a="http://schemas.openxmlformats.org/drawingml/2006/main">
            <a:r>
              <a:t>        self.message = message</a:t>
            </a:r>
          </a:p>
          <a:p xmlns:a="http://schemas.openxmlformats.org/drawingml/2006/main">
            <a:r>
              <a:t>        self.fields = fields or {}</a:t>
            </a:r>
          </a:p>
          <a:p xmlns:a="http://schemas.openxmlformats.org/drawingml/2006/main">
            <a:r>
              <a:t/>
            </a:r>
          </a:p>
          <a:p xmlns:a="http://schemas.openxmlformats.org/drawingml/2006/main">
            <a:r>
              <a:t>database_problem</a:t>
            </a:r>
          </a:p>
          <a:p xmlns:a="http://schemas.openxmlformats.org/drawingml/2006/main">
            <a:r>
              <a:t>Chức năng: Ánh xạ lỗi database sang mã HTTP và đổi tên trường cho khớp dữ liệu frontend.</a:t>
            </a:r>
          </a:p>
          <a:p xmlns:a="http://schemas.openxmlformats.org/drawingml/2006/main">
            <a:r>
              <a:t>Đầu vào: err</a:t>
            </a:r>
          </a:p>
          <a:p xmlns:a="http://schemas.openxmlformats.org/drawingml/2006/main">
            <a:r>
              <a:t>Đầu ra/tác động: ApiProblem tương ứng lỗi database.</a:t>
            </a:r>
          </a:p>
          <a:p xmlns:a="http://schemas.openxmlformats.org/drawingml/2006/main">
            <a:r>
              <a:t>Nguồn: backend/errors.py:14-23</a:t>
            </a:r>
          </a:p>
          <a:p xmlns:a="http://schemas.openxmlformats.org/drawingml/2006/main">
            <a:r>
              <a:t>Code đầy đủ:</a:t>
            </a:r>
          </a:p>
          <a:p xmlns:a="http://schemas.openxmlformats.org/drawingml/2006/main">
            <a:r>
              <a:t>def database_problem(err: DataServiceError):</a:t>
            </a:r>
          </a:p>
          <a:p xmlns:a="http://schemas.openxmlformats.org/drawingml/2006/main">
            <a:r>
              <a:t>    code = err.code</a:t>
            </a:r>
          </a:p>
          <a:p xmlns:a="http://schemas.openxmlformats.org/drawingml/2006/main">
            <a:r>
              <a:t>    status = 409</a:t>
            </a:r>
          </a:p>
          <a:p xmlns:a="http://schemas.openxmlformats.org/drawingml/2006/main">
            <a:r>
              <a:t>    if code in {"sku_not_found", "product_not_found", "order_not_found", "item_not_found", "conversation_not_found"}:</a:t>
            </a:r>
          </a:p>
          <a:p xmlns:a="http://schemas.openxmlformats.org/drawingml/2006/main">
            <a:r>
              <a:t>        status = 404</a:t>
            </a:r>
          </a:p>
          <a:p xmlns:a="http://schemas.openxmlformats.org/drawingml/2006/main">
            <a:r>
              <a:t>    if code == "validation_error":</a:t>
            </a:r>
          </a:p>
          <a:p xmlns:a="http://schemas.openxmlformats.org/drawingml/2006/main">
            <a:r>
              <a:t>        status, code = 422, "validation"</a:t>
            </a:r>
          </a:p>
          <a:p xmlns:a="http://schemas.openxmlformats.org/drawingml/2006/main">
            <a:r>
              <a:t>    fields = err.details.get("errors", {})</a:t>
            </a:r>
          </a:p>
          <a:p xmlns:a="http://schemas.openxmlformats.org/drawingml/2006/main">
            <a:r>
              <a:t>    fields = {"recipient_name" if k == "customer_name" else k: v for k, v in fields.items()}</a:t>
            </a:r>
          </a:p>
          <a:p xmlns:a="http://schemas.openxmlformats.org/drawingml/2006/main">
            <a:r>
              <a:t>    return ApiProblem(status, code, err.message, fields)</a:t>
            </a:r>
          </a:p>
          <a:p xmlns:a="http://schemas.openxmlformats.org/drawingml/2006/main">
            <a:r>
              <a:t/>
            </a:r>
          </a:p>
          <a:p xmlns:a="http://schemas.openxmlformats.org/drawingml/2006/main">
            <a:r>
              <a:t>Nguồn code của bản chụp 22/10/2026:</a:t>
            </a:r>
          </a:p>
          <a:p xmlns:a="http://schemas.openxmlformats.org/drawingml/2006/main">
            <a:r>
              <a:t>backend/errors.py:6-10   /   backend/errors.py:14-23</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_seg</a:t>
            </a:r>
          </a:p>
          <a:p xmlns:a="http://schemas.openxmlformats.org/drawingml/2006/main">
            <a:r>
              <a:t>Chức năng: Mã hóa ID hoặc SKU để chèn an toàn vào một đoạn đường dẫn URL.</a:t>
            </a:r>
          </a:p>
          <a:p xmlns:a="http://schemas.openxmlformats.org/drawingml/2006/main">
            <a:r>
              <a:t>Đầu vào: value</a:t>
            </a:r>
          </a:p>
          <a:p xmlns:a="http://schemas.openxmlformats.org/drawingml/2006/main">
            <a:r>
              <a:t>Đầu ra/tác động: Chuỗi URL-encoded cho một đoạn path.</a:t>
            </a:r>
          </a:p>
          <a:p xmlns:a="http://schemas.openxmlformats.org/drawingml/2006/main">
            <a:r>
              <a:t>Nguồn: backend/shop_api.py:11-12</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def _seg(value):</a:t>
            </a:r>
          </a:p>
          <a:p xmlns:a="http://schemas.openxmlformats.org/drawingml/2006/main">
            <a:r>
              <a:t>    return quote(str(value), safe="")</a:t>
            </a:r>
          </a:p>
          <a:p xmlns:a="http://schemas.openxmlformats.org/drawingml/2006/main">
            <a:r>
              <a:t/>
            </a:r>
          </a:p>
          <a:p xmlns:a="http://schemas.openxmlformats.org/drawingml/2006/main">
            <a:r>
              <a:t>ShopApiMixin.list_products</a:t>
            </a:r>
          </a:p>
          <a:p xmlns:a="http://schemas.openxmlformats.org/drawingml/2006/main">
            <a:r>
              <a:t>Chức năng: Gọi API lấy danh sách sản phẩm và trả riêng mảng products.</a:t>
            </a:r>
          </a:p>
          <a:p xmlns:a="http://schemas.openxmlformats.org/drawingml/2006/main">
            <a:r>
              <a:t>Đầu vào: không có tham số ngoài đối tượng</a:t>
            </a:r>
          </a:p>
          <a:p xmlns:a="http://schemas.openxmlformats.org/drawingml/2006/main">
            <a:r>
              <a:t>Đầu ra/tác động: Mảng products từ API.</a:t>
            </a:r>
          </a:p>
          <a:p xmlns:a="http://schemas.openxmlformats.org/drawingml/2006/main">
            <a:r>
              <a:t>Nguồn: backend/shop_api.py:18-19</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    def list_products(self):</a:t>
            </a:r>
          </a:p>
          <a:p xmlns:a="http://schemas.openxmlformats.org/drawingml/2006/main">
            <a:r>
              <a:t>        return self._request("GET", "/api/products")["products"]</a:t>
            </a:r>
          </a:p>
          <a:p xmlns:a="http://schemas.openxmlformats.org/drawingml/2006/main">
            <a:r>
              <a:t/>
            </a:r>
          </a:p>
          <a:p xmlns:a="http://schemas.openxmlformats.org/drawingml/2006/main">
            <a:r>
              <a:t>Nguồn code của bản chụp 22/10/2026:</a:t>
            </a:r>
          </a:p>
          <a:p xmlns:a="http://schemas.openxmlformats.org/drawingml/2006/main">
            <a:r>
              <a:t>backend/shop_api.py:11-12   /   backend/shop_api.py:18-19</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ShopApiMixin.get_product</a:t>
            </a:r>
          </a:p>
          <a:p xmlns:a="http://schemas.openxmlformats.org/drawingml/2006/main">
            <a:r>
              <a:t>Chức năng: Gọi API lấy thông tin chi tiết sản phẩm theo ID.</a:t>
            </a:r>
          </a:p>
          <a:p xmlns:a="http://schemas.openxmlformats.org/drawingml/2006/main">
            <a:r>
              <a:t>Đầu vào: product_id</a:t>
            </a:r>
          </a:p>
          <a:p xmlns:a="http://schemas.openxmlformats.org/drawingml/2006/main">
            <a:r>
              <a:t>Đầu ra/tác động: JSON chi tiết sản phẩm từ API.</a:t>
            </a:r>
          </a:p>
          <a:p xmlns:a="http://schemas.openxmlformats.org/drawingml/2006/main">
            <a:r>
              <a:t>Nguồn: backend/shop_api.py:22-23</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    def get_product(self, product_id):</a:t>
            </a:r>
          </a:p>
          <a:p xmlns:a="http://schemas.openxmlformats.org/drawingml/2006/main">
            <a:r>
              <a:t>        return self._request("GET", f"/api/products/{_seg(product_id)}")</a:t>
            </a:r>
          </a:p>
          <a:p xmlns:a="http://schemas.openxmlformats.org/drawingml/2006/main">
            <a:r>
              <a:t/>
            </a:r>
          </a:p>
          <a:p xmlns:a="http://schemas.openxmlformats.org/drawingml/2006/main">
            <a:r>
              <a:t>ShopApiMixin.add_to_cart</a:t>
            </a:r>
          </a:p>
          <a:p xmlns:a="http://schemas.openxmlformats.org/drawingml/2006/main">
            <a:r>
              <a:t>Chức năng: Gửi SKU và số lượng để API thêm hàng; không gửi giá hay tổng tiền từ client.</a:t>
            </a:r>
          </a:p>
          <a:p xmlns:a="http://schemas.openxmlformats.org/drawingml/2006/main">
            <a:r>
              <a:t>Đầu vào: sku, quantity</a:t>
            </a:r>
          </a:p>
          <a:p xmlns:a="http://schemas.openxmlformats.org/drawingml/2006/main">
            <a:r>
              <a:t>Đầu ra/tác động: JSON giỏ sau thêm hàng qua API.</a:t>
            </a:r>
          </a:p>
          <a:p xmlns:a="http://schemas.openxmlformats.org/drawingml/2006/main">
            <a:r>
              <a:t>Nguồn: backend/shop_api.py:27-28</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    def add_to_cart(self, sku, quantity):</a:t>
            </a:r>
          </a:p>
          <a:p xmlns:a="http://schemas.openxmlformats.org/drawingml/2006/main">
            <a:r>
              <a:t>        return self._request("POST", "/api/cart/items", json={"sku": sku, "quantity": quantity})</a:t>
            </a:r>
          </a:p>
          <a:p xmlns:a="http://schemas.openxmlformats.org/drawingml/2006/main">
            <a:r>
              <a:t/>
            </a:r>
          </a:p>
          <a:p xmlns:a="http://schemas.openxmlformats.org/drawingml/2006/main">
            <a:r>
              <a:t>Nguồn code của bản chụp 22/10/2026:</a:t>
            </a:r>
          </a:p>
          <a:p xmlns:a="http://schemas.openxmlformats.org/drawingml/2006/main">
            <a:r>
              <a:t>backend/shop_api.py:22-23   /   backend/shop_api.py:27-28</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ShopApiMixin.update_cart_item</a:t>
            </a:r>
          </a:p>
          <a:p xmlns:a="http://schemas.openxmlformats.org/drawingml/2006/main">
            <a:r>
              <a:t>Chức năng: Gửi số lượng mới cho một dòng giỏ hàng và nhận lại giỏ đã cập nhật.</a:t>
            </a:r>
          </a:p>
          <a:p xmlns:a="http://schemas.openxmlformats.org/drawingml/2006/main">
            <a:r>
              <a:t>Đầu vào: item_id, quantity</a:t>
            </a:r>
          </a:p>
          <a:p xmlns:a="http://schemas.openxmlformats.org/drawingml/2006/main">
            <a:r>
              <a:t>Đầu ra/tác động: JSON giỏ sau sửa số lượng qua API.</a:t>
            </a:r>
          </a:p>
          <a:p xmlns:a="http://schemas.openxmlformats.org/drawingml/2006/main">
            <a:r>
              <a:t>Nguồn: backend/shop_api.py:31-32</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    def update_cart_item(self, item_id, quantity):</a:t>
            </a:r>
          </a:p>
          <a:p xmlns:a="http://schemas.openxmlformats.org/drawingml/2006/main">
            <a:r>
              <a:t>        return self._request("PATCH", f"/api/cart/items/{_seg(item_id)}", json={"quantity": quantity})</a:t>
            </a:r>
          </a:p>
          <a:p xmlns:a="http://schemas.openxmlformats.org/drawingml/2006/main">
            <a:r>
              <a:t/>
            </a:r>
          </a:p>
          <a:p xmlns:a="http://schemas.openxmlformats.org/drawingml/2006/main">
            <a:r>
              <a:t>ShopApiMixin.remove_cart_item</a:t>
            </a:r>
          </a:p>
          <a:p xmlns:a="http://schemas.openxmlformats.org/drawingml/2006/main">
            <a:r>
              <a:t>Chức năng: Gọi API xóa một dòng giỏ hàng theo item ID.</a:t>
            </a:r>
          </a:p>
          <a:p xmlns:a="http://schemas.openxmlformats.org/drawingml/2006/main">
            <a:r>
              <a:t>Đầu vào: item_id</a:t>
            </a:r>
          </a:p>
          <a:p xmlns:a="http://schemas.openxmlformats.org/drawingml/2006/main">
            <a:r>
              <a:t>Đầu ra/tác động: JSON giỏ sau xóa dòng qua API.</a:t>
            </a:r>
          </a:p>
          <a:p xmlns:a="http://schemas.openxmlformats.org/drawingml/2006/main">
            <a:r>
              <a:t>Nguồn: backend/shop_api.py:35-36</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    def remove_cart_item(self, item_id):</a:t>
            </a:r>
          </a:p>
          <a:p xmlns:a="http://schemas.openxmlformats.org/drawingml/2006/main">
            <a:r>
              <a:t>        return self._request("DELETE", f"/api/cart/items/{_seg(item_id)}")</a:t>
            </a:r>
          </a:p>
          <a:p xmlns:a="http://schemas.openxmlformats.org/drawingml/2006/main">
            <a:r>
              <a:t/>
            </a:r>
          </a:p>
          <a:p xmlns:a="http://schemas.openxmlformats.org/drawingml/2006/main">
            <a:r>
              <a:t>Nguồn code của bản chụp 22/10/2026:</a:t>
            </a:r>
          </a:p>
          <a:p xmlns:a="http://schemas.openxmlformats.org/drawingml/2006/main">
            <a:r>
              <a:t>backend/shop_api.py:31-32   /   backend/shop_api.py:35-36</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category_label</a:t>
            </a:r>
          </a:p>
          <a:p xmlns:a="http://schemas.openxmlformats.org/drawingml/2006/main">
            <a:r>
              <a:t>Chức năng: Đổi mã danh mục thành nhãn tiếng Việt; mã lạ được viết hoa chữ đầu.</a:t>
            </a:r>
          </a:p>
          <a:p xmlns:a="http://schemas.openxmlformats.org/drawingml/2006/main">
            <a:r>
              <a:t>Đầu vào: code</a:t>
            </a:r>
          </a:p>
          <a:p xmlns:a="http://schemas.openxmlformats.org/drawingml/2006/main">
            <a:r>
              <a:t>Đầu ra/tác động: Tên danh mục hiển thị.</a:t>
            </a:r>
          </a:p>
          <a:p xmlns:a="http://schemas.openxmlformats.org/drawingml/2006/main">
            <a:r>
              <a:t>Nguồn: backend/shop_logic.py:10-11</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def category_label(code):</a:t>
            </a:r>
          </a:p>
          <a:p xmlns:a="http://schemas.openxmlformats.org/drawingml/2006/main">
            <a:r>
              <a:t>    return CATEGORY_LABEL.get(code, str(code).capitalize())</a:t>
            </a:r>
          </a:p>
          <a:p xmlns:a="http://schemas.openxmlformats.org/drawingml/2006/main">
            <a:r>
              <a:t/>
            </a:r>
          </a:p>
          <a:p xmlns:a="http://schemas.openxmlformats.org/drawingml/2006/main">
            <a:r>
              <a:t>normalize</a:t>
            </a:r>
          </a:p>
          <a:p xmlns:a="http://schemas.openxmlformats.org/drawingml/2006/main">
            <a:r>
              <a:t>Chức năng: Bỏ dấu và chuyển chữ thường để tìm kiếm tên sản phẩm không phụ thuộc dấu tiếng Việt.</a:t>
            </a:r>
          </a:p>
          <a:p xmlns:a="http://schemas.openxmlformats.org/drawingml/2006/main">
            <a:r>
              <a:t>Đầu vào: text</a:t>
            </a:r>
          </a:p>
          <a:p xmlns:a="http://schemas.openxmlformats.org/drawingml/2006/main">
            <a:r>
              <a:t>Đầu ra/tác động: Chuỗi không dấu, chữ thường để tìm kiếm.</a:t>
            </a:r>
          </a:p>
          <a:p xmlns:a="http://schemas.openxmlformats.org/drawingml/2006/main">
            <a:r>
              <a:t>Nguồn: backend/shop_logic.py:15-18</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def normalize(text):</a:t>
            </a:r>
          </a:p>
          <a:p xmlns:a="http://schemas.openxmlformats.org/drawingml/2006/main">
            <a:r>
              <a:t>    """Bỏ dấu + chữ thường để tìm 'ao thun' ra 'Áo thun'."""</a:t>
            </a:r>
          </a:p>
          <a:p xmlns:a="http://schemas.openxmlformats.org/drawingml/2006/main">
            <a:r>
              <a:t>    text = unicodedata.normalize("NFD", str(text or "").lower().replace("đ", "d"))</a:t>
            </a:r>
          </a:p>
          <a:p xmlns:a="http://schemas.openxmlformats.org/drawingml/2006/main">
            <a:r>
              <a:t>    return "".join(c for c in text if unicodedata.category(c) != "Mn").strip()</a:t>
            </a:r>
          </a:p>
          <a:p xmlns:a="http://schemas.openxmlformats.org/drawingml/2006/main">
            <a:r>
              <a:t/>
            </a:r>
          </a:p>
          <a:p xmlns:a="http://schemas.openxmlformats.org/drawingml/2006/main">
            <a:r>
              <a:t>Nguồn code của bản chụp 22/10/2026:</a:t>
            </a:r>
          </a:p>
          <a:p xmlns:a="http://schemas.openxmlformats.org/drawingml/2006/main">
            <a:r>
              <a:t>backend/shop_logic.py:10-11   /   backend/shop_logic.py:15-18</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filter_products</a:t>
            </a:r>
          </a:p>
          <a:p xmlns:a="http://schemas.openxmlformats.org/drawingml/2006/main">
            <a:r>
              <a:t>Chức năng: Lọc danh sách sản phẩm theo danh mục và từ khóa tên đã chuẩn hóa.</a:t>
            </a:r>
          </a:p>
          <a:p xmlns:a="http://schemas.openxmlformats.org/drawingml/2006/main">
            <a:r>
              <a:t>Đầu vào: products, category, query</a:t>
            </a:r>
          </a:p>
          <a:p xmlns:a="http://schemas.openxmlformats.org/drawingml/2006/main">
            <a:r>
              <a:t>Đầu ra/tác động: Danh sách sau lọc category/query.</a:t>
            </a:r>
          </a:p>
          <a:p xmlns:a="http://schemas.openxmlformats.org/drawingml/2006/main">
            <a:r>
              <a:t>Nguồn: backend/shop_logic.py:22-28</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def filter_products(products, category=None, query=""):</a:t>
            </a:r>
          </a:p>
          <a:p xmlns:a="http://schemas.openxmlformats.org/drawingml/2006/main">
            <a:r>
              <a:t>    q = normalize(query)</a:t>
            </a:r>
          </a:p>
          <a:p xmlns:a="http://schemas.openxmlformats.org/drawingml/2006/main">
            <a:r>
              <a:t>    return [</a:t>
            </a:r>
          </a:p>
          <a:p xmlns:a="http://schemas.openxmlformats.org/drawingml/2006/main">
            <a:r>
              <a:t>        p for p in products</a:t>
            </a:r>
          </a:p>
          <a:p xmlns:a="http://schemas.openxmlformats.org/drawingml/2006/main">
            <a:r>
              <a:t>        if (not category or p.get("category") == category)</a:t>
            </a:r>
          </a:p>
          <a:p xmlns:a="http://schemas.openxmlformats.org/drawingml/2006/main">
            <a:r>
              <a:t>        and (not q or q in normalize(p.get("name", "")))</a:t>
            </a:r>
          </a:p>
          <a:p xmlns:a="http://schemas.openxmlformats.org/drawingml/2006/main">
            <a:r>
              <a:t>    ]</a:t>
            </a:r>
          </a:p>
          <a:p xmlns:a="http://schemas.openxmlformats.org/drawingml/2006/main">
            <a:r>
              <a:t/>
            </a:r>
          </a:p>
          <a:p xmlns:a="http://schemas.openxmlformats.org/drawingml/2006/main">
            <a:r>
              <a:t>stock_label</a:t>
            </a:r>
          </a:p>
          <a:p xmlns:a="http://schemas.openxmlformats.org/drawingml/2006/main">
            <a:r>
              <a:t>Chức năng: Tạo nhãn hết hàng, sắp hết hoặc còn hàng từ số lượng tồn kho.</a:t>
            </a:r>
          </a:p>
          <a:p xmlns:a="http://schemas.openxmlformats.org/drawingml/2006/main">
            <a:r>
              <a:t>Đầu vào: stock</a:t>
            </a:r>
          </a:p>
          <a:p xmlns:a="http://schemas.openxmlformats.org/drawingml/2006/main">
            <a:r>
              <a:t>Đầu ra/tác động: Nhãn hết hàng/sắp hết/còn hàng.</a:t>
            </a:r>
          </a:p>
          <a:p xmlns:a="http://schemas.openxmlformats.org/drawingml/2006/main">
            <a:r>
              <a:t>Nguồn: backend/shop_logic.py:32-37</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def stock_label(stock):</a:t>
            </a:r>
          </a:p>
          <a:p xmlns:a="http://schemas.openxmlformats.org/drawingml/2006/main">
            <a:r>
              <a:t>    if stock &lt;= 0:</a:t>
            </a:r>
          </a:p>
          <a:p xmlns:a="http://schemas.openxmlformats.org/drawingml/2006/main">
            <a:r>
              <a:t>        return "Hết hàng"</a:t>
            </a:r>
          </a:p>
          <a:p xmlns:a="http://schemas.openxmlformats.org/drawingml/2006/main">
            <a:r>
              <a:t>    if stock &lt;= LOW_STOCK:</a:t>
            </a:r>
          </a:p>
          <a:p xmlns:a="http://schemas.openxmlformats.org/drawingml/2006/main">
            <a:r>
              <a:t>        return f"Sắp hết (còn {stock})"</a:t>
            </a:r>
          </a:p>
          <a:p xmlns:a="http://schemas.openxmlformats.org/drawingml/2006/main">
            <a:r>
              <a:t>    return f"Còn hàng ({stock})"</a:t>
            </a:r>
          </a:p>
          <a:p xmlns:a="http://schemas.openxmlformats.org/drawingml/2006/main">
            <a:r>
              <a:t/>
            </a:r>
          </a:p>
          <a:p xmlns:a="http://schemas.openxmlformats.org/drawingml/2006/main">
            <a:r>
              <a:t>Nguồn code của bản chụp 22/10/2026:</a:t>
            </a:r>
          </a:p>
          <a:p xmlns:a="http://schemas.openxmlformats.org/drawingml/2006/main">
            <a:r>
              <a:t>backend/shop_logic.py:22-28   /   backend/shop_logic.py:32-37</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max_selectable</a:t>
            </a:r>
          </a:p>
          <a:p xmlns:a="http://schemas.openxmlformats.org/drawingml/2006/main">
            <a:r>
              <a:t>Chức năng: Giới hạn số lượng trên giao diện theo tồn kho và trần 99; server vẫn kiểm tra lại.</a:t>
            </a:r>
          </a:p>
          <a:p xmlns:a="http://schemas.openxmlformats.org/drawingml/2006/main">
            <a:r>
              <a:t>Đầu vào: stock</a:t>
            </a:r>
          </a:p>
          <a:p xmlns:a="http://schemas.openxmlformats.org/drawingml/2006/main">
            <a:r>
              <a:t>Đầu ra/tác động: Số từ 1 đến 99 cho control UI, còn kiểm tra server.</a:t>
            </a:r>
          </a:p>
          <a:p xmlns:a="http://schemas.openxmlformats.org/drawingml/2006/main">
            <a:r>
              <a:t>Nguồn: backend/shop_logic.py:41-43</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def max_selectable(stock):</a:t>
            </a:r>
          </a:p>
          <a:p xmlns:a="http://schemas.openxmlformats.org/drawingml/2006/main">
            <a:r>
              <a:t>    """Số lượng tối đa cho ô nhập (chỉ để UX; server mới là bên quyết định)."""</a:t>
            </a:r>
          </a:p>
          <a:p xmlns:a="http://schemas.openxmlformats.org/drawingml/2006/main">
            <a:r>
              <a:t>    return max(1, min(int(stock), MAX_QTY))</a:t>
            </a:r>
          </a:p>
          <a:p xmlns:a="http://schemas.openxmlformats.org/drawingml/2006/main">
            <a:r>
              <a:t/>
            </a:r>
          </a:p>
          <a:p xmlns:a="http://schemas.openxmlformats.org/drawingml/2006/main">
            <a:r>
              <a:t>price_text</a:t>
            </a:r>
          </a:p>
          <a:p xmlns:a="http://schemas.openxmlformats.org/drawingml/2006/main">
            <a:r>
              <a:t>Chức năng: Định dạng giá sản phẩm, thêm chữ “Từ” nếu các biến thể có giá khác nhau.</a:t>
            </a:r>
          </a:p>
          <a:p xmlns:a="http://schemas.openxmlformats.org/drawingml/2006/main">
            <a:r>
              <a:t>Đầu vào: product, fmt</a:t>
            </a:r>
          </a:p>
          <a:p xmlns:a="http://schemas.openxmlformats.org/drawingml/2006/main">
            <a:r>
              <a:t>Đầu ra/tác động: Chuỗi giá hoặc “Từ ...”.</a:t>
            </a:r>
          </a:p>
          <a:p xmlns:a="http://schemas.openxmlformats.org/drawingml/2006/main">
            <a:r>
              <a:t>Nguồn: backend/shop_logic.py:47-50</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def price_text(product, fmt):</a:t>
            </a:r>
          </a:p>
          <a:p xmlns:a="http://schemas.openxmlformats.org/drawingml/2006/main">
            <a:r>
              <a:t>    low = product["price_from"]</a:t>
            </a:r>
          </a:p>
          <a:p xmlns:a="http://schemas.openxmlformats.org/drawingml/2006/main">
            <a:r>
              <a:t>    high = product.get("price_to", low)</a:t>
            </a:r>
          </a:p>
          <a:p xmlns:a="http://schemas.openxmlformats.org/drawingml/2006/main">
            <a:r>
              <a:t>    return fmt(low) if low == high else f"Từ {fmt(low)}"</a:t>
            </a:r>
          </a:p>
          <a:p xmlns:a="http://schemas.openxmlformats.org/drawingml/2006/main">
            <a:r>
              <a:t/>
            </a:r>
          </a:p>
          <a:p xmlns:a="http://schemas.openxmlformats.org/drawingml/2006/main">
            <a:r>
              <a:t>Nguồn code của bản chụp 22/10/2026:</a:t>
            </a:r>
          </a:p>
          <a:p xmlns:a="http://schemas.openxmlformats.org/drawingml/2006/main">
            <a:r>
              <a:t>backend/shop_logic.py:41-43   /   backend/shop_logic.py:47-50</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variant_option_label</a:t>
            </a:r>
          </a:p>
          <a:p xmlns:a="http://schemas.openxmlformats.org/drawingml/2006/main">
            <a:r>
              <a:t>Chức năng: Ghép tên biến thể, giá và trạng thái hết hàng thành nhãn lựa chọn.</a:t>
            </a:r>
          </a:p>
          <a:p xmlns:a="http://schemas.openxmlformats.org/drawingml/2006/main">
            <a:r>
              <a:t>Đầu vào: variant, fmt</a:t>
            </a:r>
          </a:p>
          <a:p xmlns:a="http://schemas.openxmlformats.org/drawingml/2006/main">
            <a:r>
              <a:t>Đầu ra/tác động: Nhãn gồm biến thể, giá và tình trạng hết hàng.</a:t>
            </a:r>
          </a:p>
          <a:p xmlns:a="http://schemas.openxmlformats.org/drawingml/2006/main">
            <a:r>
              <a:t>Nguồn: backend/shop_logic.py:54-56</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def variant_option_label(variant, fmt):</a:t>
            </a:r>
          </a:p>
          <a:p xmlns:a="http://schemas.openxmlformats.org/drawingml/2006/main">
            <a:r>
              <a:t>    text = f"{variant['label']} · {fmt(variant['unit_price'])}"</a:t>
            </a:r>
          </a:p>
          <a:p xmlns:a="http://schemas.openxmlformats.org/drawingml/2006/main">
            <a:r>
              <a:t>    return text + (" · Hết hàng" if variant["stock"] &lt;= 0 else "")</a:t>
            </a:r>
          </a:p>
          <a:p xmlns:a="http://schemas.openxmlformats.org/drawingml/2006/main">
            <a:r>
              <a:t/>
            </a:r>
          </a:p>
          <a:p xmlns:a="http://schemas.openxmlformats.org/drawingml/2006/main">
            <a:r>
              <a:t>pick_default_variant</a:t>
            </a:r>
          </a:p>
          <a:p xmlns:a="http://schemas.openxmlformats.org/drawingml/2006/main">
            <a:r>
              <a:t>Chức năng: Ưu tiên SKU đầu tiên còn hàng, hoặc SKU đầu danh sách nếu tất cả đều hết.</a:t>
            </a:r>
          </a:p>
          <a:p xmlns:a="http://schemas.openxmlformats.org/drawingml/2006/main">
            <a:r>
              <a:t>Đầu vào: variants</a:t>
            </a:r>
          </a:p>
          <a:p xmlns:a="http://schemas.openxmlformats.org/drawingml/2006/main">
            <a:r>
              <a:t>Đầu ra/tác động: SKU mặc định hoặc None nếu danh sách rỗng.</a:t>
            </a:r>
          </a:p>
          <a:p xmlns:a="http://schemas.openxmlformats.org/drawingml/2006/main">
            <a:r>
              <a:t>Nguồn: backend/shop_logic.py:60-65</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def pick_default_variant(variants):</a:t>
            </a:r>
          </a:p>
          <a:p xmlns:a="http://schemas.openxmlformats.org/drawingml/2006/main">
            <a:r>
              <a:t>    """Ưu tiên biến thể còn hàng đầu tiên."""</a:t>
            </a:r>
          </a:p>
          <a:p xmlns:a="http://schemas.openxmlformats.org/drawingml/2006/main">
            <a:r>
              <a:t>    for v in variants:</a:t>
            </a:r>
          </a:p>
          <a:p xmlns:a="http://schemas.openxmlformats.org/drawingml/2006/main">
            <a:r>
              <a:t>        if v["stock"] &gt; 0:</a:t>
            </a:r>
          </a:p>
          <a:p xmlns:a="http://schemas.openxmlformats.org/drawingml/2006/main">
            <a:r>
              <a:t>            return v["sku"]</a:t>
            </a:r>
          </a:p>
          <a:p xmlns:a="http://schemas.openxmlformats.org/drawingml/2006/main">
            <a:r>
              <a:t>    return variants[0]["sku"] if variants else None</a:t>
            </a:r>
          </a:p>
          <a:p xmlns:a="http://schemas.openxmlformats.org/drawingml/2006/main">
            <a:r>
              <a:t/>
            </a:r>
          </a:p>
          <a:p xmlns:a="http://schemas.openxmlformats.org/drawingml/2006/main">
            <a:r>
              <a:t>Nguồn code của bản chụp 22/10/2026:</a:t>
            </a:r>
          </a:p>
          <a:p xmlns:a="http://schemas.openxmlformats.org/drawingml/2006/main">
            <a:r>
              <a:t>backend/shop_logic.py:54-56   /   backend/shop_logic.py:60-65</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chunk</a:t>
            </a:r>
          </a:p>
          <a:p xmlns:a="http://schemas.openxmlformats.org/drawingml/2006/main">
            <a:r>
              <a:t>Chức năng: Chia danh sách thành các nhóm nhỏ có kích thước cho trước để bố trí giao diện.</a:t>
            </a:r>
          </a:p>
          <a:p xmlns:a="http://schemas.openxmlformats.org/drawingml/2006/main">
            <a:r>
              <a:t>Đầu vào: seq, size</a:t>
            </a:r>
          </a:p>
          <a:p xmlns:a="http://schemas.openxmlformats.org/drawingml/2006/main">
            <a:r>
              <a:t>Đầu ra/tác động: Danh sách các nhóm con.</a:t>
            </a:r>
          </a:p>
          <a:p xmlns:a="http://schemas.openxmlformats.org/drawingml/2006/main">
            <a:r>
              <a:t>Nguồn: backend/shop_logic.py:69-70</a:t>
            </a:r>
          </a:p>
          <a:p xmlns:a="http://schemas.openxmlformats.org/drawingml/2006/main">
            <a:r>
              <a:t>Tương thích giao diện Streamlit, không phải endpoint React.</a:t>
            </a:r>
          </a:p>
          <a:p xmlns:a="http://schemas.openxmlformats.org/drawingml/2006/main">
            <a:r>
              <a:t>Code đầy đủ:</a:t>
            </a:r>
          </a:p>
          <a:p xmlns:a="http://schemas.openxmlformats.org/drawingml/2006/main">
            <a:r>
              <a:t>def chunk(seq, size):</a:t>
            </a:r>
          </a:p>
          <a:p xmlns:a="http://schemas.openxmlformats.org/drawingml/2006/main">
            <a:r>
              <a:t>    return [seq[i:i + size] for i in range(0, len(seq), size)]</a:t>
            </a:r>
          </a:p>
          <a:p xmlns:a="http://schemas.openxmlformats.org/drawingml/2006/main">
            <a:r>
              <a:t/>
            </a:r>
          </a:p>
          <a:p xmlns:a="http://schemas.openxmlformats.org/drawingml/2006/main">
            <a:r>
              <a:t>Nguồn code của bản chụp 22/10/2026:</a:t>
            </a:r>
          </a:p>
          <a:p xmlns:a="http://schemas.openxmlformats.org/drawingml/2006/main">
            <a:r>
              <a:t>backend/shop_logic.py:69-70</a:t>
            </a:r>
          </a:p>
          <a:p xmlns:a="http://schemas.openxmlformats.org/drawingml/2006/main">
            <a:r>
              <a:t>Đoạn trích có thể lược giữa các dải số dòng. Tài liệu đi kèm chứa code đầy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5faa59551f416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67717633ee4a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a43aea60c9455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6f44d278223441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ad024c39953458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88568d4de14f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B98213-121B-493F-88E6-B0BEF925B2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30DECE-ED93-486D-BA8A-A180424FAE1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A8690DB-8C61-4589-A1E1-FCEF760B73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E876B8-9D11-4B79-8085-EDFA551412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8461BC-4520-41BF-8FA4-9960202665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272BFC6-EA23-473D-B071-4B63095C66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B88340-A7BF-4DB5-BB52-9DB2E628C83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940CC35-A834-4CEC-AC58-B4857DAD78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BC1942-D7BD-459A-917B-FFE1964CE7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5DE201-DA24-4B43-B914-F7985BD9CA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92d1b03a8845c9" /><Relationship Type="http://schemas.openxmlformats.org/officeDocument/2006/relationships/slideLayout" Target="/ppt/slideLayouts/slideLayout1.xml" Id="R801a8444a3c84483" /><Relationship Type="http://schemas.openxmlformats.org/officeDocument/2006/relationships/slideLayout" Target="/ppt/slideLayouts/slideLayout2.xml" Id="R404f450fa8894aab" /><Relationship Type="http://schemas.openxmlformats.org/officeDocument/2006/relationships/slideLayout" Target="/ppt/slideLayouts/slideLayout3.xml" Id="R8d0c4da3d9654915" /><Relationship Type="http://schemas.openxmlformats.org/officeDocument/2006/relationships/slideLayout" Target="/ppt/slideLayouts/slideLayout4.xml" Id="R876fe5de156b4fda" /><Relationship Type="http://schemas.openxmlformats.org/officeDocument/2006/relationships/slideLayout" Target="/ppt/slideLayouts/slideLayout5.xml" Id="R56ad86e82ac84b8a" /><Relationship Type="http://schemas.openxmlformats.org/officeDocument/2006/relationships/slideLayout" Target="/ppt/slideLayouts/slideLayout6.xml" Id="R979c33d1ac3f44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1a8444a3c84483"/>
    <p:sldLayoutId xmlns:r="http://schemas.openxmlformats.org/officeDocument/2006/relationships" id="2147483650" r:id="R404f450fa8894aab"/>
    <p:sldLayoutId xmlns:r="http://schemas.openxmlformats.org/officeDocument/2006/relationships" id="2147483651" r:id="R8d0c4da3d9654915"/>
    <p:sldLayoutId xmlns:r="http://schemas.openxmlformats.org/officeDocument/2006/relationships" id="2147483652" r:id="R876fe5de156b4fda"/>
    <p:sldLayoutId xmlns:r="http://schemas.openxmlformats.org/officeDocument/2006/relationships" id="2147483653" r:id="R56ad86e82ac84b8a"/>
    <p:sldLayoutId xmlns:r="http://schemas.openxmlformats.org/officeDocument/2006/relationships" id="2147483654" r:id="R979c33d1ac3f44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a9ffff014d84941" /><Relationship Type="http://schemas.openxmlformats.org/officeDocument/2006/relationships/notesSlide" Target="/ppt/notesSlides/notesSlide1.xml" Id="R07fe80888935479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7340b6457040f5" /><Relationship Type="http://schemas.openxmlformats.org/officeDocument/2006/relationships/notesSlide" Target="/ppt/notesSlides/notesSlide2.xml" Id="R511354de2caf44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05bebf2fd44a0b" /><Relationship Type="http://schemas.openxmlformats.org/officeDocument/2006/relationships/notesSlide" Target="/ppt/notesSlides/notesSlide3.xml" Id="R6d759524f1da42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0a8376238e4b79" /><Relationship Type="http://schemas.openxmlformats.org/officeDocument/2006/relationships/notesSlide" Target="/ppt/notesSlides/notesSlide4.xml" Id="R184e81cba48d42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3379a982314a51" /><Relationship Type="http://schemas.openxmlformats.org/officeDocument/2006/relationships/notesSlide" Target="/ppt/notesSlides/notesSlide5.xml" Id="Red5b17bc86294b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59a7deea16a4664" /><Relationship Type="http://schemas.openxmlformats.org/officeDocument/2006/relationships/notesSlide" Target="/ppt/notesSlides/notesSlide6.xml" Id="R3d8d3de8bfcc4d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4853dc43d2a4e90" /><Relationship Type="http://schemas.openxmlformats.org/officeDocument/2006/relationships/notesSlide" Target="/ppt/notesSlides/notesSlide7.xml" Id="R73600333b0b04f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3b99f53007846de" /><Relationship Type="http://schemas.openxmlformats.org/officeDocument/2006/relationships/notesSlide" Target="/ppt/notesSlides/notesSlide8.xml" Id="R85c9ba191be1443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d767e3d74f9419d" /><Relationship Type="http://schemas.openxmlformats.org/officeDocument/2006/relationships/notesSlide" Target="/ppt/notesSlides/notesSlide9.xml" Id="R8f48b82eafc9451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c40725d95db4476" /><Relationship Type="http://schemas.openxmlformats.org/officeDocument/2006/relationships/notesSlide" Target="/ppt/notesSlides/notesSlide10.xml" Id="R18dae8faf19c484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10334a189cf41f5" /><Relationship Type="http://schemas.openxmlformats.org/officeDocument/2006/relationships/notesSlide" Target="/ppt/notesSlides/notesSlide11.xml" Id="R404d3a97f7a342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e5391a18506452d" /><Relationship Type="http://schemas.openxmlformats.org/officeDocument/2006/relationships/notesSlide" Target="/ppt/notesSlides/notesSlide12.xml" Id="R1f5f634d0a0345d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e3d013189bc4455" /><Relationship Type="http://schemas.openxmlformats.org/officeDocument/2006/relationships/notesSlide" Target="/ppt/notesSlides/notesSlide13.xml" Id="Re807d843db8649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9ae71c074ff4743" /><Relationship Type="http://schemas.openxmlformats.org/officeDocument/2006/relationships/notesSlide" Target="/ppt/notesSlides/notesSlide14.xml" Id="Rbcb94f4c13e040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6144aef0fd54a3c" /><Relationship Type="http://schemas.openxmlformats.org/officeDocument/2006/relationships/notesSlide" Target="/ppt/notesSlides/notesSlide15.xml" Id="R82341848545b4ec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b42ea351f4d4e7b" /><Relationship Type="http://schemas.openxmlformats.org/officeDocument/2006/relationships/notesSlide" Target="/ppt/notesSlides/notesSlide16.xml" Id="R39e237438f774c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eca68aa7858428b" /><Relationship Type="http://schemas.openxmlformats.org/officeDocument/2006/relationships/notesSlide" Target="/ppt/notesSlides/notesSlide17.xml" Id="Rf543431c0f2d434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01fe31a95e44fa6" /><Relationship Type="http://schemas.openxmlformats.org/officeDocument/2006/relationships/notesSlide" Target="/ppt/notesSlides/notesSlide18.xml" Id="R4d99242ccb5f4d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6501ba9eaa54563" /><Relationship Type="http://schemas.openxmlformats.org/officeDocument/2006/relationships/notesSlide" Target="/ppt/notesSlides/notesSlide19.xml" Id="Rae2a984adbf54cd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44acd76be27407d" /><Relationship Type="http://schemas.openxmlformats.org/officeDocument/2006/relationships/notesSlide" Target="/ppt/notesSlides/notesSlide20.xml" Id="R2bfb530d3179470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29893c8b08347bd" /><Relationship Type="http://schemas.openxmlformats.org/officeDocument/2006/relationships/notesSlide" Target="/ppt/notesSlides/notesSlide21.xml" Id="Rcfd25f34aef047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b5a236b7c0f4e80" /><Relationship Type="http://schemas.openxmlformats.org/officeDocument/2006/relationships/notesSlide" Target="/ppt/notesSlides/notesSlide22.xml" Id="Ra06b735a1746414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28c1f7d876e43f3" /><Relationship Type="http://schemas.openxmlformats.org/officeDocument/2006/relationships/notesSlide" Target="/ppt/notesSlides/notesSlide23.xml" Id="Ra9ebc11097ff43b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7579358e13d456e" /><Relationship Type="http://schemas.openxmlformats.org/officeDocument/2006/relationships/notesSlide" Target="/ppt/notesSlides/notesSlide24.xml" Id="Rc51233830b66445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2756e5055fe44d1" /><Relationship Type="http://schemas.openxmlformats.org/officeDocument/2006/relationships/notesSlide" Target="/ppt/notesSlides/notesSlide25.xml" Id="Rf3ae80fd15da436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70fe0bbb0cd84cb6" /><Relationship Type="http://schemas.openxmlformats.org/officeDocument/2006/relationships/notesSlide" Target="/ppt/notesSlides/notesSlide26.xml" Id="Raa6f36293d09441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05f0d0c177e4a03" /><Relationship Type="http://schemas.openxmlformats.org/officeDocument/2006/relationships/notesSlide" Target="/ppt/notesSlides/notesSlide27.xml" Id="R00c4f9ec8d014b8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f48b8121ca342d5" /><Relationship Type="http://schemas.openxmlformats.org/officeDocument/2006/relationships/notesSlide" Target="/ppt/notesSlides/notesSlide28.xml" Id="Re8e74d298c1f46c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1d58855346ec431e" /><Relationship Type="http://schemas.openxmlformats.org/officeDocument/2006/relationships/notesSlide" Target="/ppt/notesSlides/notesSlide29.xml" Id="R0d29ab542391493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b5f789390041462b" /><Relationship Type="http://schemas.openxmlformats.org/officeDocument/2006/relationships/notesSlide" Target="/ppt/notesSlides/notesSlide30.xml" Id="R4e0f04529c8e4bd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5eaae6e78a7442e5" /><Relationship Type="http://schemas.openxmlformats.org/officeDocument/2006/relationships/image" Target="/ppt/media/image.jpeg" Id="Rabbb1f961bd74b62" /><Relationship Type="http://schemas.openxmlformats.org/officeDocument/2006/relationships/notesSlide" Target="/ppt/notesSlides/notesSlide31.xml" Id="R25d2c6d6b02e435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1eed01984e74abe" /><Relationship Type="http://schemas.openxmlformats.org/officeDocument/2006/relationships/notesSlide" Target="/ppt/notesSlides/notesSlide32.xml" Id="R0425eb4a367149c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70777bf1e52452c" /><Relationship Type="http://schemas.openxmlformats.org/officeDocument/2006/relationships/notesSlide" Target="/ppt/notesSlides/notesSlide33.xml" Id="R6cdf3d8a2964475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0007fae0b7d4ff8" /><Relationship Type="http://schemas.openxmlformats.org/officeDocument/2006/relationships/notesSlide" Target="/ppt/notesSlides/notesSlide34.xml" Id="R3bf394e5f6cc442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ac87ddf504cc4467" /><Relationship Type="http://schemas.openxmlformats.org/officeDocument/2006/relationships/notesSlide" Target="/ppt/notesSlides/notesSlide35.xml" Id="R20b3e965d15f49d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13c09608a25145a2" /><Relationship Type="http://schemas.openxmlformats.org/officeDocument/2006/relationships/notesSlide" Target="/ppt/notesSlides/notesSlide36.xml" Id="Rbdebb52734454ec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5bb9b25ecf44e66" /><Relationship Type="http://schemas.openxmlformats.org/officeDocument/2006/relationships/notesSlide" Target="/ppt/notesSlides/notesSlide37.xml" Id="Rf3239e7202ae455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002ca0e9de014a3f" /><Relationship Type="http://schemas.openxmlformats.org/officeDocument/2006/relationships/notesSlide" Target="/ppt/notesSlides/notesSlide38.xml" Id="Rafbe3f43c59a4fd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58a985a9072e488d" /><Relationship Type="http://schemas.openxmlformats.org/officeDocument/2006/relationships/notesSlide" Target="/ppt/notesSlides/notesSlide39.xml" Id="Rc8f256d5b7d34e0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1b62d88829b54163" /><Relationship Type="http://schemas.openxmlformats.org/officeDocument/2006/relationships/notesSlide" Target="/ppt/notesSlides/notesSlide40.xml" Id="R3f2f0719b973458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bae99236f1e4af3" /><Relationship Type="http://schemas.openxmlformats.org/officeDocument/2006/relationships/notesSlide" Target="/ppt/notesSlides/notesSlide41.xml" Id="Rba84fbf56f704fb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439e51428b44f2f" /><Relationship Type="http://schemas.openxmlformats.org/officeDocument/2006/relationships/notesSlide" Target="/ppt/notesSlides/notesSlide42.xml" Id="R76911a6f1f0147c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405863ce9468454b" /><Relationship Type="http://schemas.openxmlformats.org/officeDocument/2006/relationships/notesSlide" Target="/ppt/notesSlides/notesSlide43.xml" Id="Rad9400a8477b445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5f5e06b9da143ab" /><Relationship Type="http://schemas.openxmlformats.org/officeDocument/2006/relationships/notesSlide" Target="/ppt/notesSlides/notesSlide44.xml" Id="R320014f8a3aa486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29acf424ca9a4f5a" /><Relationship Type="http://schemas.openxmlformats.org/officeDocument/2006/relationships/notesSlide" Target="/ppt/notesSlides/notesSlide45.xml" Id="R02ec916ca859420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641127973c0b4ec6" /><Relationship Type="http://schemas.openxmlformats.org/officeDocument/2006/relationships/notesSlide" Target="/ppt/notesSlides/notesSlide46.xml" Id="R54c01d87e4c84ef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6fb35a2c92c46fc" /><Relationship Type="http://schemas.openxmlformats.org/officeDocument/2006/relationships/notesSlide" Target="/ppt/notesSlides/notesSlide47.xml" Id="R53e87879b7374d4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918369495caa4568" /><Relationship Type="http://schemas.openxmlformats.org/officeDocument/2006/relationships/notesSlide" Target="/ppt/notesSlides/notesSlide48.xml" Id="Ra9b0c75597dc482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0910b8547e824cfa" /><Relationship Type="http://schemas.openxmlformats.org/officeDocument/2006/relationships/notesSlide" Target="/ppt/notesSlides/notesSlide49.xml" Id="R8b681aba0ed542d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c79f2bcd4cc1472d" /><Relationship Type="http://schemas.openxmlformats.org/officeDocument/2006/relationships/notesSlide" Target="/ppt/notesSlides/notesSlide50.xml" Id="Rc84de057e8384fa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cadc12f9f54d4d81" /><Relationship Type="http://schemas.openxmlformats.org/officeDocument/2006/relationships/notesSlide" Target="/ppt/notesSlides/notesSlide51.xml" Id="Ra82b2a1944884d4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b9f22f8c5a10430c" /><Relationship Type="http://schemas.openxmlformats.org/officeDocument/2006/relationships/notesSlide" Target="/ppt/notesSlides/notesSlide52.xml" Id="Rcf83d70a81b2467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715ec1991af5428c" /><Relationship Type="http://schemas.openxmlformats.org/officeDocument/2006/relationships/notesSlide" Target="/ppt/notesSlides/notesSlide53.xml" Id="R74f44ba747b14a0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d22aafc81bcd4ded" /><Relationship Type="http://schemas.openxmlformats.org/officeDocument/2006/relationships/notesSlide" Target="/ppt/notesSlides/notesSlide54.xml" Id="R166cea83ffd148ba"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0e1828b426154faa" /><Relationship Type="http://schemas.openxmlformats.org/officeDocument/2006/relationships/notesSlide" Target="/ppt/notesSlides/notesSlide55.xml" Id="R809be12ff92a4a90"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5aaca84dca6b4e0c" /><Relationship Type="http://schemas.openxmlformats.org/officeDocument/2006/relationships/notesSlide" Target="/ppt/notesSlides/notesSlide56.xml" Id="R4076c03a9c8d4ec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326d1486d55e4e96" /><Relationship Type="http://schemas.openxmlformats.org/officeDocument/2006/relationships/notesSlide" Target="/ppt/notesSlides/notesSlide57.xml" Id="Rc323e186b90d477a"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2b99083dd31344d6" /><Relationship Type="http://schemas.openxmlformats.org/officeDocument/2006/relationships/notesSlide" Target="/ppt/notesSlides/notesSlide58.xml" Id="Rf6346bf71e2f4c9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ffd0fac97fbb484e" /><Relationship Type="http://schemas.openxmlformats.org/officeDocument/2006/relationships/notesSlide" Target="/ppt/notesSlides/notesSlide59.xml" Id="R2f8176b242674b8a"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a03b48082b7b487e" /><Relationship Type="http://schemas.openxmlformats.org/officeDocument/2006/relationships/notesSlide" Target="/ppt/notesSlides/notesSlide60.xml" Id="R0a3f099d40fc49c6"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5f4a46b06e964d53" /><Relationship Type="http://schemas.openxmlformats.org/officeDocument/2006/relationships/notesSlide" Target="/ppt/notesSlides/notesSlide61.xml" Id="Reabd0a3347f84a6b"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5edb8c320e8e4dce" /><Relationship Type="http://schemas.openxmlformats.org/officeDocument/2006/relationships/notesSlide" Target="/ppt/notesSlides/notesSlide62.xml" Id="Rc0b7b05e80934ba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3d0846a887d6429c" /><Relationship Type="http://schemas.openxmlformats.org/officeDocument/2006/relationships/notesSlide" Target="/ppt/notesSlides/notesSlide63.xml" Id="R1ac0a85172084ee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0840e4f02c934159" /><Relationship Type="http://schemas.openxmlformats.org/officeDocument/2006/relationships/notesSlide" Target="/ppt/notesSlides/notesSlide64.xml" Id="R338dfb2cf05c4ed9"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1a065c94357542c0" /><Relationship Type="http://schemas.openxmlformats.org/officeDocument/2006/relationships/notesSlide" Target="/ppt/notesSlides/notesSlide65.xml" Id="Rdd1869dae2884203"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4faf42cc50904df1" /><Relationship Type="http://schemas.openxmlformats.org/officeDocument/2006/relationships/notesSlide" Target="/ppt/notesSlides/notesSlide66.xml" Id="R3220e3d4c864401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36afb39596cd47c5" /><Relationship Type="http://schemas.openxmlformats.org/officeDocument/2006/relationships/notesSlide" Target="/ppt/notesSlides/notesSlide67.xml" Id="Rc13dba4659ca4a84"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fed717f9d6ec4ecb" /><Relationship Type="http://schemas.openxmlformats.org/officeDocument/2006/relationships/notesSlide" Target="/ppt/notesSlides/notesSlide68.xml" Id="R848faf8b554541f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c731980279c047d7" /><Relationship Type="http://schemas.openxmlformats.org/officeDocument/2006/relationships/notesSlide" Target="/ppt/notesSlides/notesSlide69.xml" Id="R887b973d891f47c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7c8c3705603b4756" /><Relationship Type="http://schemas.openxmlformats.org/officeDocument/2006/relationships/notesSlide" Target="/ppt/notesSlides/notesSlide70.xml" Id="Re8ba580284ca4260"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7704305ffa72428e" /><Relationship Type="http://schemas.openxmlformats.org/officeDocument/2006/relationships/notesSlide" Target="/ppt/notesSlides/notesSlide71.xml" Id="R31a49ae89b874e0a"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132391aa153a4c60" /><Relationship Type="http://schemas.openxmlformats.org/officeDocument/2006/relationships/notesSlide" Target="/ppt/notesSlides/notesSlide72.xml" Id="R9cdf9ddebe4847a8"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1a9122eacf6b42d1" /><Relationship Type="http://schemas.openxmlformats.org/officeDocument/2006/relationships/notesSlide" Target="/ppt/notesSlides/notesSlide73.xml" Id="R2810e06dbbd04ea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783cb1d441624019" /><Relationship Type="http://schemas.openxmlformats.org/officeDocument/2006/relationships/notesSlide" Target="/ppt/notesSlides/notesSlide74.xml" Id="R453ef2c06fbb4db1"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51ad913c7c834873" /><Relationship Type="http://schemas.openxmlformats.org/officeDocument/2006/relationships/notesSlide" Target="/ppt/notesSlides/notesSlide75.xml" Id="R5313fccca6e44c4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da59cefde8e04544" /><Relationship Type="http://schemas.openxmlformats.org/officeDocument/2006/relationships/notesSlide" Target="/ppt/notesSlides/notesSlide76.xml" Id="R1e7d64c328af498f"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2c6080538648430c" /><Relationship Type="http://schemas.openxmlformats.org/officeDocument/2006/relationships/notesSlide" Target="/ppt/notesSlides/notesSlide77.xml" Id="Rae4f232e122348e6"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96aba7a2fabc4576" /><Relationship Type="http://schemas.openxmlformats.org/officeDocument/2006/relationships/notesSlide" Target="/ppt/notesSlides/notesSlide78.xml" Id="Rebc84dd2ba144115"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5ace53d7f83e4831" /><Relationship Type="http://schemas.openxmlformats.org/officeDocument/2006/relationships/notesSlide" Target="/ppt/notesSlides/notesSlide79.xml" Id="R99caab51a5634194"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53ea27ed3dab4114" /><Relationship Type="http://schemas.openxmlformats.org/officeDocument/2006/relationships/notesSlide" Target="/ppt/notesSlides/notesSlide80.xml" Id="Rb2d632523244447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e2bbf01995b64a9d" /><Relationship Type="http://schemas.openxmlformats.org/officeDocument/2006/relationships/notesSlide" Target="/ppt/notesSlides/notesSlide81.xml" Id="R492847e34bad483e"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a1755e44ea3a403c" /><Relationship Type="http://schemas.openxmlformats.org/officeDocument/2006/relationships/notesSlide" Target="/ppt/notesSlides/notesSlide82.xml" Id="R5908ea7670de403d"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fe7f94acdef345c0" /><Relationship Type="http://schemas.openxmlformats.org/officeDocument/2006/relationships/notesSlide" Target="/ppt/notesSlides/notesSlide83.xml" Id="Rc8f0d17f1cf147f3"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141636b8e4014f74" /><Relationship Type="http://schemas.openxmlformats.org/officeDocument/2006/relationships/notesSlide" Target="/ppt/notesSlides/notesSlide84.xml" Id="R3328db9ebce54efa"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9f133904510043ff" /><Relationship Type="http://schemas.openxmlformats.org/officeDocument/2006/relationships/notesSlide" Target="/ppt/notesSlides/notesSlide85.xml" Id="Rec3e36ab5d204e94"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3bb60fb6d34543fe" /><Relationship Type="http://schemas.openxmlformats.org/officeDocument/2006/relationships/notesSlide" Target="/ppt/notesSlides/notesSlide86.xml" Id="R9fa7d8fa31754ec0"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174704b805464a1c" /><Relationship Type="http://schemas.openxmlformats.org/officeDocument/2006/relationships/notesSlide" Target="/ppt/notesSlides/notesSlide87.xml" Id="Rc2c80324db144bcb"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de2b95b95d244553" /><Relationship Type="http://schemas.openxmlformats.org/officeDocument/2006/relationships/notesSlide" Target="/ppt/notesSlides/notesSlide88.xml" Id="Rf5a40ece58294edd" /></Relationships>
</file>

<file path=ppt/slides/slide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page-number">
            <a:extLst xmlns:a="http://schemas.openxmlformats.org/drawingml/2006/main">
              <a:ext uri="{FF2B5EF4-FFF2-40B4-BE49-F238E27FC236}">
                <a16:creationId xmlns:a16="http://schemas.microsoft.com/office/drawing/2014/main" id="{B3567594-F86F-4FFF-8E69-A738DCCCF00C}"/>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 / 88</a:t>
            </a:r>
          </a:p>
        </p:txBody>
      </p:sp>
      <p:sp>
        <p:nvSpPr>
          <p:cNvPr id="3" name="deck-title">
            <a:extLst xmlns:a="http://schemas.openxmlformats.org/drawingml/2006/main">
              <a:ext uri="{FF2B5EF4-FFF2-40B4-BE49-F238E27FC236}">
                <a16:creationId xmlns:a16="http://schemas.microsoft.com/office/drawing/2014/main" id="{BCCBC1C1-7775-444B-9D3E-E40C1C453BD6}"/>
              </a:ext>
            </a:extLst>
          </p:cNvPr>
          <p:cNvSpPr>
            <a:spLocks xmlns:a="http://schemas.openxmlformats.org/drawingml/2006/main" noGrp="1"/>
          </p:cNvSpPr>
          <p:nvPr/>
        </p:nvSpPr>
        <p:spPr>
          <a:xfrm xmlns:a="http://schemas.openxmlformats.org/drawingml/2006/main">
            <a:off x="904875" y="2047875"/>
            <a:ext cx="13430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6150" b="1">
                <a:solidFill>
                  <a:srgbClr val="216B66"/>
                </a:solidFill>
                <a:latin typeface="Arial"/>
                <a:ea typeface="Arial"/>
                <a:cs typeface="Arial"/>
              </a:defRPr>
            </a:defPPr>
            <a:lvl1pPr>
              <a:defRPr sz="6150" b="1">
                <a:solidFill>
                  <a:srgbClr val="216B66"/>
                </a:solidFill>
                <a:latin typeface="Arial"/>
                <a:ea typeface="Arial"/>
                <a:cs typeface="Arial"/>
              </a:defRPr>
            </a:lvl1pPr>
            <a:lvl2pPr>
              <a:defRPr sz="6150" b="1">
                <a:solidFill>
                  <a:srgbClr val="216B66"/>
                </a:solidFill>
                <a:latin typeface="Arial"/>
                <a:ea typeface="Arial"/>
                <a:cs typeface="Arial"/>
              </a:defRPr>
            </a:lvl2pPr>
            <a:lvl3pPr>
              <a:defRPr sz="6150" b="1">
                <a:solidFill>
                  <a:srgbClr val="216B66"/>
                </a:solidFill>
                <a:latin typeface="Arial"/>
                <a:ea typeface="Arial"/>
                <a:cs typeface="Arial"/>
              </a:defRPr>
            </a:lvl3pPr>
            <a:lvl4pPr>
              <a:defRPr sz="6150" b="1">
                <a:solidFill>
                  <a:srgbClr val="216B66"/>
                </a:solidFill>
                <a:latin typeface="Arial"/>
                <a:ea typeface="Arial"/>
                <a:cs typeface="Arial"/>
              </a:defRPr>
            </a:lvl4pPr>
            <a:lvl5pPr>
              <a:defRPr sz="6150" b="1">
                <a:solidFill>
                  <a:srgbClr val="216B66"/>
                </a:solidFill>
                <a:latin typeface="Arial"/>
                <a:ea typeface="Arial"/>
                <a:cs typeface="Arial"/>
              </a:defRPr>
            </a:lvl5pPr>
            <a:lvl6pPr>
              <a:defRPr sz="6150" b="1">
                <a:solidFill>
                  <a:srgbClr val="216B66"/>
                </a:solidFill>
                <a:latin typeface="Arial"/>
                <a:ea typeface="Arial"/>
                <a:cs typeface="Arial"/>
              </a:defRPr>
            </a:lvl6pPr>
            <a:lvl7pPr>
              <a:defRPr sz="6150" b="1">
                <a:solidFill>
                  <a:srgbClr val="216B66"/>
                </a:solidFill>
                <a:latin typeface="Arial"/>
                <a:ea typeface="Arial"/>
                <a:cs typeface="Arial"/>
              </a:defRPr>
            </a:lvl7pPr>
            <a:lvl8pPr>
              <a:defRPr sz="6150" b="1">
                <a:solidFill>
                  <a:srgbClr val="216B66"/>
                </a:solidFill>
                <a:latin typeface="Arial"/>
                <a:ea typeface="Arial"/>
                <a:cs typeface="Arial"/>
              </a:defRPr>
            </a:lvl8pPr>
            <a:lvl9pPr>
              <a:defRPr sz="6150" b="1">
                <a:solidFill>
                  <a:srgbClr val="216B66"/>
                </a:solidFill>
                <a:latin typeface="Arial"/>
                <a:ea typeface="Arial"/>
                <a:cs typeface="Arial"/>
              </a:defRPr>
            </a:lvl9pPr>
          </a:lstStyle>
          <a:p xmlns:a="http://schemas.openxmlformats.org/drawingml/2006/main">
            <a:pPr>
              <a:lnSpc>
                <a:spcPct val="112000"/>
              </a:lnSpc>
              <a:buNone/>
              <a:defRPr sz="6150" b="1">
                <a:solidFill>
                  <a:srgbClr val="216B66"/>
                </a:solidFill>
                <a:latin typeface="Arial"/>
                <a:ea typeface="Arial"/>
                <a:cs typeface="Arial"/>
              </a:defRPr>
            </a:pPr>
            <a:r>
              <a:rPr sz="6150" b="1">
                <a:solidFill>
                  <a:srgbClr val="216B66"/>
                </a:solidFill>
                <a:latin typeface="Arial"/>
                <a:ea typeface="Arial"/>
                <a:cs typeface="Arial"/>
              </a:rPr>
              <a:t>Backend và xử lý LLM</a:t>
            </a:r>
          </a:p>
        </p:txBody>
      </p:sp>
      <p:sp>
        <p:nvSpPr>
          <p:cNvPr id="4" name="deck-subtitle">
            <a:extLst xmlns:a="http://schemas.openxmlformats.org/drawingml/2006/main">
              <a:ext uri="{FF2B5EF4-FFF2-40B4-BE49-F238E27FC236}">
                <a16:creationId xmlns:a16="http://schemas.microsoft.com/office/drawing/2014/main" id="{56FB4B93-2B6F-470C-88BF-16B9634870F9}"/>
              </a:ext>
            </a:extLst>
          </p:cNvPr>
          <p:cNvSpPr>
            <a:spLocks xmlns:a="http://schemas.openxmlformats.org/drawingml/2006/main" noGrp="1"/>
          </p:cNvSpPr>
          <p:nvPr/>
        </p:nvSpPr>
        <p:spPr>
          <a:xfrm xmlns:a="http://schemas.openxmlformats.org/drawingml/2006/main">
            <a:off x="952500" y="4286250"/>
            <a:ext cx="1323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0">
                <a:solidFill>
                  <a:srgbClr val="172E32"/>
                </a:solidFill>
                <a:latin typeface="Arial"/>
                <a:ea typeface="Arial"/>
                <a:cs typeface="Arial"/>
              </a:defRPr>
            </a:defPPr>
            <a:lvl1pPr>
              <a:defRPr sz="2775" b="0">
                <a:solidFill>
                  <a:srgbClr val="172E32"/>
                </a:solidFill>
                <a:latin typeface="Arial"/>
                <a:ea typeface="Arial"/>
                <a:cs typeface="Arial"/>
              </a:defRPr>
            </a:lvl1pPr>
            <a:lvl2pPr>
              <a:defRPr sz="2775" b="0">
                <a:solidFill>
                  <a:srgbClr val="172E32"/>
                </a:solidFill>
                <a:latin typeface="Arial"/>
                <a:ea typeface="Arial"/>
                <a:cs typeface="Arial"/>
              </a:defRPr>
            </a:lvl2pPr>
            <a:lvl3pPr>
              <a:defRPr sz="2775" b="0">
                <a:solidFill>
                  <a:srgbClr val="172E32"/>
                </a:solidFill>
                <a:latin typeface="Arial"/>
                <a:ea typeface="Arial"/>
                <a:cs typeface="Arial"/>
              </a:defRPr>
            </a:lvl3pPr>
            <a:lvl4pPr>
              <a:defRPr sz="2775" b="0">
                <a:solidFill>
                  <a:srgbClr val="172E32"/>
                </a:solidFill>
                <a:latin typeface="Arial"/>
                <a:ea typeface="Arial"/>
                <a:cs typeface="Arial"/>
              </a:defRPr>
            </a:lvl4pPr>
            <a:lvl5pPr>
              <a:defRPr sz="2775" b="0">
                <a:solidFill>
                  <a:srgbClr val="172E32"/>
                </a:solidFill>
                <a:latin typeface="Arial"/>
                <a:ea typeface="Arial"/>
                <a:cs typeface="Arial"/>
              </a:defRPr>
            </a:lvl5pPr>
            <a:lvl6pPr>
              <a:defRPr sz="2775" b="0">
                <a:solidFill>
                  <a:srgbClr val="172E32"/>
                </a:solidFill>
                <a:latin typeface="Arial"/>
                <a:ea typeface="Arial"/>
                <a:cs typeface="Arial"/>
              </a:defRPr>
            </a:lvl6pPr>
            <a:lvl7pPr>
              <a:defRPr sz="2775" b="0">
                <a:solidFill>
                  <a:srgbClr val="172E32"/>
                </a:solidFill>
                <a:latin typeface="Arial"/>
                <a:ea typeface="Arial"/>
                <a:cs typeface="Arial"/>
              </a:defRPr>
            </a:lvl7pPr>
            <a:lvl8pPr>
              <a:defRPr sz="2775" b="0">
                <a:solidFill>
                  <a:srgbClr val="172E32"/>
                </a:solidFill>
                <a:latin typeface="Arial"/>
                <a:ea typeface="Arial"/>
                <a:cs typeface="Arial"/>
              </a:defRPr>
            </a:lvl8pPr>
            <a:lvl9pPr>
              <a:defRPr sz="2775" b="0">
                <a:solidFill>
                  <a:srgbClr val="172E32"/>
                </a:solidFill>
                <a:latin typeface="Arial"/>
                <a:ea typeface="Arial"/>
                <a:cs typeface="Arial"/>
              </a:defRPr>
            </a:lvl9pPr>
          </a:lstStyle>
          <a:p xmlns:a="http://schemas.openxmlformats.org/drawingml/2006/main">
            <a:pPr>
              <a:lnSpc>
                <a:spcPct val="112000"/>
              </a:lnSpc>
              <a:buNone/>
              <a:defRPr sz="2775" b="0">
                <a:solidFill>
                  <a:srgbClr val="172E32"/>
                </a:solidFill>
                <a:latin typeface="Arial"/>
                <a:ea typeface="Arial"/>
                <a:cs typeface="Arial"/>
              </a:defRPr>
            </a:pPr>
            <a:r>
              <a:rPr sz="2775" b="0">
                <a:solidFill>
                  <a:srgbClr val="172E32"/>
                </a:solidFill>
                <a:latin typeface="Arial"/>
                <a:ea typeface="Arial"/>
                <a:cs typeface="Arial"/>
              </a:rPr>
              <a:t>AI Live Commerce Order Assistant</a:t>
            </a:r>
          </a:p>
        </p:txBody>
      </p:sp>
      <p:sp>
        <p:nvSpPr>
          <p:cNvPr id="5" name="deck-description">
            <a:extLst xmlns:a="http://schemas.openxmlformats.org/drawingml/2006/main">
              <a:ext uri="{FF2B5EF4-FFF2-40B4-BE49-F238E27FC236}">
                <a16:creationId xmlns:a16="http://schemas.microsoft.com/office/drawing/2014/main" id="{EB0F30D4-DE20-4ABA-9903-3B36C6818A7E}"/>
              </a:ext>
            </a:extLst>
          </p:cNvPr>
          <p:cNvSpPr>
            <a:spLocks xmlns:a="http://schemas.openxmlformats.org/drawingml/2006/main" noGrp="1"/>
          </p:cNvSpPr>
          <p:nvPr/>
        </p:nvSpPr>
        <p:spPr>
          <a:xfrm xmlns:a="http://schemas.openxmlformats.org/drawingml/2006/main">
            <a:off x="952500" y="5429250"/>
            <a:ext cx="1200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4D6063"/>
                </a:solidFill>
                <a:latin typeface="Arial"/>
                <a:ea typeface="Arial"/>
                <a:cs typeface="Arial"/>
              </a:defRPr>
            </a:defPPr>
            <a:lvl1pPr>
              <a:defRPr sz="2250" b="0">
                <a:solidFill>
                  <a:srgbClr val="4D6063"/>
                </a:solidFill>
                <a:latin typeface="Arial"/>
                <a:ea typeface="Arial"/>
                <a:cs typeface="Arial"/>
              </a:defRPr>
            </a:lvl1pPr>
            <a:lvl2pPr>
              <a:defRPr sz="2250" b="0">
                <a:solidFill>
                  <a:srgbClr val="4D6063"/>
                </a:solidFill>
                <a:latin typeface="Arial"/>
                <a:ea typeface="Arial"/>
                <a:cs typeface="Arial"/>
              </a:defRPr>
            </a:lvl2pPr>
            <a:lvl3pPr>
              <a:defRPr sz="2250" b="0">
                <a:solidFill>
                  <a:srgbClr val="4D6063"/>
                </a:solidFill>
                <a:latin typeface="Arial"/>
                <a:ea typeface="Arial"/>
                <a:cs typeface="Arial"/>
              </a:defRPr>
            </a:lvl3pPr>
            <a:lvl4pPr>
              <a:defRPr sz="2250" b="0">
                <a:solidFill>
                  <a:srgbClr val="4D6063"/>
                </a:solidFill>
                <a:latin typeface="Arial"/>
                <a:ea typeface="Arial"/>
                <a:cs typeface="Arial"/>
              </a:defRPr>
            </a:lvl4pPr>
            <a:lvl5pPr>
              <a:defRPr sz="2250" b="0">
                <a:solidFill>
                  <a:srgbClr val="4D6063"/>
                </a:solidFill>
                <a:latin typeface="Arial"/>
                <a:ea typeface="Arial"/>
                <a:cs typeface="Arial"/>
              </a:defRPr>
            </a:lvl5pPr>
            <a:lvl6pPr>
              <a:defRPr sz="2250" b="0">
                <a:solidFill>
                  <a:srgbClr val="4D6063"/>
                </a:solidFill>
                <a:latin typeface="Arial"/>
                <a:ea typeface="Arial"/>
                <a:cs typeface="Arial"/>
              </a:defRPr>
            </a:lvl6pPr>
            <a:lvl7pPr>
              <a:defRPr sz="2250" b="0">
                <a:solidFill>
                  <a:srgbClr val="4D6063"/>
                </a:solidFill>
                <a:latin typeface="Arial"/>
                <a:ea typeface="Arial"/>
                <a:cs typeface="Arial"/>
              </a:defRPr>
            </a:lvl7pPr>
            <a:lvl8pPr>
              <a:defRPr sz="2250" b="0">
                <a:solidFill>
                  <a:srgbClr val="4D6063"/>
                </a:solidFill>
                <a:latin typeface="Arial"/>
                <a:ea typeface="Arial"/>
                <a:cs typeface="Arial"/>
              </a:defRPr>
            </a:lvl8pPr>
            <a:lvl9pPr>
              <a:defRPr sz="2250" b="0">
                <a:solidFill>
                  <a:srgbClr val="4D6063"/>
                </a:solidFill>
                <a:latin typeface="Arial"/>
                <a:ea typeface="Arial"/>
                <a:cs typeface="Arial"/>
              </a:defRPr>
            </a:lvl9pPr>
          </a:lstStyle>
          <a:p xmlns:a="http://schemas.openxmlformats.org/drawingml/2006/main">
            <a:pPr>
              <a:lnSpc>
                <a:spcPct val="112000"/>
              </a:lnSpc>
              <a:buNone/>
              <a:defRPr sz="2250" b="0">
                <a:solidFill>
                  <a:srgbClr val="4D6063"/>
                </a:solidFill>
                <a:latin typeface="Arial"/>
                <a:ea typeface="Arial"/>
                <a:cs typeface="Arial"/>
              </a:defRPr>
            </a:pPr>
            <a:r>
              <a:rPr sz="2250" b="0">
                <a:solidFill>
                  <a:srgbClr val="4D6063"/>
                </a:solidFill>
                <a:latin typeface="Arial"/>
                <a:ea typeface="Arial"/>
                <a:cs typeface="Arial"/>
              </a:rPr>
              <a:t>Pipeline xử lý request, code chứng minh và tra cứu 100 hàm</a:t>
            </a:r>
          </a:p>
        </p:txBody>
      </p:sp>
      <p:sp>
        <p:nvSpPr>
          <p:cNvPr id="6" name="snapshot">
            <a:extLst xmlns:a="http://schemas.openxmlformats.org/drawingml/2006/main">
              <a:ext uri="{FF2B5EF4-FFF2-40B4-BE49-F238E27FC236}">
                <a16:creationId xmlns:a16="http://schemas.microsoft.com/office/drawing/2014/main" id="{99C1B513-0D7F-4C39-8F67-EA891580AE16}"/>
              </a:ext>
            </a:extLst>
          </p:cNvPr>
          <p:cNvSpPr>
            <a:spLocks xmlns:a="http://schemas.openxmlformats.org/drawingml/2006/main" noGrp="1"/>
          </p:cNvSpPr>
          <p:nvPr/>
        </p:nvSpPr>
        <p:spPr>
          <a:xfrm xmlns:a="http://schemas.openxmlformats.org/drawingml/2006/main">
            <a:off x="952500" y="7143750"/>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4D6063"/>
                </a:solidFill>
                <a:latin typeface="Arial"/>
                <a:ea typeface="Arial"/>
                <a:cs typeface="Arial"/>
              </a:defRPr>
            </a:defPPr>
            <a:lvl1pPr>
              <a:defRPr sz="1800" b="0">
                <a:solidFill>
                  <a:srgbClr val="4D6063"/>
                </a:solidFill>
                <a:latin typeface="Arial"/>
                <a:ea typeface="Arial"/>
                <a:cs typeface="Arial"/>
              </a:defRPr>
            </a:lvl1pPr>
            <a:lvl2pPr>
              <a:defRPr sz="1800" b="0">
                <a:solidFill>
                  <a:srgbClr val="4D6063"/>
                </a:solidFill>
                <a:latin typeface="Arial"/>
                <a:ea typeface="Arial"/>
                <a:cs typeface="Arial"/>
              </a:defRPr>
            </a:lvl2pPr>
            <a:lvl3pPr>
              <a:defRPr sz="1800" b="0">
                <a:solidFill>
                  <a:srgbClr val="4D6063"/>
                </a:solidFill>
                <a:latin typeface="Arial"/>
                <a:ea typeface="Arial"/>
                <a:cs typeface="Arial"/>
              </a:defRPr>
            </a:lvl3pPr>
            <a:lvl4pPr>
              <a:defRPr sz="1800" b="0">
                <a:solidFill>
                  <a:srgbClr val="4D6063"/>
                </a:solidFill>
                <a:latin typeface="Arial"/>
                <a:ea typeface="Arial"/>
                <a:cs typeface="Arial"/>
              </a:defRPr>
            </a:lvl4pPr>
            <a:lvl5pPr>
              <a:defRPr sz="1800" b="0">
                <a:solidFill>
                  <a:srgbClr val="4D6063"/>
                </a:solidFill>
                <a:latin typeface="Arial"/>
                <a:ea typeface="Arial"/>
                <a:cs typeface="Arial"/>
              </a:defRPr>
            </a:lvl5pPr>
            <a:lvl6pPr>
              <a:defRPr sz="1800" b="0">
                <a:solidFill>
                  <a:srgbClr val="4D6063"/>
                </a:solidFill>
                <a:latin typeface="Arial"/>
                <a:ea typeface="Arial"/>
                <a:cs typeface="Arial"/>
              </a:defRPr>
            </a:lvl6pPr>
            <a:lvl7pPr>
              <a:defRPr sz="1800" b="0">
                <a:solidFill>
                  <a:srgbClr val="4D6063"/>
                </a:solidFill>
                <a:latin typeface="Arial"/>
                <a:ea typeface="Arial"/>
                <a:cs typeface="Arial"/>
              </a:defRPr>
            </a:lvl7pPr>
            <a:lvl8pPr>
              <a:defRPr sz="1800" b="0">
                <a:solidFill>
                  <a:srgbClr val="4D6063"/>
                </a:solidFill>
                <a:latin typeface="Arial"/>
                <a:ea typeface="Arial"/>
                <a:cs typeface="Arial"/>
              </a:defRPr>
            </a:lvl8pPr>
            <a:lvl9pPr>
              <a:defRPr sz="1800" b="0">
                <a:solidFill>
                  <a:srgbClr val="4D6063"/>
                </a:solidFill>
                <a:latin typeface="Arial"/>
                <a:ea typeface="Arial"/>
                <a:cs typeface="Arial"/>
              </a:defRPr>
            </a:lvl9pPr>
          </a:lstStyle>
          <a:p xmlns:a="http://schemas.openxmlformats.org/drawingml/2006/main">
            <a:pPr>
              <a:lnSpc>
                <a:spcPct val="112000"/>
              </a:lnSpc>
              <a:buNone/>
              <a:defRPr sz="1800" b="0">
                <a:solidFill>
                  <a:srgbClr val="4D6063"/>
                </a:solidFill>
                <a:latin typeface="Arial"/>
                <a:ea typeface="Arial"/>
                <a:cs typeface="Arial"/>
              </a:defRPr>
            </a:pPr>
            <a:r>
              <a:rPr sz="1800" b="0">
                <a:solidFill>
                  <a:srgbClr val="4D6063"/>
                </a:solidFill>
                <a:latin typeface="Arial"/>
                <a:ea typeface="Arial"/>
                <a:cs typeface="Arial"/>
              </a:rPr>
              <a:t>Bản chụp code 22/10/2026</a:t>
            </a:r>
          </a:p>
        </p:txBody>
      </p:sp>
    </p:spTree>
    <p:extLst>
      <p:ext uri="{BB962C8B-B14F-4D97-AF65-F5344CB8AC3E}">
        <p14:creationId xmlns:p14="http://schemas.microsoft.com/office/powerpoint/2010/main" val="332622687"/>
      </p:ext>
    </p:extLst>
  </p:cSld>
</p:sld>
</file>

<file path=ppt/slides/slide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DBA97D5-AFB1-4ED9-9B39-CC89340FF052}"/>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Bản đồ phần backend</a:t>
            </a:r>
          </a:p>
        </p:txBody>
      </p:sp>
      <p:sp>
        <p:nvSpPr>
          <p:cNvPr id="3" name="page-number">
            <a:extLst xmlns:a="http://schemas.openxmlformats.org/drawingml/2006/main">
              <a:ext uri="{FF2B5EF4-FFF2-40B4-BE49-F238E27FC236}">
                <a16:creationId xmlns:a16="http://schemas.microsoft.com/office/drawing/2014/main" id="{D0B7E491-CE91-4055-B8B0-253ED226CD13}"/>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 / 88</a:t>
            </a:r>
          </a:p>
        </p:txBody>
      </p:sp>
      <p:sp>
        <p:nvSpPr>
          <p:cNvPr id="4" name="source-reference">
            <a:extLst xmlns:a="http://schemas.openxmlformats.org/drawingml/2006/main">
              <a:ext uri="{FF2B5EF4-FFF2-40B4-BE49-F238E27FC236}">
                <a16:creationId xmlns:a16="http://schemas.microsoft.com/office/drawing/2014/main" id="{0039F19F-B336-4413-9071-0641B08370F1}"/>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   /   backend/shop_api.py   /   backend/shop_logic.py   /   src/llm_client.py</a:t>
            </a:r>
          </a:p>
        </p:txBody>
      </p:sp>
      <p:sp>
        <p:nvSpPr>
          <p:cNvPr id="5" name="module-0">
            <a:extLst xmlns:a="http://schemas.openxmlformats.org/drawingml/2006/main">
              <a:ext uri="{FF2B5EF4-FFF2-40B4-BE49-F238E27FC236}">
                <a16:creationId xmlns:a16="http://schemas.microsoft.com/office/drawing/2014/main" id="{DA95BFFE-877E-445B-85A0-2746638E4B44}"/>
              </a:ext>
            </a:extLst>
          </p:cNvPr>
          <p:cNvSpPr>
            <a:spLocks xmlns:a="http://schemas.openxmlformats.org/drawingml/2006/main" noGrp="1"/>
          </p:cNvSpPr>
          <p:nvPr/>
        </p:nvSpPr>
        <p:spPr>
          <a:xfrm xmlns:a="http://schemas.openxmlformats.org/drawingml/2006/main">
            <a:off x="762000" y="1619250"/>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16B66"/>
                </a:solidFill>
                <a:latin typeface="Arial"/>
                <a:ea typeface="Arial"/>
                <a:cs typeface="Arial"/>
              </a:defRPr>
            </a:defPPr>
            <a:lvl1pPr>
              <a:defRPr sz="2100" b="1">
                <a:solidFill>
                  <a:srgbClr val="216B66"/>
                </a:solidFill>
                <a:latin typeface="Arial"/>
                <a:ea typeface="Arial"/>
                <a:cs typeface="Arial"/>
              </a:defRPr>
            </a:lvl1pPr>
            <a:lvl2pPr>
              <a:defRPr sz="2100" b="1">
                <a:solidFill>
                  <a:srgbClr val="216B66"/>
                </a:solidFill>
                <a:latin typeface="Arial"/>
                <a:ea typeface="Arial"/>
                <a:cs typeface="Arial"/>
              </a:defRPr>
            </a:lvl2pPr>
            <a:lvl3pPr>
              <a:defRPr sz="2100" b="1">
                <a:solidFill>
                  <a:srgbClr val="216B66"/>
                </a:solidFill>
                <a:latin typeface="Arial"/>
                <a:ea typeface="Arial"/>
                <a:cs typeface="Arial"/>
              </a:defRPr>
            </a:lvl3pPr>
            <a:lvl4pPr>
              <a:defRPr sz="2100" b="1">
                <a:solidFill>
                  <a:srgbClr val="216B66"/>
                </a:solidFill>
                <a:latin typeface="Arial"/>
                <a:ea typeface="Arial"/>
                <a:cs typeface="Arial"/>
              </a:defRPr>
            </a:lvl4pPr>
            <a:lvl5pPr>
              <a:defRPr sz="2100" b="1">
                <a:solidFill>
                  <a:srgbClr val="216B66"/>
                </a:solidFill>
                <a:latin typeface="Arial"/>
                <a:ea typeface="Arial"/>
                <a:cs typeface="Arial"/>
              </a:defRPr>
            </a:lvl5pPr>
            <a:lvl6pPr>
              <a:defRPr sz="2100" b="1">
                <a:solidFill>
                  <a:srgbClr val="216B66"/>
                </a:solidFill>
                <a:latin typeface="Arial"/>
                <a:ea typeface="Arial"/>
                <a:cs typeface="Arial"/>
              </a:defRPr>
            </a:lvl6pPr>
            <a:lvl7pPr>
              <a:defRPr sz="2100" b="1">
                <a:solidFill>
                  <a:srgbClr val="216B66"/>
                </a:solidFill>
                <a:latin typeface="Arial"/>
                <a:ea typeface="Arial"/>
                <a:cs typeface="Arial"/>
              </a:defRPr>
            </a:lvl7pPr>
            <a:lvl8pPr>
              <a:defRPr sz="2100" b="1">
                <a:solidFill>
                  <a:srgbClr val="216B66"/>
                </a:solidFill>
                <a:latin typeface="Arial"/>
                <a:ea typeface="Arial"/>
                <a:cs typeface="Arial"/>
              </a:defRPr>
            </a:lvl8pPr>
            <a:lvl9pPr>
              <a:defRPr sz="2100" b="1">
                <a:solidFill>
                  <a:srgbClr val="216B66"/>
                </a:solidFill>
                <a:latin typeface="Arial"/>
                <a:ea typeface="Arial"/>
                <a:cs typeface="Arial"/>
              </a:defRPr>
            </a:lvl9pPr>
          </a:lstStyle>
          <a:p xmlns:a="http://schemas.openxmlformats.org/drawingml/2006/main">
            <a:pPr>
              <a:lnSpc>
                <a:spcPct val="112000"/>
              </a:lnSpc>
              <a:buNone/>
              <a:defRPr sz="2100" b="1">
                <a:solidFill>
                  <a:srgbClr val="216B66"/>
                </a:solidFill>
                <a:latin typeface="Arial"/>
                <a:ea typeface="Arial"/>
                <a:cs typeface="Arial"/>
              </a:defRPr>
            </a:pPr>
            <a:r>
              <a:rPr sz="2100" b="1">
                <a:solidFill>
                  <a:srgbClr val="216B66"/>
                </a:solidFill>
                <a:latin typeface="Arial"/>
                <a:ea typeface="Arial"/>
                <a:cs typeface="Arial"/>
              </a:rPr>
              <a:t>backend/main.py</a:t>
            </a:r>
          </a:p>
        </p:txBody>
      </p:sp>
      <p:sp>
        <p:nvSpPr>
          <p:cNvPr id="6" name="responsibility-0">
            <a:extLst xmlns:a="http://schemas.openxmlformats.org/drawingml/2006/main">
              <a:ext uri="{FF2B5EF4-FFF2-40B4-BE49-F238E27FC236}">
                <a16:creationId xmlns:a16="http://schemas.microsoft.com/office/drawing/2014/main" id="{3F397B62-0515-4AFB-968A-F9DC343C8445}"/>
              </a:ext>
            </a:extLst>
          </p:cNvPr>
          <p:cNvSpPr>
            <a:spLocks xmlns:a="http://schemas.openxmlformats.org/drawingml/2006/main" noGrp="1"/>
          </p:cNvSpPr>
          <p:nvPr/>
        </p:nvSpPr>
        <p:spPr>
          <a:xfrm xmlns:a="http://schemas.openxmlformats.org/drawingml/2006/main">
            <a:off x="6667500" y="161925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2E32"/>
                </a:solidFill>
                <a:latin typeface="Arial"/>
                <a:ea typeface="Arial"/>
                <a:cs typeface="Arial"/>
              </a:defRPr>
            </a:defPPr>
            <a:lvl1pPr>
              <a:defRPr sz="2025" b="0">
                <a:solidFill>
                  <a:srgbClr val="172E32"/>
                </a:solidFill>
                <a:latin typeface="Arial"/>
                <a:ea typeface="Arial"/>
                <a:cs typeface="Arial"/>
              </a:defRPr>
            </a:lvl1pPr>
            <a:lvl2pPr>
              <a:defRPr sz="2025" b="0">
                <a:solidFill>
                  <a:srgbClr val="172E32"/>
                </a:solidFill>
                <a:latin typeface="Arial"/>
                <a:ea typeface="Arial"/>
                <a:cs typeface="Arial"/>
              </a:defRPr>
            </a:lvl2pPr>
            <a:lvl3pPr>
              <a:defRPr sz="2025" b="0">
                <a:solidFill>
                  <a:srgbClr val="172E32"/>
                </a:solidFill>
                <a:latin typeface="Arial"/>
                <a:ea typeface="Arial"/>
                <a:cs typeface="Arial"/>
              </a:defRPr>
            </a:lvl3pPr>
            <a:lvl4pPr>
              <a:defRPr sz="2025" b="0">
                <a:solidFill>
                  <a:srgbClr val="172E32"/>
                </a:solidFill>
                <a:latin typeface="Arial"/>
                <a:ea typeface="Arial"/>
                <a:cs typeface="Arial"/>
              </a:defRPr>
            </a:lvl4pPr>
            <a:lvl5pPr>
              <a:defRPr sz="2025" b="0">
                <a:solidFill>
                  <a:srgbClr val="172E32"/>
                </a:solidFill>
                <a:latin typeface="Arial"/>
                <a:ea typeface="Arial"/>
                <a:cs typeface="Arial"/>
              </a:defRPr>
            </a:lvl5pPr>
            <a:lvl6pPr>
              <a:defRPr sz="2025" b="0">
                <a:solidFill>
                  <a:srgbClr val="172E32"/>
                </a:solidFill>
                <a:latin typeface="Arial"/>
                <a:ea typeface="Arial"/>
                <a:cs typeface="Arial"/>
              </a:defRPr>
            </a:lvl6pPr>
            <a:lvl7pPr>
              <a:defRPr sz="2025" b="0">
                <a:solidFill>
                  <a:srgbClr val="172E32"/>
                </a:solidFill>
                <a:latin typeface="Arial"/>
                <a:ea typeface="Arial"/>
                <a:cs typeface="Arial"/>
              </a:defRPr>
            </a:lvl7pPr>
            <a:lvl8pPr>
              <a:defRPr sz="2025" b="0">
                <a:solidFill>
                  <a:srgbClr val="172E32"/>
                </a:solidFill>
                <a:latin typeface="Arial"/>
                <a:ea typeface="Arial"/>
                <a:cs typeface="Arial"/>
              </a:defRPr>
            </a:lvl8pPr>
            <a:lvl9pPr>
              <a:defRPr sz="2025" b="0">
                <a:solidFill>
                  <a:srgbClr val="172E32"/>
                </a:solidFill>
                <a:latin typeface="Arial"/>
                <a:ea typeface="Arial"/>
                <a:cs typeface="Arial"/>
              </a:defRPr>
            </a:lvl9pPr>
          </a:lstStyle>
          <a:p xmlns:a="http://schemas.openxmlformats.org/drawingml/2006/main">
            <a:pPr>
              <a:lnSpc>
                <a:spcPct val="112000"/>
              </a:lnSpc>
              <a:buNone/>
              <a:defRPr sz="2025" b="0">
                <a:solidFill>
                  <a:srgbClr val="172E32"/>
                </a:solidFill>
                <a:latin typeface="Arial"/>
                <a:ea typeface="Arial"/>
                <a:cs typeface="Arial"/>
              </a:defRPr>
            </a:pPr>
            <a:r>
              <a:rPr sz="2025" b="0">
                <a:solidFill>
                  <a:srgbClr val="172E32"/>
                </a:solidFill>
                <a:latin typeface="Arial"/>
                <a:ea typeface="Arial"/>
                <a:cs typeface="Arial"/>
              </a:rPr>
              <a:t>Nhận HTTP, xác thực phiên, điều phối endpoint</a:t>
            </a:r>
          </a:p>
        </p:txBody>
      </p:sp>
      <p:sp>
        <p:nvSpPr>
          <p:cNvPr id="7" name="module-1">
            <a:extLst xmlns:a="http://schemas.openxmlformats.org/drawingml/2006/main">
              <a:ext uri="{FF2B5EF4-FFF2-40B4-BE49-F238E27FC236}">
                <a16:creationId xmlns:a16="http://schemas.microsoft.com/office/drawing/2014/main" id="{7ABD5A57-36E1-46AD-BFA1-4C116C6C0137}"/>
              </a:ext>
            </a:extLst>
          </p:cNvPr>
          <p:cNvSpPr>
            <a:spLocks xmlns:a="http://schemas.openxmlformats.org/drawingml/2006/main" noGrp="1"/>
          </p:cNvSpPr>
          <p:nvPr/>
        </p:nvSpPr>
        <p:spPr>
          <a:xfrm xmlns:a="http://schemas.openxmlformats.org/drawingml/2006/main">
            <a:off x="762000" y="2628900"/>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16B66"/>
                </a:solidFill>
                <a:latin typeface="Arial"/>
                <a:ea typeface="Arial"/>
                <a:cs typeface="Arial"/>
              </a:defRPr>
            </a:defPPr>
            <a:lvl1pPr>
              <a:defRPr sz="2100" b="1">
                <a:solidFill>
                  <a:srgbClr val="216B66"/>
                </a:solidFill>
                <a:latin typeface="Arial"/>
                <a:ea typeface="Arial"/>
                <a:cs typeface="Arial"/>
              </a:defRPr>
            </a:lvl1pPr>
            <a:lvl2pPr>
              <a:defRPr sz="2100" b="1">
                <a:solidFill>
                  <a:srgbClr val="216B66"/>
                </a:solidFill>
                <a:latin typeface="Arial"/>
                <a:ea typeface="Arial"/>
                <a:cs typeface="Arial"/>
              </a:defRPr>
            </a:lvl2pPr>
            <a:lvl3pPr>
              <a:defRPr sz="2100" b="1">
                <a:solidFill>
                  <a:srgbClr val="216B66"/>
                </a:solidFill>
                <a:latin typeface="Arial"/>
                <a:ea typeface="Arial"/>
                <a:cs typeface="Arial"/>
              </a:defRPr>
            </a:lvl3pPr>
            <a:lvl4pPr>
              <a:defRPr sz="2100" b="1">
                <a:solidFill>
                  <a:srgbClr val="216B66"/>
                </a:solidFill>
                <a:latin typeface="Arial"/>
                <a:ea typeface="Arial"/>
                <a:cs typeface="Arial"/>
              </a:defRPr>
            </a:lvl4pPr>
            <a:lvl5pPr>
              <a:defRPr sz="2100" b="1">
                <a:solidFill>
                  <a:srgbClr val="216B66"/>
                </a:solidFill>
                <a:latin typeface="Arial"/>
                <a:ea typeface="Arial"/>
                <a:cs typeface="Arial"/>
              </a:defRPr>
            </a:lvl5pPr>
            <a:lvl6pPr>
              <a:defRPr sz="2100" b="1">
                <a:solidFill>
                  <a:srgbClr val="216B66"/>
                </a:solidFill>
                <a:latin typeface="Arial"/>
                <a:ea typeface="Arial"/>
                <a:cs typeface="Arial"/>
              </a:defRPr>
            </a:lvl6pPr>
            <a:lvl7pPr>
              <a:defRPr sz="2100" b="1">
                <a:solidFill>
                  <a:srgbClr val="216B66"/>
                </a:solidFill>
                <a:latin typeface="Arial"/>
                <a:ea typeface="Arial"/>
                <a:cs typeface="Arial"/>
              </a:defRPr>
            </a:lvl7pPr>
            <a:lvl8pPr>
              <a:defRPr sz="2100" b="1">
                <a:solidFill>
                  <a:srgbClr val="216B66"/>
                </a:solidFill>
                <a:latin typeface="Arial"/>
                <a:ea typeface="Arial"/>
                <a:cs typeface="Arial"/>
              </a:defRPr>
            </a:lvl8pPr>
            <a:lvl9pPr>
              <a:defRPr sz="2100" b="1">
                <a:solidFill>
                  <a:srgbClr val="216B66"/>
                </a:solidFill>
                <a:latin typeface="Arial"/>
                <a:ea typeface="Arial"/>
                <a:cs typeface="Arial"/>
              </a:defRPr>
            </a:lvl9pPr>
          </a:lstStyle>
          <a:p xmlns:a="http://schemas.openxmlformats.org/drawingml/2006/main">
            <a:pPr>
              <a:lnSpc>
                <a:spcPct val="112000"/>
              </a:lnSpc>
              <a:buNone/>
              <a:defRPr sz="2100" b="1">
                <a:solidFill>
                  <a:srgbClr val="216B66"/>
                </a:solidFill>
                <a:latin typeface="Arial"/>
                <a:ea typeface="Arial"/>
                <a:cs typeface="Arial"/>
              </a:defRPr>
            </a:pPr>
            <a:r>
              <a:rPr sz="2100" b="1">
                <a:solidFill>
                  <a:srgbClr val="216B66"/>
                </a:solidFill>
                <a:latin typeface="Arial"/>
                <a:ea typeface="Arial"/>
                <a:cs typeface="Arial"/>
              </a:rPr>
              <a:t>backend/chat_service.py</a:t>
            </a:r>
          </a:p>
        </p:txBody>
      </p:sp>
      <p:sp>
        <p:nvSpPr>
          <p:cNvPr id="8" name="responsibility-1">
            <a:extLst xmlns:a="http://schemas.openxmlformats.org/drawingml/2006/main">
              <a:ext uri="{FF2B5EF4-FFF2-40B4-BE49-F238E27FC236}">
                <a16:creationId xmlns:a16="http://schemas.microsoft.com/office/drawing/2014/main" id="{594C2CD4-13A9-4A06-B148-14BEBACF224D}"/>
              </a:ext>
            </a:extLst>
          </p:cNvPr>
          <p:cNvSpPr>
            <a:spLocks xmlns:a="http://schemas.openxmlformats.org/drawingml/2006/main" noGrp="1"/>
          </p:cNvSpPr>
          <p:nvPr/>
        </p:nvSpPr>
        <p:spPr>
          <a:xfrm xmlns:a="http://schemas.openxmlformats.org/drawingml/2006/main">
            <a:off x="6667500" y="26289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2E32"/>
                </a:solidFill>
                <a:latin typeface="Arial"/>
                <a:ea typeface="Arial"/>
                <a:cs typeface="Arial"/>
              </a:defRPr>
            </a:defPPr>
            <a:lvl1pPr>
              <a:defRPr sz="2025" b="0">
                <a:solidFill>
                  <a:srgbClr val="172E32"/>
                </a:solidFill>
                <a:latin typeface="Arial"/>
                <a:ea typeface="Arial"/>
                <a:cs typeface="Arial"/>
              </a:defRPr>
            </a:lvl1pPr>
            <a:lvl2pPr>
              <a:defRPr sz="2025" b="0">
                <a:solidFill>
                  <a:srgbClr val="172E32"/>
                </a:solidFill>
                <a:latin typeface="Arial"/>
                <a:ea typeface="Arial"/>
                <a:cs typeface="Arial"/>
              </a:defRPr>
            </a:lvl2pPr>
            <a:lvl3pPr>
              <a:defRPr sz="2025" b="0">
                <a:solidFill>
                  <a:srgbClr val="172E32"/>
                </a:solidFill>
                <a:latin typeface="Arial"/>
                <a:ea typeface="Arial"/>
                <a:cs typeface="Arial"/>
              </a:defRPr>
            </a:lvl3pPr>
            <a:lvl4pPr>
              <a:defRPr sz="2025" b="0">
                <a:solidFill>
                  <a:srgbClr val="172E32"/>
                </a:solidFill>
                <a:latin typeface="Arial"/>
                <a:ea typeface="Arial"/>
                <a:cs typeface="Arial"/>
              </a:defRPr>
            </a:lvl4pPr>
            <a:lvl5pPr>
              <a:defRPr sz="2025" b="0">
                <a:solidFill>
                  <a:srgbClr val="172E32"/>
                </a:solidFill>
                <a:latin typeface="Arial"/>
                <a:ea typeface="Arial"/>
                <a:cs typeface="Arial"/>
              </a:defRPr>
            </a:lvl5pPr>
            <a:lvl6pPr>
              <a:defRPr sz="2025" b="0">
                <a:solidFill>
                  <a:srgbClr val="172E32"/>
                </a:solidFill>
                <a:latin typeface="Arial"/>
                <a:ea typeface="Arial"/>
                <a:cs typeface="Arial"/>
              </a:defRPr>
            </a:lvl6pPr>
            <a:lvl7pPr>
              <a:defRPr sz="2025" b="0">
                <a:solidFill>
                  <a:srgbClr val="172E32"/>
                </a:solidFill>
                <a:latin typeface="Arial"/>
                <a:ea typeface="Arial"/>
                <a:cs typeface="Arial"/>
              </a:defRPr>
            </a:lvl7pPr>
            <a:lvl8pPr>
              <a:defRPr sz="2025" b="0">
                <a:solidFill>
                  <a:srgbClr val="172E32"/>
                </a:solidFill>
                <a:latin typeface="Arial"/>
                <a:ea typeface="Arial"/>
                <a:cs typeface="Arial"/>
              </a:defRPr>
            </a:lvl8pPr>
            <a:lvl9pPr>
              <a:defRPr sz="2025" b="0">
                <a:solidFill>
                  <a:srgbClr val="172E32"/>
                </a:solidFill>
                <a:latin typeface="Arial"/>
                <a:ea typeface="Arial"/>
                <a:cs typeface="Arial"/>
              </a:defRPr>
            </a:lvl9pPr>
          </a:lstStyle>
          <a:p xmlns:a="http://schemas.openxmlformats.org/drawingml/2006/main">
            <a:pPr>
              <a:lnSpc>
                <a:spcPct val="112000"/>
              </a:lnSpc>
              <a:buNone/>
              <a:defRPr sz="2025" b="0">
                <a:solidFill>
                  <a:srgbClr val="172E32"/>
                </a:solidFill>
                <a:latin typeface="Arial"/>
                <a:ea typeface="Arial"/>
                <a:cs typeface="Arial"/>
              </a:defRPr>
            </a:pPr>
            <a:r>
              <a:rPr sz="2025" b="0">
                <a:solidFill>
                  <a:srgbClr val="172E32"/>
                </a:solidFill>
                <a:latin typeface="Arial"/>
                <a:ea typeface="Arial"/>
                <a:cs typeface="Arial"/>
              </a:rPr>
              <a:t>Điều phối hội thoại và nghiệp vụ đặt/sửa đơn</a:t>
            </a:r>
          </a:p>
        </p:txBody>
      </p:sp>
      <p:sp>
        <p:nvSpPr>
          <p:cNvPr id="9" name="module-2">
            <a:extLst xmlns:a="http://schemas.openxmlformats.org/drawingml/2006/main">
              <a:ext uri="{FF2B5EF4-FFF2-40B4-BE49-F238E27FC236}">
                <a16:creationId xmlns:a16="http://schemas.microsoft.com/office/drawing/2014/main" id="{0DF65079-8688-44E0-8157-BE64BC2B2348}"/>
              </a:ext>
            </a:extLst>
          </p:cNvPr>
          <p:cNvSpPr>
            <a:spLocks xmlns:a="http://schemas.openxmlformats.org/drawingml/2006/main" noGrp="1"/>
          </p:cNvSpPr>
          <p:nvPr/>
        </p:nvSpPr>
        <p:spPr>
          <a:xfrm xmlns:a="http://schemas.openxmlformats.org/drawingml/2006/main">
            <a:off x="762000" y="3638550"/>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16B66"/>
                </a:solidFill>
                <a:latin typeface="Arial"/>
                <a:ea typeface="Arial"/>
                <a:cs typeface="Arial"/>
              </a:defRPr>
            </a:defPPr>
            <a:lvl1pPr>
              <a:defRPr sz="2100" b="1">
                <a:solidFill>
                  <a:srgbClr val="216B66"/>
                </a:solidFill>
                <a:latin typeface="Arial"/>
                <a:ea typeface="Arial"/>
                <a:cs typeface="Arial"/>
              </a:defRPr>
            </a:lvl1pPr>
            <a:lvl2pPr>
              <a:defRPr sz="2100" b="1">
                <a:solidFill>
                  <a:srgbClr val="216B66"/>
                </a:solidFill>
                <a:latin typeface="Arial"/>
                <a:ea typeface="Arial"/>
                <a:cs typeface="Arial"/>
              </a:defRPr>
            </a:lvl2pPr>
            <a:lvl3pPr>
              <a:defRPr sz="2100" b="1">
                <a:solidFill>
                  <a:srgbClr val="216B66"/>
                </a:solidFill>
                <a:latin typeface="Arial"/>
                <a:ea typeface="Arial"/>
                <a:cs typeface="Arial"/>
              </a:defRPr>
            </a:lvl3pPr>
            <a:lvl4pPr>
              <a:defRPr sz="2100" b="1">
                <a:solidFill>
                  <a:srgbClr val="216B66"/>
                </a:solidFill>
                <a:latin typeface="Arial"/>
                <a:ea typeface="Arial"/>
                <a:cs typeface="Arial"/>
              </a:defRPr>
            </a:lvl4pPr>
            <a:lvl5pPr>
              <a:defRPr sz="2100" b="1">
                <a:solidFill>
                  <a:srgbClr val="216B66"/>
                </a:solidFill>
                <a:latin typeface="Arial"/>
                <a:ea typeface="Arial"/>
                <a:cs typeface="Arial"/>
              </a:defRPr>
            </a:lvl5pPr>
            <a:lvl6pPr>
              <a:defRPr sz="2100" b="1">
                <a:solidFill>
                  <a:srgbClr val="216B66"/>
                </a:solidFill>
                <a:latin typeface="Arial"/>
                <a:ea typeface="Arial"/>
                <a:cs typeface="Arial"/>
              </a:defRPr>
            </a:lvl6pPr>
            <a:lvl7pPr>
              <a:defRPr sz="2100" b="1">
                <a:solidFill>
                  <a:srgbClr val="216B66"/>
                </a:solidFill>
                <a:latin typeface="Arial"/>
                <a:ea typeface="Arial"/>
                <a:cs typeface="Arial"/>
              </a:defRPr>
            </a:lvl7pPr>
            <a:lvl8pPr>
              <a:defRPr sz="2100" b="1">
                <a:solidFill>
                  <a:srgbClr val="216B66"/>
                </a:solidFill>
                <a:latin typeface="Arial"/>
                <a:ea typeface="Arial"/>
                <a:cs typeface="Arial"/>
              </a:defRPr>
            </a:lvl8pPr>
            <a:lvl9pPr>
              <a:defRPr sz="2100" b="1">
                <a:solidFill>
                  <a:srgbClr val="216B66"/>
                </a:solidFill>
                <a:latin typeface="Arial"/>
                <a:ea typeface="Arial"/>
                <a:cs typeface="Arial"/>
              </a:defRPr>
            </a:lvl9pPr>
          </a:lstStyle>
          <a:p xmlns:a="http://schemas.openxmlformats.org/drawingml/2006/main">
            <a:pPr>
              <a:lnSpc>
                <a:spcPct val="112000"/>
              </a:lnSpc>
              <a:buNone/>
              <a:defRPr sz="2100" b="1">
                <a:solidFill>
                  <a:srgbClr val="216B66"/>
                </a:solidFill>
                <a:latin typeface="Arial"/>
                <a:ea typeface="Arial"/>
                <a:cs typeface="Arial"/>
              </a:defRPr>
            </a:pPr>
            <a:r>
              <a:rPr sz="2100" b="1">
                <a:solidFill>
                  <a:srgbClr val="216B66"/>
                </a:solidFill>
                <a:latin typeface="Arial"/>
                <a:ea typeface="Arial"/>
                <a:cs typeface="Arial"/>
              </a:rPr>
              <a:t>src/</a:t>
            </a:r>
          </a:p>
        </p:txBody>
      </p:sp>
      <p:sp>
        <p:nvSpPr>
          <p:cNvPr id="10" name="responsibility-2">
            <a:extLst xmlns:a="http://schemas.openxmlformats.org/drawingml/2006/main">
              <a:ext uri="{FF2B5EF4-FFF2-40B4-BE49-F238E27FC236}">
                <a16:creationId xmlns:a16="http://schemas.microsoft.com/office/drawing/2014/main" id="{27CFE41F-069D-43C2-B836-55E7CC824E1A}"/>
              </a:ext>
            </a:extLst>
          </p:cNvPr>
          <p:cNvSpPr>
            <a:spLocks xmlns:a="http://schemas.openxmlformats.org/drawingml/2006/main" noGrp="1"/>
          </p:cNvSpPr>
          <p:nvPr/>
        </p:nvSpPr>
        <p:spPr>
          <a:xfrm xmlns:a="http://schemas.openxmlformats.org/drawingml/2006/main">
            <a:off x="6667500" y="363855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2E32"/>
                </a:solidFill>
                <a:latin typeface="Arial"/>
                <a:ea typeface="Arial"/>
                <a:cs typeface="Arial"/>
              </a:defRPr>
            </a:defPPr>
            <a:lvl1pPr>
              <a:defRPr sz="2025" b="0">
                <a:solidFill>
                  <a:srgbClr val="172E32"/>
                </a:solidFill>
                <a:latin typeface="Arial"/>
                <a:ea typeface="Arial"/>
                <a:cs typeface="Arial"/>
              </a:defRPr>
            </a:lvl1pPr>
            <a:lvl2pPr>
              <a:defRPr sz="2025" b="0">
                <a:solidFill>
                  <a:srgbClr val="172E32"/>
                </a:solidFill>
                <a:latin typeface="Arial"/>
                <a:ea typeface="Arial"/>
                <a:cs typeface="Arial"/>
              </a:defRPr>
            </a:lvl2pPr>
            <a:lvl3pPr>
              <a:defRPr sz="2025" b="0">
                <a:solidFill>
                  <a:srgbClr val="172E32"/>
                </a:solidFill>
                <a:latin typeface="Arial"/>
                <a:ea typeface="Arial"/>
                <a:cs typeface="Arial"/>
              </a:defRPr>
            </a:lvl3pPr>
            <a:lvl4pPr>
              <a:defRPr sz="2025" b="0">
                <a:solidFill>
                  <a:srgbClr val="172E32"/>
                </a:solidFill>
                <a:latin typeface="Arial"/>
                <a:ea typeface="Arial"/>
                <a:cs typeface="Arial"/>
              </a:defRPr>
            </a:lvl4pPr>
            <a:lvl5pPr>
              <a:defRPr sz="2025" b="0">
                <a:solidFill>
                  <a:srgbClr val="172E32"/>
                </a:solidFill>
                <a:latin typeface="Arial"/>
                <a:ea typeface="Arial"/>
                <a:cs typeface="Arial"/>
              </a:defRPr>
            </a:lvl5pPr>
            <a:lvl6pPr>
              <a:defRPr sz="2025" b="0">
                <a:solidFill>
                  <a:srgbClr val="172E32"/>
                </a:solidFill>
                <a:latin typeface="Arial"/>
                <a:ea typeface="Arial"/>
                <a:cs typeface="Arial"/>
              </a:defRPr>
            </a:lvl6pPr>
            <a:lvl7pPr>
              <a:defRPr sz="2025" b="0">
                <a:solidFill>
                  <a:srgbClr val="172E32"/>
                </a:solidFill>
                <a:latin typeface="Arial"/>
                <a:ea typeface="Arial"/>
                <a:cs typeface="Arial"/>
              </a:defRPr>
            </a:lvl7pPr>
            <a:lvl8pPr>
              <a:defRPr sz="2025" b="0">
                <a:solidFill>
                  <a:srgbClr val="172E32"/>
                </a:solidFill>
                <a:latin typeface="Arial"/>
                <a:ea typeface="Arial"/>
                <a:cs typeface="Arial"/>
              </a:defRPr>
            </a:lvl8pPr>
            <a:lvl9pPr>
              <a:defRPr sz="2025" b="0">
                <a:solidFill>
                  <a:srgbClr val="172E32"/>
                </a:solidFill>
                <a:latin typeface="Arial"/>
                <a:ea typeface="Arial"/>
                <a:cs typeface="Arial"/>
              </a:defRPr>
            </a:lvl9pPr>
          </a:lstStyle>
          <a:p xmlns:a="http://schemas.openxmlformats.org/drawingml/2006/main">
            <a:pPr>
              <a:lnSpc>
                <a:spcPct val="112000"/>
              </a:lnSpc>
              <a:buNone/>
              <a:defRPr sz="2025" b="0">
                <a:solidFill>
                  <a:srgbClr val="172E32"/>
                </a:solidFill>
                <a:latin typeface="Arial"/>
                <a:ea typeface="Arial"/>
                <a:cs typeface="Arial"/>
              </a:defRPr>
            </a:pPr>
            <a:r>
              <a:rPr sz="2025" b="0">
                <a:solidFill>
                  <a:srgbClr val="172E32"/>
                </a:solidFill>
                <a:latin typeface="Arial"/>
                <a:ea typeface="Arial"/>
                <a:cs typeface="Arial"/>
              </a:rPr>
              <a:t>Prompt, Gemini REST, parser, evidence và quota</a:t>
            </a:r>
          </a:p>
        </p:txBody>
      </p:sp>
      <p:sp>
        <p:nvSpPr>
          <p:cNvPr id="11" name="module-3">
            <a:extLst xmlns:a="http://schemas.openxmlformats.org/drawingml/2006/main">
              <a:ext uri="{FF2B5EF4-FFF2-40B4-BE49-F238E27FC236}">
                <a16:creationId xmlns:a16="http://schemas.microsoft.com/office/drawing/2014/main" id="{1D1CC12D-3855-4804-90E0-20EF71DFB0A3}"/>
              </a:ext>
            </a:extLst>
          </p:cNvPr>
          <p:cNvSpPr>
            <a:spLocks xmlns:a="http://schemas.openxmlformats.org/drawingml/2006/main" noGrp="1"/>
          </p:cNvSpPr>
          <p:nvPr/>
        </p:nvSpPr>
        <p:spPr>
          <a:xfrm xmlns:a="http://schemas.openxmlformats.org/drawingml/2006/main">
            <a:off x="762000" y="4648200"/>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16B66"/>
                </a:solidFill>
                <a:latin typeface="Arial"/>
                <a:ea typeface="Arial"/>
                <a:cs typeface="Arial"/>
              </a:defRPr>
            </a:defPPr>
            <a:lvl1pPr>
              <a:defRPr sz="2100" b="1">
                <a:solidFill>
                  <a:srgbClr val="216B66"/>
                </a:solidFill>
                <a:latin typeface="Arial"/>
                <a:ea typeface="Arial"/>
                <a:cs typeface="Arial"/>
              </a:defRPr>
            </a:lvl1pPr>
            <a:lvl2pPr>
              <a:defRPr sz="2100" b="1">
                <a:solidFill>
                  <a:srgbClr val="216B66"/>
                </a:solidFill>
                <a:latin typeface="Arial"/>
                <a:ea typeface="Arial"/>
                <a:cs typeface="Arial"/>
              </a:defRPr>
            </a:lvl2pPr>
            <a:lvl3pPr>
              <a:defRPr sz="2100" b="1">
                <a:solidFill>
                  <a:srgbClr val="216B66"/>
                </a:solidFill>
                <a:latin typeface="Arial"/>
                <a:ea typeface="Arial"/>
                <a:cs typeface="Arial"/>
              </a:defRPr>
            </a:lvl3pPr>
            <a:lvl4pPr>
              <a:defRPr sz="2100" b="1">
                <a:solidFill>
                  <a:srgbClr val="216B66"/>
                </a:solidFill>
                <a:latin typeface="Arial"/>
                <a:ea typeface="Arial"/>
                <a:cs typeface="Arial"/>
              </a:defRPr>
            </a:lvl4pPr>
            <a:lvl5pPr>
              <a:defRPr sz="2100" b="1">
                <a:solidFill>
                  <a:srgbClr val="216B66"/>
                </a:solidFill>
                <a:latin typeface="Arial"/>
                <a:ea typeface="Arial"/>
                <a:cs typeface="Arial"/>
              </a:defRPr>
            </a:lvl5pPr>
            <a:lvl6pPr>
              <a:defRPr sz="2100" b="1">
                <a:solidFill>
                  <a:srgbClr val="216B66"/>
                </a:solidFill>
                <a:latin typeface="Arial"/>
                <a:ea typeface="Arial"/>
                <a:cs typeface="Arial"/>
              </a:defRPr>
            </a:lvl6pPr>
            <a:lvl7pPr>
              <a:defRPr sz="2100" b="1">
                <a:solidFill>
                  <a:srgbClr val="216B66"/>
                </a:solidFill>
                <a:latin typeface="Arial"/>
                <a:ea typeface="Arial"/>
                <a:cs typeface="Arial"/>
              </a:defRPr>
            </a:lvl7pPr>
            <a:lvl8pPr>
              <a:defRPr sz="2100" b="1">
                <a:solidFill>
                  <a:srgbClr val="216B66"/>
                </a:solidFill>
                <a:latin typeface="Arial"/>
                <a:ea typeface="Arial"/>
                <a:cs typeface="Arial"/>
              </a:defRPr>
            </a:lvl8pPr>
            <a:lvl9pPr>
              <a:defRPr sz="2100" b="1">
                <a:solidFill>
                  <a:srgbClr val="216B66"/>
                </a:solidFill>
                <a:latin typeface="Arial"/>
                <a:ea typeface="Arial"/>
                <a:cs typeface="Arial"/>
              </a:defRPr>
            </a:lvl9pPr>
          </a:lstStyle>
          <a:p xmlns:a="http://schemas.openxmlformats.org/drawingml/2006/main">
            <a:pPr>
              <a:lnSpc>
                <a:spcPct val="112000"/>
              </a:lnSpc>
              <a:buNone/>
              <a:defRPr sz="2100" b="1">
                <a:solidFill>
                  <a:srgbClr val="216B66"/>
                </a:solidFill>
                <a:latin typeface="Arial"/>
                <a:ea typeface="Arial"/>
                <a:cs typeface="Arial"/>
              </a:defRPr>
            </a:pPr>
            <a:r>
              <a:rPr sz="2100" b="1">
                <a:solidFill>
                  <a:srgbClr val="216B66"/>
                </a:solidFill>
                <a:latin typeface="Arial"/>
                <a:ea typeface="Arial"/>
                <a:cs typeface="Arial"/>
              </a:rPr>
              <a:t>backend/services.py + storage.py</a:t>
            </a:r>
          </a:p>
        </p:txBody>
      </p:sp>
      <p:sp>
        <p:nvSpPr>
          <p:cNvPr id="12" name="responsibility-3">
            <a:extLst xmlns:a="http://schemas.openxmlformats.org/drawingml/2006/main">
              <a:ext uri="{FF2B5EF4-FFF2-40B4-BE49-F238E27FC236}">
                <a16:creationId xmlns:a16="http://schemas.microsoft.com/office/drawing/2014/main" id="{DF228E90-A600-402A-B24A-969F3CDBABC9}"/>
              </a:ext>
            </a:extLst>
          </p:cNvPr>
          <p:cNvSpPr>
            <a:spLocks xmlns:a="http://schemas.openxmlformats.org/drawingml/2006/main" noGrp="1"/>
          </p:cNvSpPr>
          <p:nvPr/>
        </p:nvSpPr>
        <p:spPr>
          <a:xfrm xmlns:a="http://schemas.openxmlformats.org/drawingml/2006/main">
            <a:off x="6667500" y="46482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2E32"/>
                </a:solidFill>
                <a:latin typeface="Arial"/>
                <a:ea typeface="Arial"/>
                <a:cs typeface="Arial"/>
              </a:defRPr>
            </a:defPPr>
            <a:lvl1pPr>
              <a:defRPr sz="2025" b="0">
                <a:solidFill>
                  <a:srgbClr val="172E32"/>
                </a:solidFill>
                <a:latin typeface="Arial"/>
                <a:ea typeface="Arial"/>
                <a:cs typeface="Arial"/>
              </a:defRPr>
            </a:lvl1pPr>
            <a:lvl2pPr>
              <a:defRPr sz="2025" b="0">
                <a:solidFill>
                  <a:srgbClr val="172E32"/>
                </a:solidFill>
                <a:latin typeface="Arial"/>
                <a:ea typeface="Arial"/>
                <a:cs typeface="Arial"/>
              </a:defRPr>
            </a:lvl2pPr>
            <a:lvl3pPr>
              <a:defRPr sz="2025" b="0">
                <a:solidFill>
                  <a:srgbClr val="172E32"/>
                </a:solidFill>
                <a:latin typeface="Arial"/>
                <a:ea typeface="Arial"/>
                <a:cs typeface="Arial"/>
              </a:defRPr>
            </a:lvl3pPr>
            <a:lvl4pPr>
              <a:defRPr sz="2025" b="0">
                <a:solidFill>
                  <a:srgbClr val="172E32"/>
                </a:solidFill>
                <a:latin typeface="Arial"/>
                <a:ea typeface="Arial"/>
                <a:cs typeface="Arial"/>
              </a:defRPr>
            </a:lvl4pPr>
            <a:lvl5pPr>
              <a:defRPr sz="2025" b="0">
                <a:solidFill>
                  <a:srgbClr val="172E32"/>
                </a:solidFill>
                <a:latin typeface="Arial"/>
                <a:ea typeface="Arial"/>
                <a:cs typeface="Arial"/>
              </a:defRPr>
            </a:lvl5pPr>
            <a:lvl6pPr>
              <a:defRPr sz="2025" b="0">
                <a:solidFill>
                  <a:srgbClr val="172E32"/>
                </a:solidFill>
                <a:latin typeface="Arial"/>
                <a:ea typeface="Arial"/>
                <a:cs typeface="Arial"/>
              </a:defRPr>
            </a:lvl6pPr>
            <a:lvl7pPr>
              <a:defRPr sz="2025" b="0">
                <a:solidFill>
                  <a:srgbClr val="172E32"/>
                </a:solidFill>
                <a:latin typeface="Arial"/>
                <a:ea typeface="Arial"/>
                <a:cs typeface="Arial"/>
              </a:defRPr>
            </a:lvl7pPr>
            <a:lvl8pPr>
              <a:defRPr sz="2025" b="0">
                <a:solidFill>
                  <a:srgbClr val="172E32"/>
                </a:solidFill>
                <a:latin typeface="Arial"/>
                <a:ea typeface="Arial"/>
                <a:cs typeface="Arial"/>
              </a:defRPr>
            </a:lvl8pPr>
            <a:lvl9pPr>
              <a:defRPr sz="2025" b="0">
                <a:solidFill>
                  <a:srgbClr val="172E32"/>
                </a:solidFill>
                <a:latin typeface="Arial"/>
                <a:ea typeface="Arial"/>
                <a:cs typeface="Arial"/>
              </a:defRPr>
            </a:lvl9pPr>
          </a:lstStyle>
          <a:p xmlns:a="http://schemas.openxmlformats.org/drawingml/2006/main">
            <a:pPr>
              <a:lnSpc>
                <a:spcPct val="112000"/>
              </a:lnSpc>
              <a:buNone/>
              <a:defRPr sz="2025" b="0">
                <a:solidFill>
                  <a:srgbClr val="172E32"/>
                </a:solidFill>
                <a:latin typeface="Arial"/>
                <a:ea typeface="Arial"/>
                <a:cs typeface="Arial"/>
              </a:defRPr>
            </a:pPr>
            <a:r>
              <a:rPr sz="2025" b="0">
                <a:solidFill>
                  <a:srgbClr val="172E32"/>
                </a:solidFill>
                <a:latin typeface="Arial"/>
                <a:ea typeface="Arial"/>
                <a:cs typeface="Arial"/>
              </a:rPr>
              <a:t>Quyền dữ liệu, giỏ/đơn, phiên và chống tạo trùng</a:t>
            </a:r>
          </a:p>
        </p:txBody>
      </p:sp>
      <p:sp>
        <p:nvSpPr>
          <p:cNvPr id="13" name="module-4">
            <a:extLst xmlns:a="http://schemas.openxmlformats.org/drawingml/2006/main">
              <a:ext uri="{FF2B5EF4-FFF2-40B4-BE49-F238E27FC236}">
                <a16:creationId xmlns:a16="http://schemas.microsoft.com/office/drawing/2014/main" id="{1A320A19-28B1-4296-B554-3B32C32631E8}"/>
              </a:ext>
            </a:extLst>
          </p:cNvPr>
          <p:cNvSpPr>
            <a:spLocks xmlns:a="http://schemas.openxmlformats.org/drawingml/2006/main" noGrp="1"/>
          </p:cNvSpPr>
          <p:nvPr/>
        </p:nvSpPr>
        <p:spPr>
          <a:xfrm xmlns:a="http://schemas.openxmlformats.org/drawingml/2006/main">
            <a:off x="762000" y="5657850"/>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16B66"/>
                </a:solidFill>
                <a:latin typeface="Arial"/>
                <a:ea typeface="Arial"/>
                <a:cs typeface="Arial"/>
              </a:defRPr>
            </a:defPPr>
            <a:lvl1pPr>
              <a:defRPr sz="2100" b="1">
                <a:solidFill>
                  <a:srgbClr val="216B66"/>
                </a:solidFill>
                <a:latin typeface="Arial"/>
                <a:ea typeface="Arial"/>
                <a:cs typeface="Arial"/>
              </a:defRPr>
            </a:lvl1pPr>
            <a:lvl2pPr>
              <a:defRPr sz="2100" b="1">
                <a:solidFill>
                  <a:srgbClr val="216B66"/>
                </a:solidFill>
                <a:latin typeface="Arial"/>
                <a:ea typeface="Arial"/>
                <a:cs typeface="Arial"/>
              </a:defRPr>
            </a:lvl2pPr>
            <a:lvl3pPr>
              <a:defRPr sz="2100" b="1">
                <a:solidFill>
                  <a:srgbClr val="216B66"/>
                </a:solidFill>
                <a:latin typeface="Arial"/>
                <a:ea typeface="Arial"/>
                <a:cs typeface="Arial"/>
              </a:defRPr>
            </a:lvl3pPr>
            <a:lvl4pPr>
              <a:defRPr sz="2100" b="1">
                <a:solidFill>
                  <a:srgbClr val="216B66"/>
                </a:solidFill>
                <a:latin typeface="Arial"/>
                <a:ea typeface="Arial"/>
                <a:cs typeface="Arial"/>
              </a:defRPr>
            </a:lvl4pPr>
            <a:lvl5pPr>
              <a:defRPr sz="2100" b="1">
                <a:solidFill>
                  <a:srgbClr val="216B66"/>
                </a:solidFill>
                <a:latin typeface="Arial"/>
                <a:ea typeface="Arial"/>
                <a:cs typeface="Arial"/>
              </a:defRPr>
            </a:lvl5pPr>
            <a:lvl6pPr>
              <a:defRPr sz="2100" b="1">
                <a:solidFill>
                  <a:srgbClr val="216B66"/>
                </a:solidFill>
                <a:latin typeface="Arial"/>
                <a:ea typeface="Arial"/>
                <a:cs typeface="Arial"/>
              </a:defRPr>
            </a:lvl6pPr>
            <a:lvl7pPr>
              <a:defRPr sz="2100" b="1">
                <a:solidFill>
                  <a:srgbClr val="216B66"/>
                </a:solidFill>
                <a:latin typeface="Arial"/>
                <a:ea typeface="Arial"/>
                <a:cs typeface="Arial"/>
              </a:defRPr>
            </a:lvl7pPr>
            <a:lvl8pPr>
              <a:defRPr sz="2100" b="1">
                <a:solidFill>
                  <a:srgbClr val="216B66"/>
                </a:solidFill>
                <a:latin typeface="Arial"/>
                <a:ea typeface="Arial"/>
                <a:cs typeface="Arial"/>
              </a:defRPr>
            </a:lvl8pPr>
            <a:lvl9pPr>
              <a:defRPr sz="2100" b="1">
                <a:solidFill>
                  <a:srgbClr val="216B66"/>
                </a:solidFill>
                <a:latin typeface="Arial"/>
                <a:ea typeface="Arial"/>
                <a:cs typeface="Arial"/>
              </a:defRPr>
            </a:lvl9pPr>
          </a:lstStyle>
          <a:p xmlns:a="http://schemas.openxmlformats.org/drawingml/2006/main">
            <a:pPr>
              <a:lnSpc>
                <a:spcPct val="112000"/>
              </a:lnSpc>
              <a:buNone/>
              <a:defRPr sz="2100" b="1">
                <a:solidFill>
                  <a:srgbClr val="216B66"/>
                </a:solidFill>
                <a:latin typeface="Arial"/>
                <a:ea typeface="Arial"/>
                <a:cs typeface="Arial"/>
              </a:defRPr>
            </a:pPr>
            <a:r>
              <a:rPr sz="2100" b="1">
                <a:solidFill>
                  <a:srgbClr val="216B66"/>
                </a:solidFill>
                <a:latin typeface="Arial"/>
                <a:ea typeface="Arial"/>
                <a:cs typeface="Arial"/>
              </a:rPr>
              <a:t>database/shop_db/</a:t>
            </a:r>
          </a:p>
        </p:txBody>
      </p:sp>
      <p:sp>
        <p:nvSpPr>
          <p:cNvPr id="14" name="responsibility-4">
            <a:extLst xmlns:a="http://schemas.openxmlformats.org/drawingml/2006/main">
              <a:ext uri="{FF2B5EF4-FFF2-40B4-BE49-F238E27FC236}">
                <a16:creationId xmlns:a16="http://schemas.microsoft.com/office/drawing/2014/main" id="{44C3F335-28D9-4582-8834-D832BC3B90AC}"/>
              </a:ext>
            </a:extLst>
          </p:cNvPr>
          <p:cNvSpPr>
            <a:spLocks xmlns:a="http://schemas.openxmlformats.org/drawingml/2006/main" noGrp="1"/>
          </p:cNvSpPr>
          <p:nvPr/>
        </p:nvSpPr>
        <p:spPr>
          <a:xfrm xmlns:a="http://schemas.openxmlformats.org/drawingml/2006/main">
            <a:off x="6667500" y="565785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2E32"/>
                </a:solidFill>
                <a:latin typeface="Arial"/>
                <a:ea typeface="Arial"/>
                <a:cs typeface="Arial"/>
              </a:defRPr>
            </a:defPPr>
            <a:lvl1pPr>
              <a:defRPr sz="2025" b="0">
                <a:solidFill>
                  <a:srgbClr val="172E32"/>
                </a:solidFill>
                <a:latin typeface="Arial"/>
                <a:ea typeface="Arial"/>
                <a:cs typeface="Arial"/>
              </a:defRPr>
            </a:lvl1pPr>
            <a:lvl2pPr>
              <a:defRPr sz="2025" b="0">
                <a:solidFill>
                  <a:srgbClr val="172E32"/>
                </a:solidFill>
                <a:latin typeface="Arial"/>
                <a:ea typeface="Arial"/>
                <a:cs typeface="Arial"/>
              </a:defRPr>
            </a:lvl2pPr>
            <a:lvl3pPr>
              <a:defRPr sz="2025" b="0">
                <a:solidFill>
                  <a:srgbClr val="172E32"/>
                </a:solidFill>
                <a:latin typeface="Arial"/>
                <a:ea typeface="Arial"/>
                <a:cs typeface="Arial"/>
              </a:defRPr>
            </a:lvl3pPr>
            <a:lvl4pPr>
              <a:defRPr sz="2025" b="0">
                <a:solidFill>
                  <a:srgbClr val="172E32"/>
                </a:solidFill>
                <a:latin typeface="Arial"/>
                <a:ea typeface="Arial"/>
                <a:cs typeface="Arial"/>
              </a:defRPr>
            </a:lvl4pPr>
            <a:lvl5pPr>
              <a:defRPr sz="2025" b="0">
                <a:solidFill>
                  <a:srgbClr val="172E32"/>
                </a:solidFill>
                <a:latin typeface="Arial"/>
                <a:ea typeface="Arial"/>
                <a:cs typeface="Arial"/>
              </a:defRPr>
            </a:lvl5pPr>
            <a:lvl6pPr>
              <a:defRPr sz="2025" b="0">
                <a:solidFill>
                  <a:srgbClr val="172E32"/>
                </a:solidFill>
                <a:latin typeface="Arial"/>
                <a:ea typeface="Arial"/>
                <a:cs typeface="Arial"/>
              </a:defRPr>
            </a:lvl6pPr>
            <a:lvl7pPr>
              <a:defRPr sz="2025" b="0">
                <a:solidFill>
                  <a:srgbClr val="172E32"/>
                </a:solidFill>
                <a:latin typeface="Arial"/>
                <a:ea typeface="Arial"/>
                <a:cs typeface="Arial"/>
              </a:defRPr>
            </a:lvl7pPr>
            <a:lvl8pPr>
              <a:defRPr sz="2025" b="0">
                <a:solidFill>
                  <a:srgbClr val="172E32"/>
                </a:solidFill>
                <a:latin typeface="Arial"/>
                <a:ea typeface="Arial"/>
                <a:cs typeface="Arial"/>
              </a:defRPr>
            </a:lvl8pPr>
            <a:lvl9pPr>
              <a:defRPr sz="2025" b="0">
                <a:solidFill>
                  <a:srgbClr val="172E32"/>
                </a:solidFill>
                <a:latin typeface="Arial"/>
                <a:ea typeface="Arial"/>
                <a:cs typeface="Arial"/>
              </a:defRPr>
            </a:lvl9pPr>
          </a:lstStyle>
          <a:p xmlns:a="http://schemas.openxmlformats.org/drawingml/2006/main">
            <a:pPr>
              <a:lnSpc>
                <a:spcPct val="112000"/>
              </a:lnSpc>
              <a:buNone/>
              <a:defRPr sz="2025" b="0">
                <a:solidFill>
                  <a:srgbClr val="172E32"/>
                </a:solidFill>
                <a:latin typeface="Arial"/>
                <a:ea typeface="Arial"/>
                <a:cs typeface="Arial"/>
              </a:defRPr>
            </a:pPr>
            <a:r>
              <a:rPr sz="2025" b="0">
                <a:solidFill>
                  <a:srgbClr val="172E32"/>
                </a:solidFill>
                <a:latin typeface="Arial"/>
                <a:ea typeface="Arial"/>
                <a:cs typeface="Arial"/>
              </a:rPr>
              <a:t>Catalog, transaction và quy tắc dữ liệu</a:t>
            </a:r>
          </a:p>
        </p:txBody>
      </p:sp>
      <p:sp>
        <p:nvSpPr>
          <p:cNvPr id="15" name="module-5">
            <a:extLst xmlns:a="http://schemas.openxmlformats.org/drawingml/2006/main">
              <a:ext uri="{FF2B5EF4-FFF2-40B4-BE49-F238E27FC236}">
                <a16:creationId xmlns:a16="http://schemas.microsoft.com/office/drawing/2014/main" id="{49928AAA-9D43-4913-82FB-67346E8AC2BB}"/>
              </a:ext>
            </a:extLst>
          </p:cNvPr>
          <p:cNvSpPr>
            <a:spLocks xmlns:a="http://schemas.openxmlformats.org/drawingml/2006/main" noGrp="1"/>
          </p:cNvSpPr>
          <p:nvPr/>
        </p:nvSpPr>
        <p:spPr>
          <a:xfrm xmlns:a="http://schemas.openxmlformats.org/drawingml/2006/main">
            <a:off x="762000" y="6667500"/>
            <a:ext cx="5524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16B66"/>
                </a:solidFill>
                <a:latin typeface="Arial"/>
                <a:ea typeface="Arial"/>
                <a:cs typeface="Arial"/>
              </a:defRPr>
            </a:defPPr>
            <a:lvl1pPr>
              <a:defRPr sz="2100" b="1">
                <a:solidFill>
                  <a:srgbClr val="216B66"/>
                </a:solidFill>
                <a:latin typeface="Arial"/>
                <a:ea typeface="Arial"/>
                <a:cs typeface="Arial"/>
              </a:defRPr>
            </a:lvl1pPr>
            <a:lvl2pPr>
              <a:defRPr sz="2100" b="1">
                <a:solidFill>
                  <a:srgbClr val="216B66"/>
                </a:solidFill>
                <a:latin typeface="Arial"/>
                <a:ea typeface="Arial"/>
                <a:cs typeface="Arial"/>
              </a:defRPr>
            </a:lvl2pPr>
            <a:lvl3pPr>
              <a:defRPr sz="2100" b="1">
                <a:solidFill>
                  <a:srgbClr val="216B66"/>
                </a:solidFill>
                <a:latin typeface="Arial"/>
                <a:ea typeface="Arial"/>
                <a:cs typeface="Arial"/>
              </a:defRPr>
            </a:lvl3pPr>
            <a:lvl4pPr>
              <a:defRPr sz="2100" b="1">
                <a:solidFill>
                  <a:srgbClr val="216B66"/>
                </a:solidFill>
                <a:latin typeface="Arial"/>
                <a:ea typeface="Arial"/>
                <a:cs typeface="Arial"/>
              </a:defRPr>
            </a:lvl4pPr>
            <a:lvl5pPr>
              <a:defRPr sz="2100" b="1">
                <a:solidFill>
                  <a:srgbClr val="216B66"/>
                </a:solidFill>
                <a:latin typeface="Arial"/>
                <a:ea typeface="Arial"/>
                <a:cs typeface="Arial"/>
              </a:defRPr>
            </a:lvl5pPr>
            <a:lvl6pPr>
              <a:defRPr sz="2100" b="1">
                <a:solidFill>
                  <a:srgbClr val="216B66"/>
                </a:solidFill>
                <a:latin typeface="Arial"/>
                <a:ea typeface="Arial"/>
                <a:cs typeface="Arial"/>
              </a:defRPr>
            </a:lvl6pPr>
            <a:lvl7pPr>
              <a:defRPr sz="2100" b="1">
                <a:solidFill>
                  <a:srgbClr val="216B66"/>
                </a:solidFill>
                <a:latin typeface="Arial"/>
                <a:ea typeface="Arial"/>
                <a:cs typeface="Arial"/>
              </a:defRPr>
            </a:lvl7pPr>
            <a:lvl8pPr>
              <a:defRPr sz="2100" b="1">
                <a:solidFill>
                  <a:srgbClr val="216B66"/>
                </a:solidFill>
                <a:latin typeface="Arial"/>
                <a:ea typeface="Arial"/>
                <a:cs typeface="Arial"/>
              </a:defRPr>
            </a:lvl8pPr>
            <a:lvl9pPr>
              <a:defRPr sz="2100" b="1">
                <a:solidFill>
                  <a:srgbClr val="216B66"/>
                </a:solidFill>
                <a:latin typeface="Arial"/>
                <a:ea typeface="Arial"/>
                <a:cs typeface="Arial"/>
              </a:defRPr>
            </a:lvl9pPr>
          </a:lstStyle>
          <a:p xmlns:a="http://schemas.openxmlformats.org/drawingml/2006/main">
            <a:pPr>
              <a:lnSpc>
                <a:spcPct val="112000"/>
              </a:lnSpc>
              <a:buNone/>
              <a:defRPr sz="2100" b="1">
                <a:solidFill>
                  <a:srgbClr val="216B66"/>
                </a:solidFill>
                <a:latin typeface="Arial"/>
                <a:ea typeface="Arial"/>
                <a:cs typeface="Arial"/>
              </a:defRPr>
            </a:pPr>
            <a:r>
              <a:rPr sz="2100" b="1">
                <a:solidFill>
                  <a:srgbClr val="216B66"/>
                </a:solidFill>
                <a:latin typeface="Arial"/>
                <a:ea typeface="Arial"/>
                <a:cs typeface="Arial"/>
              </a:rPr>
              <a:t>shop_api.py + shop_logic.py</a:t>
            </a:r>
          </a:p>
        </p:txBody>
      </p:sp>
      <p:sp>
        <p:nvSpPr>
          <p:cNvPr id="16" name="responsibility-5">
            <a:extLst xmlns:a="http://schemas.openxmlformats.org/drawingml/2006/main">
              <a:ext uri="{FF2B5EF4-FFF2-40B4-BE49-F238E27FC236}">
                <a16:creationId xmlns:a16="http://schemas.microsoft.com/office/drawing/2014/main" id="{C97B1EB7-13DD-4338-903E-6BA61236AD19}"/>
              </a:ext>
            </a:extLst>
          </p:cNvPr>
          <p:cNvSpPr>
            <a:spLocks xmlns:a="http://schemas.openxmlformats.org/drawingml/2006/main" noGrp="1"/>
          </p:cNvSpPr>
          <p:nvPr/>
        </p:nvSpPr>
        <p:spPr>
          <a:xfrm xmlns:a="http://schemas.openxmlformats.org/drawingml/2006/main">
            <a:off x="6667500" y="6667500"/>
            <a:ext cx="781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72E32"/>
                </a:solidFill>
                <a:latin typeface="Arial"/>
                <a:ea typeface="Arial"/>
                <a:cs typeface="Arial"/>
              </a:defRPr>
            </a:defPPr>
            <a:lvl1pPr>
              <a:defRPr sz="2025" b="0">
                <a:solidFill>
                  <a:srgbClr val="172E32"/>
                </a:solidFill>
                <a:latin typeface="Arial"/>
                <a:ea typeface="Arial"/>
                <a:cs typeface="Arial"/>
              </a:defRPr>
            </a:lvl1pPr>
            <a:lvl2pPr>
              <a:defRPr sz="2025" b="0">
                <a:solidFill>
                  <a:srgbClr val="172E32"/>
                </a:solidFill>
                <a:latin typeface="Arial"/>
                <a:ea typeface="Arial"/>
                <a:cs typeface="Arial"/>
              </a:defRPr>
            </a:lvl2pPr>
            <a:lvl3pPr>
              <a:defRPr sz="2025" b="0">
                <a:solidFill>
                  <a:srgbClr val="172E32"/>
                </a:solidFill>
                <a:latin typeface="Arial"/>
                <a:ea typeface="Arial"/>
                <a:cs typeface="Arial"/>
              </a:defRPr>
            </a:lvl3pPr>
            <a:lvl4pPr>
              <a:defRPr sz="2025" b="0">
                <a:solidFill>
                  <a:srgbClr val="172E32"/>
                </a:solidFill>
                <a:latin typeface="Arial"/>
                <a:ea typeface="Arial"/>
                <a:cs typeface="Arial"/>
              </a:defRPr>
            </a:lvl4pPr>
            <a:lvl5pPr>
              <a:defRPr sz="2025" b="0">
                <a:solidFill>
                  <a:srgbClr val="172E32"/>
                </a:solidFill>
                <a:latin typeface="Arial"/>
                <a:ea typeface="Arial"/>
                <a:cs typeface="Arial"/>
              </a:defRPr>
            </a:lvl5pPr>
            <a:lvl6pPr>
              <a:defRPr sz="2025" b="0">
                <a:solidFill>
                  <a:srgbClr val="172E32"/>
                </a:solidFill>
                <a:latin typeface="Arial"/>
                <a:ea typeface="Arial"/>
                <a:cs typeface="Arial"/>
              </a:defRPr>
            </a:lvl6pPr>
            <a:lvl7pPr>
              <a:defRPr sz="2025" b="0">
                <a:solidFill>
                  <a:srgbClr val="172E32"/>
                </a:solidFill>
                <a:latin typeface="Arial"/>
                <a:ea typeface="Arial"/>
                <a:cs typeface="Arial"/>
              </a:defRPr>
            </a:lvl7pPr>
            <a:lvl8pPr>
              <a:defRPr sz="2025" b="0">
                <a:solidFill>
                  <a:srgbClr val="172E32"/>
                </a:solidFill>
                <a:latin typeface="Arial"/>
                <a:ea typeface="Arial"/>
                <a:cs typeface="Arial"/>
              </a:defRPr>
            </a:lvl8pPr>
            <a:lvl9pPr>
              <a:defRPr sz="2025" b="0">
                <a:solidFill>
                  <a:srgbClr val="172E32"/>
                </a:solidFill>
                <a:latin typeface="Arial"/>
                <a:ea typeface="Arial"/>
                <a:cs typeface="Arial"/>
              </a:defRPr>
            </a:lvl9pPr>
          </a:lstStyle>
          <a:p xmlns:a="http://schemas.openxmlformats.org/drawingml/2006/main">
            <a:pPr>
              <a:lnSpc>
                <a:spcPct val="112000"/>
              </a:lnSpc>
              <a:buNone/>
              <a:defRPr sz="2025" b="0">
                <a:solidFill>
                  <a:srgbClr val="172E32"/>
                </a:solidFill>
                <a:latin typeface="Arial"/>
                <a:ea typeface="Arial"/>
                <a:cs typeface="Arial"/>
              </a:defRPr>
            </a:pPr>
            <a:r>
              <a:rPr sz="2025" b="0">
                <a:solidFill>
                  <a:srgbClr val="172E32"/>
                </a:solidFill>
                <a:latin typeface="Arial"/>
                <a:ea typeface="Arial"/>
                <a:cs typeface="Arial"/>
              </a:rPr>
              <a:t>Hàm tương thích Streamlit, không phải route của React</a:t>
            </a:r>
          </a:p>
        </p:txBody>
      </p:sp>
    </p:spTree>
    <p:extLst>
      <p:ext uri="{BB962C8B-B14F-4D97-AF65-F5344CB8AC3E}">
        <p14:creationId xmlns:p14="http://schemas.microsoft.com/office/powerpoint/2010/main" val="690951221"/>
      </p:ext>
    </p:extLst>
  </p:cSld>
</p:sld>
</file>

<file path=ppt/slides/slide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76124FEC-9B6B-4687-8611-93B081981970}"/>
              </a:ext>
            </a:extLst>
          </p:cNvPr>
          <p:cNvCxnSpPr>
            <a:stCxn xmlns:a="http://schemas.openxmlformats.org/drawingml/2006/main" id="26" idx="1"/>
            <a:endCxn xmlns:a="http://schemas.openxmlformats.org/drawingml/2006/main" id="30" idx="3"/>
          </p:cNvCxnSpPr>
          <p:nvPr/>
        </p:nvCxnSpPr>
        <p:spPr>
          <a:xfrm xmlns:a="http://schemas.openxmlformats.org/drawingml/2006/main" flipH="1">
            <a:off x="4762500" y="576262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3" name="">
            <a:extLst xmlns:a="http://schemas.openxmlformats.org/drawingml/2006/main">
              <a:ext uri="{FF2B5EF4-FFF2-40B4-BE49-F238E27FC236}">
                <a16:creationId xmlns:a16="http://schemas.microsoft.com/office/drawing/2014/main" id="{C0E4A81B-40A7-4FF0-9F81-DC06152B989C}"/>
              </a:ext>
            </a:extLst>
          </p:cNvPr>
          <p:cNvCxnSpPr>
            <a:stCxn xmlns:a="http://schemas.openxmlformats.org/drawingml/2006/main" id="22" idx="1"/>
            <a:endCxn xmlns:a="http://schemas.openxmlformats.org/drawingml/2006/main" id="26" idx="3"/>
          </p:cNvCxnSpPr>
          <p:nvPr/>
        </p:nvCxnSpPr>
        <p:spPr>
          <a:xfrm xmlns:a="http://schemas.openxmlformats.org/drawingml/2006/main" flipH="1">
            <a:off x="9620250" y="576262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4" name="">
            <a:extLst xmlns:a="http://schemas.openxmlformats.org/drawingml/2006/main">
              <a:ext uri="{FF2B5EF4-FFF2-40B4-BE49-F238E27FC236}">
                <a16:creationId xmlns:a16="http://schemas.microsoft.com/office/drawing/2014/main" id="{057E4D20-3D89-4207-A299-FE927F21CC0C}"/>
              </a:ext>
            </a:extLst>
          </p:cNvPr>
          <p:cNvCxnSpPr>
            <a:stCxn xmlns:a="http://schemas.openxmlformats.org/drawingml/2006/main" id="18" idx="2"/>
            <a:endCxn xmlns:a="http://schemas.openxmlformats.org/drawingml/2006/main" id="22" idx="0"/>
          </p:cNvCxnSpPr>
          <p:nvPr/>
        </p:nvCxnSpPr>
        <p:spPr>
          <a:xfrm xmlns:a="http://schemas.openxmlformats.org/drawingml/2006/main">
            <a:off x="12477750" y="3905250"/>
            <a:ext cx="0" cy="95250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5" name="">
            <a:extLst xmlns:a="http://schemas.openxmlformats.org/drawingml/2006/main">
              <a:ext uri="{FF2B5EF4-FFF2-40B4-BE49-F238E27FC236}">
                <a16:creationId xmlns:a16="http://schemas.microsoft.com/office/drawing/2014/main" id="{FD8F72D7-6941-4019-BAFE-54B268F84174}"/>
              </a:ext>
            </a:extLst>
          </p:cNvPr>
          <p:cNvCxnSpPr>
            <a:stCxn xmlns:a="http://schemas.openxmlformats.org/drawingml/2006/main" id="14" idx="3"/>
            <a:endCxn xmlns:a="http://schemas.openxmlformats.org/drawingml/2006/main" id="18" idx="1"/>
          </p:cNvCxnSpPr>
          <p:nvPr/>
        </p:nvCxnSpPr>
        <p:spPr>
          <a:xfrm xmlns:a="http://schemas.openxmlformats.org/drawingml/2006/main">
            <a:off x="9620250" y="300037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6" name="">
            <a:extLst xmlns:a="http://schemas.openxmlformats.org/drawingml/2006/main">
              <a:ext uri="{FF2B5EF4-FFF2-40B4-BE49-F238E27FC236}">
                <a16:creationId xmlns:a16="http://schemas.microsoft.com/office/drawing/2014/main" id="{9948915E-C635-4164-9295-B352C7C29766}"/>
              </a:ext>
            </a:extLst>
          </p:cNvPr>
          <p:cNvCxnSpPr>
            <a:stCxn xmlns:a="http://schemas.openxmlformats.org/drawingml/2006/main" id="10" idx="3"/>
            <a:endCxn xmlns:a="http://schemas.openxmlformats.org/drawingml/2006/main" id="14" idx="1"/>
          </p:cNvCxnSpPr>
          <p:nvPr/>
        </p:nvCxnSpPr>
        <p:spPr>
          <a:xfrm xmlns:a="http://schemas.openxmlformats.org/drawingml/2006/main">
            <a:off x="4762500" y="300037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sp>
        <p:nvSpPr>
          <p:cNvPr id="7" name="slide-title">
            <a:extLst xmlns:a="http://schemas.openxmlformats.org/drawingml/2006/main">
              <a:ext uri="{FF2B5EF4-FFF2-40B4-BE49-F238E27FC236}">
                <a16:creationId xmlns:a16="http://schemas.microsoft.com/office/drawing/2014/main" id="{E10AE994-1C9F-4B32-AEED-C3D5FBF5A97B}"/>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Pipeline chung của backend</a:t>
            </a:r>
          </a:p>
        </p:txBody>
      </p:sp>
      <p:sp>
        <p:nvSpPr>
          <p:cNvPr id="8" name="page-number">
            <a:extLst xmlns:a="http://schemas.openxmlformats.org/drawingml/2006/main">
              <a:ext uri="{FF2B5EF4-FFF2-40B4-BE49-F238E27FC236}">
                <a16:creationId xmlns:a16="http://schemas.microsoft.com/office/drawing/2014/main" id="{8AD1F18B-D1C8-46F0-AE84-12BDABCF2199}"/>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 / 88</a:t>
            </a:r>
          </a:p>
        </p:txBody>
      </p:sp>
      <p:sp>
        <p:nvSpPr>
          <p:cNvPr id="9" name="source-reference">
            <a:extLst xmlns:a="http://schemas.openxmlformats.org/drawingml/2006/main">
              <a:ext uri="{FF2B5EF4-FFF2-40B4-BE49-F238E27FC236}">
                <a16:creationId xmlns:a16="http://schemas.microsoft.com/office/drawing/2014/main" id="{47EC541B-96AF-493E-973B-A83250613B76}"/>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   /   backend/services.py   /   backend/chat_service.py</a:t>
            </a:r>
          </a:p>
        </p:txBody>
      </p:sp>
      <p:sp>
        <p:nvSpPr>
          <p:cNvPr id="10" name="stage-1">
            <a:extLst xmlns:a="http://schemas.openxmlformats.org/drawingml/2006/main">
              <a:ext uri="{FF2B5EF4-FFF2-40B4-BE49-F238E27FC236}">
                <a16:creationId xmlns:a16="http://schemas.microsoft.com/office/drawing/2014/main" id="{1CABDEE2-A4D7-4955-8186-92F0EBC98D43}"/>
              </a:ext>
            </a:extLst>
          </p:cNvPr>
          <p:cNvSpPr>
            <a:spLocks xmlns:a="http://schemas.openxmlformats.org/drawingml/2006/main" noGrp="1"/>
          </p:cNvSpPr>
          <p:nvPr/>
        </p:nvSpPr>
        <p:spPr>
          <a:xfrm xmlns:a="http://schemas.openxmlformats.org/drawingml/2006/main">
            <a:off x="76200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1" name="stage-number-1">
            <a:extLst xmlns:a="http://schemas.openxmlformats.org/drawingml/2006/main">
              <a:ext uri="{FF2B5EF4-FFF2-40B4-BE49-F238E27FC236}">
                <a16:creationId xmlns:a16="http://schemas.microsoft.com/office/drawing/2014/main" id="{2A101FB4-52A1-4B98-B8A2-3B4F1053D330}"/>
              </a:ext>
            </a:extLst>
          </p:cNvPr>
          <p:cNvSpPr>
            <a:spLocks xmlns:a="http://schemas.openxmlformats.org/drawingml/2006/main" noGrp="1"/>
          </p:cNvSpPr>
          <p:nvPr/>
        </p:nvSpPr>
        <p:spPr>
          <a:xfrm xmlns:a="http://schemas.openxmlformats.org/drawingml/2006/main">
            <a:off x="97155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01</a:t>
            </a:r>
          </a:p>
        </p:txBody>
      </p:sp>
      <p:sp>
        <p:nvSpPr>
          <p:cNvPr id="12" name="stage-title-1">
            <a:extLst xmlns:a="http://schemas.openxmlformats.org/drawingml/2006/main">
              <a:ext uri="{FF2B5EF4-FFF2-40B4-BE49-F238E27FC236}">
                <a16:creationId xmlns:a16="http://schemas.microsoft.com/office/drawing/2014/main" id="{7E6560D7-9956-4297-8603-960223ADFE2C}"/>
              </a:ext>
            </a:extLst>
          </p:cNvPr>
          <p:cNvSpPr>
            <a:spLocks xmlns:a="http://schemas.openxmlformats.org/drawingml/2006/main" noGrp="1"/>
          </p:cNvSpPr>
          <p:nvPr/>
        </p:nvSpPr>
        <p:spPr>
          <a:xfrm xmlns:a="http://schemas.openxmlformats.org/drawingml/2006/main">
            <a:off x="97155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React</a:t>
            </a:r>
          </a:p>
        </p:txBody>
      </p:sp>
      <p:sp>
        <p:nvSpPr>
          <p:cNvPr id="13" name="stage-body-1">
            <a:extLst xmlns:a="http://schemas.openxmlformats.org/drawingml/2006/main">
              <a:ext uri="{FF2B5EF4-FFF2-40B4-BE49-F238E27FC236}">
                <a16:creationId xmlns:a16="http://schemas.microsoft.com/office/drawing/2014/main" id="{4153DDAA-EEE2-4A55-9908-B204C05605F3}"/>
              </a:ext>
            </a:extLst>
          </p:cNvPr>
          <p:cNvSpPr>
            <a:spLocks xmlns:a="http://schemas.openxmlformats.org/drawingml/2006/main" noGrp="1"/>
          </p:cNvSpPr>
          <p:nvPr/>
        </p:nvSpPr>
        <p:spPr>
          <a:xfrm xmlns:a="http://schemas.openxmlformats.org/drawingml/2006/main">
            <a:off x="97155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Gửi JSON + Bearer token</a:t>
            </a:r>
          </a:p>
        </p:txBody>
      </p:sp>
      <p:sp>
        <p:nvSpPr>
          <p:cNvPr id="14" name="stage-2">
            <a:extLst xmlns:a="http://schemas.openxmlformats.org/drawingml/2006/main">
              <a:ext uri="{FF2B5EF4-FFF2-40B4-BE49-F238E27FC236}">
                <a16:creationId xmlns:a16="http://schemas.microsoft.com/office/drawing/2014/main" id="{275C4643-39C9-43F6-91DC-73BD10945AB4}"/>
              </a:ext>
            </a:extLst>
          </p:cNvPr>
          <p:cNvSpPr>
            <a:spLocks xmlns:a="http://schemas.openxmlformats.org/drawingml/2006/main" noGrp="1"/>
          </p:cNvSpPr>
          <p:nvPr/>
        </p:nvSpPr>
        <p:spPr>
          <a:xfrm xmlns:a="http://schemas.openxmlformats.org/drawingml/2006/main">
            <a:off x="561975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5" name="stage-number-2">
            <a:extLst xmlns:a="http://schemas.openxmlformats.org/drawingml/2006/main">
              <a:ext uri="{FF2B5EF4-FFF2-40B4-BE49-F238E27FC236}">
                <a16:creationId xmlns:a16="http://schemas.microsoft.com/office/drawing/2014/main" id="{8E0CB843-5926-401E-9D02-62CD2B421B9B}"/>
              </a:ext>
            </a:extLst>
          </p:cNvPr>
          <p:cNvSpPr>
            <a:spLocks xmlns:a="http://schemas.openxmlformats.org/drawingml/2006/main" noGrp="1"/>
          </p:cNvSpPr>
          <p:nvPr/>
        </p:nvSpPr>
        <p:spPr>
          <a:xfrm xmlns:a="http://schemas.openxmlformats.org/drawingml/2006/main">
            <a:off x="582930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02</a:t>
            </a:r>
          </a:p>
        </p:txBody>
      </p:sp>
      <p:sp>
        <p:nvSpPr>
          <p:cNvPr id="16" name="stage-title-2">
            <a:extLst xmlns:a="http://schemas.openxmlformats.org/drawingml/2006/main">
              <a:ext uri="{FF2B5EF4-FFF2-40B4-BE49-F238E27FC236}">
                <a16:creationId xmlns:a16="http://schemas.microsoft.com/office/drawing/2014/main" id="{064B8DB2-54FB-456B-98A7-54C741E762DE}"/>
              </a:ext>
            </a:extLst>
          </p:cNvPr>
          <p:cNvSpPr>
            <a:spLocks xmlns:a="http://schemas.openxmlformats.org/drawingml/2006/main" noGrp="1"/>
          </p:cNvSpPr>
          <p:nvPr/>
        </p:nvSpPr>
        <p:spPr>
          <a:xfrm xmlns:a="http://schemas.openxmlformats.org/drawingml/2006/main">
            <a:off x="582930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FastAPI</a:t>
            </a:r>
          </a:p>
        </p:txBody>
      </p:sp>
      <p:sp>
        <p:nvSpPr>
          <p:cNvPr id="17" name="stage-body-2">
            <a:extLst xmlns:a="http://schemas.openxmlformats.org/drawingml/2006/main">
              <a:ext uri="{FF2B5EF4-FFF2-40B4-BE49-F238E27FC236}">
                <a16:creationId xmlns:a16="http://schemas.microsoft.com/office/drawing/2014/main" id="{D67D4FDE-6C6B-4985-A2F7-2BCBDFEF2F86}"/>
              </a:ext>
            </a:extLst>
          </p:cNvPr>
          <p:cNvSpPr>
            <a:spLocks xmlns:a="http://schemas.openxmlformats.org/drawingml/2006/main" noGrp="1"/>
          </p:cNvSpPr>
          <p:nvPr/>
        </p:nvSpPr>
        <p:spPr>
          <a:xfrm xmlns:a="http://schemas.openxmlformats.org/drawingml/2006/main">
            <a:off x="582930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Middleware và schema</a:t>
            </a:r>
          </a:p>
        </p:txBody>
      </p:sp>
      <p:sp>
        <p:nvSpPr>
          <p:cNvPr id="18" name="stage-3">
            <a:extLst xmlns:a="http://schemas.openxmlformats.org/drawingml/2006/main">
              <a:ext uri="{FF2B5EF4-FFF2-40B4-BE49-F238E27FC236}">
                <a16:creationId xmlns:a16="http://schemas.microsoft.com/office/drawing/2014/main" id="{4C427C08-A26E-4B61-8943-0836AF5B389B}"/>
              </a:ext>
            </a:extLst>
          </p:cNvPr>
          <p:cNvSpPr>
            <a:spLocks xmlns:a="http://schemas.openxmlformats.org/drawingml/2006/main" noGrp="1"/>
          </p:cNvSpPr>
          <p:nvPr/>
        </p:nvSpPr>
        <p:spPr>
          <a:xfrm xmlns:a="http://schemas.openxmlformats.org/drawingml/2006/main">
            <a:off x="1047750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9" name="stage-number-3">
            <a:extLst xmlns:a="http://schemas.openxmlformats.org/drawingml/2006/main">
              <a:ext uri="{FF2B5EF4-FFF2-40B4-BE49-F238E27FC236}">
                <a16:creationId xmlns:a16="http://schemas.microsoft.com/office/drawing/2014/main" id="{C8C1B018-7238-4333-9FED-7B2824B8AAF8}"/>
              </a:ext>
            </a:extLst>
          </p:cNvPr>
          <p:cNvSpPr>
            <a:spLocks xmlns:a="http://schemas.openxmlformats.org/drawingml/2006/main" noGrp="1"/>
          </p:cNvSpPr>
          <p:nvPr/>
        </p:nvSpPr>
        <p:spPr>
          <a:xfrm xmlns:a="http://schemas.openxmlformats.org/drawingml/2006/main">
            <a:off x="1068705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03</a:t>
            </a:r>
          </a:p>
        </p:txBody>
      </p:sp>
      <p:sp>
        <p:nvSpPr>
          <p:cNvPr id="20" name="stage-title-3">
            <a:extLst xmlns:a="http://schemas.openxmlformats.org/drawingml/2006/main">
              <a:ext uri="{FF2B5EF4-FFF2-40B4-BE49-F238E27FC236}">
                <a16:creationId xmlns:a16="http://schemas.microsoft.com/office/drawing/2014/main" id="{E446B261-CE38-48EC-A310-2E7F700FDDF1}"/>
              </a:ext>
            </a:extLst>
          </p:cNvPr>
          <p:cNvSpPr>
            <a:spLocks xmlns:a="http://schemas.openxmlformats.org/drawingml/2006/main" noGrp="1"/>
          </p:cNvSpPr>
          <p:nvPr/>
        </p:nvSpPr>
        <p:spPr>
          <a:xfrm xmlns:a="http://schemas.openxmlformats.org/drawingml/2006/main">
            <a:off x="1068705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Phiên</a:t>
            </a:r>
          </a:p>
        </p:txBody>
      </p:sp>
      <p:sp>
        <p:nvSpPr>
          <p:cNvPr id="21" name="stage-body-3">
            <a:extLst xmlns:a="http://schemas.openxmlformats.org/drawingml/2006/main">
              <a:ext uri="{FF2B5EF4-FFF2-40B4-BE49-F238E27FC236}">
                <a16:creationId xmlns:a16="http://schemas.microsoft.com/office/drawing/2014/main" id="{703352B0-013D-4733-9624-C3292BD4662B}"/>
              </a:ext>
            </a:extLst>
          </p:cNvPr>
          <p:cNvSpPr>
            <a:spLocks xmlns:a="http://schemas.openxmlformats.org/drawingml/2006/main" noGrp="1"/>
          </p:cNvSpPr>
          <p:nvPr/>
        </p:nvSpPr>
        <p:spPr>
          <a:xfrm xmlns:a="http://schemas.openxmlformats.org/drawingml/2006/main">
            <a:off x="1068705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Xác thực, owner, conversation</a:t>
            </a:r>
          </a:p>
        </p:txBody>
      </p:sp>
      <p:sp>
        <p:nvSpPr>
          <p:cNvPr id="22" name="stage-4">
            <a:extLst xmlns:a="http://schemas.openxmlformats.org/drawingml/2006/main">
              <a:ext uri="{FF2B5EF4-FFF2-40B4-BE49-F238E27FC236}">
                <a16:creationId xmlns:a16="http://schemas.microsoft.com/office/drawing/2014/main" id="{99D46545-1677-4577-B237-E57E31DD703C}"/>
              </a:ext>
            </a:extLst>
          </p:cNvPr>
          <p:cNvSpPr>
            <a:spLocks xmlns:a="http://schemas.openxmlformats.org/drawingml/2006/main" noGrp="1"/>
          </p:cNvSpPr>
          <p:nvPr/>
        </p:nvSpPr>
        <p:spPr>
          <a:xfrm xmlns:a="http://schemas.openxmlformats.org/drawingml/2006/main">
            <a:off x="1047750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23" name="stage-number-4">
            <a:extLst xmlns:a="http://schemas.openxmlformats.org/drawingml/2006/main">
              <a:ext uri="{FF2B5EF4-FFF2-40B4-BE49-F238E27FC236}">
                <a16:creationId xmlns:a16="http://schemas.microsoft.com/office/drawing/2014/main" id="{519FA029-4B7E-4D64-95EE-36B0581DD9C3}"/>
              </a:ext>
            </a:extLst>
          </p:cNvPr>
          <p:cNvSpPr>
            <a:spLocks xmlns:a="http://schemas.openxmlformats.org/drawingml/2006/main" noGrp="1"/>
          </p:cNvSpPr>
          <p:nvPr/>
        </p:nvSpPr>
        <p:spPr>
          <a:xfrm xmlns:a="http://schemas.openxmlformats.org/drawingml/2006/main">
            <a:off x="1068705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04</a:t>
            </a:r>
          </a:p>
        </p:txBody>
      </p:sp>
      <p:sp>
        <p:nvSpPr>
          <p:cNvPr id="24" name="stage-title-4">
            <a:extLst xmlns:a="http://schemas.openxmlformats.org/drawingml/2006/main">
              <a:ext uri="{FF2B5EF4-FFF2-40B4-BE49-F238E27FC236}">
                <a16:creationId xmlns:a16="http://schemas.microsoft.com/office/drawing/2014/main" id="{2F4312DA-325B-4AA1-801E-0C0EAC52B542}"/>
              </a:ext>
            </a:extLst>
          </p:cNvPr>
          <p:cNvSpPr>
            <a:spLocks xmlns:a="http://schemas.openxmlformats.org/drawingml/2006/main" noGrp="1"/>
          </p:cNvSpPr>
          <p:nvPr/>
        </p:nvSpPr>
        <p:spPr>
          <a:xfrm xmlns:a="http://schemas.openxmlformats.org/drawingml/2006/main">
            <a:off x="1068705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Workflow</a:t>
            </a:r>
          </a:p>
        </p:txBody>
      </p:sp>
      <p:sp>
        <p:nvSpPr>
          <p:cNvPr id="25" name="stage-body-4">
            <a:extLst xmlns:a="http://schemas.openxmlformats.org/drawingml/2006/main">
              <a:ext uri="{FF2B5EF4-FFF2-40B4-BE49-F238E27FC236}">
                <a16:creationId xmlns:a16="http://schemas.microsoft.com/office/drawing/2014/main" id="{5E0481A7-5C90-403B-ADD1-A7656CBB8381}"/>
              </a:ext>
            </a:extLst>
          </p:cNvPr>
          <p:cNvSpPr>
            <a:spLocks xmlns:a="http://schemas.openxmlformats.org/drawingml/2006/main" noGrp="1"/>
          </p:cNvSpPr>
          <p:nvPr/>
        </p:nvSpPr>
        <p:spPr>
          <a:xfrm xmlns:a="http://schemas.openxmlformats.org/drawingml/2006/main">
            <a:off x="1068705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Web hoặc chat</a:t>
            </a:r>
          </a:p>
        </p:txBody>
      </p:sp>
      <p:sp>
        <p:nvSpPr>
          <p:cNvPr id="26" name="stage-5">
            <a:extLst xmlns:a="http://schemas.openxmlformats.org/drawingml/2006/main">
              <a:ext uri="{FF2B5EF4-FFF2-40B4-BE49-F238E27FC236}">
                <a16:creationId xmlns:a16="http://schemas.microsoft.com/office/drawing/2014/main" id="{B0AAA308-365F-460C-9D4A-89452E5960FA}"/>
              </a:ext>
            </a:extLst>
          </p:cNvPr>
          <p:cNvSpPr>
            <a:spLocks xmlns:a="http://schemas.openxmlformats.org/drawingml/2006/main" noGrp="1"/>
          </p:cNvSpPr>
          <p:nvPr/>
        </p:nvSpPr>
        <p:spPr>
          <a:xfrm xmlns:a="http://schemas.openxmlformats.org/drawingml/2006/main">
            <a:off x="561975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27" name="stage-number-5">
            <a:extLst xmlns:a="http://schemas.openxmlformats.org/drawingml/2006/main">
              <a:ext uri="{FF2B5EF4-FFF2-40B4-BE49-F238E27FC236}">
                <a16:creationId xmlns:a16="http://schemas.microsoft.com/office/drawing/2014/main" id="{9C974160-1F4A-4531-86DA-FBB4FD13D8F6}"/>
              </a:ext>
            </a:extLst>
          </p:cNvPr>
          <p:cNvSpPr>
            <a:spLocks xmlns:a="http://schemas.openxmlformats.org/drawingml/2006/main" noGrp="1"/>
          </p:cNvSpPr>
          <p:nvPr/>
        </p:nvSpPr>
        <p:spPr>
          <a:xfrm xmlns:a="http://schemas.openxmlformats.org/drawingml/2006/main">
            <a:off x="582930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05</a:t>
            </a:r>
          </a:p>
        </p:txBody>
      </p:sp>
      <p:sp>
        <p:nvSpPr>
          <p:cNvPr id="28" name="stage-title-5">
            <a:extLst xmlns:a="http://schemas.openxmlformats.org/drawingml/2006/main">
              <a:ext uri="{FF2B5EF4-FFF2-40B4-BE49-F238E27FC236}">
                <a16:creationId xmlns:a16="http://schemas.microsoft.com/office/drawing/2014/main" id="{A7822D25-1BFD-460E-8AA8-950F1201D5C2}"/>
              </a:ext>
            </a:extLst>
          </p:cNvPr>
          <p:cNvSpPr>
            <a:spLocks xmlns:a="http://schemas.openxmlformats.org/drawingml/2006/main" noGrp="1"/>
          </p:cNvSpPr>
          <p:nvPr/>
        </p:nvSpPr>
        <p:spPr>
          <a:xfrm xmlns:a="http://schemas.openxmlformats.org/drawingml/2006/main">
            <a:off x="582930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Business + DB</a:t>
            </a:r>
          </a:p>
        </p:txBody>
      </p:sp>
      <p:sp>
        <p:nvSpPr>
          <p:cNvPr id="29" name="stage-body-5">
            <a:extLst xmlns:a="http://schemas.openxmlformats.org/drawingml/2006/main">
              <a:ext uri="{FF2B5EF4-FFF2-40B4-BE49-F238E27FC236}">
                <a16:creationId xmlns:a16="http://schemas.microsoft.com/office/drawing/2014/main" id="{B55B910B-B0D7-4A20-8FB7-98E2C939C104}"/>
              </a:ext>
            </a:extLst>
          </p:cNvPr>
          <p:cNvSpPr>
            <a:spLocks xmlns:a="http://schemas.openxmlformats.org/drawingml/2006/main" noGrp="1"/>
          </p:cNvSpPr>
          <p:nvPr/>
        </p:nvSpPr>
        <p:spPr>
          <a:xfrm xmlns:a="http://schemas.openxmlformats.org/drawingml/2006/main">
            <a:off x="582930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Giá, tồn, quyền, transaction</a:t>
            </a:r>
          </a:p>
        </p:txBody>
      </p:sp>
      <p:sp>
        <p:nvSpPr>
          <p:cNvPr id="30" name="stage-6">
            <a:extLst xmlns:a="http://schemas.openxmlformats.org/drawingml/2006/main">
              <a:ext uri="{FF2B5EF4-FFF2-40B4-BE49-F238E27FC236}">
                <a16:creationId xmlns:a16="http://schemas.microsoft.com/office/drawing/2014/main" id="{9D85DB45-BA25-4FE9-AA4E-4729758789C1}"/>
              </a:ext>
            </a:extLst>
          </p:cNvPr>
          <p:cNvSpPr>
            <a:spLocks xmlns:a="http://schemas.openxmlformats.org/drawingml/2006/main" noGrp="1"/>
          </p:cNvSpPr>
          <p:nvPr/>
        </p:nvSpPr>
        <p:spPr>
          <a:xfrm xmlns:a="http://schemas.openxmlformats.org/drawingml/2006/main">
            <a:off x="76200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31" name="stage-number-6">
            <a:extLst xmlns:a="http://schemas.openxmlformats.org/drawingml/2006/main">
              <a:ext uri="{FF2B5EF4-FFF2-40B4-BE49-F238E27FC236}">
                <a16:creationId xmlns:a16="http://schemas.microsoft.com/office/drawing/2014/main" id="{7B86A3FF-798E-4366-B04F-A1AA84747313}"/>
              </a:ext>
            </a:extLst>
          </p:cNvPr>
          <p:cNvSpPr>
            <a:spLocks xmlns:a="http://schemas.openxmlformats.org/drawingml/2006/main" noGrp="1"/>
          </p:cNvSpPr>
          <p:nvPr/>
        </p:nvSpPr>
        <p:spPr>
          <a:xfrm xmlns:a="http://schemas.openxmlformats.org/drawingml/2006/main">
            <a:off x="97155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06</a:t>
            </a:r>
          </a:p>
        </p:txBody>
      </p:sp>
      <p:sp>
        <p:nvSpPr>
          <p:cNvPr id="32" name="stage-title-6">
            <a:extLst xmlns:a="http://schemas.openxmlformats.org/drawingml/2006/main">
              <a:ext uri="{FF2B5EF4-FFF2-40B4-BE49-F238E27FC236}">
                <a16:creationId xmlns:a16="http://schemas.microsoft.com/office/drawing/2014/main" id="{6330649D-500C-46C7-B8A5-795624EFA8C2}"/>
              </a:ext>
            </a:extLst>
          </p:cNvPr>
          <p:cNvSpPr>
            <a:spLocks xmlns:a="http://schemas.openxmlformats.org/drawingml/2006/main" noGrp="1"/>
          </p:cNvSpPr>
          <p:nvPr/>
        </p:nvSpPr>
        <p:spPr>
          <a:xfrm xmlns:a="http://schemas.openxmlformats.org/drawingml/2006/main">
            <a:off x="97155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JSON response</a:t>
            </a:r>
          </a:p>
        </p:txBody>
      </p:sp>
      <p:sp>
        <p:nvSpPr>
          <p:cNvPr id="33" name="stage-body-6">
            <a:extLst xmlns:a="http://schemas.openxmlformats.org/drawingml/2006/main">
              <a:ext uri="{FF2B5EF4-FFF2-40B4-BE49-F238E27FC236}">
                <a16:creationId xmlns:a16="http://schemas.microsoft.com/office/drawing/2014/main" id="{EEDC87E7-BFE6-47C5-B7CF-8E68F53994EE}"/>
              </a:ext>
            </a:extLst>
          </p:cNvPr>
          <p:cNvSpPr>
            <a:spLocks xmlns:a="http://schemas.openxmlformats.org/drawingml/2006/main" noGrp="1"/>
          </p:cNvSpPr>
          <p:nvPr/>
        </p:nvSpPr>
        <p:spPr>
          <a:xfrm xmlns:a="http://schemas.openxmlformats.org/drawingml/2006/main">
            <a:off x="97155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Reply, route, order, request_id</a:t>
            </a:r>
          </a:p>
        </p:txBody>
      </p:sp>
      <p:sp>
        <p:nvSpPr>
          <p:cNvPr id="34" name="pipeline-caption">
            <a:extLst xmlns:a="http://schemas.openxmlformats.org/drawingml/2006/main">
              <a:ext uri="{FF2B5EF4-FFF2-40B4-BE49-F238E27FC236}">
                <a16:creationId xmlns:a16="http://schemas.microsoft.com/office/drawing/2014/main" id="{63CFEFD1-A491-4928-877B-9FC8D8E2CD78}"/>
              </a:ext>
            </a:extLst>
          </p:cNvPr>
          <p:cNvSpPr>
            <a:spLocks xmlns:a="http://schemas.openxmlformats.org/drawingml/2006/main" noGrp="1"/>
          </p:cNvSpPr>
          <p:nvPr/>
        </p:nvSpPr>
        <p:spPr>
          <a:xfrm xmlns:a="http://schemas.openxmlformats.org/drawingml/2006/main">
            <a:off x="762000" y="7191375"/>
            <a:ext cx="1352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4D6063"/>
                </a:solidFill>
                <a:latin typeface="Arial"/>
                <a:ea typeface="Arial"/>
                <a:cs typeface="Arial"/>
              </a:defRPr>
            </a:defPPr>
            <a:lvl1pPr>
              <a:defRPr sz="2025" b="0">
                <a:solidFill>
                  <a:srgbClr val="4D6063"/>
                </a:solidFill>
                <a:latin typeface="Arial"/>
                <a:ea typeface="Arial"/>
                <a:cs typeface="Arial"/>
              </a:defRPr>
            </a:lvl1pPr>
            <a:lvl2pPr>
              <a:defRPr sz="2025" b="0">
                <a:solidFill>
                  <a:srgbClr val="4D6063"/>
                </a:solidFill>
                <a:latin typeface="Arial"/>
                <a:ea typeface="Arial"/>
                <a:cs typeface="Arial"/>
              </a:defRPr>
            </a:lvl2pPr>
            <a:lvl3pPr>
              <a:defRPr sz="2025" b="0">
                <a:solidFill>
                  <a:srgbClr val="4D6063"/>
                </a:solidFill>
                <a:latin typeface="Arial"/>
                <a:ea typeface="Arial"/>
                <a:cs typeface="Arial"/>
              </a:defRPr>
            </a:lvl3pPr>
            <a:lvl4pPr>
              <a:defRPr sz="2025" b="0">
                <a:solidFill>
                  <a:srgbClr val="4D6063"/>
                </a:solidFill>
                <a:latin typeface="Arial"/>
                <a:ea typeface="Arial"/>
                <a:cs typeface="Arial"/>
              </a:defRPr>
            </a:lvl4pPr>
            <a:lvl5pPr>
              <a:defRPr sz="2025" b="0">
                <a:solidFill>
                  <a:srgbClr val="4D6063"/>
                </a:solidFill>
                <a:latin typeface="Arial"/>
                <a:ea typeface="Arial"/>
                <a:cs typeface="Arial"/>
              </a:defRPr>
            </a:lvl5pPr>
            <a:lvl6pPr>
              <a:defRPr sz="2025" b="0">
                <a:solidFill>
                  <a:srgbClr val="4D6063"/>
                </a:solidFill>
                <a:latin typeface="Arial"/>
                <a:ea typeface="Arial"/>
                <a:cs typeface="Arial"/>
              </a:defRPr>
            </a:lvl6pPr>
            <a:lvl7pPr>
              <a:defRPr sz="2025" b="0">
                <a:solidFill>
                  <a:srgbClr val="4D6063"/>
                </a:solidFill>
                <a:latin typeface="Arial"/>
                <a:ea typeface="Arial"/>
                <a:cs typeface="Arial"/>
              </a:defRPr>
            </a:lvl7pPr>
            <a:lvl8pPr>
              <a:defRPr sz="2025" b="0">
                <a:solidFill>
                  <a:srgbClr val="4D6063"/>
                </a:solidFill>
                <a:latin typeface="Arial"/>
                <a:ea typeface="Arial"/>
                <a:cs typeface="Arial"/>
              </a:defRPr>
            </a:lvl8pPr>
            <a:lvl9pPr>
              <a:defRPr sz="2025" b="0">
                <a:solidFill>
                  <a:srgbClr val="4D6063"/>
                </a:solidFill>
                <a:latin typeface="Arial"/>
                <a:ea typeface="Arial"/>
                <a:cs typeface="Arial"/>
              </a:defRPr>
            </a:lvl9pPr>
          </a:lstStyle>
          <a:p xmlns:a="http://schemas.openxmlformats.org/drawingml/2006/main">
            <a:pPr>
              <a:lnSpc>
                <a:spcPct val="112000"/>
              </a:lnSpc>
              <a:buNone/>
              <a:defRPr sz="2025" b="0">
                <a:solidFill>
                  <a:srgbClr val="4D6063"/>
                </a:solidFill>
                <a:latin typeface="Arial"/>
                <a:ea typeface="Arial"/>
                <a:cs typeface="Arial"/>
              </a:defRPr>
            </a:pPr>
            <a:r>
              <a:rPr sz="2025" b="0">
                <a:solidFill>
                  <a:srgbClr val="4D6063"/>
                </a:solidFill>
                <a:latin typeface="Arial"/>
                <a:ea typeface="Arial"/>
                <a:cs typeface="Arial"/>
              </a:rPr>
              <a:t>Catalog công khai. Giỏ hàng, đơn hàng và chat cần phiên hợp lệ.</a:t>
            </a:r>
          </a:p>
        </p:txBody>
      </p:sp>
    </p:spTree>
    <p:extLst>
      <p:ext uri="{BB962C8B-B14F-4D97-AF65-F5344CB8AC3E}">
        <p14:creationId xmlns:p14="http://schemas.microsoft.com/office/powerpoint/2010/main" val="1043952905"/>
      </p:ext>
    </p:extLst>
  </p:cSld>
</p:sld>
</file>

<file path=ppt/slides/slide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A583114A-8510-45A9-A3CE-DCB5057DB5C5}"/>
              </a:ext>
            </a:extLst>
          </p:cNvPr>
          <p:cNvCxnSpPr>
            <a:stCxn xmlns:a="http://schemas.openxmlformats.org/drawingml/2006/main" id="26" idx="1"/>
            <a:endCxn xmlns:a="http://schemas.openxmlformats.org/drawingml/2006/main" id="30" idx="3"/>
          </p:cNvCxnSpPr>
          <p:nvPr/>
        </p:nvCxnSpPr>
        <p:spPr>
          <a:xfrm xmlns:a="http://schemas.openxmlformats.org/drawingml/2006/main" flipH="1">
            <a:off x="4762500" y="576262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3" name="">
            <a:extLst xmlns:a="http://schemas.openxmlformats.org/drawingml/2006/main">
              <a:ext uri="{FF2B5EF4-FFF2-40B4-BE49-F238E27FC236}">
                <a16:creationId xmlns:a16="http://schemas.microsoft.com/office/drawing/2014/main" id="{DFBDDCDF-7C4B-40DE-A83C-628D54D60681}"/>
              </a:ext>
            </a:extLst>
          </p:cNvPr>
          <p:cNvCxnSpPr>
            <a:stCxn xmlns:a="http://schemas.openxmlformats.org/drawingml/2006/main" id="22" idx="1"/>
            <a:endCxn xmlns:a="http://schemas.openxmlformats.org/drawingml/2006/main" id="26" idx="3"/>
          </p:cNvCxnSpPr>
          <p:nvPr/>
        </p:nvCxnSpPr>
        <p:spPr>
          <a:xfrm xmlns:a="http://schemas.openxmlformats.org/drawingml/2006/main" flipH="1">
            <a:off x="9620250" y="576262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4" name="">
            <a:extLst xmlns:a="http://schemas.openxmlformats.org/drawingml/2006/main">
              <a:ext uri="{FF2B5EF4-FFF2-40B4-BE49-F238E27FC236}">
                <a16:creationId xmlns:a16="http://schemas.microsoft.com/office/drawing/2014/main" id="{2F3D5692-4F7F-4F30-A432-93C79B4D1441}"/>
              </a:ext>
            </a:extLst>
          </p:cNvPr>
          <p:cNvCxnSpPr>
            <a:stCxn xmlns:a="http://schemas.openxmlformats.org/drawingml/2006/main" id="18" idx="2"/>
            <a:endCxn xmlns:a="http://schemas.openxmlformats.org/drawingml/2006/main" id="22" idx="0"/>
          </p:cNvCxnSpPr>
          <p:nvPr/>
        </p:nvCxnSpPr>
        <p:spPr>
          <a:xfrm xmlns:a="http://schemas.openxmlformats.org/drawingml/2006/main">
            <a:off x="12477750" y="3905250"/>
            <a:ext cx="0" cy="95250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5" name="">
            <a:extLst xmlns:a="http://schemas.openxmlformats.org/drawingml/2006/main">
              <a:ext uri="{FF2B5EF4-FFF2-40B4-BE49-F238E27FC236}">
                <a16:creationId xmlns:a16="http://schemas.microsoft.com/office/drawing/2014/main" id="{7CD57FCC-A76B-4760-8C30-8707B7029342}"/>
              </a:ext>
            </a:extLst>
          </p:cNvPr>
          <p:cNvCxnSpPr>
            <a:stCxn xmlns:a="http://schemas.openxmlformats.org/drawingml/2006/main" id="14" idx="3"/>
            <a:endCxn xmlns:a="http://schemas.openxmlformats.org/drawingml/2006/main" id="18" idx="1"/>
          </p:cNvCxnSpPr>
          <p:nvPr/>
        </p:nvCxnSpPr>
        <p:spPr>
          <a:xfrm xmlns:a="http://schemas.openxmlformats.org/drawingml/2006/main">
            <a:off x="9620250" y="300037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6" name="">
            <a:extLst xmlns:a="http://schemas.openxmlformats.org/drawingml/2006/main">
              <a:ext uri="{FF2B5EF4-FFF2-40B4-BE49-F238E27FC236}">
                <a16:creationId xmlns:a16="http://schemas.microsoft.com/office/drawing/2014/main" id="{0956A3C0-EDBC-47AF-AD07-6EDF3F6C9BA0}"/>
              </a:ext>
            </a:extLst>
          </p:cNvPr>
          <p:cNvCxnSpPr>
            <a:stCxn xmlns:a="http://schemas.openxmlformats.org/drawingml/2006/main" id="10" idx="3"/>
            <a:endCxn xmlns:a="http://schemas.openxmlformats.org/drawingml/2006/main" id="14" idx="1"/>
          </p:cNvCxnSpPr>
          <p:nvPr/>
        </p:nvCxnSpPr>
        <p:spPr>
          <a:xfrm xmlns:a="http://schemas.openxmlformats.org/drawingml/2006/main">
            <a:off x="4762500" y="300037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sp>
        <p:nvSpPr>
          <p:cNvPr id="7" name="slide-title">
            <a:extLst xmlns:a="http://schemas.openxmlformats.org/drawingml/2006/main">
              <a:ext uri="{FF2B5EF4-FFF2-40B4-BE49-F238E27FC236}">
                <a16:creationId xmlns:a16="http://schemas.microsoft.com/office/drawing/2014/main" id="{0CDB3206-6BF5-44FF-B7E9-35C7392E9ABA}"/>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Pipeline riêng của chat</a:t>
            </a:r>
          </a:p>
        </p:txBody>
      </p:sp>
      <p:sp>
        <p:nvSpPr>
          <p:cNvPr id="8" name="page-number">
            <a:extLst xmlns:a="http://schemas.openxmlformats.org/drawingml/2006/main">
              <a:ext uri="{FF2B5EF4-FFF2-40B4-BE49-F238E27FC236}">
                <a16:creationId xmlns:a16="http://schemas.microsoft.com/office/drawing/2014/main" id="{C53AA67E-98E0-4B3B-A95E-5A43B3D871D9}"/>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 / 88</a:t>
            </a:r>
          </a:p>
        </p:txBody>
      </p:sp>
      <p:sp>
        <p:nvSpPr>
          <p:cNvPr id="9" name="source-reference">
            <a:extLst xmlns:a="http://schemas.openxmlformats.org/drawingml/2006/main">
              <a:ext uri="{FF2B5EF4-FFF2-40B4-BE49-F238E27FC236}">
                <a16:creationId xmlns:a16="http://schemas.microsoft.com/office/drawing/2014/main" id="{8B0C3090-3140-4867-934A-3E271D19EE51}"/>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backend/chat_service.py:210-320</a:t>
            </a:r>
          </a:p>
        </p:txBody>
      </p:sp>
      <p:sp>
        <p:nvSpPr>
          <p:cNvPr id="10" name="stage-1">
            <a:extLst xmlns:a="http://schemas.openxmlformats.org/drawingml/2006/main">
              <a:ext uri="{FF2B5EF4-FFF2-40B4-BE49-F238E27FC236}">
                <a16:creationId xmlns:a16="http://schemas.microsoft.com/office/drawing/2014/main" id="{328EFC16-B368-4B9C-AB87-53500762D8D9}"/>
              </a:ext>
            </a:extLst>
          </p:cNvPr>
          <p:cNvSpPr>
            <a:spLocks xmlns:a="http://schemas.openxmlformats.org/drawingml/2006/main" noGrp="1"/>
          </p:cNvSpPr>
          <p:nvPr/>
        </p:nvSpPr>
        <p:spPr>
          <a:xfrm xmlns:a="http://schemas.openxmlformats.org/drawingml/2006/main">
            <a:off x="76200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1" name="stage-number-1">
            <a:extLst xmlns:a="http://schemas.openxmlformats.org/drawingml/2006/main">
              <a:ext uri="{FF2B5EF4-FFF2-40B4-BE49-F238E27FC236}">
                <a16:creationId xmlns:a16="http://schemas.microsoft.com/office/drawing/2014/main" id="{843436F6-D7FA-4E6C-999F-7A15B15CCD3A}"/>
              </a:ext>
            </a:extLst>
          </p:cNvPr>
          <p:cNvSpPr>
            <a:spLocks xmlns:a="http://schemas.openxmlformats.org/drawingml/2006/main" noGrp="1"/>
          </p:cNvSpPr>
          <p:nvPr/>
        </p:nvSpPr>
        <p:spPr>
          <a:xfrm xmlns:a="http://schemas.openxmlformats.org/drawingml/2006/main">
            <a:off x="97155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01</a:t>
            </a:r>
          </a:p>
        </p:txBody>
      </p:sp>
      <p:sp>
        <p:nvSpPr>
          <p:cNvPr id="12" name="stage-title-1">
            <a:extLst xmlns:a="http://schemas.openxmlformats.org/drawingml/2006/main">
              <a:ext uri="{FF2B5EF4-FFF2-40B4-BE49-F238E27FC236}">
                <a16:creationId xmlns:a16="http://schemas.microsoft.com/office/drawing/2014/main" id="{8B3E6425-A9F1-4A0C-8AEA-F76574B7FCBB}"/>
              </a:ext>
            </a:extLst>
          </p:cNvPr>
          <p:cNvSpPr>
            <a:spLocks xmlns:a="http://schemas.openxmlformats.org/drawingml/2006/main" noGrp="1"/>
          </p:cNvSpPr>
          <p:nvPr/>
        </p:nvSpPr>
        <p:spPr>
          <a:xfrm xmlns:a="http://schemas.openxmlformats.org/drawingml/2006/main">
            <a:off x="97155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Kiểm tra ban đầu</a:t>
            </a:r>
          </a:p>
        </p:txBody>
      </p:sp>
      <p:sp>
        <p:nvSpPr>
          <p:cNvPr id="13" name="stage-body-1">
            <a:extLst xmlns:a="http://schemas.openxmlformats.org/drawingml/2006/main">
              <a:ext uri="{FF2B5EF4-FFF2-40B4-BE49-F238E27FC236}">
                <a16:creationId xmlns:a16="http://schemas.microsoft.com/office/drawing/2014/main" id="{700EDF6E-8DA7-4C4C-BBB9-52A4A861EE6C}"/>
              </a:ext>
            </a:extLst>
          </p:cNvPr>
          <p:cNvSpPr>
            <a:spLocks xmlns:a="http://schemas.openxmlformats.org/drawingml/2006/main" noGrp="1"/>
          </p:cNvSpPr>
          <p:nvPr/>
        </p:nvSpPr>
        <p:spPr>
          <a:xfrm xmlns:a="http://schemas.openxmlformats.org/drawingml/2006/main">
            <a:off x="97155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Receipt và chủ hội thoại</a:t>
            </a:r>
          </a:p>
        </p:txBody>
      </p:sp>
      <p:sp>
        <p:nvSpPr>
          <p:cNvPr id="14" name="stage-2">
            <a:extLst xmlns:a="http://schemas.openxmlformats.org/drawingml/2006/main">
              <a:ext uri="{FF2B5EF4-FFF2-40B4-BE49-F238E27FC236}">
                <a16:creationId xmlns:a16="http://schemas.microsoft.com/office/drawing/2014/main" id="{2E4031C0-1C0F-425F-A3C8-533403D3DC86}"/>
              </a:ext>
            </a:extLst>
          </p:cNvPr>
          <p:cNvSpPr>
            <a:spLocks xmlns:a="http://schemas.openxmlformats.org/drawingml/2006/main" noGrp="1"/>
          </p:cNvSpPr>
          <p:nvPr/>
        </p:nvSpPr>
        <p:spPr>
          <a:xfrm xmlns:a="http://schemas.openxmlformats.org/drawingml/2006/main">
            <a:off x="561975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5" name="stage-number-2">
            <a:extLst xmlns:a="http://schemas.openxmlformats.org/drawingml/2006/main">
              <a:ext uri="{FF2B5EF4-FFF2-40B4-BE49-F238E27FC236}">
                <a16:creationId xmlns:a16="http://schemas.microsoft.com/office/drawing/2014/main" id="{62FBDDE2-6A30-4796-A4F2-F0A25AAE6693}"/>
              </a:ext>
            </a:extLst>
          </p:cNvPr>
          <p:cNvSpPr>
            <a:spLocks xmlns:a="http://schemas.openxmlformats.org/drawingml/2006/main" noGrp="1"/>
          </p:cNvSpPr>
          <p:nvPr/>
        </p:nvSpPr>
        <p:spPr>
          <a:xfrm xmlns:a="http://schemas.openxmlformats.org/drawingml/2006/main">
            <a:off x="582930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02</a:t>
            </a:r>
          </a:p>
        </p:txBody>
      </p:sp>
      <p:sp>
        <p:nvSpPr>
          <p:cNvPr id="16" name="stage-title-2">
            <a:extLst xmlns:a="http://schemas.openxmlformats.org/drawingml/2006/main">
              <a:ext uri="{FF2B5EF4-FFF2-40B4-BE49-F238E27FC236}">
                <a16:creationId xmlns:a16="http://schemas.microsoft.com/office/drawing/2014/main" id="{1C90EB0A-4F4C-4BE1-8B26-1F3ADBC7A778}"/>
              </a:ext>
            </a:extLst>
          </p:cNvPr>
          <p:cNvSpPr>
            <a:spLocks xmlns:a="http://schemas.openxmlformats.org/drawingml/2006/main" noGrp="1"/>
          </p:cNvSpPr>
          <p:nvPr/>
        </p:nvSpPr>
        <p:spPr>
          <a:xfrm xmlns:a="http://schemas.openxmlformats.org/drawingml/2006/main">
            <a:off x="582930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Chọn cách hiểu câu</a:t>
            </a:r>
          </a:p>
        </p:txBody>
      </p:sp>
      <p:sp>
        <p:nvSpPr>
          <p:cNvPr id="17" name="stage-body-2">
            <a:extLst xmlns:a="http://schemas.openxmlformats.org/drawingml/2006/main">
              <a:ext uri="{FF2B5EF4-FFF2-40B4-BE49-F238E27FC236}">
                <a16:creationId xmlns:a16="http://schemas.microsoft.com/office/drawing/2014/main" id="{2E42682D-4CB5-4BBC-9C9C-BA1B975E4F91}"/>
              </a:ext>
            </a:extLst>
          </p:cNvPr>
          <p:cNvSpPr>
            <a:spLocks xmlns:a="http://schemas.openxmlformats.org/drawingml/2006/main" noGrp="1"/>
          </p:cNvSpPr>
          <p:nvPr/>
        </p:nvSpPr>
        <p:spPr>
          <a:xfrm xmlns:a="http://schemas.openxmlformats.org/drawingml/2006/main">
            <a:off x="582930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Policy / rule catalog / Gemini</a:t>
            </a:r>
          </a:p>
        </p:txBody>
      </p:sp>
      <p:sp>
        <p:nvSpPr>
          <p:cNvPr id="18" name="stage-3">
            <a:extLst xmlns:a="http://schemas.openxmlformats.org/drawingml/2006/main">
              <a:ext uri="{FF2B5EF4-FFF2-40B4-BE49-F238E27FC236}">
                <a16:creationId xmlns:a16="http://schemas.microsoft.com/office/drawing/2014/main" id="{4762117D-B3A6-43F7-A61B-803842B8D204}"/>
              </a:ext>
            </a:extLst>
          </p:cNvPr>
          <p:cNvSpPr>
            <a:spLocks xmlns:a="http://schemas.openxmlformats.org/drawingml/2006/main" noGrp="1"/>
          </p:cNvSpPr>
          <p:nvPr/>
        </p:nvSpPr>
        <p:spPr>
          <a:xfrm xmlns:a="http://schemas.openxmlformats.org/drawingml/2006/main">
            <a:off x="1047750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9" name="stage-number-3">
            <a:extLst xmlns:a="http://schemas.openxmlformats.org/drawingml/2006/main">
              <a:ext uri="{FF2B5EF4-FFF2-40B4-BE49-F238E27FC236}">
                <a16:creationId xmlns:a16="http://schemas.microsoft.com/office/drawing/2014/main" id="{3DF7B76D-0ADC-4E70-A256-E21F0F0D7E85}"/>
              </a:ext>
            </a:extLst>
          </p:cNvPr>
          <p:cNvSpPr>
            <a:spLocks xmlns:a="http://schemas.openxmlformats.org/drawingml/2006/main" noGrp="1"/>
          </p:cNvSpPr>
          <p:nvPr/>
        </p:nvSpPr>
        <p:spPr>
          <a:xfrm xmlns:a="http://schemas.openxmlformats.org/drawingml/2006/main">
            <a:off x="1068705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03</a:t>
            </a:r>
          </a:p>
        </p:txBody>
      </p:sp>
      <p:sp>
        <p:nvSpPr>
          <p:cNvPr id="20" name="stage-title-3">
            <a:extLst xmlns:a="http://schemas.openxmlformats.org/drawingml/2006/main">
              <a:ext uri="{FF2B5EF4-FFF2-40B4-BE49-F238E27FC236}">
                <a16:creationId xmlns:a16="http://schemas.microsoft.com/office/drawing/2014/main" id="{1D393B2A-187C-400F-B341-FF6AC97A7EA5}"/>
              </a:ext>
            </a:extLst>
          </p:cNvPr>
          <p:cNvSpPr>
            <a:spLocks xmlns:a="http://schemas.openxmlformats.org/drawingml/2006/main" noGrp="1"/>
          </p:cNvSpPr>
          <p:nvPr/>
        </p:nvSpPr>
        <p:spPr>
          <a:xfrm xmlns:a="http://schemas.openxmlformats.org/drawingml/2006/main">
            <a:off x="1068705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Trích xuất + kiểm tra</a:t>
            </a:r>
          </a:p>
        </p:txBody>
      </p:sp>
      <p:sp>
        <p:nvSpPr>
          <p:cNvPr id="21" name="stage-body-3">
            <a:extLst xmlns:a="http://schemas.openxmlformats.org/drawingml/2006/main">
              <a:ext uri="{FF2B5EF4-FFF2-40B4-BE49-F238E27FC236}">
                <a16:creationId xmlns:a16="http://schemas.microsoft.com/office/drawing/2014/main" id="{721F717F-C40C-45B3-B7C3-EEC68D300B24}"/>
              </a:ext>
            </a:extLst>
          </p:cNvPr>
          <p:cNvSpPr>
            <a:spLocks xmlns:a="http://schemas.openxmlformats.org/drawingml/2006/main" noGrp="1"/>
          </p:cNvSpPr>
          <p:nvPr/>
        </p:nvSpPr>
        <p:spPr>
          <a:xfrm xmlns:a="http://schemas.openxmlformats.org/drawingml/2006/main">
            <a:off x="1068705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JSON, schema, evidence</a:t>
            </a:r>
          </a:p>
        </p:txBody>
      </p:sp>
      <p:sp>
        <p:nvSpPr>
          <p:cNvPr id="22" name="stage-4">
            <a:extLst xmlns:a="http://schemas.openxmlformats.org/drawingml/2006/main">
              <a:ext uri="{FF2B5EF4-FFF2-40B4-BE49-F238E27FC236}">
                <a16:creationId xmlns:a16="http://schemas.microsoft.com/office/drawing/2014/main" id="{5C0FE4FD-99F8-4A88-8D7A-5CD49FB77D47}"/>
              </a:ext>
            </a:extLst>
          </p:cNvPr>
          <p:cNvSpPr>
            <a:spLocks xmlns:a="http://schemas.openxmlformats.org/drawingml/2006/main" noGrp="1"/>
          </p:cNvSpPr>
          <p:nvPr/>
        </p:nvSpPr>
        <p:spPr>
          <a:xfrm xmlns:a="http://schemas.openxmlformats.org/drawingml/2006/main">
            <a:off x="1047750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23" name="stage-number-4">
            <a:extLst xmlns:a="http://schemas.openxmlformats.org/drawingml/2006/main">
              <a:ext uri="{FF2B5EF4-FFF2-40B4-BE49-F238E27FC236}">
                <a16:creationId xmlns:a16="http://schemas.microsoft.com/office/drawing/2014/main" id="{D72720E4-156F-4E31-9F4A-79C06E013C01}"/>
              </a:ext>
            </a:extLst>
          </p:cNvPr>
          <p:cNvSpPr>
            <a:spLocks xmlns:a="http://schemas.openxmlformats.org/drawingml/2006/main" noGrp="1"/>
          </p:cNvSpPr>
          <p:nvPr/>
        </p:nvSpPr>
        <p:spPr>
          <a:xfrm xmlns:a="http://schemas.openxmlformats.org/drawingml/2006/main">
            <a:off x="1068705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04</a:t>
            </a:r>
          </a:p>
        </p:txBody>
      </p:sp>
      <p:sp>
        <p:nvSpPr>
          <p:cNvPr id="24" name="stage-title-4">
            <a:extLst xmlns:a="http://schemas.openxmlformats.org/drawingml/2006/main">
              <a:ext uri="{FF2B5EF4-FFF2-40B4-BE49-F238E27FC236}">
                <a16:creationId xmlns:a16="http://schemas.microsoft.com/office/drawing/2014/main" id="{51339065-149E-4B30-B069-F51FBE58D3B5}"/>
              </a:ext>
            </a:extLst>
          </p:cNvPr>
          <p:cNvSpPr>
            <a:spLocks xmlns:a="http://schemas.openxmlformats.org/drawingml/2006/main" noGrp="1"/>
          </p:cNvSpPr>
          <p:nvPr/>
        </p:nvSpPr>
        <p:spPr>
          <a:xfrm xmlns:a="http://schemas.openxmlformats.org/drawingml/2006/main">
            <a:off x="1068705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Ghép context</a:t>
            </a:r>
          </a:p>
        </p:txBody>
      </p:sp>
      <p:sp>
        <p:nvSpPr>
          <p:cNvPr id="25" name="stage-body-4">
            <a:extLst xmlns:a="http://schemas.openxmlformats.org/drawingml/2006/main">
              <a:ext uri="{FF2B5EF4-FFF2-40B4-BE49-F238E27FC236}">
                <a16:creationId xmlns:a16="http://schemas.microsoft.com/office/drawing/2014/main" id="{89A2FF97-7124-4785-B297-B88A3B2B8D57}"/>
              </a:ext>
            </a:extLst>
          </p:cNvPr>
          <p:cNvSpPr>
            <a:spLocks xmlns:a="http://schemas.openxmlformats.org/drawingml/2006/main" noGrp="1"/>
          </p:cNvSpPr>
          <p:nvPr/>
        </p:nvSpPr>
        <p:spPr>
          <a:xfrm xmlns:a="http://schemas.openxmlformats.org/drawingml/2006/main">
            <a:off x="1068705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Dữ liệu mới + trường đang thiếu</a:t>
            </a:r>
          </a:p>
        </p:txBody>
      </p:sp>
      <p:sp>
        <p:nvSpPr>
          <p:cNvPr id="26" name="stage-5">
            <a:extLst xmlns:a="http://schemas.openxmlformats.org/drawingml/2006/main">
              <a:ext uri="{FF2B5EF4-FFF2-40B4-BE49-F238E27FC236}">
                <a16:creationId xmlns:a16="http://schemas.microsoft.com/office/drawing/2014/main" id="{0977BEA2-462B-4251-BB97-54C8E197314A}"/>
              </a:ext>
            </a:extLst>
          </p:cNvPr>
          <p:cNvSpPr>
            <a:spLocks xmlns:a="http://schemas.openxmlformats.org/drawingml/2006/main" noGrp="1"/>
          </p:cNvSpPr>
          <p:nvPr/>
        </p:nvSpPr>
        <p:spPr>
          <a:xfrm xmlns:a="http://schemas.openxmlformats.org/drawingml/2006/main">
            <a:off x="561975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27" name="stage-number-5">
            <a:extLst xmlns:a="http://schemas.openxmlformats.org/drawingml/2006/main">
              <a:ext uri="{FF2B5EF4-FFF2-40B4-BE49-F238E27FC236}">
                <a16:creationId xmlns:a16="http://schemas.microsoft.com/office/drawing/2014/main" id="{A383A91E-DB00-4C38-9EF9-58F1D6A1577B}"/>
              </a:ext>
            </a:extLst>
          </p:cNvPr>
          <p:cNvSpPr>
            <a:spLocks xmlns:a="http://schemas.openxmlformats.org/drawingml/2006/main" noGrp="1"/>
          </p:cNvSpPr>
          <p:nvPr/>
        </p:nvSpPr>
        <p:spPr>
          <a:xfrm xmlns:a="http://schemas.openxmlformats.org/drawingml/2006/main">
            <a:off x="582930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05</a:t>
            </a:r>
          </a:p>
        </p:txBody>
      </p:sp>
      <p:sp>
        <p:nvSpPr>
          <p:cNvPr id="28" name="stage-title-5">
            <a:extLst xmlns:a="http://schemas.openxmlformats.org/drawingml/2006/main">
              <a:ext uri="{FF2B5EF4-FFF2-40B4-BE49-F238E27FC236}">
                <a16:creationId xmlns:a16="http://schemas.microsoft.com/office/drawing/2014/main" id="{9311D26A-5174-4636-BB67-73670378418A}"/>
              </a:ext>
            </a:extLst>
          </p:cNvPr>
          <p:cNvSpPr>
            <a:spLocks xmlns:a="http://schemas.openxmlformats.org/drawingml/2006/main" noGrp="1"/>
          </p:cNvSpPr>
          <p:nvPr/>
        </p:nvSpPr>
        <p:spPr>
          <a:xfrm xmlns:a="http://schemas.openxmlformats.org/drawingml/2006/main">
            <a:off x="582930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Chọn hành động</a:t>
            </a:r>
          </a:p>
        </p:txBody>
      </p:sp>
      <p:sp>
        <p:nvSpPr>
          <p:cNvPr id="29" name="stage-body-5">
            <a:extLst xmlns:a="http://schemas.openxmlformats.org/drawingml/2006/main">
              <a:ext uri="{FF2B5EF4-FFF2-40B4-BE49-F238E27FC236}">
                <a16:creationId xmlns:a16="http://schemas.microsoft.com/office/drawing/2014/main" id="{B38A9375-32C0-44C1-8AE7-527454758FA7}"/>
              </a:ext>
            </a:extLst>
          </p:cNvPr>
          <p:cNvSpPr>
            <a:spLocks xmlns:a="http://schemas.openxmlformats.org/drawingml/2006/main" noGrp="1"/>
          </p:cNvSpPr>
          <p:nvPr/>
        </p:nvSpPr>
        <p:spPr>
          <a:xfrm xmlns:a="http://schemas.openxmlformats.org/drawingml/2006/main">
            <a:off x="582930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Hỏi / đọc DB / tạo / sửa / handoff</a:t>
            </a:r>
          </a:p>
        </p:txBody>
      </p:sp>
      <p:sp>
        <p:nvSpPr>
          <p:cNvPr id="30" name="stage-6">
            <a:extLst xmlns:a="http://schemas.openxmlformats.org/drawingml/2006/main">
              <a:ext uri="{FF2B5EF4-FFF2-40B4-BE49-F238E27FC236}">
                <a16:creationId xmlns:a16="http://schemas.microsoft.com/office/drawing/2014/main" id="{E655D43E-5809-4C0A-9E8A-30E1A98B37B0}"/>
              </a:ext>
            </a:extLst>
          </p:cNvPr>
          <p:cNvSpPr>
            <a:spLocks xmlns:a="http://schemas.openxmlformats.org/drawingml/2006/main" noGrp="1"/>
          </p:cNvSpPr>
          <p:nvPr/>
        </p:nvSpPr>
        <p:spPr>
          <a:xfrm xmlns:a="http://schemas.openxmlformats.org/drawingml/2006/main">
            <a:off x="76200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31" name="stage-number-6">
            <a:extLst xmlns:a="http://schemas.openxmlformats.org/drawingml/2006/main">
              <a:ext uri="{FF2B5EF4-FFF2-40B4-BE49-F238E27FC236}">
                <a16:creationId xmlns:a16="http://schemas.microsoft.com/office/drawing/2014/main" id="{6AA11F84-7D74-411D-A7CF-0480AAC4594B}"/>
              </a:ext>
            </a:extLst>
          </p:cNvPr>
          <p:cNvSpPr>
            <a:spLocks xmlns:a="http://schemas.openxmlformats.org/drawingml/2006/main" noGrp="1"/>
          </p:cNvSpPr>
          <p:nvPr/>
        </p:nvSpPr>
        <p:spPr>
          <a:xfrm xmlns:a="http://schemas.openxmlformats.org/drawingml/2006/main">
            <a:off x="97155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06</a:t>
            </a:r>
          </a:p>
        </p:txBody>
      </p:sp>
      <p:sp>
        <p:nvSpPr>
          <p:cNvPr id="32" name="stage-title-6">
            <a:extLst xmlns:a="http://schemas.openxmlformats.org/drawingml/2006/main">
              <a:ext uri="{FF2B5EF4-FFF2-40B4-BE49-F238E27FC236}">
                <a16:creationId xmlns:a16="http://schemas.microsoft.com/office/drawing/2014/main" id="{EC9D2D10-541A-419A-A761-40141E081103}"/>
              </a:ext>
            </a:extLst>
          </p:cNvPr>
          <p:cNvSpPr>
            <a:spLocks xmlns:a="http://schemas.openxmlformats.org/drawingml/2006/main" noGrp="1"/>
          </p:cNvSpPr>
          <p:nvPr/>
        </p:nvSpPr>
        <p:spPr>
          <a:xfrm xmlns:a="http://schemas.openxmlformats.org/drawingml/2006/main">
            <a:off x="97155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Lưu và phản hồi</a:t>
            </a:r>
          </a:p>
        </p:txBody>
      </p:sp>
      <p:sp>
        <p:nvSpPr>
          <p:cNvPr id="33" name="stage-body-6">
            <a:extLst xmlns:a="http://schemas.openxmlformats.org/drawingml/2006/main">
              <a:ext uri="{FF2B5EF4-FFF2-40B4-BE49-F238E27FC236}">
                <a16:creationId xmlns:a16="http://schemas.microsoft.com/office/drawing/2014/main" id="{10366D3B-A7B2-4DFE-8586-027F63B170BE}"/>
              </a:ext>
            </a:extLst>
          </p:cNvPr>
          <p:cNvSpPr>
            <a:spLocks xmlns:a="http://schemas.openxmlformats.org/drawingml/2006/main" noGrp="1"/>
          </p:cNvSpPr>
          <p:nvPr/>
        </p:nvSpPr>
        <p:spPr>
          <a:xfrm xmlns:a="http://schemas.openxmlformats.org/drawingml/2006/main">
            <a:off x="97155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Context, audit, receipt, JSON</a:t>
            </a:r>
          </a:p>
        </p:txBody>
      </p:sp>
      <p:sp>
        <p:nvSpPr>
          <p:cNvPr id="34" name="pipeline-caption">
            <a:extLst xmlns:a="http://schemas.openxmlformats.org/drawingml/2006/main">
              <a:ext uri="{FF2B5EF4-FFF2-40B4-BE49-F238E27FC236}">
                <a16:creationId xmlns:a16="http://schemas.microsoft.com/office/drawing/2014/main" id="{CA44F67D-535F-4BA3-B73F-1FC64BFBE246}"/>
              </a:ext>
            </a:extLst>
          </p:cNvPr>
          <p:cNvSpPr>
            <a:spLocks xmlns:a="http://schemas.openxmlformats.org/drawingml/2006/main" noGrp="1"/>
          </p:cNvSpPr>
          <p:nvPr/>
        </p:nvSpPr>
        <p:spPr>
          <a:xfrm xmlns:a="http://schemas.openxmlformats.org/drawingml/2006/main">
            <a:off x="762000" y="7191375"/>
            <a:ext cx="1352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4D6063"/>
                </a:solidFill>
                <a:latin typeface="Arial"/>
                <a:ea typeface="Arial"/>
                <a:cs typeface="Arial"/>
              </a:defRPr>
            </a:defPPr>
            <a:lvl1pPr>
              <a:defRPr sz="2025" b="0">
                <a:solidFill>
                  <a:srgbClr val="4D6063"/>
                </a:solidFill>
                <a:latin typeface="Arial"/>
                <a:ea typeface="Arial"/>
                <a:cs typeface="Arial"/>
              </a:defRPr>
            </a:lvl1pPr>
            <a:lvl2pPr>
              <a:defRPr sz="2025" b="0">
                <a:solidFill>
                  <a:srgbClr val="4D6063"/>
                </a:solidFill>
                <a:latin typeface="Arial"/>
                <a:ea typeface="Arial"/>
                <a:cs typeface="Arial"/>
              </a:defRPr>
            </a:lvl2pPr>
            <a:lvl3pPr>
              <a:defRPr sz="2025" b="0">
                <a:solidFill>
                  <a:srgbClr val="4D6063"/>
                </a:solidFill>
                <a:latin typeface="Arial"/>
                <a:ea typeface="Arial"/>
                <a:cs typeface="Arial"/>
              </a:defRPr>
            </a:lvl3pPr>
            <a:lvl4pPr>
              <a:defRPr sz="2025" b="0">
                <a:solidFill>
                  <a:srgbClr val="4D6063"/>
                </a:solidFill>
                <a:latin typeface="Arial"/>
                <a:ea typeface="Arial"/>
                <a:cs typeface="Arial"/>
              </a:defRPr>
            </a:lvl4pPr>
            <a:lvl5pPr>
              <a:defRPr sz="2025" b="0">
                <a:solidFill>
                  <a:srgbClr val="4D6063"/>
                </a:solidFill>
                <a:latin typeface="Arial"/>
                <a:ea typeface="Arial"/>
                <a:cs typeface="Arial"/>
              </a:defRPr>
            </a:lvl5pPr>
            <a:lvl6pPr>
              <a:defRPr sz="2025" b="0">
                <a:solidFill>
                  <a:srgbClr val="4D6063"/>
                </a:solidFill>
                <a:latin typeface="Arial"/>
                <a:ea typeface="Arial"/>
                <a:cs typeface="Arial"/>
              </a:defRPr>
            </a:lvl6pPr>
            <a:lvl7pPr>
              <a:defRPr sz="2025" b="0">
                <a:solidFill>
                  <a:srgbClr val="4D6063"/>
                </a:solidFill>
                <a:latin typeface="Arial"/>
                <a:ea typeface="Arial"/>
                <a:cs typeface="Arial"/>
              </a:defRPr>
            </a:lvl7pPr>
            <a:lvl8pPr>
              <a:defRPr sz="2025" b="0">
                <a:solidFill>
                  <a:srgbClr val="4D6063"/>
                </a:solidFill>
                <a:latin typeface="Arial"/>
                <a:ea typeface="Arial"/>
                <a:cs typeface="Arial"/>
              </a:defRPr>
            </a:lvl8pPr>
            <a:lvl9pPr>
              <a:defRPr sz="2025" b="0">
                <a:solidFill>
                  <a:srgbClr val="4D6063"/>
                </a:solidFill>
                <a:latin typeface="Arial"/>
                <a:ea typeface="Arial"/>
                <a:cs typeface="Arial"/>
              </a:defRPr>
            </a:lvl9pPr>
          </a:lstStyle>
          <a:p xmlns:a="http://schemas.openxmlformats.org/drawingml/2006/main">
            <a:pPr>
              <a:lnSpc>
                <a:spcPct val="112000"/>
              </a:lnSpc>
              <a:buNone/>
              <a:defRPr sz="2025" b="0">
                <a:solidFill>
                  <a:srgbClr val="4D6063"/>
                </a:solidFill>
                <a:latin typeface="Arial"/>
                <a:ea typeface="Arial"/>
                <a:cs typeface="Arial"/>
              </a:defRPr>
            </a:pPr>
            <a:r>
              <a:rPr sz="2025" b="0">
                <a:solidFill>
                  <a:srgbClr val="4D6063"/>
                </a:solidFill>
                <a:latin typeface="Arial"/>
                <a:ea typeface="Arial"/>
                <a:cs typeface="Arial"/>
              </a:rPr>
              <a:t>Gemini nằm trong nhánh hiểu ngôn ngữ. Mọi thao tác ghi dữ liệu đều qua kiểm tra nghiệp vụ.</a:t>
            </a:r>
          </a:p>
        </p:txBody>
      </p:sp>
    </p:spTree>
    <p:extLst>
      <p:ext uri="{BB962C8B-B14F-4D97-AF65-F5344CB8AC3E}">
        <p14:creationId xmlns:p14="http://schemas.microsoft.com/office/powerpoint/2010/main" val="716635514"/>
      </p:ext>
    </p:extLst>
  </p:cSld>
</p:sld>
</file>

<file path=ppt/slides/slide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5473F6AB-5819-41CD-9C69-FF4668F59CBC}"/>
              </a:ext>
            </a:extLst>
          </p:cNvPr>
          <p:cNvCxnSpPr>
            <a:stCxn xmlns:a="http://schemas.openxmlformats.org/drawingml/2006/main" id="26" idx="1"/>
            <a:endCxn xmlns:a="http://schemas.openxmlformats.org/drawingml/2006/main" id="30" idx="3"/>
          </p:cNvCxnSpPr>
          <p:nvPr/>
        </p:nvCxnSpPr>
        <p:spPr>
          <a:xfrm xmlns:a="http://schemas.openxmlformats.org/drawingml/2006/main" flipH="1">
            <a:off x="4762500" y="576262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3" name="">
            <a:extLst xmlns:a="http://schemas.openxmlformats.org/drawingml/2006/main">
              <a:ext uri="{FF2B5EF4-FFF2-40B4-BE49-F238E27FC236}">
                <a16:creationId xmlns:a16="http://schemas.microsoft.com/office/drawing/2014/main" id="{4583BB34-28EF-4799-8890-12367ED7C352}"/>
              </a:ext>
            </a:extLst>
          </p:cNvPr>
          <p:cNvCxnSpPr>
            <a:stCxn xmlns:a="http://schemas.openxmlformats.org/drawingml/2006/main" id="22" idx="1"/>
            <a:endCxn xmlns:a="http://schemas.openxmlformats.org/drawingml/2006/main" id="26" idx="3"/>
          </p:cNvCxnSpPr>
          <p:nvPr/>
        </p:nvCxnSpPr>
        <p:spPr>
          <a:xfrm xmlns:a="http://schemas.openxmlformats.org/drawingml/2006/main" flipH="1">
            <a:off x="9620250" y="576262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4" name="">
            <a:extLst xmlns:a="http://schemas.openxmlformats.org/drawingml/2006/main">
              <a:ext uri="{FF2B5EF4-FFF2-40B4-BE49-F238E27FC236}">
                <a16:creationId xmlns:a16="http://schemas.microsoft.com/office/drawing/2014/main" id="{1B9E2957-A560-4519-8337-18AB73D76BE3}"/>
              </a:ext>
            </a:extLst>
          </p:cNvPr>
          <p:cNvCxnSpPr>
            <a:stCxn xmlns:a="http://schemas.openxmlformats.org/drawingml/2006/main" id="18" idx="2"/>
            <a:endCxn xmlns:a="http://schemas.openxmlformats.org/drawingml/2006/main" id="22" idx="0"/>
          </p:cNvCxnSpPr>
          <p:nvPr/>
        </p:nvCxnSpPr>
        <p:spPr>
          <a:xfrm xmlns:a="http://schemas.openxmlformats.org/drawingml/2006/main">
            <a:off x="12477750" y="3905250"/>
            <a:ext cx="0" cy="95250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5" name="">
            <a:extLst xmlns:a="http://schemas.openxmlformats.org/drawingml/2006/main">
              <a:ext uri="{FF2B5EF4-FFF2-40B4-BE49-F238E27FC236}">
                <a16:creationId xmlns:a16="http://schemas.microsoft.com/office/drawing/2014/main" id="{B3BF371E-6B98-4AED-95C8-A75A0CF1DE69}"/>
              </a:ext>
            </a:extLst>
          </p:cNvPr>
          <p:cNvCxnSpPr>
            <a:stCxn xmlns:a="http://schemas.openxmlformats.org/drawingml/2006/main" id="14" idx="3"/>
            <a:endCxn xmlns:a="http://schemas.openxmlformats.org/drawingml/2006/main" id="18" idx="1"/>
          </p:cNvCxnSpPr>
          <p:nvPr/>
        </p:nvCxnSpPr>
        <p:spPr>
          <a:xfrm xmlns:a="http://schemas.openxmlformats.org/drawingml/2006/main">
            <a:off x="9620250" y="300037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cxnSp>
        <p:nvCxnSpPr>
          <p:cNvPr id="6" name="">
            <a:extLst xmlns:a="http://schemas.openxmlformats.org/drawingml/2006/main">
              <a:ext uri="{FF2B5EF4-FFF2-40B4-BE49-F238E27FC236}">
                <a16:creationId xmlns:a16="http://schemas.microsoft.com/office/drawing/2014/main" id="{49EAE887-7EF6-4144-98E1-32D7783E5F6B}"/>
              </a:ext>
            </a:extLst>
          </p:cNvPr>
          <p:cNvCxnSpPr>
            <a:stCxn xmlns:a="http://schemas.openxmlformats.org/drawingml/2006/main" id="10" idx="3"/>
            <a:endCxn xmlns:a="http://schemas.openxmlformats.org/drawingml/2006/main" id="14" idx="1"/>
          </p:cNvCxnSpPr>
          <p:nvPr/>
        </p:nvCxnSpPr>
        <p:spPr>
          <a:xfrm xmlns:a="http://schemas.openxmlformats.org/drawingml/2006/main">
            <a:off x="4762500" y="3000375"/>
            <a:ext cx="857250" cy="0"/>
          </a:xfrm>
          <a:prstGeom xmlns:a="http://schemas.openxmlformats.org/drawingml/2006/main" prst="straightConnector1">
            <a:avLst/>
          </a:prstGeom>
          <a:ln xmlns:a="http://schemas.openxmlformats.org/drawingml/2006/main" w="28575">
            <a:solidFill>
              <a:srgbClr val="216B66"/>
            </a:solidFill>
            <a:tailEnd type="triangle" w="med" len="med"/>
          </a:ln>
        </p:spPr>
      </p:cxnSp>
      <p:sp>
        <p:nvSpPr>
          <p:cNvPr id="7" name="slide-title">
            <a:extLst xmlns:a="http://schemas.openxmlformats.org/drawingml/2006/main">
              <a:ext uri="{FF2B5EF4-FFF2-40B4-BE49-F238E27FC236}">
                <a16:creationId xmlns:a16="http://schemas.microsoft.com/office/drawing/2014/main" id="{A42571ED-8C96-45CC-B9DF-B3C509084529}"/>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Pipeline xử lý LLM</a:t>
            </a:r>
          </a:p>
        </p:txBody>
      </p:sp>
      <p:sp>
        <p:nvSpPr>
          <p:cNvPr id="8" name="page-number">
            <a:extLst xmlns:a="http://schemas.openxmlformats.org/drawingml/2006/main">
              <a:ext uri="{FF2B5EF4-FFF2-40B4-BE49-F238E27FC236}">
                <a16:creationId xmlns:a16="http://schemas.microsoft.com/office/drawing/2014/main" id="{115E0DB5-E3B0-4A8D-8549-8F4228C70942}"/>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 / 88</a:t>
            </a:r>
          </a:p>
        </p:txBody>
      </p:sp>
      <p:sp>
        <p:nvSpPr>
          <p:cNvPr id="9" name="source-reference">
            <a:extLst xmlns:a="http://schemas.openxmlformats.org/drawingml/2006/main">
              <a:ext uri="{FF2B5EF4-FFF2-40B4-BE49-F238E27FC236}">
                <a16:creationId xmlns:a16="http://schemas.microsoft.com/office/drawing/2014/main" id="{759C05D9-2A35-441E-8C2D-8C204DC1D0D6}"/>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src/prompts.py   /   src/llm_client.py   /   src/parser.py   /   backend/chat_service.py</a:t>
            </a:r>
          </a:p>
        </p:txBody>
      </p:sp>
      <p:sp>
        <p:nvSpPr>
          <p:cNvPr id="10" name="stage-1">
            <a:extLst xmlns:a="http://schemas.openxmlformats.org/drawingml/2006/main">
              <a:ext uri="{FF2B5EF4-FFF2-40B4-BE49-F238E27FC236}">
                <a16:creationId xmlns:a16="http://schemas.microsoft.com/office/drawing/2014/main" id="{28B837CD-C218-4F4D-BA7E-4FC5D09E28C3}"/>
              </a:ext>
            </a:extLst>
          </p:cNvPr>
          <p:cNvSpPr>
            <a:spLocks xmlns:a="http://schemas.openxmlformats.org/drawingml/2006/main" noGrp="1"/>
          </p:cNvSpPr>
          <p:nvPr/>
        </p:nvSpPr>
        <p:spPr>
          <a:xfrm xmlns:a="http://schemas.openxmlformats.org/drawingml/2006/main">
            <a:off x="76200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1" name="stage-number-1">
            <a:extLst xmlns:a="http://schemas.openxmlformats.org/drawingml/2006/main">
              <a:ext uri="{FF2B5EF4-FFF2-40B4-BE49-F238E27FC236}">
                <a16:creationId xmlns:a16="http://schemas.microsoft.com/office/drawing/2014/main" id="{6A47A642-1422-4C5A-AB28-56E68CF7AD7B}"/>
              </a:ext>
            </a:extLst>
          </p:cNvPr>
          <p:cNvSpPr>
            <a:spLocks xmlns:a="http://schemas.openxmlformats.org/drawingml/2006/main" noGrp="1"/>
          </p:cNvSpPr>
          <p:nvPr/>
        </p:nvSpPr>
        <p:spPr>
          <a:xfrm xmlns:a="http://schemas.openxmlformats.org/drawingml/2006/main">
            <a:off x="97155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01</a:t>
            </a:r>
          </a:p>
        </p:txBody>
      </p:sp>
      <p:sp>
        <p:nvSpPr>
          <p:cNvPr id="12" name="stage-title-1">
            <a:extLst xmlns:a="http://schemas.openxmlformats.org/drawingml/2006/main">
              <a:ext uri="{FF2B5EF4-FFF2-40B4-BE49-F238E27FC236}">
                <a16:creationId xmlns:a16="http://schemas.microsoft.com/office/drawing/2014/main" id="{38F09256-2CFD-43A8-87D8-075E6A7FFBF0}"/>
              </a:ext>
            </a:extLst>
          </p:cNvPr>
          <p:cNvSpPr>
            <a:spLocks xmlns:a="http://schemas.openxmlformats.org/drawingml/2006/main" noGrp="1"/>
          </p:cNvSpPr>
          <p:nvPr/>
        </p:nvSpPr>
        <p:spPr>
          <a:xfrm xmlns:a="http://schemas.openxmlformats.org/drawingml/2006/main">
            <a:off x="97155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Prompt + context</a:t>
            </a:r>
          </a:p>
        </p:txBody>
      </p:sp>
      <p:sp>
        <p:nvSpPr>
          <p:cNvPr id="13" name="stage-body-1">
            <a:extLst xmlns:a="http://schemas.openxmlformats.org/drawingml/2006/main">
              <a:ext uri="{FF2B5EF4-FFF2-40B4-BE49-F238E27FC236}">
                <a16:creationId xmlns:a16="http://schemas.microsoft.com/office/drawing/2014/main" id="{CD187A17-F567-46B1-A68B-23DBE99C0D29}"/>
              </a:ext>
            </a:extLst>
          </p:cNvPr>
          <p:cNvSpPr>
            <a:spLocks xmlns:a="http://schemas.openxmlformats.org/drawingml/2006/main" noGrp="1"/>
          </p:cNvSpPr>
          <p:nvPr/>
        </p:nvSpPr>
        <p:spPr>
          <a:xfrm xmlns:a="http://schemas.openxmlformats.org/drawingml/2006/main">
            <a:off x="97155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Câu hiện tại, catalog, trường thiếu</a:t>
            </a:r>
          </a:p>
        </p:txBody>
      </p:sp>
      <p:sp>
        <p:nvSpPr>
          <p:cNvPr id="14" name="stage-2">
            <a:extLst xmlns:a="http://schemas.openxmlformats.org/drawingml/2006/main">
              <a:ext uri="{FF2B5EF4-FFF2-40B4-BE49-F238E27FC236}">
                <a16:creationId xmlns:a16="http://schemas.microsoft.com/office/drawing/2014/main" id="{C9054B94-1116-4218-9EF7-116181287A61}"/>
              </a:ext>
            </a:extLst>
          </p:cNvPr>
          <p:cNvSpPr>
            <a:spLocks xmlns:a="http://schemas.openxmlformats.org/drawingml/2006/main" noGrp="1"/>
          </p:cNvSpPr>
          <p:nvPr/>
        </p:nvSpPr>
        <p:spPr>
          <a:xfrm xmlns:a="http://schemas.openxmlformats.org/drawingml/2006/main">
            <a:off x="561975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5" name="stage-number-2">
            <a:extLst xmlns:a="http://schemas.openxmlformats.org/drawingml/2006/main">
              <a:ext uri="{FF2B5EF4-FFF2-40B4-BE49-F238E27FC236}">
                <a16:creationId xmlns:a16="http://schemas.microsoft.com/office/drawing/2014/main" id="{2DFDCA6D-5235-42A7-B635-0D8AA5B4D159}"/>
              </a:ext>
            </a:extLst>
          </p:cNvPr>
          <p:cNvSpPr>
            <a:spLocks xmlns:a="http://schemas.openxmlformats.org/drawingml/2006/main" noGrp="1"/>
          </p:cNvSpPr>
          <p:nvPr/>
        </p:nvSpPr>
        <p:spPr>
          <a:xfrm xmlns:a="http://schemas.openxmlformats.org/drawingml/2006/main">
            <a:off x="582930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02</a:t>
            </a:r>
          </a:p>
        </p:txBody>
      </p:sp>
      <p:sp>
        <p:nvSpPr>
          <p:cNvPr id="16" name="stage-title-2">
            <a:extLst xmlns:a="http://schemas.openxmlformats.org/drawingml/2006/main">
              <a:ext uri="{FF2B5EF4-FFF2-40B4-BE49-F238E27FC236}">
                <a16:creationId xmlns:a16="http://schemas.microsoft.com/office/drawing/2014/main" id="{9087939C-C657-4BD5-BC9F-E27D535E6880}"/>
              </a:ext>
            </a:extLst>
          </p:cNvPr>
          <p:cNvSpPr>
            <a:spLocks xmlns:a="http://schemas.openxmlformats.org/drawingml/2006/main" noGrp="1"/>
          </p:cNvSpPr>
          <p:nvPr/>
        </p:nvSpPr>
        <p:spPr>
          <a:xfrm xmlns:a="http://schemas.openxmlformats.org/drawingml/2006/main">
            <a:off x="582930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Quota + HTTP</a:t>
            </a:r>
          </a:p>
        </p:txBody>
      </p:sp>
      <p:sp>
        <p:nvSpPr>
          <p:cNvPr id="17" name="stage-body-2">
            <a:extLst xmlns:a="http://schemas.openxmlformats.org/drawingml/2006/main">
              <a:ext uri="{FF2B5EF4-FFF2-40B4-BE49-F238E27FC236}">
                <a16:creationId xmlns:a16="http://schemas.microsoft.com/office/drawing/2014/main" id="{F522BFE0-44E0-4427-BB50-69CE027DD2B0}"/>
              </a:ext>
            </a:extLst>
          </p:cNvPr>
          <p:cNvSpPr>
            <a:spLocks xmlns:a="http://schemas.openxmlformats.org/drawingml/2006/main" noGrp="1"/>
          </p:cNvSpPr>
          <p:nvPr/>
        </p:nvSpPr>
        <p:spPr>
          <a:xfrm xmlns:a="http://schemas.openxmlformats.org/drawingml/2006/main">
            <a:off x="582930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Giữ lượt gọi và gửi generateContent</a:t>
            </a:r>
          </a:p>
        </p:txBody>
      </p:sp>
      <p:sp>
        <p:nvSpPr>
          <p:cNvPr id="18" name="stage-3">
            <a:extLst xmlns:a="http://schemas.openxmlformats.org/drawingml/2006/main">
              <a:ext uri="{FF2B5EF4-FFF2-40B4-BE49-F238E27FC236}">
                <a16:creationId xmlns:a16="http://schemas.microsoft.com/office/drawing/2014/main" id="{FE64B3D7-DEF3-4761-831F-9B1639725394}"/>
              </a:ext>
            </a:extLst>
          </p:cNvPr>
          <p:cNvSpPr>
            <a:spLocks xmlns:a="http://schemas.openxmlformats.org/drawingml/2006/main" noGrp="1"/>
          </p:cNvSpPr>
          <p:nvPr/>
        </p:nvSpPr>
        <p:spPr>
          <a:xfrm xmlns:a="http://schemas.openxmlformats.org/drawingml/2006/main">
            <a:off x="10477500" y="209550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19" name="stage-number-3">
            <a:extLst xmlns:a="http://schemas.openxmlformats.org/drawingml/2006/main">
              <a:ext uri="{FF2B5EF4-FFF2-40B4-BE49-F238E27FC236}">
                <a16:creationId xmlns:a16="http://schemas.microsoft.com/office/drawing/2014/main" id="{FAFA830C-DB06-42C8-B218-57991E52D8AB}"/>
              </a:ext>
            </a:extLst>
          </p:cNvPr>
          <p:cNvSpPr>
            <a:spLocks xmlns:a="http://schemas.openxmlformats.org/drawingml/2006/main" noGrp="1"/>
          </p:cNvSpPr>
          <p:nvPr/>
        </p:nvSpPr>
        <p:spPr>
          <a:xfrm xmlns:a="http://schemas.openxmlformats.org/drawingml/2006/main">
            <a:off x="10687050" y="22669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03</a:t>
            </a:r>
          </a:p>
        </p:txBody>
      </p:sp>
      <p:sp>
        <p:nvSpPr>
          <p:cNvPr id="20" name="stage-title-3">
            <a:extLst xmlns:a="http://schemas.openxmlformats.org/drawingml/2006/main">
              <a:ext uri="{FF2B5EF4-FFF2-40B4-BE49-F238E27FC236}">
                <a16:creationId xmlns:a16="http://schemas.microsoft.com/office/drawing/2014/main" id="{CC1B5B99-ADC1-438D-9E55-E1A90CA78DBA}"/>
              </a:ext>
            </a:extLst>
          </p:cNvPr>
          <p:cNvSpPr>
            <a:spLocks xmlns:a="http://schemas.openxmlformats.org/drawingml/2006/main" noGrp="1"/>
          </p:cNvSpPr>
          <p:nvPr/>
        </p:nvSpPr>
        <p:spPr>
          <a:xfrm xmlns:a="http://schemas.openxmlformats.org/drawingml/2006/main">
            <a:off x="10687050" y="268605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LLMResult</a:t>
            </a:r>
          </a:p>
        </p:txBody>
      </p:sp>
      <p:sp>
        <p:nvSpPr>
          <p:cNvPr id="21" name="stage-body-3">
            <a:extLst xmlns:a="http://schemas.openxmlformats.org/drawingml/2006/main">
              <a:ext uri="{FF2B5EF4-FFF2-40B4-BE49-F238E27FC236}">
                <a16:creationId xmlns:a16="http://schemas.microsoft.com/office/drawing/2014/main" id="{3141199D-450F-4D1F-977B-497CA7A741CC}"/>
              </a:ext>
            </a:extLst>
          </p:cNvPr>
          <p:cNvSpPr>
            <a:spLocks xmlns:a="http://schemas.openxmlformats.org/drawingml/2006/main" noGrp="1"/>
          </p:cNvSpPr>
          <p:nvPr/>
        </p:nvSpPr>
        <p:spPr>
          <a:xfrm xmlns:a="http://schemas.openxmlformats.org/drawingml/2006/main">
            <a:off x="10687050" y="323850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Text JSON, usage và retry_count</a:t>
            </a:r>
          </a:p>
        </p:txBody>
      </p:sp>
      <p:sp>
        <p:nvSpPr>
          <p:cNvPr id="22" name="stage-4">
            <a:extLst xmlns:a="http://schemas.openxmlformats.org/drawingml/2006/main">
              <a:ext uri="{FF2B5EF4-FFF2-40B4-BE49-F238E27FC236}">
                <a16:creationId xmlns:a16="http://schemas.microsoft.com/office/drawing/2014/main" id="{0054D10E-30D9-4336-B0ED-AAE76FF9F3C8}"/>
              </a:ext>
            </a:extLst>
          </p:cNvPr>
          <p:cNvSpPr>
            <a:spLocks xmlns:a="http://schemas.openxmlformats.org/drawingml/2006/main" noGrp="1"/>
          </p:cNvSpPr>
          <p:nvPr/>
        </p:nvSpPr>
        <p:spPr>
          <a:xfrm xmlns:a="http://schemas.openxmlformats.org/drawingml/2006/main">
            <a:off x="1047750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23" name="stage-number-4">
            <a:extLst xmlns:a="http://schemas.openxmlformats.org/drawingml/2006/main">
              <a:ext uri="{FF2B5EF4-FFF2-40B4-BE49-F238E27FC236}">
                <a16:creationId xmlns:a16="http://schemas.microsoft.com/office/drawing/2014/main" id="{1130D60C-E3E3-40AE-AD2C-5CC79ECD56C7}"/>
              </a:ext>
            </a:extLst>
          </p:cNvPr>
          <p:cNvSpPr>
            <a:spLocks xmlns:a="http://schemas.openxmlformats.org/drawingml/2006/main" noGrp="1"/>
          </p:cNvSpPr>
          <p:nvPr/>
        </p:nvSpPr>
        <p:spPr>
          <a:xfrm xmlns:a="http://schemas.openxmlformats.org/drawingml/2006/main">
            <a:off x="1068705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04</a:t>
            </a:r>
          </a:p>
        </p:txBody>
      </p:sp>
      <p:sp>
        <p:nvSpPr>
          <p:cNvPr id="24" name="stage-title-4">
            <a:extLst xmlns:a="http://schemas.openxmlformats.org/drawingml/2006/main">
              <a:ext uri="{FF2B5EF4-FFF2-40B4-BE49-F238E27FC236}">
                <a16:creationId xmlns:a16="http://schemas.microsoft.com/office/drawing/2014/main" id="{D87E306F-DA7A-406A-8DB8-D3B3C4FCC42B}"/>
              </a:ext>
            </a:extLst>
          </p:cNvPr>
          <p:cNvSpPr>
            <a:spLocks xmlns:a="http://schemas.openxmlformats.org/drawingml/2006/main" noGrp="1"/>
          </p:cNvSpPr>
          <p:nvPr/>
        </p:nvSpPr>
        <p:spPr>
          <a:xfrm xmlns:a="http://schemas.openxmlformats.org/drawingml/2006/main">
            <a:off x="1068705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Parse + schema</a:t>
            </a:r>
          </a:p>
        </p:txBody>
      </p:sp>
      <p:sp>
        <p:nvSpPr>
          <p:cNvPr id="25" name="stage-body-4">
            <a:extLst xmlns:a="http://schemas.openxmlformats.org/drawingml/2006/main">
              <a:ext uri="{FF2B5EF4-FFF2-40B4-BE49-F238E27FC236}">
                <a16:creationId xmlns:a16="http://schemas.microsoft.com/office/drawing/2014/main" id="{D90E6673-AF5E-4500-90FF-3DA6A4AD0E20}"/>
              </a:ext>
            </a:extLst>
          </p:cNvPr>
          <p:cNvSpPr>
            <a:spLocks xmlns:a="http://schemas.openxmlformats.org/drawingml/2006/main" noGrp="1"/>
          </p:cNvSpPr>
          <p:nvPr/>
        </p:nvSpPr>
        <p:spPr>
          <a:xfrm xmlns:a="http://schemas.openxmlformats.org/drawingml/2006/main">
            <a:off x="1068705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JSON nghiêm ngặt, kiểu và enum</a:t>
            </a:r>
          </a:p>
        </p:txBody>
      </p:sp>
      <p:sp>
        <p:nvSpPr>
          <p:cNvPr id="26" name="stage-5">
            <a:extLst xmlns:a="http://schemas.openxmlformats.org/drawingml/2006/main">
              <a:ext uri="{FF2B5EF4-FFF2-40B4-BE49-F238E27FC236}">
                <a16:creationId xmlns:a16="http://schemas.microsoft.com/office/drawing/2014/main" id="{E79CC7D4-769C-4494-A918-FBB804EDD401}"/>
              </a:ext>
            </a:extLst>
          </p:cNvPr>
          <p:cNvSpPr>
            <a:spLocks xmlns:a="http://schemas.openxmlformats.org/drawingml/2006/main" noGrp="1"/>
          </p:cNvSpPr>
          <p:nvPr/>
        </p:nvSpPr>
        <p:spPr>
          <a:xfrm xmlns:a="http://schemas.openxmlformats.org/drawingml/2006/main">
            <a:off x="561975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27" name="stage-number-5">
            <a:extLst xmlns:a="http://schemas.openxmlformats.org/drawingml/2006/main">
              <a:ext uri="{FF2B5EF4-FFF2-40B4-BE49-F238E27FC236}">
                <a16:creationId xmlns:a16="http://schemas.microsoft.com/office/drawing/2014/main" id="{FB00E3DD-4473-4F28-A228-1210BE5BA410}"/>
              </a:ext>
            </a:extLst>
          </p:cNvPr>
          <p:cNvSpPr>
            <a:spLocks xmlns:a="http://schemas.openxmlformats.org/drawingml/2006/main" noGrp="1"/>
          </p:cNvSpPr>
          <p:nvPr/>
        </p:nvSpPr>
        <p:spPr>
          <a:xfrm xmlns:a="http://schemas.openxmlformats.org/drawingml/2006/main">
            <a:off x="582930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05</a:t>
            </a:r>
          </a:p>
        </p:txBody>
      </p:sp>
      <p:sp>
        <p:nvSpPr>
          <p:cNvPr id="28" name="stage-title-5">
            <a:extLst xmlns:a="http://schemas.openxmlformats.org/drawingml/2006/main">
              <a:ext uri="{FF2B5EF4-FFF2-40B4-BE49-F238E27FC236}">
                <a16:creationId xmlns:a16="http://schemas.microsoft.com/office/drawing/2014/main" id="{32211EC9-8CF7-4481-B623-7FD1EB9EA18A}"/>
              </a:ext>
            </a:extLst>
          </p:cNvPr>
          <p:cNvSpPr>
            <a:spLocks xmlns:a="http://schemas.openxmlformats.org/drawingml/2006/main" noGrp="1"/>
          </p:cNvSpPr>
          <p:nvPr/>
        </p:nvSpPr>
        <p:spPr>
          <a:xfrm xmlns:a="http://schemas.openxmlformats.org/drawingml/2006/main">
            <a:off x="582930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Evidence + context</a:t>
            </a:r>
          </a:p>
        </p:txBody>
      </p:sp>
      <p:sp>
        <p:nvSpPr>
          <p:cNvPr id="29" name="stage-body-5">
            <a:extLst xmlns:a="http://schemas.openxmlformats.org/drawingml/2006/main">
              <a:ext uri="{FF2B5EF4-FFF2-40B4-BE49-F238E27FC236}">
                <a16:creationId xmlns:a16="http://schemas.microsoft.com/office/drawing/2014/main" id="{DD150914-0B1B-40FC-97DD-1AD5DE1F3305}"/>
              </a:ext>
            </a:extLst>
          </p:cNvPr>
          <p:cNvSpPr>
            <a:spLocks xmlns:a="http://schemas.openxmlformats.org/drawingml/2006/main" noGrp="1"/>
          </p:cNvSpPr>
          <p:nvPr/>
        </p:nvSpPr>
        <p:spPr>
          <a:xfrm xmlns:a="http://schemas.openxmlformats.org/drawingml/2006/main">
            <a:off x="582930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Bỏ lượng tự đoán, kiểm tra, ghép</a:t>
            </a:r>
          </a:p>
        </p:txBody>
      </p:sp>
      <p:sp>
        <p:nvSpPr>
          <p:cNvPr id="30" name="stage-6">
            <a:extLst xmlns:a="http://schemas.openxmlformats.org/drawingml/2006/main">
              <a:ext uri="{FF2B5EF4-FFF2-40B4-BE49-F238E27FC236}">
                <a16:creationId xmlns:a16="http://schemas.microsoft.com/office/drawing/2014/main" id="{B7496599-F9B9-4453-9898-CFFD3F0DFA77}"/>
              </a:ext>
            </a:extLst>
          </p:cNvPr>
          <p:cNvSpPr>
            <a:spLocks xmlns:a="http://schemas.openxmlformats.org/drawingml/2006/main" noGrp="1"/>
          </p:cNvSpPr>
          <p:nvPr/>
        </p:nvSpPr>
        <p:spPr>
          <a:xfrm xmlns:a="http://schemas.openxmlformats.org/drawingml/2006/main">
            <a:off x="762000" y="4857750"/>
            <a:ext cx="4000500" cy="1809750"/>
          </a:xfrm>
          <a:prstGeom xmlns:a="http://schemas.openxmlformats.org/drawingml/2006/main" prst="rect">
            <a:avLst/>
          </a:prstGeom>
          <a:solidFill xmlns:a="http://schemas.openxmlformats.org/drawingml/2006/main">
            <a:srgbClr val="EAF0E9"/>
          </a:solidFill>
          <a:ln xmlns:a="http://schemas.openxmlformats.org/drawingml/2006/main" w="14288">
            <a:solidFill>
              <a:srgbClr val="C6D2CB"/>
            </a:solidFill>
          </a:ln>
        </p:spPr>
      </p:sp>
      <p:sp>
        <p:nvSpPr>
          <p:cNvPr id="31" name="stage-number-6">
            <a:extLst xmlns:a="http://schemas.openxmlformats.org/drawingml/2006/main">
              <a:ext uri="{FF2B5EF4-FFF2-40B4-BE49-F238E27FC236}">
                <a16:creationId xmlns:a16="http://schemas.microsoft.com/office/drawing/2014/main" id="{6CBC837A-6855-4FD3-8428-1173068604B1}"/>
              </a:ext>
            </a:extLst>
          </p:cNvPr>
          <p:cNvSpPr>
            <a:spLocks xmlns:a="http://schemas.openxmlformats.org/drawingml/2006/main" noGrp="1"/>
          </p:cNvSpPr>
          <p:nvPr/>
        </p:nvSpPr>
        <p:spPr>
          <a:xfrm xmlns:a="http://schemas.openxmlformats.org/drawingml/2006/main">
            <a:off x="971550" y="502920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216B66"/>
                </a:solidFill>
                <a:latin typeface="Arial"/>
                <a:ea typeface="Arial"/>
                <a:cs typeface="Arial"/>
              </a:defRPr>
            </a:defPPr>
            <a:lvl1pPr>
              <a:defRPr sz="1725" b="1">
                <a:solidFill>
                  <a:srgbClr val="216B66"/>
                </a:solidFill>
                <a:latin typeface="Arial"/>
                <a:ea typeface="Arial"/>
                <a:cs typeface="Arial"/>
              </a:defRPr>
            </a:lvl1pPr>
            <a:lvl2pPr>
              <a:defRPr sz="1725" b="1">
                <a:solidFill>
                  <a:srgbClr val="216B66"/>
                </a:solidFill>
                <a:latin typeface="Arial"/>
                <a:ea typeface="Arial"/>
                <a:cs typeface="Arial"/>
              </a:defRPr>
            </a:lvl2pPr>
            <a:lvl3pPr>
              <a:defRPr sz="1725" b="1">
                <a:solidFill>
                  <a:srgbClr val="216B66"/>
                </a:solidFill>
                <a:latin typeface="Arial"/>
                <a:ea typeface="Arial"/>
                <a:cs typeface="Arial"/>
              </a:defRPr>
            </a:lvl3pPr>
            <a:lvl4pPr>
              <a:defRPr sz="1725" b="1">
                <a:solidFill>
                  <a:srgbClr val="216B66"/>
                </a:solidFill>
                <a:latin typeface="Arial"/>
                <a:ea typeface="Arial"/>
                <a:cs typeface="Arial"/>
              </a:defRPr>
            </a:lvl4pPr>
            <a:lvl5pPr>
              <a:defRPr sz="1725" b="1">
                <a:solidFill>
                  <a:srgbClr val="216B66"/>
                </a:solidFill>
                <a:latin typeface="Arial"/>
                <a:ea typeface="Arial"/>
                <a:cs typeface="Arial"/>
              </a:defRPr>
            </a:lvl5pPr>
            <a:lvl6pPr>
              <a:defRPr sz="1725" b="1">
                <a:solidFill>
                  <a:srgbClr val="216B66"/>
                </a:solidFill>
                <a:latin typeface="Arial"/>
                <a:ea typeface="Arial"/>
                <a:cs typeface="Arial"/>
              </a:defRPr>
            </a:lvl6pPr>
            <a:lvl7pPr>
              <a:defRPr sz="1725" b="1">
                <a:solidFill>
                  <a:srgbClr val="216B66"/>
                </a:solidFill>
                <a:latin typeface="Arial"/>
                <a:ea typeface="Arial"/>
                <a:cs typeface="Arial"/>
              </a:defRPr>
            </a:lvl7pPr>
            <a:lvl8pPr>
              <a:defRPr sz="1725" b="1">
                <a:solidFill>
                  <a:srgbClr val="216B66"/>
                </a:solidFill>
                <a:latin typeface="Arial"/>
                <a:ea typeface="Arial"/>
                <a:cs typeface="Arial"/>
              </a:defRPr>
            </a:lvl8pPr>
            <a:lvl9pPr>
              <a:defRPr sz="1725" b="1">
                <a:solidFill>
                  <a:srgbClr val="216B66"/>
                </a:solidFill>
                <a:latin typeface="Arial"/>
                <a:ea typeface="Arial"/>
                <a:cs typeface="Arial"/>
              </a:defRPr>
            </a:lvl9pPr>
          </a:lstStyle>
          <a:p xmlns:a="http://schemas.openxmlformats.org/drawingml/2006/main">
            <a:pPr>
              <a:lnSpc>
                <a:spcPct val="112000"/>
              </a:lnSpc>
              <a:buNone/>
              <a:defRPr sz="1725" b="1">
                <a:solidFill>
                  <a:srgbClr val="216B66"/>
                </a:solidFill>
                <a:latin typeface="Arial"/>
                <a:ea typeface="Arial"/>
                <a:cs typeface="Arial"/>
              </a:defRPr>
            </a:pPr>
            <a:r>
              <a:rPr sz="1725" b="1">
                <a:solidFill>
                  <a:srgbClr val="216B66"/>
                </a:solidFill>
                <a:latin typeface="Arial"/>
                <a:ea typeface="Arial"/>
                <a:cs typeface="Arial"/>
              </a:rPr>
              <a:t>06</a:t>
            </a:r>
          </a:p>
        </p:txBody>
      </p:sp>
      <p:sp>
        <p:nvSpPr>
          <p:cNvPr id="32" name="stage-title-6">
            <a:extLst xmlns:a="http://schemas.openxmlformats.org/drawingml/2006/main">
              <a:ext uri="{FF2B5EF4-FFF2-40B4-BE49-F238E27FC236}">
                <a16:creationId xmlns:a16="http://schemas.microsoft.com/office/drawing/2014/main" id="{C0B1D28A-DF94-4F06-93EB-119220696FFB}"/>
              </a:ext>
            </a:extLst>
          </p:cNvPr>
          <p:cNvSpPr>
            <a:spLocks xmlns:a="http://schemas.openxmlformats.org/drawingml/2006/main" noGrp="1"/>
          </p:cNvSpPr>
          <p:nvPr/>
        </p:nvSpPr>
        <p:spPr>
          <a:xfrm xmlns:a="http://schemas.openxmlformats.org/drawingml/2006/main">
            <a:off x="971550" y="5448300"/>
            <a:ext cx="3581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2E32"/>
                </a:solidFill>
                <a:latin typeface="Arial"/>
                <a:ea typeface="Arial"/>
                <a:cs typeface="Arial"/>
              </a:defRPr>
            </a:defPPr>
            <a:lvl1pPr>
              <a:defRPr sz="2175" b="1">
                <a:solidFill>
                  <a:srgbClr val="172E32"/>
                </a:solidFill>
                <a:latin typeface="Arial"/>
                <a:ea typeface="Arial"/>
                <a:cs typeface="Arial"/>
              </a:defRPr>
            </a:lvl1pPr>
            <a:lvl2pPr>
              <a:defRPr sz="2175" b="1">
                <a:solidFill>
                  <a:srgbClr val="172E32"/>
                </a:solidFill>
                <a:latin typeface="Arial"/>
                <a:ea typeface="Arial"/>
                <a:cs typeface="Arial"/>
              </a:defRPr>
            </a:lvl2pPr>
            <a:lvl3pPr>
              <a:defRPr sz="2175" b="1">
                <a:solidFill>
                  <a:srgbClr val="172E32"/>
                </a:solidFill>
                <a:latin typeface="Arial"/>
                <a:ea typeface="Arial"/>
                <a:cs typeface="Arial"/>
              </a:defRPr>
            </a:lvl3pPr>
            <a:lvl4pPr>
              <a:defRPr sz="2175" b="1">
                <a:solidFill>
                  <a:srgbClr val="172E32"/>
                </a:solidFill>
                <a:latin typeface="Arial"/>
                <a:ea typeface="Arial"/>
                <a:cs typeface="Arial"/>
              </a:defRPr>
            </a:lvl4pPr>
            <a:lvl5pPr>
              <a:defRPr sz="2175" b="1">
                <a:solidFill>
                  <a:srgbClr val="172E32"/>
                </a:solidFill>
                <a:latin typeface="Arial"/>
                <a:ea typeface="Arial"/>
                <a:cs typeface="Arial"/>
              </a:defRPr>
            </a:lvl5pPr>
            <a:lvl6pPr>
              <a:defRPr sz="2175" b="1">
                <a:solidFill>
                  <a:srgbClr val="172E32"/>
                </a:solidFill>
                <a:latin typeface="Arial"/>
                <a:ea typeface="Arial"/>
                <a:cs typeface="Arial"/>
              </a:defRPr>
            </a:lvl6pPr>
            <a:lvl7pPr>
              <a:defRPr sz="2175" b="1">
                <a:solidFill>
                  <a:srgbClr val="172E32"/>
                </a:solidFill>
                <a:latin typeface="Arial"/>
                <a:ea typeface="Arial"/>
                <a:cs typeface="Arial"/>
              </a:defRPr>
            </a:lvl7pPr>
            <a:lvl8pPr>
              <a:defRPr sz="2175" b="1">
                <a:solidFill>
                  <a:srgbClr val="172E32"/>
                </a:solidFill>
                <a:latin typeface="Arial"/>
                <a:ea typeface="Arial"/>
                <a:cs typeface="Arial"/>
              </a:defRPr>
            </a:lvl8pPr>
            <a:lvl9pPr>
              <a:defRPr sz="2175" b="1">
                <a:solidFill>
                  <a:srgbClr val="172E32"/>
                </a:solidFill>
                <a:latin typeface="Arial"/>
                <a:ea typeface="Arial"/>
                <a:cs typeface="Arial"/>
              </a:defRPr>
            </a:lvl9pPr>
          </a:lstStyle>
          <a:p xmlns:a="http://schemas.openxmlformats.org/drawingml/2006/main">
            <a:pPr>
              <a:lnSpc>
                <a:spcPct val="112000"/>
              </a:lnSpc>
              <a:buNone/>
              <a:defRPr sz="2175" b="1">
                <a:solidFill>
                  <a:srgbClr val="172E32"/>
                </a:solidFill>
                <a:latin typeface="Arial"/>
                <a:ea typeface="Arial"/>
                <a:cs typeface="Arial"/>
              </a:defRPr>
            </a:pPr>
            <a:r>
              <a:rPr sz="2175" b="1">
                <a:solidFill>
                  <a:srgbClr val="172E32"/>
                </a:solidFill>
                <a:latin typeface="Arial"/>
                <a:ea typeface="Arial"/>
                <a:cs typeface="Arial"/>
              </a:rPr>
              <a:t>Business action</a:t>
            </a:r>
          </a:p>
        </p:txBody>
      </p:sp>
      <p:sp>
        <p:nvSpPr>
          <p:cNvPr id="33" name="stage-body-6">
            <a:extLst xmlns:a="http://schemas.openxmlformats.org/drawingml/2006/main">
              <a:ext uri="{FF2B5EF4-FFF2-40B4-BE49-F238E27FC236}">
                <a16:creationId xmlns:a16="http://schemas.microsoft.com/office/drawing/2014/main" id="{42E7B332-1EB5-482A-B6AF-8173FCF7BDA1}"/>
              </a:ext>
            </a:extLst>
          </p:cNvPr>
          <p:cNvSpPr>
            <a:spLocks xmlns:a="http://schemas.openxmlformats.org/drawingml/2006/main" noGrp="1"/>
          </p:cNvSpPr>
          <p:nvPr/>
        </p:nvSpPr>
        <p:spPr>
          <a:xfrm xmlns:a="http://schemas.openxmlformats.org/drawingml/2006/main">
            <a:off x="971550" y="6000750"/>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4D6063"/>
                </a:solidFill>
                <a:latin typeface="Arial"/>
                <a:ea typeface="Arial"/>
                <a:cs typeface="Arial"/>
              </a:defRPr>
            </a:defPPr>
            <a:lvl1pPr>
              <a:defRPr sz="1875" b="0">
                <a:solidFill>
                  <a:srgbClr val="4D6063"/>
                </a:solidFill>
                <a:latin typeface="Arial"/>
                <a:ea typeface="Arial"/>
                <a:cs typeface="Arial"/>
              </a:defRPr>
            </a:lvl1pPr>
            <a:lvl2pPr>
              <a:defRPr sz="1875" b="0">
                <a:solidFill>
                  <a:srgbClr val="4D6063"/>
                </a:solidFill>
                <a:latin typeface="Arial"/>
                <a:ea typeface="Arial"/>
                <a:cs typeface="Arial"/>
              </a:defRPr>
            </a:lvl2pPr>
            <a:lvl3pPr>
              <a:defRPr sz="1875" b="0">
                <a:solidFill>
                  <a:srgbClr val="4D6063"/>
                </a:solidFill>
                <a:latin typeface="Arial"/>
                <a:ea typeface="Arial"/>
                <a:cs typeface="Arial"/>
              </a:defRPr>
            </a:lvl3pPr>
            <a:lvl4pPr>
              <a:defRPr sz="1875" b="0">
                <a:solidFill>
                  <a:srgbClr val="4D6063"/>
                </a:solidFill>
                <a:latin typeface="Arial"/>
                <a:ea typeface="Arial"/>
                <a:cs typeface="Arial"/>
              </a:defRPr>
            </a:lvl4pPr>
            <a:lvl5pPr>
              <a:defRPr sz="1875" b="0">
                <a:solidFill>
                  <a:srgbClr val="4D6063"/>
                </a:solidFill>
                <a:latin typeface="Arial"/>
                <a:ea typeface="Arial"/>
                <a:cs typeface="Arial"/>
              </a:defRPr>
            </a:lvl5pPr>
            <a:lvl6pPr>
              <a:defRPr sz="1875" b="0">
                <a:solidFill>
                  <a:srgbClr val="4D6063"/>
                </a:solidFill>
                <a:latin typeface="Arial"/>
                <a:ea typeface="Arial"/>
                <a:cs typeface="Arial"/>
              </a:defRPr>
            </a:lvl6pPr>
            <a:lvl7pPr>
              <a:defRPr sz="1875" b="0">
                <a:solidFill>
                  <a:srgbClr val="4D6063"/>
                </a:solidFill>
                <a:latin typeface="Arial"/>
                <a:ea typeface="Arial"/>
                <a:cs typeface="Arial"/>
              </a:defRPr>
            </a:lvl7pPr>
            <a:lvl8pPr>
              <a:defRPr sz="1875" b="0">
                <a:solidFill>
                  <a:srgbClr val="4D6063"/>
                </a:solidFill>
                <a:latin typeface="Arial"/>
                <a:ea typeface="Arial"/>
                <a:cs typeface="Arial"/>
              </a:defRPr>
            </a:lvl8pPr>
            <a:lvl9pPr>
              <a:defRPr sz="1875" b="0">
                <a:solidFill>
                  <a:srgbClr val="4D6063"/>
                </a:solidFill>
                <a:latin typeface="Arial"/>
                <a:ea typeface="Arial"/>
                <a:cs typeface="Arial"/>
              </a:defRPr>
            </a:lvl9pPr>
          </a:lstStyle>
          <a:p xmlns:a="http://schemas.openxmlformats.org/drawingml/2006/main">
            <a:pPr>
              <a:lnSpc>
                <a:spcPct val="112000"/>
              </a:lnSpc>
              <a:buNone/>
              <a:defRPr sz="1875" b="0">
                <a:solidFill>
                  <a:srgbClr val="4D6063"/>
                </a:solidFill>
                <a:latin typeface="Arial"/>
                <a:ea typeface="Arial"/>
                <a:cs typeface="Arial"/>
              </a:defRPr>
            </a:pPr>
            <a:r>
              <a:rPr sz="1875" b="0">
                <a:solidFill>
                  <a:srgbClr val="4D6063"/>
                </a:solidFill>
                <a:latin typeface="Arial"/>
                <a:ea typeface="Arial"/>
                <a:cs typeface="Arial"/>
              </a:rPr>
              <a:t>Đọc DB, hỏi thêm, tạo hoặc sửa đơn</a:t>
            </a:r>
          </a:p>
        </p:txBody>
      </p:sp>
      <p:sp>
        <p:nvSpPr>
          <p:cNvPr id="34" name="pipeline-caption">
            <a:extLst xmlns:a="http://schemas.openxmlformats.org/drawingml/2006/main">
              <a:ext uri="{FF2B5EF4-FFF2-40B4-BE49-F238E27FC236}">
                <a16:creationId xmlns:a16="http://schemas.microsoft.com/office/drawing/2014/main" id="{3459F9D4-F32C-41B4-A11B-2FC7F4D9F865}"/>
              </a:ext>
            </a:extLst>
          </p:cNvPr>
          <p:cNvSpPr>
            <a:spLocks xmlns:a="http://schemas.openxmlformats.org/drawingml/2006/main" noGrp="1"/>
          </p:cNvSpPr>
          <p:nvPr/>
        </p:nvSpPr>
        <p:spPr>
          <a:xfrm xmlns:a="http://schemas.openxmlformats.org/drawingml/2006/main">
            <a:off x="762000" y="7191375"/>
            <a:ext cx="1352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4D6063"/>
                </a:solidFill>
                <a:latin typeface="Arial"/>
                <a:ea typeface="Arial"/>
                <a:cs typeface="Arial"/>
              </a:defRPr>
            </a:defPPr>
            <a:lvl1pPr>
              <a:defRPr sz="2025" b="0">
                <a:solidFill>
                  <a:srgbClr val="4D6063"/>
                </a:solidFill>
                <a:latin typeface="Arial"/>
                <a:ea typeface="Arial"/>
                <a:cs typeface="Arial"/>
              </a:defRPr>
            </a:lvl1pPr>
            <a:lvl2pPr>
              <a:defRPr sz="2025" b="0">
                <a:solidFill>
                  <a:srgbClr val="4D6063"/>
                </a:solidFill>
                <a:latin typeface="Arial"/>
                <a:ea typeface="Arial"/>
                <a:cs typeface="Arial"/>
              </a:defRPr>
            </a:lvl2pPr>
            <a:lvl3pPr>
              <a:defRPr sz="2025" b="0">
                <a:solidFill>
                  <a:srgbClr val="4D6063"/>
                </a:solidFill>
                <a:latin typeface="Arial"/>
                <a:ea typeface="Arial"/>
                <a:cs typeface="Arial"/>
              </a:defRPr>
            </a:lvl3pPr>
            <a:lvl4pPr>
              <a:defRPr sz="2025" b="0">
                <a:solidFill>
                  <a:srgbClr val="4D6063"/>
                </a:solidFill>
                <a:latin typeface="Arial"/>
                <a:ea typeface="Arial"/>
                <a:cs typeface="Arial"/>
              </a:defRPr>
            </a:lvl4pPr>
            <a:lvl5pPr>
              <a:defRPr sz="2025" b="0">
                <a:solidFill>
                  <a:srgbClr val="4D6063"/>
                </a:solidFill>
                <a:latin typeface="Arial"/>
                <a:ea typeface="Arial"/>
                <a:cs typeface="Arial"/>
              </a:defRPr>
            </a:lvl5pPr>
            <a:lvl6pPr>
              <a:defRPr sz="2025" b="0">
                <a:solidFill>
                  <a:srgbClr val="4D6063"/>
                </a:solidFill>
                <a:latin typeface="Arial"/>
                <a:ea typeface="Arial"/>
                <a:cs typeface="Arial"/>
              </a:defRPr>
            </a:lvl6pPr>
            <a:lvl7pPr>
              <a:defRPr sz="2025" b="0">
                <a:solidFill>
                  <a:srgbClr val="4D6063"/>
                </a:solidFill>
                <a:latin typeface="Arial"/>
                <a:ea typeface="Arial"/>
                <a:cs typeface="Arial"/>
              </a:defRPr>
            </a:lvl7pPr>
            <a:lvl8pPr>
              <a:defRPr sz="2025" b="0">
                <a:solidFill>
                  <a:srgbClr val="4D6063"/>
                </a:solidFill>
                <a:latin typeface="Arial"/>
                <a:ea typeface="Arial"/>
                <a:cs typeface="Arial"/>
              </a:defRPr>
            </a:lvl8pPr>
            <a:lvl9pPr>
              <a:defRPr sz="2025" b="0">
                <a:solidFill>
                  <a:srgbClr val="4D6063"/>
                </a:solidFill>
                <a:latin typeface="Arial"/>
                <a:ea typeface="Arial"/>
                <a:cs typeface="Arial"/>
              </a:defRPr>
            </a:lvl9pPr>
          </a:lstStyle>
          <a:p xmlns:a="http://schemas.openxmlformats.org/drawingml/2006/main">
            <a:pPr>
              <a:lnSpc>
                <a:spcPct val="112000"/>
              </a:lnSpc>
              <a:buNone/>
              <a:defRPr sz="2025" b="0">
                <a:solidFill>
                  <a:srgbClr val="4D6063"/>
                </a:solidFill>
                <a:latin typeface="Arial"/>
                <a:ea typeface="Arial"/>
                <a:cs typeface="Arial"/>
              </a:defRPr>
            </a:pPr>
            <a:r>
              <a:rPr sz="2025" b="0">
                <a:solidFill>
                  <a:srgbClr val="4D6063"/>
                </a:solidFill>
                <a:latin typeface="Arial"/>
                <a:ea typeface="Arial"/>
                <a:cs typeface="Arial"/>
              </a:rPr>
              <a:t>generate() trả dữ liệu trích xuất. Business service và database quyết định hành động cuối.</a:t>
            </a:r>
          </a:p>
        </p:txBody>
      </p:sp>
    </p:spTree>
    <p:extLst>
      <p:ext uri="{BB962C8B-B14F-4D97-AF65-F5344CB8AC3E}">
        <p14:creationId xmlns:p14="http://schemas.microsoft.com/office/powerpoint/2010/main" val="1115099821"/>
      </p:ext>
    </p:extLst>
  </p:cSld>
</p:sld>
</file>

<file path=ppt/slides/slide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6611AC7-70C9-4EBA-A328-2EC642027203}"/>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Nơi nhận request chat</a:t>
            </a:r>
          </a:p>
        </p:txBody>
      </p:sp>
      <p:sp>
        <p:nvSpPr>
          <p:cNvPr id="3" name="page-number">
            <a:extLst xmlns:a="http://schemas.openxmlformats.org/drawingml/2006/main">
              <a:ext uri="{FF2B5EF4-FFF2-40B4-BE49-F238E27FC236}">
                <a16:creationId xmlns:a16="http://schemas.microsoft.com/office/drawing/2014/main" id="{551F4398-A1B2-4965-AE7E-97586CAA11C1}"/>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 / 88</a:t>
            </a:r>
          </a:p>
        </p:txBody>
      </p:sp>
      <p:sp>
        <p:nvSpPr>
          <p:cNvPr id="4" name="source-reference">
            <a:extLst xmlns:a="http://schemas.openxmlformats.org/drawingml/2006/main">
              <a:ext uri="{FF2B5EF4-FFF2-40B4-BE49-F238E27FC236}">
                <a16:creationId xmlns:a16="http://schemas.microsoft.com/office/drawing/2014/main" id="{CCCA3E9F-0993-4E8E-8F44-87B852E6FD8C}"/>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backend/main.py:237–244</a:t>
            </a:r>
          </a:p>
        </p:txBody>
      </p:sp>
      <p:sp>
        <p:nvSpPr>
          <p:cNvPr id="5" name="code-intro">
            <a:extLst xmlns:a="http://schemas.openxmlformats.org/drawingml/2006/main">
              <a:ext uri="{FF2B5EF4-FFF2-40B4-BE49-F238E27FC236}">
                <a16:creationId xmlns:a16="http://schemas.microsoft.com/office/drawing/2014/main" id="{D030E09B-0DAD-4EAF-9221-BDEAE4EF9435}"/>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Endpoint POST /api/chat chuyển body.message sang workflow sau khi xác thực phiên.</a:t>
            </a:r>
          </a:p>
        </p:txBody>
      </p:sp>
      <p:sp>
        <p:nvSpPr>
          <p:cNvPr id="6" name="source-code">
            <a:extLst xmlns:a="http://schemas.openxmlformats.org/drawingml/2006/main">
              <a:ext uri="{FF2B5EF4-FFF2-40B4-BE49-F238E27FC236}">
                <a16:creationId xmlns:a16="http://schemas.microsoft.com/office/drawing/2014/main" id="{0D65B75F-3D26-4C08-8455-78F21588A463}"/>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237      @app.post("/api/chat")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238      # Nhận tin nhắn, kiểm tra phiên/giới hạn gọi chat rồi chuyển sang luồng xử lý bot.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239      def chat_message(body: ChatRequest, request: Request):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240          key = request_key(request.headers.get("Idempotency-Key"))</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241          with session_db(request) as (conn, session, ctx):</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242              limiter.check("chat", session["owner_id"], settings.chat_limit)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243              return chat(conn, ctx, session, body.message, app.state.llm_client, key)</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244  </a:t>
            </a:r>
          </a:p>
        </p:txBody>
      </p:sp>
      <p:sp>
        <p:nvSpPr>
          <p:cNvPr id="7" name="code-lesson">
            <a:extLst xmlns:a="http://schemas.openxmlformats.org/drawingml/2006/main">
              <a:ext uri="{FF2B5EF4-FFF2-40B4-BE49-F238E27FC236}">
                <a16:creationId xmlns:a16="http://schemas.microsoft.com/office/drawing/2014/main" id="{31D79B00-C69B-43FA-BD46-A984C7D0DD05}"/>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chat_message() là điểm vào HTTP, chat() là bộ điều phối nghiệp vụ.</a:t>
            </a:r>
          </a:p>
        </p:txBody>
      </p:sp>
    </p:spTree>
    <p:extLst>
      <p:ext uri="{BB962C8B-B14F-4D97-AF65-F5344CB8AC3E}">
        <p14:creationId xmlns:p14="http://schemas.microsoft.com/office/powerpoint/2010/main" val="1637078801"/>
      </p:ext>
    </p:extLst>
  </p:cSld>
</p:sld>
</file>

<file path=ppt/slides/slide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89CCC5F-0900-40AE-979D-48171EF2EE30}"/>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Hợp đồng đầu vào</a:t>
            </a:r>
          </a:p>
        </p:txBody>
      </p:sp>
      <p:sp>
        <p:nvSpPr>
          <p:cNvPr id="3" name="page-number">
            <a:extLst xmlns:a="http://schemas.openxmlformats.org/drawingml/2006/main">
              <a:ext uri="{FF2B5EF4-FFF2-40B4-BE49-F238E27FC236}">
                <a16:creationId xmlns:a16="http://schemas.microsoft.com/office/drawing/2014/main" id="{025B7507-1CED-43AE-86ED-AB3C671A1378}"/>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 / 88</a:t>
            </a:r>
          </a:p>
        </p:txBody>
      </p:sp>
      <p:sp>
        <p:nvSpPr>
          <p:cNvPr id="4" name="source-reference">
            <a:extLst xmlns:a="http://schemas.openxmlformats.org/drawingml/2006/main">
              <a:ext uri="{FF2B5EF4-FFF2-40B4-BE49-F238E27FC236}">
                <a16:creationId xmlns:a16="http://schemas.microsoft.com/office/drawing/2014/main" id="{A2E530B2-989B-47D3-9930-48A8110EEE47}"/>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backend/models.py:6–15,45–46</a:t>
            </a:r>
          </a:p>
        </p:txBody>
      </p:sp>
      <p:sp>
        <p:nvSpPr>
          <p:cNvPr id="5" name="code-intro">
            <a:extLst xmlns:a="http://schemas.openxmlformats.org/drawingml/2006/main">
              <a:ext uri="{FF2B5EF4-FFF2-40B4-BE49-F238E27FC236}">
                <a16:creationId xmlns:a16="http://schemas.microsoft.com/office/drawing/2014/main" id="{FFA6A7AD-E08B-42FC-8373-8F91243749D6}"/>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Schema từ chối trường thừa và kiểm tra kiểu dữ liệu trước khi endpoint chạy.</a:t>
            </a:r>
          </a:p>
        </p:txBody>
      </p:sp>
      <p:sp>
        <p:nvSpPr>
          <p:cNvPr id="6" name="source-code">
            <a:extLst xmlns:a="http://schemas.openxmlformats.org/drawingml/2006/main">
              <a:ext uri="{FF2B5EF4-FFF2-40B4-BE49-F238E27FC236}">
                <a16:creationId xmlns:a16="http://schemas.microsoft.com/office/drawing/2014/main" id="{FAA14F86-963A-498D-8BA3-2AFC66216559}"/>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13" b="0">
                <a:solidFill>
                  <a:srgbClr val="172E32"/>
                </a:solidFill>
                <a:latin typeface="Courier New"/>
                <a:ea typeface="Courier New"/>
                <a:cs typeface="Courier New"/>
              </a:defRPr>
            </a:defPPr>
            <a:lvl1pPr>
              <a:defRPr sz="1613" b="0">
                <a:solidFill>
                  <a:srgbClr val="172E32"/>
                </a:solidFill>
                <a:latin typeface="Courier New"/>
                <a:ea typeface="Courier New"/>
                <a:cs typeface="Courier New"/>
              </a:defRPr>
            </a:lvl1pPr>
            <a:lvl2pPr>
              <a:defRPr sz="1613" b="0">
                <a:solidFill>
                  <a:srgbClr val="172E32"/>
                </a:solidFill>
                <a:latin typeface="Courier New"/>
                <a:ea typeface="Courier New"/>
                <a:cs typeface="Courier New"/>
              </a:defRPr>
            </a:lvl2pPr>
            <a:lvl3pPr>
              <a:defRPr sz="1613" b="0">
                <a:solidFill>
                  <a:srgbClr val="172E32"/>
                </a:solidFill>
                <a:latin typeface="Courier New"/>
                <a:ea typeface="Courier New"/>
                <a:cs typeface="Courier New"/>
              </a:defRPr>
            </a:lvl3pPr>
            <a:lvl4pPr>
              <a:defRPr sz="1613" b="0">
                <a:solidFill>
                  <a:srgbClr val="172E32"/>
                </a:solidFill>
                <a:latin typeface="Courier New"/>
                <a:ea typeface="Courier New"/>
                <a:cs typeface="Courier New"/>
              </a:defRPr>
            </a:lvl4pPr>
            <a:lvl5pPr>
              <a:defRPr sz="1613" b="0">
                <a:solidFill>
                  <a:srgbClr val="172E32"/>
                </a:solidFill>
                <a:latin typeface="Courier New"/>
                <a:ea typeface="Courier New"/>
                <a:cs typeface="Courier New"/>
              </a:defRPr>
            </a:lvl5pPr>
            <a:lvl6pPr>
              <a:defRPr sz="1613" b="0">
                <a:solidFill>
                  <a:srgbClr val="172E32"/>
                </a:solidFill>
                <a:latin typeface="Courier New"/>
                <a:ea typeface="Courier New"/>
                <a:cs typeface="Courier New"/>
              </a:defRPr>
            </a:lvl6pPr>
            <a:lvl7pPr>
              <a:defRPr sz="1613" b="0">
                <a:solidFill>
                  <a:srgbClr val="172E32"/>
                </a:solidFill>
                <a:latin typeface="Courier New"/>
                <a:ea typeface="Courier New"/>
                <a:cs typeface="Courier New"/>
              </a:defRPr>
            </a:lvl7pPr>
            <a:lvl8pPr>
              <a:defRPr sz="1613" b="0">
                <a:solidFill>
                  <a:srgbClr val="172E32"/>
                </a:solidFill>
                <a:latin typeface="Courier New"/>
                <a:ea typeface="Courier New"/>
                <a:cs typeface="Courier New"/>
              </a:defRPr>
            </a:lvl8pPr>
            <a:lvl9pPr>
              <a:defRPr sz="1613"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6  class StrictModel(BaseModel):</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7      model_config = ConfigDict(extra="forbid", strict=True)</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8  </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9  </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10  Sku = Annotated[str, StringConstraints(strip_whitespace=True, pattern=r"^[A-Z0-9][A-Z0-9_-]{0,39}$")]</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11  Quantity = Annotated[int, Field(ge=1, le=99)]</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12  </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13  </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14  class CartItem(StrictModel):</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15      sku: Sku</a:t>
            </a:r>
          </a:p>
          <a:p xmlns:a="http://schemas.openxmlformats.org/drawingml/2006/main">
            <a:pPr>
              <a:defRPr sz="1800" b="0">
                <a:solidFill>
                  <a:srgbClr val="172E32"/>
                </a:solidFill>
                <a:latin typeface="Courier New"/>
                <a:ea typeface="Courier New"/>
                <a:cs typeface="Courier New"/>
              </a:defRPr>
            </a:pPr>
            <a:r>
              <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45  class ChatRequest(StrictModel):</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46      message: Annotated[str, StringConstraints(strip_whitespace=True, min_length=1, max_length=500)]</a:t>
            </a:r>
          </a:p>
        </p:txBody>
      </p:sp>
      <p:sp>
        <p:nvSpPr>
          <p:cNvPr id="7" name="code-lesson">
            <a:extLst xmlns:a="http://schemas.openxmlformats.org/drawingml/2006/main">
              <a:ext uri="{FF2B5EF4-FFF2-40B4-BE49-F238E27FC236}">
                <a16:creationId xmlns:a16="http://schemas.microsoft.com/office/drawing/2014/main" id="{71F21E23-C6FD-4E5F-9378-F90FCF67C80F}"/>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Quantity phải là integer 1–99. ChatRequest giới hạn message tối đa 500 ký tự.</a:t>
            </a:r>
          </a:p>
        </p:txBody>
      </p:sp>
    </p:spTree>
    <p:extLst>
      <p:ext uri="{BB962C8B-B14F-4D97-AF65-F5344CB8AC3E}">
        <p14:creationId xmlns:p14="http://schemas.microsoft.com/office/powerpoint/2010/main" val="1074186183"/>
      </p:ext>
    </p:extLst>
  </p:cSld>
</p:sld>
</file>

<file path=ppt/slides/slide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8EFB98E7-688C-448E-8C7D-0992A4BC86D0}"/>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Middleware và lỗi API</a:t>
            </a:r>
          </a:p>
        </p:txBody>
      </p:sp>
      <p:sp>
        <p:nvSpPr>
          <p:cNvPr id="3" name="page-number">
            <a:extLst xmlns:a="http://schemas.openxmlformats.org/drawingml/2006/main">
              <a:ext uri="{FF2B5EF4-FFF2-40B4-BE49-F238E27FC236}">
                <a16:creationId xmlns:a16="http://schemas.microsoft.com/office/drawing/2014/main" id="{9E9D099C-9CB2-4406-9F34-BFF692568428}"/>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 / 88</a:t>
            </a:r>
          </a:p>
        </p:txBody>
      </p:sp>
      <p:sp>
        <p:nvSpPr>
          <p:cNvPr id="4" name="source-reference">
            <a:extLst xmlns:a="http://schemas.openxmlformats.org/drawingml/2006/main">
              <a:ext uri="{FF2B5EF4-FFF2-40B4-BE49-F238E27FC236}">
                <a16:creationId xmlns:a16="http://schemas.microsoft.com/office/drawing/2014/main" id="{6540B3EA-BFD3-461E-8D2E-423D6F1154C5}"/>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backend/main.py:74–85</a:t>
            </a:r>
          </a:p>
        </p:txBody>
      </p:sp>
      <p:sp>
        <p:nvSpPr>
          <p:cNvPr id="5" name="code-intro">
            <a:extLst xmlns:a="http://schemas.openxmlformats.org/drawingml/2006/main">
              <a:ext uri="{FF2B5EF4-FFF2-40B4-BE49-F238E27FC236}">
                <a16:creationId xmlns:a16="http://schemas.microsoft.com/office/drawing/2014/main" id="{5B400C28-CC82-4427-AD2F-7CA0CA7AD193}"/>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Một lớp chung gắn request ID và kiểm soát request trước khi vào route.</a:t>
            </a:r>
          </a:p>
        </p:txBody>
      </p:sp>
      <p:sp>
        <p:nvSpPr>
          <p:cNvPr id="6" name="source-code">
            <a:extLst xmlns:a="http://schemas.openxmlformats.org/drawingml/2006/main">
              <a:ext uri="{FF2B5EF4-FFF2-40B4-BE49-F238E27FC236}">
                <a16:creationId xmlns:a16="http://schemas.microsoft.com/office/drawing/2014/main" id="{A234099A-BBF2-4790-AC9B-EF2D53C0D9BE}"/>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13" b="0">
                <a:solidFill>
                  <a:srgbClr val="172E32"/>
                </a:solidFill>
                <a:latin typeface="Courier New"/>
                <a:ea typeface="Courier New"/>
                <a:cs typeface="Courier New"/>
              </a:defRPr>
            </a:defPPr>
            <a:lvl1pPr>
              <a:defRPr sz="1613" b="0">
                <a:solidFill>
                  <a:srgbClr val="172E32"/>
                </a:solidFill>
                <a:latin typeface="Courier New"/>
                <a:ea typeface="Courier New"/>
                <a:cs typeface="Courier New"/>
              </a:defRPr>
            </a:lvl1pPr>
            <a:lvl2pPr>
              <a:defRPr sz="1613" b="0">
                <a:solidFill>
                  <a:srgbClr val="172E32"/>
                </a:solidFill>
                <a:latin typeface="Courier New"/>
                <a:ea typeface="Courier New"/>
                <a:cs typeface="Courier New"/>
              </a:defRPr>
            </a:lvl2pPr>
            <a:lvl3pPr>
              <a:defRPr sz="1613" b="0">
                <a:solidFill>
                  <a:srgbClr val="172E32"/>
                </a:solidFill>
                <a:latin typeface="Courier New"/>
                <a:ea typeface="Courier New"/>
                <a:cs typeface="Courier New"/>
              </a:defRPr>
            </a:lvl3pPr>
            <a:lvl4pPr>
              <a:defRPr sz="1613" b="0">
                <a:solidFill>
                  <a:srgbClr val="172E32"/>
                </a:solidFill>
                <a:latin typeface="Courier New"/>
                <a:ea typeface="Courier New"/>
                <a:cs typeface="Courier New"/>
              </a:defRPr>
            </a:lvl4pPr>
            <a:lvl5pPr>
              <a:defRPr sz="1613" b="0">
                <a:solidFill>
                  <a:srgbClr val="172E32"/>
                </a:solidFill>
                <a:latin typeface="Courier New"/>
                <a:ea typeface="Courier New"/>
                <a:cs typeface="Courier New"/>
              </a:defRPr>
            </a:lvl5pPr>
            <a:lvl6pPr>
              <a:defRPr sz="1613" b="0">
                <a:solidFill>
                  <a:srgbClr val="172E32"/>
                </a:solidFill>
                <a:latin typeface="Courier New"/>
                <a:ea typeface="Courier New"/>
                <a:cs typeface="Courier New"/>
              </a:defRPr>
            </a:lvl6pPr>
            <a:lvl7pPr>
              <a:defRPr sz="1613" b="0">
                <a:solidFill>
                  <a:srgbClr val="172E32"/>
                </a:solidFill>
                <a:latin typeface="Courier New"/>
                <a:ea typeface="Courier New"/>
                <a:cs typeface="Courier New"/>
              </a:defRPr>
            </a:lvl7pPr>
            <a:lvl8pPr>
              <a:defRPr sz="1613" b="0">
                <a:solidFill>
                  <a:srgbClr val="172E32"/>
                </a:solidFill>
                <a:latin typeface="Courier New"/>
                <a:ea typeface="Courier New"/>
                <a:cs typeface="Courier New"/>
              </a:defRPr>
            </a:lvl8pPr>
            <a:lvl9pPr>
              <a:defRPr sz="1613"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74      async def request_context(request, call_next):</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75          request.state.request_id = uuid.uuid4().hex</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76          try:</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77              limiter.check("http", request.client.host if request.client else "local", settings.request_limit)</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78              body = bytearray()</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79              async for chunk in request.stream():</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80                  body.extend(chunk)</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81                  if len(body) &gt; 16384:</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82                      raise ApiProblem(413, "request_too_large", "Nội dung request vượt giới hạn 16 KB.")</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83              # Starlette reuses the cached body when dispatching to the route.</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84              request._body = bytes(body)</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85              response = await call_next(request)</a:t>
            </a:r>
          </a:p>
        </p:txBody>
      </p:sp>
      <p:sp>
        <p:nvSpPr>
          <p:cNvPr id="7" name="code-lesson">
            <a:extLst xmlns:a="http://schemas.openxmlformats.org/drawingml/2006/main">
              <a:ext uri="{FF2B5EF4-FFF2-40B4-BE49-F238E27FC236}">
                <a16:creationId xmlns:a16="http://schemas.microsoft.com/office/drawing/2014/main" id="{7DEC582C-711C-4859-BC23-F25144DDDECF}"/>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Giới hạn HTTP theo IP, body tối đa 16 KB, response có X-Request-ID.</a:t>
            </a:r>
          </a:p>
        </p:txBody>
      </p:sp>
    </p:spTree>
    <p:extLst>
      <p:ext uri="{BB962C8B-B14F-4D97-AF65-F5344CB8AC3E}">
        <p14:creationId xmlns:p14="http://schemas.microsoft.com/office/powerpoint/2010/main" val="894788649"/>
      </p:ext>
    </p:extLst>
  </p:cSld>
</p:sld>
</file>

<file path=ppt/slides/slide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C39609E-CE68-47A9-B1F8-6DF33DA1B9B3}"/>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Phiên mua sắm và quyền dữ liệu</a:t>
            </a:r>
          </a:p>
        </p:txBody>
      </p:sp>
      <p:sp>
        <p:nvSpPr>
          <p:cNvPr id="3" name="page-number">
            <a:extLst xmlns:a="http://schemas.openxmlformats.org/drawingml/2006/main">
              <a:ext uri="{FF2B5EF4-FFF2-40B4-BE49-F238E27FC236}">
                <a16:creationId xmlns:a16="http://schemas.microsoft.com/office/drawing/2014/main" id="{94E6C13F-AED7-4E1F-93C8-4FAB8DE24EEC}"/>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9 / 88</a:t>
            </a:r>
          </a:p>
        </p:txBody>
      </p:sp>
      <p:sp>
        <p:nvSpPr>
          <p:cNvPr id="4" name="source-reference">
            <a:extLst xmlns:a="http://schemas.openxmlformats.org/drawingml/2006/main">
              <a:ext uri="{FF2B5EF4-FFF2-40B4-BE49-F238E27FC236}">
                <a16:creationId xmlns:a16="http://schemas.microsoft.com/office/drawing/2014/main" id="{9679948E-B9FC-41F2-8208-A76B4CC8B7D4}"/>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backend/storage.py:62–70   /   backend/services.py:30–35</a:t>
            </a:r>
          </a:p>
        </p:txBody>
      </p:sp>
      <p:sp>
        <p:nvSpPr>
          <p:cNvPr id="5" name="code-intro">
            <a:extLst xmlns:a="http://schemas.openxmlformats.org/drawingml/2006/main">
              <a:ext uri="{FF2B5EF4-FFF2-40B4-BE49-F238E27FC236}">
                <a16:creationId xmlns:a16="http://schemas.microsoft.com/office/drawing/2014/main" id="{05197E7B-57F8-4FBB-94BC-01980911A842}"/>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Token nhận từ POST /api/session được lưu dưới dạng hash trong database.</a:t>
            </a:r>
          </a:p>
        </p:txBody>
      </p:sp>
      <p:sp>
        <p:nvSpPr>
          <p:cNvPr id="6" name="source-code">
            <a:extLst xmlns:a="http://schemas.openxmlformats.org/drawingml/2006/main">
              <a:ext uri="{FF2B5EF4-FFF2-40B4-BE49-F238E27FC236}">
                <a16:creationId xmlns:a16="http://schemas.microsoft.com/office/drawing/2014/main" id="{42FB109E-16AE-4038-ADAC-D2CCC329A2CE}"/>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388" b="0">
                <a:solidFill>
                  <a:srgbClr val="172E32"/>
                </a:solidFill>
                <a:latin typeface="Courier New"/>
                <a:ea typeface="Courier New"/>
                <a:cs typeface="Courier New"/>
              </a:defRPr>
            </a:defPPr>
            <a:lvl1pPr>
              <a:defRPr sz="1388" b="0">
                <a:solidFill>
                  <a:srgbClr val="172E32"/>
                </a:solidFill>
                <a:latin typeface="Courier New"/>
                <a:ea typeface="Courier New"/>
                <a:cs typeface="Courier New"/>
              </a:defRPr>
            </a:lvl1pPr>
            <a:lvl2pPr>
              <a:defRPr sz="1388" b="0">
                <a:solidFill>
                  <a:srgbClr val="172E32"/>
                </a:solidFill>
                <a:latin typeface="Courier New"/>
                <a:ea typeface="Courier New"/>
                <a:cs typeface="Courier New"/>
              </a:defRPr>
            </a:lvl2pPr>
            <a:lvl3pPr>
              <a:defRPr sz="1388" b="0">
                <a:solidFill>
                  <a:srgbClr val="172E32"/>
                </a:solidFill>
                <a:latin typeface="Courier New"/>
                <a:ea typeface="Courier New"/>
                <a:cs typeface="Courier New"/>
              </a:defRPr>
            </a:lvl3pPr>
            <a:lvl4pPr>
              <a:defRPr sz="1388" b="0">
                <a:solidFill>
                  <a:srgbClr val="172E32"/>
                </a:solidFill>
                <a:latin typeface="Courier New"/>
                <a:ea typeface="Courier New"/>
                <a:cs typeface="Courier New"/>
              </a:defRPr>
            </a:lvl4pPr>
            <a:lvl5pPr>
              <a:defRPr sz="1388" b="0">
                <a:solidFill>
                  <a:srgbClr val="172E32"/>
                </a:solidFill>
                <a:latin typeface="Courier New"/>
                <a:ea typeface="Courier New"/>
                <a:cs typeface="Courier New"/>
              </a:defRPr>
            </a:lvl5pPr>
            <a:lvl6pPr>
              <a:defRPr sz="1388" b="0">
                <a:solidFill>
                  <a:srgbClr val="172E32"/>
                </a:solidFill>
                <a:latin typeface="Courier New"/>
                <a:ea typeface="Courier New"/>
                <a:cs typeface="Courier New"/>
              </a:defRPr>
            </a:lvl6pPr>
            <a:lvl7pPr>
              <a:defRPr sz="1388" b="0">
                <a:solidFill>
                  <a:srgbClr val="172E32"/>
                </a:solidFill>
                <a:latin typeface="Courier New"/>
                <a:ea typeface="Courier New"/>
                <a:cs typeface="Courier New"/>
              </a:defRPr>
            </a:lvl7pPr>
            <a:lvl8pPr>
              <a:defRPr sz="1388" b="0">
                <a:solidFill>
                  <a:srgbClr val="172E32"/>
                </a:solidFill>
                <a:latin typeface="Courier New"/>
                <a:ea typeface="Courier New"/>
                <a:cs typeface="Courier New"/>
              </a:defRPr>
            </a:lvl8pPr>
            <a:lvl9pPr>
              <a:defRPr sz="1388" b="0">
                <a:solidFill>
                  <a:srgbClr val="172E32"/>
                </a:solidFill>
                <a:latin typeface="Courier New"/>
                <a:ea typeface="Courier New"/>
                <a:cs typeface="Courier New"/>
              </a:defRPr>
            </a:lvl9pPr>
          </a:lstStyle>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62  def authenticate(conn, authorization):</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63      scheme, _, token = (authorization or "").partition(" ")</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64      if scheme.lower() != "bearer" or not 20 &lt;= len(token) &lt;= 200:</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65          raise ApiProblem(401, "auth", "Cần phiên khách hàng hợp lệ.")</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66      row = conn.execute("SELECT * FROM api_sessions WHERE token_hash = ? AND expires_at &gt; ?",</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67                         (hashlib.sha256(token.encode()).hexdigest(), int(time.time()))).fetchone()</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68      if row is None:</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69          raise ApiProblem(401, "auth", "Phiên đã hết hạn hoặc không hợp lệ. Hãy mở phiên mới.")</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70      return dict(row)</a:t>
            </a:r>
          </a:p>
          <a:p xmlns:a="http://schemas.openxmlformats.org/drawingml/2006/main">
            <a:pPr>
              <a:defRPr sz="1688" b="0">
                <a:solidFill>
                  <a:srgbClr val="172E32"/>
                </a:solidFill>
                <a:latin typeface="Courier New"/>
                <a:ea typeface="Courier New"/>
                <a:cs typeface="Courier New"/>
              </a:defRPr>
            </a:pPr>
            <a:r>
              <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30  def owned_order(conn, owner, order_id):</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31      order = orders.get_order(conn, order_id)</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32      if order["owner_id"] != owner:</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33          raise ApiProblem(404, "not_found", "Không tìm thấy đơn hàng trong phiên của bạn.")</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34      return order</a:t>
            </a:r>
          </a:p>
          <a:p xmlns:a="http://schemas.openxmlformats.org/drawingml/2006/main">
            <a:pPr>
              <a:lnSpc>
                <a:spcPct val="108000"/>
              </a:lnSpc>
              <a:buNone/>
              <a:defRPr sz="1688" b="0">
                <a:solidFill>
                  <a:srgbClr val="172E32"/>
                </a:solidFill>
                <a:latin typeface="Courier New"/>
                <a:ea typeface="Courier New"/>
                <a:cs typeface="Courier New"/>
              </a:defRPr>
            </a:pPr>
            <a:r>
              <a:rPr sz="1388" b="0">
                <a:solidFill>
                  <a:srgbClr val="172E32"/>
                </a:solidFill>
                <a:latin typeface="Courier New"/>
                <a:ea typeface="Courier New"/>
                <a:cs typeface="Courier New"/>
              </a:rPr>
              <a:t> 35  </a:t>
            </a:r>
          </a:p>
        </p:txBody>
      </p:sp>
      <p:sp>
        <p:nvSpPr>
          <p:cNvPr id="7" name="code-lesson">
            <a:extLst xmlns:a="http://schemas.openxmlformats.org/drawingml/2006/main">
              <a:ext uri="{FF2B5EF4-FFF2-40B4-BE49-F238E27FC236}">
                <a16:creationId xmlns:a16="http://schemas.microsoft.com/office/drawing/2014/main" id="{2032547F-5964-4628-BE30-E946ADA2FD30}"/>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session_db() gắn owner_id từ phiên đã xác thực, không lấy owner từ JSON của khách.</a:t>
            </a:r>
          </a:p>
        </p:txBody>
      </p:sp>
    </p:spTree>
    <p:extLst>
      <p:ext uri="{BB962C8B-B14F-4D97-AF65-F5344CB8AC3E}">
        <p14:creationId xmlns:p14="http://schemas.microsoft.com/office/powerpoint/2010/main" val="326643916"/>
      </p:ext>
    </p:extLst>
  </p:cSld>
</p:sld>
</file>

<file path=ppt/slides/slide1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D44EFFC-A098-4A88-AD8E-890EB6AA03AD}"/>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 nhánh hiểu một câu chat</a:t>
            </a:r>
          </a:p>
        </p:txBody>
      </p:sp>
      <p:sp>
        <p:nvSpPr>
          <p:cNvPr id="3" name="page-number">
            <a:extLst xmlns:a="http://schemas.openxmlformats.org/drawingml/2006/main">
              <a:ext uri="{FF2B5EF4-FFF2-40B4-BE49-F238E27FC236}">
                <a16:creationId xmlns:a16="http://schemas.microsoft.com/office/drawing/2014/main" id="{869F033D-B770-4BD1-83EE-DE05ED3860E2}"/>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10 / 88</a:t>
            </a:r>
          </a:p>
        </p:txBody>
      </p:sp>
      <p:sp>
        <p:nvSpPr>
          <p:cNvPr id="4" name="source-reference">
            <a:extLst xmlns:a="http://schemas.openxmlformats.org/drawingml/2006/main">
              <a:ext uri="{FF2B5EF4-FFF2-40B4-BE49-F238E27FC236}">
                <a16:creationId xmlns:a16="http://schemas.microsoft.com/office/drawing/2014/main" id="{6E003341-7405-4A7C-A500-09AF7B3DA42A}"/>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backend/chat_service.py:226–235</a:t>
            </a:r>
          </a:p>
        </p:txBody>
      </p:sp>
      <p:sp>
        <p:nvSpPr>
          <p:cNvPr id="5" name="code-intro">
            <a:extLst xmlns:a="http://schemas.openxmlformats.org/drawingml/2006/main">
              <a:ext uri="{FF2B5EF4-FFF2-40B4-BE49-F238E27FC236}">
                <a16:creationId xmlns:a16="http://schemas.microsoft.com/office/drawing/2014/main" id="{DD3A2583-368A-493D-8463-E8113E703A01}"/>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Workflow ưu tiên chặn yêu cầu nguy hiểm và nhận câu catalog rõ nghĩa trước Gemini.</a:t>
            </a:r>
          </a:p>
        </p:txBody>
      </p:sp>
      <p:sp>
        <p:nvSpPr>
          <p:cNvPr id="6" name="source-code">
            <a:extLst xmlns:a="http://schemas.openxmlformats.org/drawingml/2006/main">
              <a:ext uri="{FF2B5EF4-FFF2-40B4-BE49-F238E27FC236}">
                <a16:creationId xmlns:a16="http://schemas.microsoft.com/office/drawing/2014/main" id="{4DDB39C6-CAD3-4460-90A3-1C016D5CE300}"/>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725" b="0">
                <a:solidFill>
                  <a:srgbClr val="172E32"/>
                </a:solidFill>
                <a:latin typeface="Courier New"/>
                <a:ea typeface="Courier New"/>
                <a:cs typeface="Courier New"/>
              </a:defRPr>
            </a:defPPr>
            <a:lvl1pPr>
              <a:defRPr sz="1725" b="0">
                <a:solidFill>
                  <a:srgbClr val="172E32"/>
                </a:solidFill>
                <a:latin typeface="Courier New"/>
                <a:ea typeface="Courier New"/>
                <a:cs typeface="Courier New"/>
              </a:defRPr>
            </a:lvl1pPr>
            <a:lvl2pPr>
              <a:defRPr sz="1725" b="0">
                <a:solidFill>
                  <a:srgbClr val="172E32"/>
                </a:solidFill>
                <a:latin typeface="Courier New"/>
                <a:ea typeface="Courier New"/>
                <a:cs typeface="Courier New"/>
              </a:defRPr>
            </a:lvl2pPr>
            <a:lvl3pPr>
              <a:defRPr sz="1725" b="0">
                <a:solidFill>
                  <a:srgbClr val="172E32"/>
                </a:solidFill>
                <a:latin typeface="Courier New"/>
                <a:ea typeface="Courier New"/>
                <a:cs typeface="Courier New"/>
              </a:defRPr>
            </a:lvl3pPr>
            <a:lvl4pPr>
              <a:defRPr sz="1725" b="0">
                <a:solidFill>
                  <a:srgbClr val="172E32"/>
                </a:solidFill>
                <a:latin typeface="Courier New"/>
                <a:ea typeface="Courier New"/>
                <a:cs typeface="Courier New"/>
              </a:defRPr>
            </a:lvl4pPr>
            <a:lvl5pPr>
              <a:defRPr sz="1725" b="0">
                <a:solidFill>
                  <a:srgbClr val="172E32"/>
                </a:solidFill>
                <a:latin typeface="Courier New"/>
                <a:ea typeface="Courier New"/>
                <a:cs typeface="Courier New"/>
              </a:defRPr>
            </a:lvl5pPr>
            <a:lvl6pPr>
              <a:defRPr sz="1725" b="0">
                <a:solidFill>
                  <a:srgbClr val="172E32"/>
                </a:solidFill>
                <a:latin typeface="Courier New"/>
                <a:ea typeface="Courier New"/>
                <a:cs typeface="Courier New"/>
              </a:defRPr>
            </a:lvl6pPr>
            <a:lvl7pPr>
              <a:defRPr sz="1725" b="0">
                <a:solidFill>
                  <a:srgbClr val="172E32"/>
                </a:solidFill>
                <a:latin typeface="Courier New"/>
                <a:ea typeface="Courier New"/>
                <a:cs typeface="Courier New"/>
              </a:defRPr>
            </a:lvl7pPr>
            <a:lvl8pPr>
              <a:defRPr sz="1725" b="0">
                <a:solidFill>
                  <a:srgbClr val="172E32"/>
                </a:solidFill>
                <a:latin typeface="Courier New"/>
                <a:ea typeface="Courier New"/>
                <a:cs typeface="Courier New"/>
              </a:defRPr>
            </a:lvl8pPr>
            <a:lvl9pPr>
              <a:defRPr sz="1725"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725" b="0">
                <a:solidFill>
                  <a:srgbClr val="172E32"/>
                </a:solidFill>
                <a:latin typeface="Courier New"/>
                <a:ea typeface="Courier New"/>
                <a:cs typeface="Courier New"/>
              </a:rPr>
              <a:t>226      if UNSAFE.search(normalize(message)):</a:t>
            </a:r>
          </a:p>
          <a:p xmlns:a="http://schemas.openxmlformats.org/drawingml/2006/main">
            <a:pPr>
              <a:lnSpc>
                <a:spcPct val="108000"/>
              </a:lnSpc>
              <a:buNone/>
              <a:defRPr sz="1800" b="0">
                <a:solidFill>
                  <a:srgbClr val="172E32"/>
                </a:solidFill>
                <a:latin typeface="Courier New"/>
                <a:ea typeface="Courier New"/>
                <a:cs typeface="Courier New"/>
              </a:defRPr>
            </a:pPr>
            <a:r>
              <a:rPr sz="1725" b="0">
                <a:solidFill>
                  <a:srgbClr val="172E32"/>
                </a:solidFill>
                <a:latin typeface="Courier New"/>
                <a:ea typeface="Courier New"/>
                <a:cs typeface="Courier New"/>
              </a:rPr>
              <a:t>227          result = response("Yêu cầu này cần nhân viên xem lại. Hệ thống chưa thay đổi đơn hàng.", "handoff")</a:t>
            </a:r>
          </a:p>
          <a:p xmlns:a="http://schemas.openxmlformats.org/drawingml/2006/main">
            <a:pPr>
              <a:lnSpc>
                <a:spcPct val="108000"/>
              </a:lnSpc>
              <a:buNone/>
              <a:defRPr sz="1800" b="0">
                <a:solidFill>
                  <a:srgbClr val="172E32"/>
                </a:solidFill>
                <a:latin typeface="Courier New"/>
                <a:ea typeface="Courier New"/>
                <a:cs typeface="Courier New"/>
              </a:defRPr>
            </a:pPr>
            <a:r>
              <a:rPr sz="1725" b="0">
                <a:solidFill>
                  <a:srgbClr val="172E32"/>
                </a:solidFill>
                <a:latin typeface="Courier New"/>
                <a:ea typeface="Courier New"/>
                <a:cs typeface="Courier New"/>
              </a:rPr>
              <a:t>228          meta.update(intent="unknown_or_handoff", model_id="local-policy", interpretation_source="local_policy")</a:t>
            </a:r>
          </a:p>
          <a:p xmlns:a="http://schemas.openxmlformats.org/drawingml/2006/main">
            <a:pPr>
              <a:lnSpc>
                <a:spcPct val="108000"/>
              </a:lnSpc>
              <a:buNone/>
              <a:defRPr sz="1800" b="0">
                <a:solidFill>
                  <a:srgbClr val="172E32"/>
                </a:solidFill>
                <a:latin typeface="Courier New"/>
                <a:ea typeface="Courier New"/>
                <a:cs typeface="Courier New"/>
              </a:defRPr>
            </a:pPr>
            <a:r>
              <a:rPr sz="1725" b="0">
                <a:solidFill>
                  <a:srgbClr val="172E32"/>
                </a:solidFill>
                <a:latin typeface="Courier New"/>
                <a:ea typeface="Courier New"/>
                <a:cs typeface="Courier New"/>
              </a:rPr>
              <a:t>229      elif (local := local_catalog_request(message)) is not None:</a:t>
            </a:r>
          </a:p>
          <a:p xmlns:a="http://schemas.openxmlformats.org/drawingml/2006/main">
            <a:pPr>
              <a:lnSpc>
                <a:spcPct val="108000"/>
              </a:lnSpc>
              <a:buNone/>
              <a:defRPr sz="1800" b="0">
                <a:solidFill>
                  <a:srgbClr val="172E32"/>
                </a:solidFill>
                <a:latin typeface="Courier New"/>
                <a:ea typeface="Courier New"/>
                <a:cs typeface="Courier New"/>
              </a:defRPr>
            </a:pPr>
            <a:r>
              <a:rPr sz="1725" b="0">
                <a:solidFill>
                  <a:srgbClr val="172E32"/>
                </a:solidFill>
                <a:latin typeface="Courier New"/>
                <a:ea typeface="Courier New"/>
                <a:cs typeface="Courier New"/>
              </a:rPr>
              <a:t>230          data = local</a:t>
            </a:r>
          </a:p>
          <a:p xmlns:a="http://schemas.openxmlformats.org/drawingml/2006/main">
            <a:pPr>
              <a:lnSpc>
                <a:spcPct val="108000"/>
              </a:lnSpc>
              <a:buNone/>
              <a:defRPr sz="1800" b="0">
                <a:solidFill>
                  <a:srgbClr val="172E32"/>
                </a:solidFill>
                <a:latin typeface="Courier New"/>
                <a:ea typeface="Courier New"/>
                <a:cs typeface="Courier New"/>
              </a:defRPr>
            </a:pPr>
            <a:r>
              <a:rPr sz="1725" b="0">
                <a:solidFill>
                  <a:srgbClr val="172E32"/>
                </a:solidFill>
                <a:latin typeface="Courier New"/>
                <a:ea typeface="Courier New"/>
                <a:cs typeface="Courier New"/>
              </a:rPr>
              <a:t>231          meta.update(intent=data.intent, model_id="local-catalog", interpretation_source="local_catalog")</a:t>
            </a:r>
          </a:p>
          <a:p xmlns:a="http://schemas.openxmlformats.org/drawingml/2006/main">
            <a:pPr>
              <a:lnSpc>
                <a:spcPct val="108000"/>
              </a:lnSpc>
              <a:buNone/>
              <a:defRPr sz="1800" b="0">
                <a:solidFill>
                  <a:srgbClr val="172E32"/>
                </a:solidFill>
                <a:latin typeface="Courier New"/>
                <a:ea typeface="Courier New"/>
                <a:cs typeface="Courier New"/>
              </a:defRPr>
            </a:pPr>
            <a:r>
              <a:rPr sz="1725" b="0">
                <a:solidFill>
                  <a:srgbClr val="172E32"/>
                </a:solidFill>
                <a:latin typeface="Courier New"/>
                <a:ea typeface="Courier New"/>
                <a:cs typeface="Courier New"/>
              </a:rPr>
              <a:t>232      else:</a:t>
            </a:r>
          </a:p>
          <a:p xmlns:a="http://schemas.openxmlformats.org/drawingml/2006/main">
            <a:pPr>
              <a:lnSpc>
                <a:spcPct val="108000"/>
              </a:lnSpc>
              <a:buNone/>
              <a:defRPr sz="1800" b="0">
                <a:solidFill>
                  <a:srgbClr val="172E32"/>
                </a:solidFill>
                <a:latin typeface="Courier New"/>
                <a:ea typeface="Courier New"/>
                <a:cs typeface="Courier New"/>
              </a:defRPr>
            </a:pPr>
            <a:r>
              <a:rPr sz="1725" b="0">
                <a:solidFill>
                  <a:srgbClr val="172E32"/>
                </a:solidFill>
                <a:latin typeface="Courier New"/>
                <a:ea typeface="Courier New"/>
                <a:cs typeface="Courier New"/>
              </a:rPr>
              <a:t>233          try:</a:t>
            </a:r>
          </a:p>
          <a:p xmlns:a="http://schemas.openxmlformats.org/drawingml/2006/main">
            <a:pPr>
              <a:lnSpc>
                <a:spcPct val="108000"/>
              </a:lnSpc>
              <a:buNone/>
              <a:defRPr sz="1800" b="0">
                <a:solidFill>
                  <a:srgbClr val="172E32"/>
                </a:solidFill>
                <a:latin typeface="Courier New"/>
                <a:ea typeface="Courier New"/>
                <a:cs typeface="Courier New"/>
              </a:defRPr>
            </a:pPr>
            <a:r>
              <a:rPr sz="1725" b="0">
                <a:solidFill>
                  <a:srgbClr val="172E32"/>
                </a:solidFill>
                <a:latin typeface="Courier New"/>
                <a:ea typeface="Courier New"/>
                <a:cs typeface="Courier New"/>
              </a:rPr>
              <a:t>234              context = {**conv["context"], "pending_intent": conv["pending_intent"]}</a:t>
            </a:r>
          </a:p>
          <a:p xmlns:a="http://schemas.openxmlformats.org/drawingml/2006/main">
            <a:pPr>
              <a:lnSpc>
                <a:spcPct val="108000"/>
              </a:lnSpc>
              <a:buNone/>
              <a:defRPr sz="1800" b="0">
                <a:solidFill>
                  <a:srgbClr val="172E32"/>
                </a:solidFill>
                <a:latin typeface="Courier New"/>
                <a:ea typeface="Courier New"/>
                <a:cs typeface="Courier New"/>
              </a:defRPr>
            </a:pPr>
            <a:r>
              <a:rPr sz="1725" b="0">
                <a:solidFill>
                  <a:srgbClr val="172E32"/>
                </a:solidFill>
                <a:latin typeface="Courier New"/>
                <a:ea typeface="Courier New"/>
                <a:cs typeface="Courier New"/>
              </a:rPr>
              <a:t>235              context["recent_products"] = [{"name": p["name"], "category": p["category"]}</a:t>
            </a:r>
          </a:p>
        </p:txBody>
      </p:sp>
      <p:sp>
        <p:nvSpPr>
          <p:cNvPr id="7" name="code-lesson">
            <a:extLst xmlns:a="http://schemas.openxmlformats.org/drawingml/2006/main">
              <a:ext uri="{FF2B5EF4-FFF2-40B4-BE49-F238E27FC236}">
                <a16:creationId xmlns:a16="http://schemas.microsoft.com/office/drawing/2014/main" id="{FFA85544-2DE1-43D2-91DC-C940EC820C25}"/>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interpretation_source phân biệt local_policy, local_catalog, gemini và fake.</a:t>
            </a:r>
          </a:p>
        </p:txBody>
      </p:sp>
    </p:spTree>
    <p:extLst>
      <p:ext uri="{BB962C8B-B14F-4D97-AF65-F5344CB8AC3E}">
        <p14:creationId xmlns:p14="http://schemas.microsoft.com/office/powerpoint/2010/main" val="1946489251"/>
      </p:ext>
    </p:extLst>
  </p:cSld>
</p:sld>
</file>

<file path=ppt/slides/slide1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6929D89-8B0D-4250-8C77-80A8E0A1F853}"/>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Ngữ cảnh gửi cho model</a:t>
            </a:r>
          </a:p>
        </p:txBody>
      </p:sp>
      <p:sp>
        <p:nvSpPr>
          <p:cNvPr id="3" name="page-number">
            <a:extLst xmlns:a="http://schemas.openxmlformats.org/drawingml/2006/main">
              <a:ext uri="{FF2B5EF4-FFF2-40B4-BE49-F238E27FC236}">
                <a16:creationId xmlns:a16="http://schemas.microsoft.com/office/drawing/2014/main" id="{E6A6F095-2D21-4B09-B1D2-307B619A2400}"/>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11 / 88</a:t>
            </a:r>
          </a:p>
        </p:txBody>
      </p:sp>
      <p:sp>
        <p:nvSpPr>
          <p:cNvPr id="4" name="source-reference">
            <a:extLst xmlns:a="http://schemas.openxmlformats.org/drawingml/2006/main">
              <a:ext uri="{FF2B5EF4-FFF2-40B4-BE49-F238E27FC236}">
                <a16:creationId xmlns:a16="http://schemas.microsoft.com/office/drawing/2014/main" id="{5E5976A4-DC9B-4971-865D-C05A388345C7}"/>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src/prompts.py:48–54</a:t>
            </a:r>
          </a:p>
        </p:txBody>
      </p:sp>
      <p:sp>
        <p:nvSpPr>
          <p:cNvPr id="5" name="code-intro">
            <a:extLst xmlns:a="http://schemas.openxmlformats.org/drawingml/2006/main">
              <a:ext uri="{FF2B5EF4-FFF2-40B4-BE49-F238E27FC236}">
                <a16:creationId xmlns:a16="http://schemas.microsoft.com/office/drawing/2014/main" id="{D01A0577-8863-4365-9E16-5135ADF47205}"/>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Prompt gồm dữ liệu câu hiện tại, catalog rút gọn và các trường hội thoại cần tiếp tục.</a:t>
            </a:r>
          </a:p>
        </p:txBody>
      </p:sp>
      <p:sp>
        <p:nvSpPr>
          <p:cNvPr id="6" name="source-code">
            <a:extLst xmlns:a="http://schemas.openxmlformats.org/drawingml/2006/main">
              <a:ext uri="{FF2B5EF4-FFF2-40B4-BE49-F238E27FC236}">
                <a16:creationId xmlns:a16="http://schemas.microsoft.com/office/drawing/2014/main" id="{AC319C4E-E919-4597-836B-0FAAB0371ADF}"/>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48  def build_prompt(message, catalog, context):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49      safe_context = {"pending_intent": context.get("pending_intent"),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50                      "pending_items": context.get("items", []),</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51                      "recent_products": context.get("recent_products", [])}</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52      payload = {"CUSTOMER_MESSAGE": message, "CATALOG_CONTEXT": catalog,</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53                 "CONVERSATION_CONTEXT": safe_context, "OUTPUT_SCHEMA": Extraction.model_json_schema()}</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54      return SYSTEM_PROMPT, json.dumps(payload, ensure_ascii=False)</a:t>
            </a:r>
          </a:p>
        </p:txBody>
      </p:sp>
      <p:sp>
        <p:nvSpPr>
          <p:cNvPr id="7" name="code-lesson">
            <a:extLst xmlns:a="http://schemas.openxmlformats.org/drawingml/2006/main">
              <a:ext uri="{FF2B5EF4-FFF2-40B4-BE49-F238E27FC236}">
                <a16:creationId xmlns:a16="http://schemas.microsoft.com/office/drawing/2014/main" id="{6AAAE631-434A-4108-85F5-5E14EB11FB6A}"/>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pending_items giúp hiểu câu tiếp, còn server chịu trách nhiệm gộp trường.</a:t>
            </a:r>
          </a:p>
        </p:txBody>
      </p:sp>
    </p:spTree>
    <p:extLst>
      <p:ext uri="{BB962C8B-B14F-4D97-AF65-F5344CB8AC3E}">
        <p14:creationId xmlns:p14="http://schemas.microsoft.com/office/powerpoint/2010/main" val="62684617"/>
      </p:ext>
    </p:extLst>
  </p:cSld>
</p:sld>
</file>

<file path=ppt/slides/slide1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6AC9A59-854B-4A0F-82F2-7752EB6B1478}"/>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Prompt shop-assistant-v4</a:t>
            </a:r>
          </a:p>
        </p:txBody>
      </p:sp>
      <p:sp>
        <p:nvSpPr>
          <p:cNvPr id="3" name="page-number">
            <a:extLst xmlns:a="http://schemas.openxmlformats.org/drawingml/2006/main">
              <a:ext uri="{FF2B5EF4-FFF2-40B4-BE49-F238E27FC236}">
                <a16:creationId xmlns:a16="http://schemas.microsoft.com/office/drawing/2014/main" id="{1973C3EE-27E9-42F0-99C0-10B3F6F25C90}"/>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12 / 88</a:t>
            </a:r>
          </a:p>
        </p:txBody>
      </p:sp>
      <p:sp>
        <p:nvSpPr>
          <p:cNvPr id="4" name="source-reference">
            <a:extLst xmlns:a="http://schemas.openxmlformats.org/drawingml/2006/main">
              <a:ext uri="{FF2B5EF4-FFF2-40B4-BE49-F238E27FC236}">
                <a16:creationId xmlns:a16="http://schemas.microsoft.com/office/drawing/2014/main" id="{A7B5F136-6F18-4260-822C-5D16F4DE5C08}"/>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src/prompts.py:10–20,28–30</a:t>
            </a:r>
          </a:p>
        </p:txBody>
      </p:sp>
      <p:sp>
        <p:nvSpPr>
          <p:cNvPr id="5" name="code-intro">
            <a:extLst xmlns:a="http://schemas.openxmlformats.org/drawingml/2006/main">
              <a:ext uri="{FF2B5EF4-FFF2-40B4-BE49-F238E27FC236}">
                <a16:creationId xmlns:a16="http://schemas.microsoft.com/office/drawing/2014/main" id="{3204FE10-74A7-45D6-AC34-88744D398225}"/>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Hướng dẫn model trả một JSON và tách ý định mua khỏi ý định chỉ xem hàng.</a:t>
            </a:r>
          </a:p>
        </p:txBody>
      </p:sp>
      <p:sp>
        <p:nvSpPr>
          <p:cNvPr id="6" name="source-code">
            <a:extLst xmlns:a="http://schemas.openxmlformats.org/drawingml/2006/main">
              <a:ext uri="{FF2B5EF4-FFF2-40B4-BE49-F238E27FC236}">
                <a16:creationId xmlns:a16="http://schemas.microsoft.com/office/drawing/2014/main" id="{E66B6CA5-B693-45DD-A761-080C20F035A2}"/>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10  Return only one JSON object following OUTPUT_SCHEMA. No markdown or extra properties.</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11  Allowed intents: browse_catalog, create_order, check_stock, check_price, update_order, unknown_or_handoff.</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12  browse_catalog covers browsing, product search, recommendations, categories, descriptions,</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13  colors and sizes. Questions like 'cửa hàng bán những gì', 'tôi muốn tham khảo sản phẩm',</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14  'shop có những loại áo nào', 'cho xem giày dưới 800k' are normal shopping, never handoff.</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15  For broad catalog questions emit items=[]; do not invent product names from the catalog.</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16  For specific product/category searches put the literal phrase in requested_product.</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17  Use catalog_filters only for explicitly stated category, min/max price in VND, or 'còn hàng'.</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18  Convert 200k/200 nghìn to 200000 and 1 triệu to 1000000; absent price bounds are null.</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19  Do not treat browsing, asking prices, or asking availability as an instruction to buy.</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20  Only explicit purchase instructions can have create_order intent.</a:t>
            </a:r>
          </a:p>
          <a:p xmlns:a="http://schemas.openxmlformats.org/drawingml/2006/main">
            <a:pPr>
              <a:defRPr sz="1725" b="0">
                <a:solidFill>
                  <a:srgbClr val="172E32"/>
                </a:solidFill>
                <a:latin typeface="Courier New"/>
                <a:ea typeface="Courier New"/>
                <a:cs typeface="Courier New"/>
              </a:defRPr>
            </a:pPr>
            <a:r>
              <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28  An instruction to order a product without a count must have quantity=null, never default 1.</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29  Measurements such as 15inch/15 inch describe size, never quantity. Keep their literal spelling.</a:t>
            </a:r>
          </a:p>
          <a:p xmlns:a="http://schemas.openxmlformats.org/drawingml/2006/main">
            <a:pPr>
              <a:lnSpc>
                <a:spcPct val="108000"/>
              </a:lnSpc>
              <a:buNone/>
              <a:defRPr sz="1725" b="0">
                <a:solidFill>
                  <a:srgbClr val="172E32"/>
                </a:solidFill>
                <a:latin typeface="Courier New"/>
                <a:ea typeface="Courier New"/>
                <a:cs typeface="Courier New"/>
              </a:defRPr>
            </a:pPr>
            <a:r>
              <a:rPr sz="1500" b="0">
                <a:solidFill>
                  <a:srgbClr val="172E32"/>
                </a:solidFill>
                <a:latin typeface="Courier New"/>
                <a:ea typeface="Courier New"/>
                <a:cs typeface="Courier New"/>
              </a:rPr>
              <a:t> 30  Repeated product names still describe one item unless the customer requests distinct items.</a:t>
            </a:r>
          </a:p>
        </p:txBody>
      </p:sp>
      <p:sp>
        <p:nvSpPr>
          <p:cNvPr id="7" name="code-lesson">
            <a:extLst xmlns:a="http://schemas.openxmlformats.org/drawingml/2006/main">
              <a:ext uri="{FF2B5EF4-FFF2-40B4-BE49-F238E27FC236}">
                <a16:creationId xmlns:a16="http://schemas.microsoft.com/office/drawing/2014/main" id="{9211BC9B-8A39-42E9-A07D-423981E5E4C7}"/>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Sáu intent: browse_catalog, create_order, check_stock, check_price, update_order, unknown_or_handoff.</a:t>
            </a:r>
          </a:p>
        </p:txBody>
      </p:sp>
    </p:spTree>
    <p:extLst>
      <p:ext uri="{BB962C8B-B14F-4D97-AF65-F5344CB8AC3E}">
        <p14:creationId xmlns:p14="http://schemas.microsoft.com/office/powerpoint/2010/main" val="1774677308"/>
      </p:ext>
    </p:extLst>
  </p:cSld>
</p:sld>
</file>

<file path=ppt/slides/slide1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DF954AA2-3594-483F-8B7D-1BA41BFA86BE}"/>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JSON mà LLM phải trả</a:t>
            </a:r>
          </a:p>
        </p:txBody>
      </p:sp>
      <p:sp>
        <p:nvSpPr>
          <p:cNvPr id="3" name="page-number">
            <a:extLst xmlns:a="http://schemas.openxmlformats.org/drawingml/2006/main">
              <a:ext uri="{FF2B5EF4-FFF2-40B4-BE49-F238E27FC236}">
                <a16:creationId xmlns:a16="http://schemas.microsoft.com/office/drawing/2014/main" id="{0FFD02AD-FE58-4960-A3BF-188A05E4B5B8}"/>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13 / 88</a:t>
            </a:r>
          </a:p>
        </p:txBody>
      </p:sp>
      <p:sp>
        <p:nvSpPr>
          <p:cNvPr id="4" name="source-reference">
            <a:extLst xmlns:a="http://schemas.openxmlformats.org/drawingml/2006/main">
              <a:ext uri="{FF2B5EF4-FFF2-40B4-BE49-F238E27FC236}">
                <a16:creationId xmlns:a16="http://schemas.microsoft.com/office/drawing/2014/main" id="{F43D73EF-C15E-47C4-8DB0-68883A5FDE3C}"/>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src/parser.py:41–51</a:t>
            </a:r>
          </a:p>
        </p:txBody>
      </p:sp>
      <p:sp>
        <p:nvSpPr>
          <p:cNvPr id="5" name="code-intro">
            <a:extLst xmlns:a="http://schemas.openxmlformats.org/drawingml/2006/main">
              <a:ext uri="{FF2B5EF4-FFF2-40B4-BE49-F238E27FC236}">
                <a16:creationId xmlns:a16="http://schemas.microsoft.com/office/drawing/2014/main" id="{566F5886-9880-4D35-B7A4-E09BFB1B3587}"/>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Extraction quy định cấu trúc để backend có thể xử lý thay vì đọc một đoạn văn tự do.</a:t>
            </a:r>
          </a:p>
        </p:txBody>
      </p:sp>
      <p:sp>
        <p:nvSpPr>
          <p:cNvPr id="6" name="source-code">
            <a:extLst xmlns:a="http://schemas.openxmlformats.org/drawingml/2006/main">
              <a:ext uri="{FF2B5EF4-FFF2-40B4-BE49-F238E27FC236}">
                <a16:creationId xmlns:a16="http://schemas.microsoft.com/office/drawing/2014/main" id="{E4F7611E-581B-4C5D-909F-03E73AB3AA95}"/>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41  class Extraction(StrictModel):</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42      intent: INTENTS</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43      confidence: Literal["low", "medium", "high"]</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44      items: Annotated[list[ExtractedItem], Field(max_length=10)]</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45      customer: Customer</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46      order_reference: Text | None</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47      missing_information: Annotated[list[Text], Field(max_length=10)]</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48      requires_human_review: bool</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49      evidence: Annotated[list[Text], Field(max_length=10)]</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50      catalog_filters: CatalogFilters = Field(default_factory=CatalogFilters)</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51  </a:t>
            </a:r>
          </a:p>
        </p:txBody>
      </p:sp>
      <p:sp>
        <p:nvSpPr>
          <p:cNvPr id="7" name="code-lesson">
            <a:extLst xmlns:a="http://schemas.openxmlformats.org/drawingml/2006/main">
              <a:ext uri="{FF2B5EF4-FFF2-40B4-BE49-F238E27FC236}">
                <a16:creationId xmlns:a16="http://schemas.microsoft.com/office/drawing/2014/main" id="{04815FF5-28FF-4706-913D-C50258EABC1F}"/>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Các trường quan trọng: intent, confidence, items, customer, missing_information và evidence.</a:t>
            </a:r>
          </a:p>
        </p:txBody>
      </p:sp>
    </p:spTree>
    <p:extLst>
      <p:ext uri="{BB962C8B-B14F-4D97-AF65-F5344CB8AC3E}">
        <p14:creationId xmlns:p14="http://schemas.microsoft.com/office/powerpoint/2010/main" val="1157294428"/>
      </p:ext>
    </p:extLst>
  </p:cSld>
</p:sld>
</file>

<file path=ppt/slides/slide1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61787CA-4876-4EF5-B59C-1FE0597187D3}"/>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Gọi Gemini qua REST</a:t>
            </a:r>
          </a:p>
        </p:txBody>
      </p:sp>
      <p:sp>
        <p:nvSpPr>
          <p:cNvPr id="3" name="page-number">
            <a:extLst xmlns:a="http://schemas.openxmlformats.org/drawingml/2006/main">
              <a:ext uri="{FF2B5EF4-FFF2-40B4-BE49-F238E27FC236}">
                <a16:creationId xmlns:a16="http://schemas.microsoft.com/office/drawing/2014/main" id="{6D60D3DC-D500-4112-A7A1-B6B212CF772E}"/>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14 / 88</a:t>
            </a:r>
          </a:p>
        </p:txBody>
      </p:sp>
      <p:sp>
        <p:nvSpPr>
          <p:cNvPr id="4" name="source-reference">
            <a:extLst xmlns:a="http://schemas.openxmlformats.org/drawingml/2006/main">
              <a:ext uri="{FF2B5EF4-FFF2-40B4-BE49-F238E27FC236}">
                <a16:creationId xmlns:a16="http://schemas.microsoft.com/office/drawing/2014/main" id="{3BAD94F5-69AB-4539-8208-CD515A1340A2}"/>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src/llm_client.py:51–57,66–67</a:t>
            </a:r>
          </a:p>
        </p:txBody>
      </p:sp>
      <p:sp>
        <p:nvSpPr>
          <p:cNvPr id="5" name="code-intro">
            <a:extLst xmlns:a="http://schemas.openxmlformats.org/drawingml/2006/main">
              <a:ext uri="{FF2B5EF4-FFF2-40B4-BE49-F238E27FC236}">
                <a16:creationId xmlns:a16="http://schemas.microsoft.com/office/drawing/2014/main" id="{F183FE9E-A4D8-431E-A831-ABDE942AE100}"/>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GeminiLLMClient.generate() ghép payload rồi gọi endpoint generateContent.</a:t>
            </a:r>
          </a:p>
        </p:txBody>
      </p:sp>
      <p:sp>
        <p:nvSpPr>
          <p:cNvPr id="6" name="source-code">
            <a:extLst xmlns:a="http://schemas.openxmlformats.org/drawingml/2006/main">
              <a:ext uri="{FF2B5EF4-FFF2-40B4-BE49-F238E27FC236}">
                <a16:creationId xmlns:a16="http://schemas.microsoft.com/office/drawing/2014/main" id="{225E7D14-8E74-440D-A1C6-E1534F447C29}"/>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50" b="0">
                <a:solidFill>
                  <a:srgbClr val="172E32"/>
                </a:solidFill>
                <a:latin typeface="Courier New"/>
                <a:ea typeface="Courier New"/>
                <a:cs typeface="Courier New"/>
              </a:defRPr>
            </a:defPPr>
            <a:lvl1pPr>
              <a:defRPr sz="1650" b="0">
                <a:solidFill>
                  <a:srgbClr val="172E32"/>
                </a:solidFill>
                <a:latin typeface="Courier New"/>
                <a:ea typeface="Courier New"/>
                <a:cs typeface="Courier New"/>
              </a:defRPr>
            </a:lvl1pPr>
            <a:lvl2pPr>
              <a:defRPr sz="1650" b="0">
                <a:solidFill>
                  <a:srgbClr val="172E32"/>
                </a:solidFill>
                <a:latin typeface="Courier New"/>
                <a:ea typeface="Courier New"/>
                <a:cs typeface="Courier New"/>
              </a:defRPr>
            </a:lvl2pPr>
            <a:lvl3pPr>
              <a:defRPr sz="1650" b="0">
                <a:solidFill>
                  <a:srgbClr val="172E32"/>
                </a:solidFill>
                <a:latin typeface="Courier New"/>
                <a:ea typeface="Courier New"/>
                <a:cs typeface="Courier New"/>
              </a:defRPr>
            </a:lvl3pPr>
            <a:lvl4pPr>
              <a:defRPr sz="1650" b="0">
                <a:solidFill>
                  <a:srgbClr val="172E32"/>
                </a:solidFill>
                <a:latin typeface="Courier New"/>
                <a:ea typeface="Courier New"/>
                <a:cs typeface="Courier New"/>
              </a:defRPr>
            </a:lvl4pPr>
            <a:lvl5pPr>
              <a:defRPr sz="1650" b="0">
                <a:solidFill>
                  <a:srgbClr val="172E32"/>
                </a:solidFill>
                <a:latin typeface="Courier New"/>
                <a:ea typeface="Courier New"/>
                <a:cs typeface="Courier New"/>
              </a:defRPr>
            </a:lvl5pPr>
            <a:lvl6pPr>
              <a:defRPr sz="1650" b="0">
                <a:solidFill>
                  <a:srgbClr val="172E32"/>
                </a:solidFill>
                <a:latin typeface="Courier New"/>
                <a:ea typeface="Courier New"/>
                <a:cs typeface="Courier New"/>
              </a:defRPr>
            </a:lvl6pPr>
            <a:lvl7pPr>
              <a:defRPr sz="1650" b="0">
                <a:solidFill>
                  <a:srgbClr val="172E32"/>
                </a:solidFill>
                <a:latin typeface="Courier New"/>
                <a:ea typeface="Courier New"/>
                <a:cs typeface="Courier New"/>
              </a:defRPr>
            </a:lvl7pPr>
            <a:lvl8pPr>
              <a:defRPr sz="1650" b="0">
                <a:solidFill>
                  <a:srgbClr val="172E32"/>
                </a:solidFill>
                <a:latin typeface="Courier New"/>
                <a:ea typeface="Courier New"/>
                <a:cs typeface="Courier New"/>
              </a:defRPr>
            </a:lvl8pPr>
            <a:lvl9pPr>
              <a:defRPr sz="1650" b="0">
                <a:solidFill>
                  <a:srgbClr val="172E32"/>
                </a:solidFill>
                <a:latin typeface="Courier New"/>
                <a:ea typeface="Courier New"/>
                <a:cs typeface="Courier New"/>
              </a:defRPr>
            </a:lvl9pPr>
          </a:lstStyle>
          <a:p xmlns:a="http://schemas.openxmlformats.org/drawingml/2006/main">
            <a:pPr>
              <a:lnSpc>
                <a:spcPct val="108000"/>
              </a:lnSpc>
              <a:buNone/>
              <a:defRPr sz="1763" b="0">
                <a:solidFill>
                  <a:srgbClr val="172E32"/>
                </a:solidFill>
                <a:latin typeface="Courier New"/>
                <a:ea typeface="Courier New"/>
                <a:cs typeface="Courier New"/>
              </a:defRPr>
            </a:pPr>
            <a:r>
              <a:rPr sz="1650" b="0">
                <a:solidFill>
                  <a:srgbClr val="172E32"/>
                </a:solidFill>
                <a:latin typeface="Courier New"/>
                <a:ea typeface="Courier New"/>
                <a:cs typeface="Courier New"/>
              </a:rPr>
              <a:t> 51          system, prompt = build_prompt(message, catalog, context)</a:t>
            </a:r>
          </a:p>
          <a:p xmlns:a="http://schemas.openxmlformats.org/drawingml/2006/main">
            <a:pPr>
              <a:lnSpc>
                <a:spcPct val="108000"/>
              </a:lnSpc>
              <a:buNone/>
              <a:defRPr sz="1763" b="0">
                <a:solidFill>
                  <a:srgbClr val="172E32"/>
                </a:solidFill>
                <a:latin typeface="Courier New"/>
                <a:ea typeface="Courier New"/>
                <a:cs typeface="Courier New"/>
              </a:defRPr>
            </a:pPr>
            <a:r>
              <a:rPr sz="1650" b="0">
                <a:solidFill>
                  <a:srgbClr val="172E32"/>
                </a:solidFill>
                <a:latin typeface="Courier New"/>
                <a:ea typeface="Courier New"/>
                <a:cs typeface="Courier New"/>
              </a:rPr>
              <a:t> 52          url = "https://generativelanguage.googleapis.com/v1beta/models/" + quote(self.model_id, safe="-") + ":generateContent"</a:t>
            </a:r>
          </a:p>
          <a:p xmlns:a="http://schemas.openxmlformats.org/drawingml/2006/main">
            <a:pPr>
              <a:lnSpc>
                <a:spcPct val="108000"/>
              </a:lnSpc>
              <a:buNone/>
              <a:defRPr sz="1763" b="0">
                <a:solidFill>
                  <a:srgbClr val="172E32"/>
                </a:solidFill>
                <a:latin typeface="Courier New"/>
                <a:ea typeface="Courier New"/>
                <a:cs typeface="Courier New"/>
              </a:defRPr>
            </a:pPr>
            <a:r>
              <a:rPr sz="1650" b="0">
                <a:solidFill>
                  <a:srgbClr val="172E32"/>
                </a:solidFill>
                <a:latin typeface="Courier New"/>
                <a:ea typeface="Courier New"/>
                <a:cs typeface="Courier New"/>
              </a:rPr>
              <a:t> 53          payload = {"systemInstruction": {"parts": [{"text": system}]},</a:t>
            </a:r>
          </a:p>
          <a:p xmlns:a="http://schemas.openxmlformats.org/drawingml/2006/main">
            <a:pPr>
              <a:lnSpc>
                <a:spcPct val="108000"/>
              </a:lnSpc>
              <a:buNone/>
              <a:defRPr sz="1763" b="0">
                <a:solidFill>
                  <a:srgbClr val="172E32"/>
                </a:solidFill>
                <a:latin typeface="Courier New"/>
                <a:ea typeface="Courier New"/>
                <a:cs typeface="Courier New"/>
              </a:defRPr>
            </a:pPr>
            <a:r>
              <a:rPr sz="1650" b="0">
                <a:solidFill>
                  <a:srgbClr val="172E32"/>
                </a:solidFill>
                <a:latin typeface="Courier New"/>
                <a:ea typeface="Courier New"/>
                <a:cs typeface="Courier New"/>
              </a:rPr>
              <a:t> 54                     "contents": [{"role": "user", "parts": [{"text": prompt}]}],</a:t>
            </a:r>
          </a:p>
          <a:p xmlns:a="http://schemas.openxmlformats.org/drawingml/2006/main">
            <a:pPr>
              <a:lnSpc>
                <a:spcPct val="108000"/>
              </a:lnSpc>
              <a:buNone/>
              <a:defRPr sz="1763" b="0">
                <a:solidFill>
                  <a:srgbClr val="172E32"/>
                </a:solidFill>
                <a:latin typeface="Courier New"/>
                <a:ea typeface="Courier New"/>
                <a:cs typeface="Courier New"/>
              </a:defRPr>
            </a:pPr>
            <a:r>
              <a:rPr sz="1650" b="0">
                <a:solidFill>
                  <a:srgbClr val="172E32"/>
                </a:solidFill>
                <a:latin typeface="Courier New"/>
                <a:ea typeface="Courier New"/>
                <a:cs typeface="Courier New"/>
              </a:rPr>
              <a:t> 55                     "generationConfig": {"temperature": 0, "maxOutputTokens": 2048,</a:t>
            </a:r>
          </a:p>
          <a:p xmlns:a="http://schemas.openxmlformats.org/drawingml/2006/main">
            <a:pPr>
              <a:lnSpc>
                <a:spcPct val="108000"/>
              </a:lnSpc>
              <a:buNone/>
              <a:defRPr sz="1763" b="0">
                <a:solidFill>
                  <a:srgbClr val="172E32"/>
                </a:solidFill>
                <a:latin typeface="Courier New"/>
                <a:ea typeface="Courier New"/>
                <a:cs typeface="Courier New"/>
              </a:defRPr>
            </a:pPr>
            <a:r>
              <a:rPr sz="1650" b="0">
                <a:solidFill>
                  <a:srgbClr val="172E32"/>
                </a:solidFill>
                <a:latin typeface="Courier New"/>
                <a:ea typeface="Courier New"/>
                <a:cs typeface="Courier New"/>
              </a:rPr>
              <a:t> 56                                          "responseFormat": {"text": {"mimeType": "APPLICATION_JSON",</a:t>
            </a:r>
          </a:p>
          <a:p xmlns:a="http://schemas.openxmlformats.org/drawingml/2006/main">
            <a:pPr>
              <a:lnSpc>
                <a:spcPct val="108000"/>
              </a:lnSpc>
              <a:buNone/>
              <a:defRPr sz="1763" b="0">
                <a:solidFill>
                  <a:srgbClr val="172E32"/>
                </a:solidFill>
                <a:latin typeface="Courier New"/>
                <a:ea typeface="Courier New"/>
                <a:cs typeface="Courier New"/>
              </a:defRPr>
            </a:pPr>
            <a:r>
              <a:rPr sz="1650" b="0">
                <a:solidFill>
                  <a:srgbClr val="172E32"/>
                </a:solidFill>
                <a:latin typeface="Courier New"/>
                <a:ea typeface="Courier New"/>
                <a:cs typeface="Courier New"/>
              </a:rPr>
              <a:t> 57                                                                      "schema": Extraction.model_json_schema()}}}}</a:t>
            </a:r>
          </a:p>
          <a:p xmlns:a="http://schemas.openxmlformats.org/drawingml/2006/main">
            <a:pPr>
              <a:lnSpc>
                <a:spcPct val="108000"/>
              </a:lnSpc>
              <a:buNone/>
              <a:defRPr sz="1763" b="0">
                <a:solidFill>
                  <a:srgbClr val="172E32"/>
                </a:solidFill>
                <a:latin typeface="Courier New"/>
                <a:ea typeface="Courier New"/>
                <a:cs typeface="Courier New"/>
              </a:defRPr>
            </a:pPr>
            <a:r>
              <a:rPr sz="1763" b="0">
                <a:solidFill>
                  <a:srgbClr val="172E32"/>
                </a:solidFill>
                <a:latin typeface="Courier New"/>
                <a:ea typeface="Courier New"/>
                <a:cs typeface="Courier New"/>
              </a:rPr>
              <a:t/>
            </a:r>
          </a:p>
          <a:p xmlns:a="http://schemas.openxmlformats.org/drawingml/2006/main">
            <a:pPr>
              <a:defRPr sz="1763" b="0">
                <a:solidFill>
                  <a:srgbClr val="172E32"/>
                </a:solidFill>
                <a:latin typeface="Courier New"/>
                <a:ea typeface="Courier New"/>
                <a:cs typeface="Courier New"/>
              </a:defRPr>
            </a:pPr>
            <a:r>
              <a:rPr sz="1650"/>
              <a:t> 66                  response = requests.post(url, headers={"x-goog-api-key": self.settings.api_key}, json=payload,</a:t>
            </a:r>
          </a:p>
          <a:p xmlns:a="http://schemas.openxmlformats.org/drawingml/2006/main">
            <a:pPr>
              <a:lnSpc>
                <a:spcPct val="108000"/>
              </a:lnSpc>
              <a:buNone/>
              <a:defRPr sz="1763" b="0">
                <a:solidFill>
                  <a:srgbClr val="172E32"/>
                </a:solidFill>
                <a:latin typeface="Courier New"/>
                <a:ea typeface="Courier New"/>
                <a:cs typeface="Courier New"/>
              </a:defRPr>
            </a:pPr>
            <a:r>
              <a:rPr sz="1650" b="0">
                <a:solidFill>
                  <a:srgbClr val="172E32"/>
                </a:solidFill>
                <a:latin typeface="Courier New"/>
                <a:ea typeface="Courier New"/>
                <a:cs typeface="Courier New"/>
              </a:rPr>
              <a:t> 67                                           timeout=self.settings.llm_timeout, allow_redirects=False)</a:t>
            </a:r>
          </a:p>
        </p:txBody>
      </p:sp>
      <p:sp>
        <p:nvSpPr>
          <p:cNvPr id="7" name="code-lesson">
            <a:extLst xmlns:a="http://schemas.openxmlformats.org/drawingml/2006/main">
              <a:ext uri="{FF2B5EF4-FFF2-40B4-BE49-F238E27FC236}">
                <a16:creationId xmlns:a16="http://schemas.microsoft.com/office/drawing/2014/main" id="{A1D365F6-5BB2-4EBB-B1CE-00BE48DD4C91}"/>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temperature=0, maxOutputTokens=2048 và responseFormat yêu cầu JSON theo schema.</a:t>
            </a:r>
          </a:p>
        </p:txBody>
      </p:sp>
    </p:spTree>
    <p:extLst>
      <p:ext uri="{BB962C8B-B14F-4D97-AF65-F5344CB8AC3E}">
        <p14:creationId xmlns:p14="http://schemas.microsoft.com/office/powerpoint/2010/main" val="261612101"/>
      </p:ext>
    </p:extLst>
  </p:cSld>
</p:sld>
</file>

<file path=ppt/slides/slide1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FC4A999-AC28-43C9-B3A0-36594DF0014F}"/>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Đọc kết quả Gemini</a:t>
            </a:r>
          </a:p>
        </p:txBody>
      </p:sp>
      <p:sp>
        <p:nvSpPr>
          <p:cNvPr id="3" name="page-number">
            <a:extLst xmlns:a="http://schemas.openxmlformats.org/drawingml/2006/main">
              <a:ext uri="{FF2B5EF4-FFF2-40B4-BE49-F238E27FC236}">
                <a16:creationId xmlns:a16="http://schemas.microsoft.com/office/drawing/2014/main" id="{B06F2D1C-314E-4E48-AA0C-B596DE8F41DD}"/>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15 / 88</a:t>
            </a:r>
          </a:p>
        </p:txBody>
      </p:sp>
      <p:sp>
        <p:nvSpPr>
          <p:cNvPr id="4" name="source-reference">
            <a:extLst xmlns:a="http://schemas.openxmlformats.org/drawingml/2006/main">
              <a:ext uri="{FF2B5EF4-FFF2-40B4-BE49-F238E27FC236}">
                <a16:creationId xmlns:a16="http://schemas.microsoft.com/office/drawing/2014/main" id="{7719B1DA-8311-4CBF-9131-ABB5F60F7D3A}"/>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src/llm_client.py:84–91</a:t>
            </a:r>
          </a:p>
        </p:txBody>
      </p:sp>
      <p:sp>
        <p:nvSpPr>
          <p:cNvPr id="5" name="code-intro">
            <a:extLst xmlns:a="http://schemas.openxmlformats.org/drawingml/2006/main">
              <a:ext uri="{FF2B5EF4-FFF2-40B4-BE49-F238E27FC236}">
                <a16:creationId xmlns:a16="http://schemas.microsoft.com/office/drawing/2014/main" id="{C5D4119D-EDB4-4B07-8EC1-AAFBD34753EA}"/>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Client chỉ nhận candidate kết thúc STOP, ghép phần text và lấy token usage.</a:t>
            </a:r>
          </a:p>
        </p:txBody>
      </p:sp>
      <p:sp>
        <p:nvSpPr>
          <p:cNvPr id="6" name="source-code">
            <a:extLst xmlns:a="http://schemas.openxmlformats.org/drawingml/2006/main">
              <a:ext uri="{FF2B5EF4-FFF2-40B4-BE49-F238E27FC236}">
                <a16:creationId xmlns:a16="http://schemas.microsoft.com/office/drawing/2014/main" id="{6A5380C1-DC3D-4046-A1BE-E92BB6447AFB}"/>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84                          candidate = body["candidates"][0]</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85                          if candidate.get("finishReason") != "STOP":</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86                              raise LLMError("llm_refusal", attempt)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87                          parts = candidate["content"]["parts"]</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88                          text = "".join(p.get("text", "") for p in parts if not p.get("thought"))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89                          usage = body.get("usageMetadata", {})</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90                          return LLMResult(text, usage.get("promptTokenCount"), usage.get("candidatesTokenCount"), attempt)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 91                      except (AttributeError, KeyError, IndexError, TypeError, ValueError):</a:t>
            </a:r>
          </a:p>
        </p:txBody>
      </p:sp>
      <p:sp>
        <p:nvSpPr>
          <p:cNvPr id="7" name="code-lesson">
            <a:extLst xmlns:a="http://schemas.openxmlformats.org/drawingml/2006/main">
              <a:ext uri="{FF2B5EF4-FFF2-40B4-BE49-F238E27FC236}">
                <a16:creationId xmlns:a16="http://schemas.microsoft.com/office/drawing/2014/main" id="{F0722281-DA63-45C1-84B9-FEC78A3EE4E5}"/>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generate() trả LLMResult để workflow tiếp tục parse, chưa tạo đơn ở đây.</a:t>
            </a:r>
          </a:p>
        </p:txBody>
      </p:sp>
    </p:spTree>
    <p:extLst>
      <p:ext uri="{BB962C8B-B14F-4D97-AF65-F5344CB8AC3E}">
        <p14:creationId xmlns:p14="http://schemas.microsoft.com/office/powerpoint/2010/main" val="259073416"/>
      </p:ext>
    </p:extLst>
  </p:cSld>
</p:sld>
</file>

<file path=ppt/slides/slide1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0A384AB-DFBE-449D-AE23-621B8C56D179}"/>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Ngân sách gọi model theo ngày</a:t>
            </a:r>
          </a:p>
        </p:txBody>
      </p:sp>
      <p:sp>
        <p:nvSpPr>
          <p:cNvPr id="3" name="page-number">
            <a:extLst xmlns:a="http://schemas.openxmlformats.org/drawingml/2006/main">
              <a:ext uri="{FF2B5EF4-FFF2-40B4-BE49-F238E27FC236}">
                <a16:creationId xmlns:a16="http://schemas.microsoft.com/office/drawing/2014/main" id="{BF1F151A-7C4C-41C0-BD9D-E3CC4C23D0EF}"/>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16 / 88</a:t>
            </a:r>
          </a:p>
        </p:txBody>
      </p:sp>
      <p:sp>
        <p:nvSpPr>
          <p:cNvPr id="4" name="source-reference">
            <a:extLst xmlns:a="http://schemas.openxmlformats.org/drawingml/2006/main">
              <a:ext uri="{FF2B5EF4-FFF2-40B4-BE49-F238E27FC236}">
                <a16:creationId xmlns:a16="http://schemas.microsoft.com/office/drawing/2014/main" id="{D2E5E428-AD4A-4F73-9BB5-42603001A812}"/>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src/quota.py:22–32</a:t>
            </a:r>
          </a:p>
        </p:txBody>
      </p:sp>
      <p:sp>
        <p:nvSpPr>
          <p:cNvPr id="5" name="code-intro">
            <a:extLst xmlns:a="http://schemas.openxmlformats.org/drawingml/2006/main">
              <a:ext uri="{FF2B5EF4-FFF2-40B4-BE49-F238E27FC236}">
                <a16:creationId xmlns:a16="http://schemas.microsoft.com/office/drawing/2014/main" id="{5B22EFA5-0C82-4684-AB30-C1CE55B20B49}"/>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Mỗi HTTP attempt phải được giữ một lượt trong ledger trước khi gửi mạng.</a:t>
            </a:r>
          </a:p>
        </p:txBody>
      </p:sp>
      <p:sp>
        <p:nvSpPr>
          <p:cNvPr id="6" name="source-code">
            <a:extLst xmlns:a="http://schemas.openxmlformats.org/drawingml/2006/main">
              <a:ext uri="{FF2B5EF4-FFF2-40B4-BE49-F238E27FC236}">
                <a16:creationId xmlns:a16="http://schemas.microsoft.com/office/drawing/2014/main" id="{B2C7F99C-8A0F-46F2-9FE7-21ED12722066}"/>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13" b="0">
                <a:solidFill>
                  <a:srgbClr val="172E32"/>
                </a:solidFill>
                <a:latin typeface="Courier New"/>
                <a:ea typeface="Courier New"/>
                <a:cs typeface="Courier New"/>
              </a:defRPr>
            </a:defPPr>
            <a:lvl1pPr>
              <a:defRPr sz="1613" b="0">
                <a:solidFill>
                  <a:srgbClr val="172E32"/>
                </a:solidFill>
                <a:latin typeface="Courier New"/>
                <a:ea typeface="Courier New"/>
                <a:cs typeface="Courier New"/>
              </a:defRPr>
            </a:lvl1pPr>
            <a:lvl2pPr>
              <a:defRPr sz="1613" b="0">
                <a:solidFill>
                  <a:srgbClr val="172E32"/>
                </a:solidFill>
                <a:latin typeface="Courier New"/>
                <a:ea typeface="Courier New"/>
                <a:cs typeface="Courier New"/>
              </a:defRPr>
            </a:lvl2pPr>
            <a:lvl3pPr>
              <a:defRPr sz="1613" b="0">
                <a:solidFill>
                  <a:srgbClr val="172E32"/>
                </a:solidFill>
                <a:latin typeface="Courier New"/>
                <a:ea typeface="Courier New"/>
                <a:cs typeface="Courier New"/>
              </a:defRPr>
            </a:lvl3pPr>
            <a:lvl4pPr>
              <a:defRPr sz="1613" b="0">
                <a:solidFill>
                  <a:srgbClr val="172E32"/>
                </a:solidFill>
                <a:latin typeface="Courier New"/>
                <a:ea typeface="Courier New"/>
                <a:cs typeface="Courier New"/>
              </a:defRPr>
            </a:lvl4pPr>
            <a:lvl5pPr>
              <a:defRPr sz="1613" b="0">
                <a:solidFill>
                  <a:srgbClr val="172E32"/>
                </a:solidFill>
                <a:latin typeface="Courier New"/>
                <a:ea typeface="Courier New"/>
                <a:cs typeface="Courier New"/>
              </a:defRPr>
            </a:lvl5pPr>
            <a:lvl6pPr>
              <a:defRPr sz="1613" b="0">
                <a:solidFill>
                  <a:srgbClr val="172E32"/>
                </a:solidFill>
                <a:latin typeface="Courier New"/>
                <a:ea typeface="Courier New"/>
                <a:cs typeface="Courier New"/>
              </a:defRPr>
            </a:lvl6pPr>
            <a:lvl7pPr>
              <a:defRPr sz="1613" b="0">
                <a:solidFill>
                  <a:srgbClr val="172E32"/>
                </a:solidFill>
                <a:latin typeface="Courier New"/>
                <a:ea typeface="Courier New"/>
                <a:cs typeface="Courier New"/>
              </a:defRPr>
            </a:lvl7pPr>
            <a:lvl8pPr>
              <a:defRPr sz="1613" b="0">
                <a:solidFill>
                  <a:srgbClr val="172E32"/>
                </a:solidFill>
                <a:latin typeface="Courier New"/>
                <a:ea typeface="Courier New"/>
                <a:cs typeface="Courier New"/>
              </a:defRPr>
            </a:lvl8pPr>
            <a:lvl9pPr>
              <a:defRPr sz="1613"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22      def reserve(self, model_id, now=None):</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23          day = (now or datetime.now(ZoneInfo("America/Los_Angeles"))).astimezone(ZoneInfo("America/Los_Angeles")).date().isoformat()</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24          with closing(sqlite3.connect(self.path, timeout=10)) as conn, conn:</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25              conn.execute("BEGIN IMMEDIATE")</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26              row = conn.execute("SELECT attempts FROM llm_daily_usage WHERE model_id=? AND quota_day=?", (model_id, day)).fetchone()</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27              used = row[0] if row else 0</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28              if used &gt;= self.limit:</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29                  raise DailyLimitReached()</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30              conn.execute("INSERT INTO llm_daily_usage VALUES (?,?,1) ON CONFLICT(model_id,quota_day)"</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31                           " DO UPDATE SET attempts=attempts+1", (model_id, day))</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32              return used + 1</a:t>
            </a:r>
          </a:p>
        </p:txBody>
      </p:sp>
      <p:sp>
        <p:nvSpPr>
          <p:cNvPr id="7" name="code-lesson">
            <a:extLst xmlns:a="http://schemas.openxmlformats.org/drawingml/2006/main">
              <a:ext uri="{FF2B5EF4-FFF2-40B4-BE49-F238E27FC236}">
                <a16:creationId xmlns:a16="http://schemas.microsoft.com/office/drawing/2014/main" id="{E3ABDDF1-77DF-4A58-ACE6-BCE7B37F1269}"/>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Khóa BEGIN IMMEDIATE giữ bộ đếm nhất quán giữa các tiến trình dùng chung ledger.</a:t>
            </a:r>
          </a:p>
        </p:txBody>
      </p:sp>
    </p:spTree>
    <p:extLst>
      <p:ext uri="{BB962C8B-B14F-4D97-AF65-F5344CB8AC3E}">
        <p14:creationId xmlns:p14="http://schemas.microsoft.com/office/powerpoint/2010/main" val="2076211189"/>
      </p:ext>
    </p:extLst>
  </p:cSld>
</p:sld>
</file>

<file path=ppt/slides/slide1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C8963E9-BBFA-44C1-B868-2EC816DAC256}"/>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Timeout, lỗi provider và retry</a:t>
            </a:r>
          </a:p>
        </p:txBody>
      </p:sp>
      <p:sp>
        <p:nvSpPr>
          <p:cNvPr id="3" name="page-number">
            <a:extLst xmlns:a="http://schemas.openxmlformats.org/drawingml/2006/main">
              <a:ext uri="{FF2B5EF4-FFF2-40B4-BE49-F238E27FC236}">
                <a16:creationId xmlns:a16="http://schemas.microsoft.com/office/drawing/2014/main" id="{537628C7-BD49-4F96-82E8-8281743EF50B}"/>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17 / 88</a:t>
            </a:r>
          </a:p>
        </p:txBody>
      </p:sp>
      <p:sp>
        <p:nvSpPr>
          <p:cNvPr id="4" name="source-reference">
            <a:extLst xmlns:a="http://schemas.openxmlformats.org/drawingml/2006/main">
              <a:ext uri="{FF2B5EF4-FFF2-40B4-BE49-F238E27FC236}">
                <a16:creationId xmlns:a16="http://schemas.microsoft.com/office/drawing/2014/main" id="{5C69DE68-D575-4665-AAAF-96BB88E594E4}"/>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src/llm_client.py:73–79,93–100</a:t>
            </a:r>
          </a:p>
        </p:txBody>
      </p:sp>
      <p:sp>
        <p:nvSpPr>
          <p:cNvPr id="5" name="code-intro">
            <a:extLst xmlns:a="http://schemas.openxmlformats.org/drawingml/2006/main">
              <a:ext uri="{FF2B5EF4-FFF2-40B4-BE49-F238E27FC236}">
                <a16:creationId xmlns:a16="http://schemas.microsoft.com/office/drawing/2014/main" id="{8E810E2F-7BB0-41BB-ACF4-D7615CABDF96}"/>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Client phân loại 429, 5xx, lỗi xác thực và lỗi transport.</a:t>
            </a:r>
          </a:p>
        </p:txBody>
      </p:sp>
      <p:sp>
        <p:nvSpPr>
          <p:cNvPr id="6" name="source-code">
            <a:extLst xmlns:a="http://schemas.openxmlformats.org/drawingml/2006/main">
              <a:ext uri="{FF2B5EF4-FFF2-40B4-BE49-F238E27FC236}">
                <a16:creationId xmlns:a16="http://schemas.microsoft.com/office/drawing/2014/main" id="{1D70C39F-C6A3-4C19-A649-CC98A3BF1350}"/>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388" b="0">
                <a:solidFill>
                  <a:srgbClr val="172E32"/>
                </a:solidFill>
                <a:latin typeface="Courier New"/>
                <a:ea typeface="Courier New"/>
                <a:cs typeface="Courier New"/>
              </a:defRPr>
            </a:defPPr>
            <a:lvl1pPr>
              <a:defRPr sz="1388" b="0">
                <a:solidFill>
                  <a:srgbClr val="172E32"/>
                </a:solidFill>
                <a:latin typeface="Courier New"/>
                <a:ea typeface="Courier New"/>
                <a:cs typeface="Courier New"/>
              </a:defRPr>
            </a:lvl1pPr>
            <a:lvl2pPr>
              <a:defRPr sz="1388" b="0">
                <a:solidFill>
                  <a:srgbClr val="172E32"/>
                </a:solidFill>
                <a:latin typeface="Courier New"/>
                <a:ea typeface="Courier New"/>
                <a:cs typeface="Courier New"/>
              </a:defRPr>
            </a:lvl2pPr>
            <a:lvl3pPr>
              <a:defRPr sz="1388" b="0">
                <a:solidFill>
                  <a:srgbClr val="172E32"/>
                </a:solidFill>
                <a:latin typeface="Courier New"/>
                <a:ea typeface="Courier New"/>
                <a:cs typeface="Courier New"/>
              </a:defRPr>
            </a:lvl3pPr>
            <a:lvl4pPr>
              <a:defRPr sz="1388" b="0">
                <a:solidFill>
                  <a:srgbClr val="172E32"/>
                </a:solidFill>
                <a:latin typeface="Courier New"/>
                <a:ea typeface="Courier New"/>
                <a:cs typeface="Courier New"/>
              </a:defRPr>
            </a:lvl4pPr>
            <a:lvl5pPr>
              <a:defRPr sz="1388" b="0">
                <a:solidFill>
                  <a:srgbClr val="172E32"/>
                </a:solidFill>
                <a:latin typeface="Courier New"/>
                <a:ea typeface="Courier New"/>
                <a:cs typeface="Courier New"/>
              </a:defRPr>
            </a:lvl5pPr>
            <a:lvl6pPr>
              <a:defRPr sz="1388" b="0">
                <a:solidFill>
                  <a:srgbClr val="172E32"/>
                </a:solidFill>
                <a:latin typeface="Courier New"/>
                <a:ea typeface="Courier New"/>
                <a:cs typeface="Courier New"/>
              </a:defRPr>
            </a:lvl6pPr>
            <a:lvl7pPr>
              <a:defRPr sz="1388" b="0">
                <a:solidFill>
                  <a:srgbClr val="172E32"/>
                </a:solidFill>
                <a:latin typeface="Courier New"/>
                <a:ea typeface="Courier New"/>
                <a:cs typeface="Courier New"/>
              </a:defRPr>
            </a:lvl7pPr>
            <a:lvl8pPr>
              <a:defRPr sz="1388" b="0">
                <a:solidFill>
                  <a:srgbClr val="172E32"/>
                </a:solidFill>
                <a:latin typeface="Courier New"/>
                <a:ea typeface="Courier New"/>
                <a:cs typeface="Courier New"/>
              </a:defRPr>
            </a:lvl8pPr>
            <a:lvl9pPr>
              <a:defRPr sz="1388" b="0">
                <a:solidFill>
                  <a:srgbClr val="172E32"/>
                </a:solidFill>
                <a:latin typeface="Courier New"/>
                <a:ea typeface="Courier New"/>
                <a:cs typeface="Courier New"/>
              </a:defRPr>
            </a:lvl9pPr>
          </a:lstStyle>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73                  if response.status_code == 429 or 500 &lt;= response.status_code &lt;= 599:</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74                      error = "llm_rate_limit" if response.status_code == 429 else "llm_unavailable"</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75                      header = response.headers.get("Retry-After")</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76                  elif response.status_code != 200:</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77                      code = "llm_auth" if response.status_code in {401, 403} else "llm_request"</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78                      raise LLMError(code, attempt)</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79                  else:</a:t>
            </a:r>
          </a:p>
          <a:p xmlns:a="http://schemas.openxmlformats.org/drawingml/2006/main">
            <a:pPr>
              <a:defRPr sz="1650" b="0">
                <a:solidFill>
                  <a:srgbClr val="172E32"/>
                </a:solidFill>
                <a:latin typeface="Courier New"/>
                <a:ea typeface="Courier New"/>
                <a:cs typeface="Courier New"/>
              </a:defRPr>
            </a:pPr>
            <a:r>
              <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93              if attempt &gt;= self.settings.llm_max_retries:</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94                  raise LLMError(error, attempt)</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95              delay = _retry_delay(header, attempt)</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96              if delay &gt; 3:</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97                  # Return a recoverable error rather than retrying before the provider permits it.</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98                  raise LLMError(error, attempt)</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99              time.sleep(delay)</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100  </a:t>
            </a:r>
          </a:p>
        </p:txBody>
      </p:sp>
      <p:sp>
        <p:nvSpPr>
          <p:cNvPr id="7" name="code-lesson">
            <a:extLst xmlns:a="http://schemas.openxmlformats.org/drawingml/2006/main">
              <a:ext uri="{FF2B5EF4-FFF2-40B4-BE49-F238E27FC236}">
                <a16:creationId xmlns:a16="http://schemas.microsoft.com/office/drawing/2014/main" id="{EB7F2688-461F-438F-A38F-6C97B9F13934}"/>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Cấu hình demo: timeout 12 giây, retry 0. Có thể cấu hình tối đa 2 retry.</a:t>
            </a:r>
          </a:p>
        </p:txBody>
      </p:sp>
    </p:spTree>
    <p:extLst>
      <p:ext uri="{BB962C8B-B14F-4D97-AF65-F5344CB8AC3E}">
        <p14:creationId xmlns:p14="http://schemas.microsoft.com/office/powerpoint/2010/main" val="648156067"/>
      </p:ext>
    </p:extLst>
  </p:cSld>
</p:sld>
</file>

<file path=ppt/slides/slide1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CC7077B6-7A9B-4112-9694-48FB9C2B69A9}"/>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Parse JSON và kiểm tra schema</a:t>
            </a:r>
          </a:p>
        </p:txBody>
      </p:sp>
      <p:sp>
        <p:nvSpPr>
          <p:cNvPr id="3" name="page-number">
            <a:extLst xmlns:a="http://schemas.openxmlformats.org/drawingml/2006/main">
              <a:ext uri="{FF2B5EF4-FFF2-40B4-BE49-F238E27FC236}">
                <a16:creationId xmlns:a16="http://schemas.microsoft.com/office/drawing/2014/main" id="{B9638038-22B0-46DF-B71F-F4C76A7F824E}"/>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18 / 88</a:t>
            </a:r>
          </a:p>
        </p:txBody>
      </p:sp>
      <p:sp>
        <p:nvSpPr>
          <p:cNvPr id="4" name="source-reference">
            <a:extLst xmlns:a="http://schemas.openxmlformats.org/drawingml/2006/main">
              <a:ext uri="{FF2B5EF4-FFF2-40B4-BE49-F238E27FC236}">
                <a16:creationId xmlns:a16="http://schemas.microsoft.com/office/drawing/2014/main" id="{D3CE77AE-2173-4AD4-95CE-B8458855E47B}"/>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src/parser.py:67–78</a:t>
            </a:r>
          </a:p>
        </p:txBody>
      </p:sp>
      <p:sp>
        <p:nvSpPr>
          <p:cNvPr id="5" name="code-intro">
            <a:extLst xmlns:a="http://schemas.openxmlformats.org/drawingml/2006/main">
              <a:ext uri="{FF2B5EF4-FFF2-40B4-BE49-F238E27FC236}">
                <a16:creationId xmlns:a16="http://schemas.microsoft.com/office/drawing/2014/main" id="{932989D2-017D-42EF-B100-3D417078D060}"/>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parse_output() từ chối JSON rỗng/quá lớn, khóa trùng, NaN và dữ liệu sai schema.</a:t>
            </a:r>
          </a:p>
        </p:txBody>
      </p:sp>
      <p:sp>
        <p:nvSpPr>
          <p:cNvPr id="6" name="source-code">
            <a:extLst xmlns:a="http://schemas.openxmlformats.org/drawingml/2006/main">
              <a:ext uri="{FF2B5EF4-FFF2-40B4-BE49-F238E27FC236}">
                <a16:creationId xmlns:a16="http://schemas.microsoft.com/office/drawing/2014/main" id="{D6263A0D-BECE-44FC-BFB8-D2C13B30EC3C}"/>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725" b="0">
                <a:solidFill>
                  <a:srgbClr val="172E32"/>
                </a:solidFill>
                <a:latin typeface="Courier New"/>
                <a:ea typeface="Courier New"/>
                <a:cs typeface="Courier New"/>
              </a:defRPr>
            </a:defPPr>
            <a:lvl1pPr>
              <a:defRPr sz="1725" b="0">
                <a:solidFill>
                  <a:srgbClr val="172E32"/>
                </a:solidFill>
                <a:latin typeface="Courier New"/>
                <a:ea typeface="Courier New"/>
                <a:cs typeface="Courier New"/>
              </a:defRPr>
            </a:lvl1pPr>
            <a:lvl2pPr>
              <a:defRPr sz="1725" b="0">
                <a:solidFill>
                  <a:srgbClr val="172E32"/>
                </a:solidFill>
                <a:latin typeface="Courier New"/>
                <a:ea typeface="Courier New"/>
                <a:cs typeface="Courier New"/>
              </a:defRPr>
            </a:lvl2pPr>
            <a:lvl3pPr>
              <a:defRPr sz="1725" b="0">
                <a:solidFill>
                  <a:srgbClr val="172E32"/>
                </a:solidFill>
                <a:latin typeface="Courier New"/>
                <a:ea typeface="Courier New"/>
                <a:cs typeface="Courier New"/>
              </a:defRPr>
            </a:lvl3pPr>
            <a:lvl4pPr>
              <a:defRPr sz="1725" b="0">
                <a:solidFill>
                  <a:srgbClr val="172E32"/>
                </a:solidFill>
                <a:latin typeface="Courier New"/>
                <a:ea typeface="Courier New"/>
                <a:cs typeface="Courier New"/>
              </a:defRPr>
            </a:lvl4pPr>
            <a:lvl5pPr>
              <a:defRPr sz="1725" b="0">
                <a:solidFill>
                  <a:srgbClr val="172E32"/>
                </a:solidFill>
                <a:latin typeface="Courier New"/>
                <a:ea typeface="Courier New"/>
                <a:cs typeface="Courier New"/>
              </a:defRPr>
            </a:lvl5pPr>
            <a:lvl6pPr>
              <a:defRPr sz="1725" b="0">
                <a:solidFill>
                  <a:srgbClr val="172E32"/>
                </a:solidFill>
                <a:latin typeface="Courier New"/>
                <a:ea typeface="Courier New"/>
                <a:cs typeface="Courier New"/>
              </a:defRPr>
            </a:lvl6pPr>
            <a:lvl7pPr>
              <a:defRPr sz="1725" b="0">
                <a:solidFill>
                  <a:srgbClr val="172E32"/>
                </a:solidFill>
                <a:latin typeface="Courier New"/>
                <a:ea typeface="Courier New"/>
                <a:cs typeface="Courier New"/>
              </a:defRPr>
            </a:lvl7pPr>
            <a:lvl8pPr>
              <a:defRPr sz="1725" b="0">
                <a:solidFill>
                  <a:srgbClr val="172E32"/>
                </a:solidFill>
                <a:latin typeface="Courier New"/>
                <a:ea typeface="Courier New"/>
                <a:cs typeface="Courier New"/>
              </a:defRPr>
            </a:lvl8pPr>
            <a:lvl9pPr>
              <a:defRPr sz="1725" b="0">
                <a:solidFill>
                  <a:srgbClr val="172E32"/>
                </a:solidFill>
                <a:latin typeface="Courier New"/>
                <a:ea typeface="Courier New"/>
                <a:cs typeface="Courier New"/>
              </a:defRPr>
            </a:lvl9pPr>
          </a:lstStyle>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67  def parse_output(raw):</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68      if not isinstance(raw, str) or not raw.strip() or len(raw) &gt; 16000:</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69          raise OutputError("invalid_json")</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70      try:</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71          value = json.loads(raw, object_pairs_hook=_unique_object,</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72                             parse_constant=lambda _: (_ for _ in ()).throw(ValueError("non-finite")))</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73      except (ValueError, RecursionError):</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74          raise OutputError("invalid_json") from None</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75      try:</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76          return Extraction.model_validate(value)</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77      except ValidationError:</a:t>
            </a:r>
          </a:p>
          <a:p xmlns:a="http://schemas.openxmlformats.org/drawingml/2006/main">
            <a:pPr>
              <a:lnSpc>
                <a:spcPct val="108000"/>
              </a:lnSpc>
              <a:buNone/>
              <a:defRPr sz="1650" b="0">
                <a:solidFill>
                  <a:srgbClr val="172E32"/>
                </a:solidFill>
                <a:latin typeface="Courier New"/>
                <a:ea typeface="Courier New"/>
                <a:cs typeface="Courier New"/>
              </a:defRPr>
            </a:pPr>
            <a:r>
              <a:rPr sz="1725" b="0">
                <a:solidFill>
                  <a:srgbClr val="172E32"/>
                </a:solidFill>
                <a:latin typeface="Courier New"/>
                <a:ea typeface="Courier New"/>
                <a:cs typeface="Courier New"/>
              </a:rPr>
              <a:t> 78          raise OutputError("invalid_schema") from None</a:t>
            </a:r>
          </a:p>
        </p:txBody>
      </p:sp>
      <p:sp>
        <p:nvSpPr>
          <p:cNvPr id="7" name="code-lesson">
            <a:extLst xmlns:a="http://schemas.openxmlformats.org/drawingml/2006/main">
              <a:ext uri="{FF2B5EF4-FFF2-40B4-BE49-F238E27FC236}">
                <a16:creationId xmlns:a16="http://schemas.microsoft.com/office/drawing/2014/main" id="{190CF668-DFBA-4180-A0FB-DB14DD60516B}"/>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Sau bước này mới có đối tượng Extraction có kiểu dữ liệu và ràng buộc rõ.</a:t>
            </a:r>
          </a:p>
        </p:txBody>
      </p:sp>
    </p:spTree>
    <p:extLst>
      <p:ext uri="{BB962C8B-B14F-4D97-AF65-F5344CB8AC3E}">
        <p14:creationId xmlns:p14="http://schemas.microsoft.com/office/powerpoint/2010/main" val="626727408"/>
      </p:ext>
    </p:extLst>
  </p:cSld>
</p:sld>
</file>

<file path=ppt/slides/slide1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C6CEBBD-DBEB-4E95-AC69-C82CE6D646A6}"/>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Kiểm tra evidence của dữ liệu</a:t>
            </a:r>
          </a:p>
        </p:txBody>
      </p:sp>
      <p:sp>
        <p:nvSpPr>
          <p:cNvPr id="3" name="page-number">
            <a:extLst xmlns:a="http://schemas.openxmlformats.org/drawingml/2006/main">
              <a:ext uri="{FF2B5EF4-FFF2-40B4-BE49-F238E27FC236}">
                <a16:creationId xmlns:a16="http://schemas.microsoft.com/office/drawing/2014/main" id="{80718F0C-EBC2-4F1E-ABE0-1528F76F33C5}"/>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19 / 88</a:t>
            </a:r>
          </a:p>
        </p:txBody>
      </p:sp>
      <p:sp>
        <p:nvSpPr>
          <p:cNvPr id="4" name="source-reference">
            <a:extLst xmlns:a="http://schemas.openxmlformats.org/drawingml/2006/main">
              <a:ext uri="{FF2B5EF4-FFF2-40B4-BE49-F238E27FC236}">
                <a16:creationId xmlns:a16="http://schemas.microsoft.com/office/drawing/2014/main" id="{A94BAE2A-5B06-4906-AF39-DD01BD30CD00}"/>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src/parser.py:127–134,138–141</a:t>
            </a:r>
          </a:p>
        </p:txBody>
      </p:sp>
      <p:sp>
        <p:nvSpPr>
          <p:cNvPr id="5" name="code-intro">
            <a:extLst xmlns:a="http://schemas.openxmlformats.org/drawingml/2006/main">
              <a:ext uri="{FF2B5EF4-FFF2-40B4-BE49-F238E27FC236}">
                <a16:creationId xmlns:a16="http://schemas.microsoft.com/office/drawing/2014/main" id="{3A65BF83-2F32-462C-A663-0B0C8E2B9711}"/>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validate_grounding() so các giá trị model trích với chính câu khách đang gửi.</a:t>
            </a:r>
          </a:p>
        </p:txBody>
      </p:sp>
      <p:sp>
        <p:nvSpPr>
          <p:cNvPr id="6" name="source-code">
            <a:extLst xmlns:a="http://schemas.openxmlformats.org/drawingml/2006/main">
              <a:ext uri="{FF2B5EF4-FFF2-40B4-BE49-F238E27FC236}">
                <a16:creationId xmlns:a16="http://schemas.microsoft.com/office/drawing/2014/main" id="{80F6585B-CAFB-44A0-9A7D-379FF35237F0}"/>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13" b="0">
                <a:solidFill>
                  <a:srgbClr val="172E32"/>
                </a:solidFill>
                <a:latin typeface="Courier New"/>
                <a:ea typeface="Courier New"/>
                <a:cs typeface="Courier New"/>
              </a:defRPr>
            </a:defPPr>
            <a:lvl1pPr>
              <a:defRPr sz="1613" b="0">
                <a:solidFill>
                  <a:srgbClr val="172E32"/>
                </a:solidFill>
                <a:latin typeface="Courier New"/>
                <a:ea typeface="Courier New"/>
                <a:cs typeface="Courier New"/>
              </a:defRPr>
            </a:lvl1pPr>
            <a:lvl2pPr>
              <a:defRPr sz="1613" b="0">
                <a:solidFill>
                  <a:srgbClr val="172E32"/>
                </a:solidFill>
                <a:latin typeface="Courier New"/>
                <a:ea typeface="Courier New"/>
                <a:cs typeface="Courier New"/>
              </a:defRPr>
            </a:lvl2pPr>
            <a:lvl3pPr>
              <a:defRPr sz="1613" b="0">
                <a:solidFill>
                  <a:srgbClr val="172E32"/>
                </a:solidFill>
                <a:latin typeface="Courier New"/>
                <a:ea typeface="Courier New"/>
                <a:cs typeface="Courier New"/>
              </a:defRPr>
            </a:lvl3pPr>
            <a:lvl4pPr>
              <a:defRPr sz="1613" b="0">
                <a:solidFill>
                  <a:srgbClr val="172E32"/>
                </a:solidFill>
                <a:latin typeface="Courier New"/>
                <a:ea typeface="Courier New"/>
                <a:cs typeface="Courier New"/>
              </a:defRPr>
            </a:lvl4pPr>
            <a:lvl5pPr>
              <a:defRPr sz="1613" b="0">
                <a:solidFill>
                  <a:srgbClr val="172E32"/>
                </a:solidFill>
                <a:latin typeface="Courier New"/>
                <a:ea typeface="Courier New"/>
                <a:cs typeface="Courier New"/>
              </a:defRPr>
            </a:lvl5pPr>
            <a:lvl6pPr>
              <a:defRPr sz="1613" b="0">
                <a:solidFill>
                  <a:srgbClr val="172E32"/>
                </a:solidFill>
                <a:latin typeface="Courier New"/>
                <a:ea typeface="Courier New"/>
                <a:cs typeface="Courier New"/>
              </a:defRPr>
            </a:lvl6pPr>
            <a:lvl7pPr>
              <a:defRPr sz="1613" b="0">
                <a:solidFill>
                  <a:srgbClr val="172E32"/>
                </a:solidFill>
                <a:latin typeface="Courier New"/>
                <a:ea typeface="Courier New"/>
                <a:cs typeface="Courier New"/>
              </a:defRPr>
            </a:lvl7pPr>
            <a:lvl8pPr>
              <a:defRPr sz="1613" b="0">
                <a:solidFill>
                  <a:srgbClr val="172E32"/>
                </a:solidFill>
                <a:latin typeface="Courier New"/>
                <a:ea typeface="Courier New"/>
                <a:cs typeface="Courier New"/>
              </a:defRPr>
            </a:lvl8pPr>
            <a:lvl9pPr>
              <a:defRPr sz="1613"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127  def validate_grounding(data, message):</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128      """Reject invented fields before merging them into server-owned conversation state."""</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129      text = " " + normalize(message) + " "</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130      def present(value):</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131          return value is None or (normalize(value) and " " + normalize(value) + " " in text)</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132      for item in data.items:</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133          if not all(present(v) for v in (item.requested_product, item.sku, item.variant.color)):</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134              raise OutputError("ungrounded_output")</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138          if item.quantity is not None:</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139              words = [w for w, n in NUMBER_WORDS.items() if n == item.quantity]</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140              if not any(" " + q + " " in quantity_source(message, data.customer) for q in [str(item.quantity), *words]):</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141                  raise OutputError("ungrounded_output")</a:t>
            </a:r>
          </a:p>
        </p:txBody>
      </p:sp>
      <p:sp>
        <p:nvSpPr>
          <p:cNvPr id="7" name="code-lesson">
            <a:extLst xmlns:a="http://schemas.openxmlformats.org/drawingml/2006/main">
              <a:ext uri="{FF2B5EF4-FFF2-40B4-BE49-F238E27FC236}">
                <a16:creationId xmlns:a16="http://schemas.microsoft.com/office/drawing/2014/main" id="{F03BAD4C-85EB-433C-82D3-FED1CCCDE4AE}"/>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Trường có căn cứ chuỗi vẫn phải qua đối chiếu SKU, tồn kho và quyền ở bước sau.</a:t>
            </a:r>
          </a:p>
        </p:txBody>
      </p:sp>
    </p:spTree>
    <p:extLst>
      <p:ext uri="{BB962C8B-B14F-4D97-AF65-F5344CB8AC3E}">
        <p14:creationId xmlns:p14="http://schemas.microsoft.com/office/powerpoint/2010/main" val="1066715256"/>
      </p:ext>
    </p:extLst>
  </p:cSld>
</p:sld>
</file>

<file path=ppt/slides/slide2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47416F7-DC37-40A1-A0F3-42072F48CF11}"/>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Số đo và số lượng</a:t>
            </a:r>
          </a:p>
        </p:txBody>
      </p:sp>
      <p:sp>
        <p:nvSpPr>
          <p:cNvPr id="3" name="page-number">
            <a:extLst xmlns:a="http://schemas.openxmlformats.org/drawingml/2006/main">
              <a:ext uri="{FF2B5EF4-FFF2-40B4-BE49-F238E27FC236}">
                <a16:creationId xmlns:a16="http://schemas.microsoft.com/office/drawing/2014/main" id="{48899700-AEEF-4674-92D2-D153B9109072}"/>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20 / 88</a:t>
            </a:r>
          </a:p>
        </p:txBody>
      </p:sp>
      <p:sp>
        <p:nvSpPr>
          <p:cNvPr id="4" name="source-reference">
            <a:extLst xmlns:a="http://schemas.openxmlformats.org/drawingml/2006/main">
              <a:ext uri="{FF2B5EF4-FFF2-40B4-BE49-F238E27FC236}">
                <a16:creationId xmlns:a16="http://schemas.microsoft.com/office/drawing/2014/main" id="{1EF92ABB-36BE-41B8-9610-8614B977127A}"/>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src/parser.py:104–116</a:t>
            </a:r>
          </a:p>
        </p:txBody>
      </p:sp>
      <p:sp>
        <p:nvSpPr>
          <p:cNvPr id="5" name="code-intro">
            <a:extLst xmlns:a="http://schemas.openxmlformats.org/drawingml/2006/main">
              <a:ext uri="{FF2B5EF4-FFF2-40B4-BE49-F238E27FC236}">
                <a16:creationId xmlns:a16="http://schemas.microsoft.com/office/drawing/2014/main" id="{0D640FC7-181B-4F22-8DB2-FBCD449EC8F1}"/>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Server loại số đo, phần SKU và giao nhận khỏi nguồn dùng để kiểm tra quantity.</a:t>
            </a:r>
          </a:p>
        </p:txBody>
      </p:sp>
      <p:sp>
        <p:nvSpPr>
          <p:cNvPr id="6" name="source-code">
            <a:extLst xmlns:a="http://schemas.openxmlformats.org/drawingml/2006/main">
              <a:ext uri="{FF2B5EF4-FFF2-40B4-BE49-F238E27FC236}">
                <a16:creationId xmlns:a16="http://schemas.microsoft.com/office/drawing/2014/main" id="{CC62A5FD-75E9-40EC-83F8-2E7A450F3C82}"/>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50" b="0">
                <a:solidFill>
                  <a:srgbClr val="172E32"/>
                </a:solidFill>
                <a:latin typeface="Courier New"/>
                <a:ea typeface="Courier New"/>
                <a:cs typeface="Courier New"/>
              </a:defRPr>
            </a:defPPr>
            <a:lvl1pPr>
              <a:defRPr sz="1650" b="0">
                <a:solidFill>
                  <a:srgbClr val="172E32"/>
                </a:solidFill>
                <a:latin typeface="Courier New"/>
                <a:ea typeface="Courier New"/>
                <a:cs typeface="Courier New"/>
              </a:defRPr>
            </a:lvl1pPr>
            <a:lvl2pPr>
              <a:defRPr sz="1650" b="0">
                <a:solidFill>
                  <a:srgbClr val="172E32"/>
                </a:solidFill>
                <a:latin typeface="Courier New"/>
                <a:ea typeface="Courier New"/>
                <a:cs typeface="Courier New"/>
              </a:defRPr>
            </a:lvl2pPr>
            <a:lvl3pPr>
              <a:defRPr sz="1650" b="0">
                <a:solidFill>
                  <a:srgbClr val="172E32"/>
                </a:solidFill>
                <a:latin typeface="Courier New"/>
                <a:ea typeface="Courier New"/>
                <a:cs typeface="Courier New"/>
              </a:defRPr>
            </a:lvl3pPr>
            <a:lvl4pPr>
              <a:defRPr sz="1650" b="0">
                <a:solidFill>
                  <a:srgbClr val="172E32"/>
                </a:solidFill>
                <a:latin typeface="Courier New"/>
                <a:ea typeface="Courier New"/>
                <a:cs typeface="Courier New"/>
              </a:defRPr>
            </a:lvl4pPr>
            <a:lvl5pPr>
              <a:defRPr sz="1650" b="0">
                <a:solidFill>
                  <a:srgbClr val="172E32"/>
                </a:solidFill>
                <a:latin typeface="Courier New"/>
                <a:ea typeface="Courier New"/>
                <a:cs typeface="Courier New"/>
              </a:defRPr>
            </a:lvl5pPr>
            <a:lvl6pPr>
              <a:defRPr sz="1650" b="0">
                <a:solidFill>
                  <a:srgbClr val="172E32"/>
                </a:solidFill>
                <a:latin typeface="Courier New"/>
                <a:ea typeface="Courier New"/>
                <a:cs typeface="Courier New"/>
              </a:defRPr>
            </a:lvl6pPr>
            <a:lvl7pPr>
              <a:defRPr sz="1650" b="0">
                <a:solidFill>
                  <a:srgbClr val="172E32"/>
                </a:solidFill>
                <a:latin typeface="Courier New"/>
                <a:ea typeface="Courier New"/>
                <a:cs typeface="Courier New"/>
              </a:defRPr>
            </a:lvl7pPr>
            <a:lvl8pPr>
              <a:defRPr sz="1650" b="0">
                <a:solidFill>
                  <a:srgbClr val="172E32"/>
                </a:solidFill>
                <a:latin typeface="Courier New"/>
                <a:ea typeface="Courier New"/>
                <a:cs typeface="Courier New"/>
              </a:defRPr>
            </a:lvl8pPr>
            <a:lvl9pPr>
              <a:defRPr sz="165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104  def quantity_source(message, customer=None):</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105      text = normalize_money(message)</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106      text = re.split(r"\b(?:ten|nguoi nhan|sdt|so dien thoai|giao ve|giao den|dia chi)\b", text)[0]</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107      if customer:</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108          for value in customer.model_dump().values():</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109              if value:</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110                  text = text.replace(normalize_money(value), " ")</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111      text = re.sub(r"\b[a-z][a-z0-9]*(?:-[a-z0-9]+){2,}\b", " ", text)</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112      text = re.sub(r"\b\d+(?:[.,]\d+)?\s*(?:inches|inch|cm|mm|kg|g|ml)\b", " ", text)</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113      text = re.sub(r"\bsize\s+[a-z0-9]+\b", " ", text)</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114      text = re.sub(r"(?&lt;!\w)-\d+(?:[.,]\d+)?|\b\d+[.,]\d+\b", " invalidquantity ", text)</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115      return " " + normalize(text) + " "</a:t>
            </a:r>
          </a:p>
          <a:p xmlns:a="http://schemas.openxmlformats.org/drawingml/2006/main">
            <a:pPr>
              <a:lnSpc>
                <a:spcPct val="108000"/>
              </a:lnSpc>
              <a:buNone/>
              <a:defRPr sz="1800" b="0">
                <a:solidFill>
                  <a:srgbClr val="172E32"/>
                </a:solidFill>
                <a:latin typeface="Courier New"/>
                <a:ea typeface="Courier New"/>
                <a:cs typeface="Courier New"/>
              </a:defRPr>
            </a:pPr>
            <a:r>
              <a:rPr sz="1650" b="0">
                <a:solidFill>
                  <a:srgbClr val="172E32"/>
                </a:solidFill>
                <a:latin typeface="Courier New"/>
                <a:ea typeface="Courier New"/>
                <a:cs typeface="Courier New"/>
              </a:rPr>
              <a:t>116  </a:t>
            </a:r>
          </a:p>
        </p:txBody>
      </p:sp>
      <p:sp>
        <p:nvSpPr>
          <p:cNvPr id="7" name="code-lesson">
            <a:extLst xmlns:a="http://schemas.openxmlformats.org/drawingml/2006/main">
              <a:ext uri="{FF2B5EF4-FFF2-40B4-BE49-F238E27FC236}">
                <a16:creationId xmlns:a16="http://schemas.microsoft.com/office/drawing/2014/main" id="{28672370-C70E-450C-A6E5-33BE1CBDC3B1}"/>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Khách nói 15inch nhưng chưa nói số lượng thì quantity vẫn là null và bot hỏi lại.</a:t>
            </a:r>
          </a:p>
        </p:txBody>
      </p:sp>
    </p:spTree>
    <p:extLst>
      <p:ext uri="{BB962C8B-B14F-4D97-AF65-F5344CB8AC3E}">
        <p14:creationId xmlns:p14="http://schemas.microsoft.com/office/powerpoint/2010/main" val="414919940"/>
      </p:ext>
    </p:extLst>
  </p:cSld>
</p:sld>
</file>

<file path=ppt/slides/slide2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076900A-4280-4175-B6A6-21A290AD508D}"/>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Ghép hội thoại nhiều lượt</a:t>
            </a:r>
          </a:p>
        </p:txBody>
      </p:sp>
      <p:sp>
        <p:nvSpPr>
          <p:cNvPr id="3" name="page-number">
            <a:extLst xmlns:a="http://schemas.openxmlformats.org/drawingml/2006/main">
              <a:ext uri="{FF2B5EF4-FFF2-40B4-BE49-F238E27FC236}">
                <a16:creationId xmlns:a16="http://schemas.microsoft.com/office/drawing/2014/main" id="{44F3C7E6-AF63-468C-BA0F-7607A13CF8ED}"/>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21 / 88</a:t>
            </a:r>
          </a:p>
        </p:txBody>
      </p:sp>
      <p:sp>
        <p:nvSpPr>
          <p:cNvPr id="4" name="source-reference">
            <a:extLst xmlns:a="http://schemas.openxmlformats.org/drawingml/2006/main">
              <a:ext uri="{FF2B5EF4-FFF2-40B4-BE49-F238E27FC236}">
                <a16:creationId xmlns:a16="http://schemas.microsoft.com/office/drawing/2014/main" id="{B551A22D-2D8D-4965-B986-98CD355B38E1}"/>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backend/chat_service.py:61–73</a:t>
            </a:r>
          </a:p>
        </p:txBody>
      </p:sp>
      <p:sp>
        <p:nvSpPr>
          <p:cNvPr id="5" name="code-intro">
            <a:extLst xmlns:a="http://schemas.openxmlformats.org/drawingml/2006/main">
              <a:ext uri="{FF2B5EF4-FFF2-40B4-BE49-F238E27FC236}">
                <a16:creationId xmlns:a16="http://schemas.microsoft.com/office/drawing/2014/main" id="{202D122E-CE4C-430E-BCA4-BA3F1D164A70}"/>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_merge_items() bổ sung trường còn thiếu khi xác định đang nói về cùng một sản phẩm.</a:t>
            </a:r>
          </a:p>
        </p:txBody>
      </p:sp>
      <p:sp>
        <p:nvSpPr>
          <p:cNvPr id="6" name="source-code">
            <a:extLst xmlns:a="http://schemas.openxmlformats.org/drawingml/2006/main">
              <a:ext uri="{FF2B5EF4-FFF2-40B4-BE49-F238E27FC236}">
                <a16:creationId xmlns:a16="http://schemas.microsoft.com/office/drawing/2014/main" id="{B46106BA-1D05-414E-B1AA-55892B9FFE50}"/>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13" b="0">
                <a:solidFill>
                  <a:srgbClr val="172E32"/>
                </a:solidFill>
                <a:latin typeface="Courier New"/>
                <a:ea typeface="Courier New"/>
                <a:cs typeface="Courier New"/>
              </a:defRPr>
            </a:defPPr>
            <a:lvl1pPr>
              <a:defRPr sz="1613" b="0">
                <a:solidFill>
                  <a:srgbClr val="172E32"/>
                </a:solidFill>
                <a:latin typeface="Courier New"/>
                <a:ea typeface="Courier New"/>
                <a:cs typeface="Courier New"/>
              </a:defRPr>
            </a:lvl1pPr>
            <a:lvl2pPr>
              <a:defRPr sz="1613" b="0">
                <a:solidFill>
                  <a:srgbClr val="172E32"/>
                </a:solidFill>
                <a:latin typeface="Courier New"/>
                <a:ea typeface="Courier New"/>
                <a:cs typeface="Courier New"/>
              </a:defRPr>
            </a:lvl2pPr>
            <a:lvl3pPr>
              <a:defRPr sz="1613" b="0">
                <a:solidFill>
                  <a:srgbClr val="172E32"/>
                </a:solidFill>
                <a:latin typeface="Courier New"/>
                <a:ea typeface="Courier New"/>
                <a:cs typeface="Courier New"/>
              </a:defRPr>
            </a:lvl3pPr>
            <a:lvl4pPr>
              <a:defRPr sz="1613" b="0">
                <a:solidFill>
                  <a:srgbClr val="172E32"/>
                </a:solidFill>
                <a:latin typeface="Courier New"/>
                <a:ea typeface="Courier New"/>
                <a:cs typeface="Courier New"/>
              </a:defRPr>
            </a:lvl4pPr>
            <a:lvl5pPr>
              <a:defRPr sz="1613" b="0">
                <a:solidFill>
                  <a:srgbClr val="172E32"/>
                </a:solidFill>
                <a:latin typeface="Courier New"/>
                <a:ea typeface="Courier New"/>
                <a:cs typeface="Courier New"/>
              </a:defRPr>
            </a:lvl5pPr>
            <a:lvl6pPr>
              <a:defRPr sz="1613" b="0">
                <a:solidFill>
                  <a:srgbClr val="172E32"/>
                </a:solidFill>
                <a:latin typeface="Courier New"/>
                <a:ea typeface="Courier New"/>
                <a:cs typeface="Courier New"/>
              </a:defRPr>
            </a:lvl6pPr>
            <a:lvl7pPr>
              <a:defRPr sz="1613" b="0">
                <a:solidFill>
                  <a:srgbClr val="172E32"/>
                </a:solidFill>
                <a:latin typeface="Courier New"/>
                <a:ea typeface="Courier New"/>
                <a:cs typeface="Courier New"/>
              </a:defRPr>
            </a:lvl7pPr>
            <a:lvl8pPr>
              <a:defRPr sz="1613" b="0">
                <a:solidFill>
                  <a:srgbClr val="172E32"/>
                </a:solidFill>
                <a:latin typeface="Courier New"/>
                <a:ea typeface="Courier New"/>
                <a:cs typeface="Courier New"/>
              </a:defRPr>
            </a:lvl8pPr>
            <a:lvl9pPr>
              <a:defRPr sz="1613" b="0">
                <a:solidFill>
                  <a:srgbClr val="172E32"/>
                </a:solidFill>
                <a:latin typeface="Courier New"/>
                <a:ea typeface="Courier New"/>
                <a:cs typeface="Courier New"/>
              </a:defRPr>
            </a:lvl9pPr>
          </a:lstStyle>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61  def _merge_items(previous, incoming):</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62      if not incoming:</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63          return previous</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64      if len(previous) == len(incoming) == 1:</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65          old, new = previous[0], incoming[0]</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66          same = not new.get("requested_product") or normalize(new["requested_product"]) == normalize(old.get("requested_product"))</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67          if same and not (new.get("sku") and old.get("sku") and new["sku"] != old["sku"]):</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68              variant = {**old["variant"], **{k: v for k, v in new["variant"].items() if v is not None}}</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69              result = {**old, **{k: v for k, v in new.items() if v is not None}, "variant": variant}</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70              if any(new["variant"].values()) and not new.get("sku"):</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71                  result["sku"] = None</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72              return [result]</a:t>
            </a:r>
          </a:p>
          <a:p xmlns:a="http://schemas.openxmlformats.org/drawingml/2006/main">
            <a:pPr>
              <a:lnSpc>
                <a:spcPct val="108000"/>
              </a:lnSpc>
              <a:buNone/>
              <a:defRPr sz="1763" b="0">
                <a:solidFill>
                  <a:srgbClr val="172E32"/>
                </a:solidFill>
                <a:latin typeface="Courier New"/>
                <a:ea typeface="Courier New"/>
                <a:cs typeface="Courier New"/>
              </a:defRPr>
            </a:pPr>
            <a:r>
              <a:rPr sz="1613" b="0">
                <a:solidFill>
                  <a:srgbClr val="172E32"/>
                </a:solidFill>
                <a:latin typeface="Courier New"/>
                <a:ea typeface="Courier New"/>
                <a:cs typeface="Courier New"/>
              </a:rPr>
              <a:t> 73      return incoming</a:t>
            </a:r>
          </a:p>
        </p:txBody>
      </p:sp>
      <p:sp>
        <p:nvSpPr>
          <p:cNvPr id="7" name="code-lesson">
            <a:extLst xmlns:a="http://schemas.openxmlformats.org/drawingml/2006/main">
              <a:ext uri="{FF2B5EF4-FFF2-40B4-BE49-F238E27FC236}">
                <a16:creationId xmlns:a16="http://schemas.microsoft.com/office/drawing/2014/main" id="{85F6B380-236A-4F11-B95B-6263D0A1017D}"/>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Câu hỏi giá/tồn xen giữa vẫn giữ yêu cầu đặt hàng đang thu thập thông tin.</a:t>
            </a:r>
          </a:p>
        </p:txBody>
      </p:sp>
    </p:spTree>
    <p:extLst>
      <p:ext uri="{BB962C8B-B14F-4D97-AF65-F5344CB8AC3E}">
        <p14:creationId xmlns:p14="http://schemas.microsoft.com/office/powerpoint/2010/main" val="602020361"/>
      </p:ext>
    </p:extLst>
  </p:cSld>
</p:sld>
</file>

<file path=ppt/slides/slide2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8E1FD39-CA3B-458E-9619-9DBAB08FBB04}"/>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Chọn nhánh nghiệp vụ</a:t>
            </a:r>
          </a:p>
        </p:txBody>
      </p:sp>
      <p:sp>
        <p:nvSpPr>
          <p:cNvPr id="3" name="page-number">
            <a:extLst xmlns:a="http://schemas.openxmlformats.org/drawingml/2006/main">
              <a:ext uri="{FF2B5EF4-FFF2-40B4-BE49-F238E27FC236}">
                <a16:creationId xmlns:a16="http://schemas.microsoft.com/office/drawing/2014/main" id="{EC2F635E-1C95-4FB5-8E62-5A74D035E087}"/>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22 / 88</a:t>
            </a:r>
          </a:p>
        </p:txBody>
      </p:sp>
      <p:sp>
        <p:nvSpPr>
          <p:cNvPr id="4" name="source-reference">
            <a:extLst xmlns:a="http://schemas.openxmlformats.org/drawingml/2006/main">
              <a:ext uri="{FF2B5EF4-FFF2-40B4-BE49-F238E27FC236}">
                <a16:creationId xmlns:a16="http://schemas.microsoft.com/office/drawing/2014/main" id="{3881F853-DFEA-494A-936E-AD0D5E948AD4}"/>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backend/chat_service.py:283–292</a:t>
            </a:r>
          </a:p>
        </p:txBody>
      </p:sp>
      <p:sp>
        <p:nvSpPr>
          <p:cNvPr id="5" name="code-intro">
            <a:extLst xmlns:a="http://schemas.openxmlformats.org/drawingml/2006/main">
              <a:ext uri="{FF2B5EF4-FFF2-40B4-BE49-F238E27FC236}">
                <a16:creationId xmlns:a16="http://schemas.microsoft.com/office/drawing/2014/main" id="{07326DC7-CADF-4141-8AC4-954AD546D49A}"/>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Workflow quyết định action từ intent đã qua kiểm tra và dữ liệu đã ghép.</a:t>
            </a:r>
          </a:p>
        </p:txBody>
      </p:sp>
      <p:sp>
        <p:nvSpPr>
          <p:cNvPr id="6" name="source-code">
            <a:extLst xmlns:a="http://schemas.openxmlformats.org/drawingml/2006/main">
              <a:ext uri="{FF2B5EF4-FFF2-40B4-BE49-F238E27FC236}">
                <a16:creationId xmlns:a16="http://schemas.microsoft.com/office/drawing/2014/main" id="{4793D156-7E76-43FF-BEF1-A0CE8092C3C2}"/>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283                  if data.intent == "browse_catalog":</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284                      result = catalog_reply(conn, incoming, data.catalog_filters, data.intent)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285                  elif data.intent == "create_order":</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286                      result = _draft(conn, ctx, session, slots, key)</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287                  elif data.intent == "update_order":</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288                      result = _update(conn, ctx, session, slots)</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289                  else:</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290                      result = _query(conn, slots["items"], data.intent, data.catalog_filters)</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291                  if data.intent in READ_INTENTS:</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292                      saved = browsing_context(result) if "products" in result else {}</a:t>
            </a:r>
          </a:p>
        </p:txBody>
      </p:sp>
      <p:sp>
        <p:nvSpPr>
          <p:cNvPr id="7" name="code-lesson">
            <a:extLst xmlns:a="http://schemas.openxmlformats.org/drawingml/2006/main">
              <a:ext uri="{FF2B5EF4-FFF2-40B4-BE49-F238E27FC236}">
                <a16:creationId xmlns:a16="http://schemas.microsoft.com/office/drawing/2014/main" id="{BE7B8BB9-0C62-451A-ACAC-58EA8687FC5A}"/>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Model đưa ra Extraction, Python chọn hành động và dữ liệu database quyết định kết quả.</a:t>
            </a:r>
          </a:p>
        </p:txBody>
      </p:sp>
    </p:spTree>
    <p:extLst>
      <p:ext uri="{BB962C8B-B14F-4D97-AF65-F5344CB8AC3E}">
        <p14:creationId xmlns:p14="http://schemas.microsoft.com/office/powerpoint/2010/main" val="1823063727"/>
      </p:ext>
    </p:extLst>
  </p:cSld>
</p:sld>
</file>

<file path=ppt/slides/slide2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BC2CACE-E836-4490-A6E7-AA67A899B6F8}"/>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Đối chiếu biến thể trong catalog</a:t>
            </a:r>
          </a:p>
        </p:txBody>
      </p:sp>
      <p:sp>
        <p:nvSpPr>
          <p:cNvPr id="3" name="page-number">
            <a:extLst xmlns:a="http://schemas.openxmlformats.org/drawingml/2006/main">
              <a:ext uri="{FF2B5EF4-FFF2-40B4-BE49-F238E27FC236}">
                <a16:creationId xmlns:a16="http://schemas.microsoft.com/office/drawing/2014/main" id="{0EFC7A62-A85D-4219-9065-6D69DACFA893}"/>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23 / 88</a:t>
            </a:r>
          </a:p>
        </p:txBody>
      </p:sp>
      <p:sp>
        <p:nvSpPr>
          <p:cNvPr id="4" name="source-reference">
            <a:extLst xmlns:a="http://schemas.openxmlformats.org/drawingml/2006/main">
              <a:ext uri="{FF2B5EF4-FFF2-40B4-BE49-F238E27FC236}">
                <a16:creationId xmlns:a16="http://schemas.microsoft.com/office/drawing/2014/main" id="{2780C78B-4462-4D7F-99B6-482E739FE29B}"/>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backend/chat_service.py:88–99   /   backend/variant_utils.py:7–8</a:t>
            </a:r>
          </a:p>
        </p:txBody>
      </p:sp>
      <p:sp>
        <p:nvSpPr>
          <p:cNvPr id="5" name="code-intro">
            <a:extLst xmlns:a="http://schemas.openxmlformats.org/drawingml/2006/main">
              <a:ext uri="{FF2B5EF4-FFF2-40B4-BE49-F238E27FC236}">
                <a16:creationId xmlns:a16="http://schemas.microsoft.com/office/drawing/2014/main" id="{488FC6D5-74EC-46B1-8304-BE6FB4B72A61}"/>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resolve_item() cần tìm được đúng một biến thể đang bán, không chọn đại SKU gần giống.</a:t>
            </a:r>
          </a:p>
        </p:txBody>
      </p:sp>
      <p:sp>
        <p:nvSpPr>
          <p:cNvPr id="6" name="source-code">
            <a:extLst xmlns:a="http://schemas.openxmlformats.org/drawingml/2006/main">
              <a:ext uri="{FF2B5EF4-FFF2-40B4-BE49-F238E27FC236}">
                <a16:creationId xmlns:a16="http://schemas.microsoft.com/office/drawing/2014/main" id="{C1E77C70-B5A3-4166-9227-8145C3E63EB6}"/>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388" b="0">
                <a:solidFill>
                  <a:srgbClr val="172E32"/>
                </a:solidFill>
                <a:latin typeface="Courier New"/>
                <a:ea typeface="Courier New"/>
                <a:cs typeface="Courier New"/>
              </a:defRPr>
            </a:defPPr>
            <a:lvl1pPr>
              <a:defRPr sz="1388" b="0">
                <a:solidFill>
                  <a:srgbClr val="172E32"/>
                </a:solidFill>
                <a:latin typeface="Courier New"/>
                <a:ea typeface="Courier New"/>
                <a:cs typeface="Courier New"/>
              </a:defRPr>
            </a:lvl1pPr>
            <a:lvl2pPr>
              <a:defRPr sz="1388" b="0">
                <a:solidFill>
                  <a:srgbClr val="172E32"/>
                </a:solidFill>
                <a:latin typeface="Courier New"/>
                <a:ea typeface="Courier New"/>
                <a:cs typeface="Courier New"/>
              </a:defRPr>
            </a:lvl2pPr>
            <a:lvl3pPr>
              <a:defRPr sz="1388" b="0">
                <a:solidFill>
                  <a:srgbClr val="172E32"/>
                </a:solidFill>
                <a:latin typeface="Courier New"/>
                <a:ea typeface="Courier New"/>
                <a:cs typeface="Courier New"/>
              </a:defRPr>
            </a:lvl3pPr>
            <a:lvl4pPr>
              <a:defRPr sz="1388" b="0">
                <a:solidFill>
                  <a:srgbClr val="172E32"/>
                </a:solidFill>
                <a:latin typeface="Courier New"/>
                <a:ea typeface="Courier New"/>
                <a:cs typeface="Courier New"/>
              </a:defRPr>
            </a:lvl4pPr>
            <a:lvl5pPr>
              <a:defRPr sz="1388" b="0">
                <a:solidFill>
                  <a:srgbClr val="172E32"/>
                </a:solidFill>
                <a:latin typeface="Courier New"/>
                <a:ea typeface="Courier New"/>
                <a:cs typeface="Courier New"/>
              </a:defRPr>
            </a:lvl5pPr>
            <a:lvl6pPr>
              <a:defRPr sz="1388" b="0">
                <a:solidFill>
                  <a:srgbClr val="172E32"/>
                </a:solidFill>
                <a:latin typeface="Courier New"/>
                <a:ea typeface="Courier New"/>
                <a:cs typeface="Courier New"/>
              </a:defRPr>
            </a:lvl6pPr>
            <a:lvl7pPr>
              <a:defRPr sz="1388" b="0">
                <a:solidFill>
                  <a:srgbClr val="172E32"/>
                </a:solidFill>
                <a:latin typeface="Courier New"/>
                <a:ea typeface="Courier New"/>
                <a:cs typeface="Courier New"/>
              </a:defRPr>
            </a:lvl7pPr>
            <a:lvl8pPr>
              <a:defRPr sz="1388" b="0">
                <a:solidFill>
                  <a:srgbClr val="172E32"/>
                </a:solidFill>
                <a:latin typeface="Courier New"/>
                <a:ea typeface="Courier New"/>
                <a:cs typeface="Courier New"/>
              </a:defRPr>
            </a:lvl8pPr>
            <a:lvl9pPr>
              <a:defRPr sz="1388" b="0">
                <a:solidFill>
                  <a:srgbClr val="172E32"/>
                </a:solidFill>
                <a:latin typeface="Courier New"/>
                <a:ea typeface="Courier New"/>
                <a:cs typeface="Courier New"/>
              </a:defRPr>
            </a:lvl9pPr>
          </a:lstStyle>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88      for key in ("color", "size"):</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89          value = item["variant"].get(key)</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90          if value:</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91              requested = attribute_value(value, key)</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92              candidates = [v for v in candidates if requested == attribute_value(v[key], key)</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93                            or (key == "color" and attribute_value(v[key], key).startswith(requested + " "))]</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94      if len(candidates) != 1:</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95          options = "; ".join(f"{v['sku']} ({v['variant_name']})" for v in candidates[:8])</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96          detail = "Có nhiều biến thể phù hợp: " + options if candidates else "Không có biến thể khớp màu/size đã yêu cầu."</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97          return None, ask(["variant"], detail)</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98      return candidates[0], None</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99  </a:t>
            </a:r>
          </a:p>
          <a:p xmlns:a="http://schemas.openxmlformats.org/drawingml/2006/main">
            <a:pPr>
              <a:defRPr sz="1650" b="0">
                <a:solidFill>
                  <a:srgbClr val="172E32"/>
                </a:solidFill>
                <a:latin typeface="Courier New"/>
                <a:ea typeface="Courier New"/>
                <a:cs typeface="Courier New"/>
              </a:defRPr>
            </a:pPr>
            <a:r>
              <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7  def size_value(value):</a:t>
            </a:r>
          </a:p>
          <a:p xmlns:a="http://schemas.openxmlformats.org/drawingml/2006/main">
            <a:pPr>
              <a:lnSpc>
                <a:spcPct val="108000"/>
              </a:lnSpc>
              <a:buNone/>
              <a:defRPr sz="1650" b="0">
                <a:solidFill>
                  <a:srgbClr val="172E32"/>
                </a:solidFill>
                <a:latin typeface="Courier New"/>
                <a:ea typeface="Courier New"/>
                <a:cs typeface="Courier New"/>
              </a:defRPr>
            </a:pPr>
            <a:r>
              <a:rPr sz="1388" b="0">
                <a:solidFill>
                  <a:srgbClr val="172E32"/>
                </a:solidFill>
                <a:latin typeface="Courier New"/>
                <a:ea typeface="Courier New"/>
                <a:cs typeface="Courier New"/>
              </a:rPr>
              <a:t>  8      return re.sub(r"(?&lt;=\d)\s*(?:inches|inch)\b", " inch", normalize(value))</a:t>
            </a:r>
          </a:p>
        </p:txBody>
      </p:sp>
      <p:sp>
        <p:nvSpPr>
          <p:cNvPr id="7" name="code-lesson">
            <a:extLst xmlns:a="http://schemas.openxmlformats.org/drawingml/2006/main">
              <a:ext uri="{FF2B5EF4-FFF2-40B4-BE49-F238E27FC236}">
                <a16:creationId xmlns:a16="http://schemas.microsoft.com/office/drawing/2014/main" id="{A0CCE958-96C6-4AAC-AC1B-CD36CF5B39D0}"/>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size_value() quy về cách viết inch thống nhất, vẫn phân biệt 15 inch và 16 inch.</a:t>
            </a:r>
          </a:p>
        </p:txBody>
      </p:sp>
    </p:spTree>
    <p:extLst>
      <p:ext uri="{BB962C8B-B14F-4D97-AF65-F5344CB8AC3E}">
        <p14:creationId xmlns:p14="http://schemas.microsoft.com/office/powerpoint/2010/main" val="1251879435"/>
      </p:ext>
    </p:extLst>
  </p:cSld>
</p:sld>
</file>

<file path=ppt/slides/slide2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C5AD482-76B5-4A9A-B39B-CC62512A48A5}"/>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Thiếu thông tin: bot hỏi tiếp</a:t>
            </a:r>
          </a:p>
        </p:txBody>
      </p:sp>
      <p:sp>
        <p:nvSpPr>
          <p:cNvPr id="3" name="page-number">
            <a:extLst xmlns:a="http://schemas.openxmlformats.org/drawingml/2006/main">
              <a:ext uri="{FF2B5EF4-FFF2-40B4-BE49-F238E27FC236}">
                <a16:creationId xmlns:a16="http://schemas.microsoft.com/office/drawing/2014/main" id="{A69614B0-F964-4E72-BFA4-DB62802ABFF9}"/>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24 / 88</a:t>
            </a:r>
          </a:p>
        </p:txBody>
      </p:sp>
      <p:sp>
        <p:nvSpPr>
          <p:cNvPr id="4" name="source-reference">
            <a:extLst xmlns:a="http://schemas.openxmlformats.org/drawingml/2006/main">
              <a:ext uri="{FF2B5EF4-FFF2-40B4-BE49-F238E27FC236}">
                <a16:creationId xmlns:a16="http://schemas.microsoft.com/office/drawing/2014/main" id="{25AF1235-12EA-4A6F-8EF3-03563D2F6F1B}"/>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backend/chat_service.py:144–148</a:t>
            </a:r>
          </a:p>
        </p:txBody>
      </p:sp>
      <p:sp>
        <p:nvSpPr>
          <p:cNvPr id="5" name="code-intro">
            <a:extLst xmlns:a="http://schemas.openxmlformats.org/drawingml/2006/main">
              <a:ext uri="{FF2B5EF4-FFF2-40B4-BE49-F238E27FC236}">
                <a16:creationId xmlns:a16="http://schemas.microsoft.com/office/drawing/2014/main" id="{DC7E1D2B-4E28-4B85-84C0-3DE554BD3457}"/>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_draft() trả ask_missing cùng purchase.items để frontend vẽ form đặt hàng ngay trong chat.</a:t>
            </a:r>
          </a:p>
        </p:txBody>
      </p:sp>
      <p:sp>
        <p:nvSpPr>
          <p:cNvPr id="6" name="source-code">
            <a:extLst xmlns:a="http://schemas.openxmlformats.org/drawingml/2006/main">
              <a:ext uri="{FF2B5EF4-FFF2-40B4-BE49-F238E27FC236}">
                <a16:creationId xmlns:a16="http://schemas.microsoft.com/office/drawing/2014/main" id="{F445F9D3-F14D-42A0-83EF-B881940DB373}"/>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144          if stock["ok"]:</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145              detail = "Đã chọn: " + "; ".join(f"{i['name']} — {i['variant_label']} ({i['unit_price']:,} VND/sản phẩm)" for i in selected) + "."</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146              result = ask(missing, detail)</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147              result["purchase"] = {"items": selected}</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148              return result</a:t>
            </a:r>
          </a:p>
        </p:txBody>
      </p:sp>
      <p:sp>
        <p:nvSpPr>
          <p:cNvPr id="7" name="code-lesson">
            <a:extLst xmlns:a="http://schemas.openxmlformats.org/drawingml/2006/main">
              <a:ext uri="{FF2B5EF4-FFF2-40B4-BE49-F238E27FC236}">
                <a16:creationId xmlns:a16="http://schemas.microsoft.com/office/drawing/2014/main" id="{46559634-5A80-44AA-A9CC-6CE32F509A76}"/>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Giá, tên hàng, nhãn biến thể và tồn trong form đều lấy từ database.</a:t>
            </a:r>
          </a:p>
        </p:txBody>
      </p:sp>
    </p:spTree>
    <p:extLst>
      <p:ext uri="{BB962C8B-B14F-4D97-AF65-F5344CB8AC3E}">
        <p14:creationId xmlns:p14="http://schemas.microsoft.com/office/powerpoint/2010/main" val="2134684849"/>
      </p:ext>
    </p:extLst>
  </p:cSld>
</p:sld>
</file>

<file path=ppt/slides/slide2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BC1F8C1-44F4-4ACF-BF43-B645EEDC9573}"/>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Đủ thông tin: tạo đơn nháp</a:t>
            </a:r>
          </a:p>
        </p:txBody>
      </p:sp>
      <p:sp>
        <p:nvSpPr>
          <p:cNvPr id="3" name="page-number">
            <a:extLst xmlns:a="http://schemas.openxmlformats.org/drawingml/2006/main">
              <a:ext uri="{FF2B5EF4-FFF2-40B4-BE49-F238E27FC236}">
                <a16:creationId xmlns:a16="http://schemas.microsoft.com/office/drawing/2014/main" id="{7FA8E8B2-C366-44C1-9D92-42CDABF88E9A}"/>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25 / 88</a:t>
            </a:r>
          </a:p>
        </p:txBody>
      </p:sp>
      <p:sp>
        <p:nvSpPr>
          <p:cNvPr id="4" name="source-reference">
            <a:extLst xmlns:a="http://schemas.openxmlformats.org/drawingml/2006/main">
              <a:ext uri="{FF2B5EF4-FFF2-40B4-BE49-F238E27FC236}">
                <a16:creationId xmlns:a16="http://schemas.microsoft.com/office/drawing/2014/main" id="{46AB701B-2F85-4501-BC72-DF5666C7F863}"/>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backend/chat_service.py:149–158</a:t>
            </a:r>
          </a:p>
        </p:txBody>
      </p:sp>
      <p:sp>
        <p:nvSpPr>
          <p:cNvPr id="5" name="code-intro">
            <a:extLst xmlns:a="http://schemas.openxmlformats.org/drawingml/2006/main">
              <a:ext uri="{FF2B5EF4-FFF2-40B4-BE49-F238E27FC236}">
                <a16:creationId xmlns:a16="http://schemas.microsoft.com/office/drawing/2014/main" id="{1ED05882-8CB8-47C0-86BC-8679DF341F6F}"/>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Sau khi chuẩn hóa số lượng và kiểm tra tồn, workflow gọi lớp order service.</a:t>
            </a:r>
          </a:p>
        </p:txBody>
      </p:sp>
      <p:sp>
        <p:nvSpPr>
          <p:cNvPr id="6" name="source-code">
            <a:extLst xmlns:a="http://schemas.openxmlformats.org/drawingml/2006/main">
              <a:ext uri="{FF2B5EF4-FFF2-40B4-BE49-F238E27FC236}">
                <a16:creationId xmlns:a16="http://schemas.microsoft.com/office/drawing/2014/main" id="{FB09A9DC-290E-4E1D-A8EE-7E004921B717}"/>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13" b="0">
                <a:solidFill>
                  <a:srgbClr val="172E32"/>
                </a:solidFill>
                <a:latin typeface="Courier New"/>
                <a:ea typeface="Courier New"/>
                <a:cs typeface="Courier New"/>
              </a:defRPr>
            </a:defPPr>
            <a:lvl1pPr>
              <a:defRPr sz="1613" b="0">
                <a:solidFill>
                  <a:srgbClr val="172E32"/>
                </a:solidFill>
                <a:latin typeface="Courier New"/>
                <a:ea typeface="Courier New"/>
                <a:cs typeface="Courier New"/>
              </a:defRPr>
            </a:lvl1pPr>
            <a:lvl2pPr>
              <a:defRPr sz="1613" b="0">
                <a:solidFill>
                  <a:srgbClr val="172E32"/>
                </a:solidFill>
                <a:latin typeface="Courier New"/>
                <a:ea typeface="Courier New"/>
                <a:cs typeface="Courier New"/>
              </a:defRPr>
            </a:lvl2pPr>
            <a:lvl3pPr>
              <a:defRPr sz="1613" b="0">
                <a:solidFill>
                  <a:srgbClr val="172E32"/>
                </a:solidFill>
                <a:latin typeface="Courier New"/>
                <a:ea typeface="Courier New"/>
                <a:cs typeface="Courier New"/>
              </a:defRPr>
            </a:lvl3pPr>
            <a:lvl4pPr>
              <a:defRPr sz="1613" b="0">
                <a:solidFill>
                  <a:srgbClr val="172E32"/>
                </a:solidFill>
                <a:latin typeface="Courier New"/>
                <a:ea typeface="Courier New"/>
                <a:cs typeface="Courier New"/>
              </a:defRPr>
            </a:lvl4pPr>
            <a:lvl5pPr>
              <a:defRPr sz="1613" b="0">
                <a:solidFill>
                  <a:srgbClr val="172E32"/>
                </a:solidFill>
                <a:latin typeface="Courier New"/>
                <a:ea typeface="Courier New"/>
                <a:cs typeface="Courier New"/>
              </a:defRPr>
            </a:lvl5pPr>
            <a:lvl6pPr>
              <a:defRPr sz="1613" b="0">
                <a:solidFill>
                  <a:srgbClr val="172E32"/>
                </a:solidFill>
                <a:latin typeface="Courier New"/>
                <a:ea typeface="Courier New"/>
                <a:cs typeface="Courier New"/>
              </a:defRPr>
            </a:lvl6pPr>
            <a:lvl7pPr>
              <a:defRPr sz="1613" b="0">
                <a:solidFill>
                  <a:srgbClr val="172E32"/>
                </a:solidFill>
                <a:latin typeface="Courier New"/>
                <a:ea typeface="Courier New"/>
                <a:cs typeface="Courier New"/>
              </a:defRPr>
            </a:lvl7pPr>
            <a:lvl8pPr>
              <a:defRPr sz="1613" b="0">
                <a:solidFill>
                  <a:srgbClr val="172E32"/>
                </a:solidFill>
                <a:latin typeface="Courier New"/>
                <a:ea typeface="Courier New"/>
                <a:cs typeface="Courier New"/>
              </a:defRPr>
            </a:lvl8pPr>
            <a:lvl9pPr>
              <a:defRPr sz="1613"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149      resolved = [{"sku": s, "quantity": q} for s, q in normalize_items(resolved)]</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150      stock = catalog.check_items(conn, resolved)</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151      if not stock["ok"]:</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152          details = "; ".join(f"{r['sku']} còn {r['available']}, bạn yêu cầu {r['requested']}" for r in stock["results"] if not r["ok"])</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153          return response("Không đủ hàng: " + details + ". Vui lòng chọn lại số lượng hoặc biến thể.", "out_of_stock")</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154      order = orders.create_draft_order(conn, ctx, session["owner_id"], resolved, delivery, source="chat", idempotency_key=key)</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155      return response("Đã tạo đơn nháp. Bạn có thể xem và sửa ở trang Đơn hàng; đơn đang chờ xác nhận.",</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156                      "draft_created", order=order_view(conn, order))</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157  </a:t>
            </a:r>
          </a:p>
          <a:p xmlns:a="http://schemas.openxmlformats.org/drawingml/2006/main">
            <a:pPr>
              <a:lnSpc>
                <a:spcPct val="108000"/>
              </a:lnSpc>
              <a:buNone/>
              <a:defRPr sz="1800" b="0">
                <a:solidFill>
                  <a:srgbClr val="172E32"/>
                </a:solidFill>
                <a:latin typeface="Courier New"/>
                <a:ea typeface="Courier New"/>
                <a:cs typeface="Courier New"/>
              </a:defRPr>
            </a:pPr>
            <a:r>
              <a:rPr sz="1613" b="0">
                <a:solidFill>
                  <a:srgbClr val="172E32"/>
                </a:solidFill>
                <a:latin typeface="Courier New"/>
                <a:ea typeface="Courier New"/>
                <a:cs typeface="Courier New"/>
              </a:rPr>
              <a:t>158  </a:t>
            </a:r>
          </a:p>
        </p:txBody>
      </p:sp>
      <p:sp>
        <p:nvSpPr>
          <p:cNvPr id="7" name="code-lesson">
            <a:extLst xmlns:a="http://schemas.openxmlformats.org/drawingml/2006/main">
              <a:ext uri="{FF2B5EF4-FFF2-40B4-BE49-F238E27FC236}">
                <a16:creationId xmlns:a16="http://schemas.microsoft.com/office/drawing/2014/main" id="{43675E75-6EDB-4604-9511-92D1715F1B4D}"/>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Đơn có source=chat và status=pending_confirmation. Kho chưa bị trừ ở bước này.</a:t>
            </a:r>
          </a:p>
        </p:txBody>
      </p:sp>
    </p:spTree>
    <p:extLst>
      <p:ext uri="{BB962C8B-B14F-4D97-AF65-F5344CB8AC3E}">
        <p14:creationId xmlns:p14="http://schemas.microsoft.com/office/powerpoint/2010/main" val="622769441"/>
      </p:ext>
    </p:extLst>
  </p:cSld>
</p:sld>
</file>

<file path=ppt/slides/slide2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8D85894-64DE-4878-A63A-4A2AB8EAA37B}"/>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Lời gọi LLM và transaction</a:t>
            </a:r>
          </a:p>
        </p:txBody>
      </p:sp>
      <p:sp>
        <p:nvSpPr>
          <p:cNvPr id="3" name="page-number">
            <a:extLst xmlns:a="http://schemas.openxmlformats.org/drawingml/2006/main">
              <a:ext uri="{FF2B5EF4-FFF2-40B4-BE49-F238E27FC236}">
                <a16:creationId xmlns:a16="http://schemas.microsoft.com/office/drawing/2014/main" id="{0E02F670-3016-4950-ADE1-A1CE4E163F53}"/>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26 / 88</a:t>
            </a:r>
          </a:p>
        </p:txBody>
      </p:sp>
      <p:sp>
        <p:nvSpPr>
          <p:cNvPr id="4" name="source-reference">
            <a:extLst xmlns:a="http://schemas.openxmlformats.org/drawingml/2006/main">
              <a:ext uri="{FF2B5EF4-FFF2-40B4-BE49-F238E27FC236}">
                <a16:creationId xmlns:a16="http://schemas.microsoft.com/office/drawing/2014/main" id="{0A1E9040-D366-463E-B845-8E4ADECDB1EB}"/>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backend/chat_service.py:255–267</a:t>
            </a:r>
          </a:p>
        </p:txBody>
      </p:sp>
      <p:sp>
        <p:nvSpPr>
          <p:cNvPr id="5" name="code-intro">
            <a:extLst xmlns:a="http://schemas.openxmlformats.org/drawingml/2006/main">
              <a:ext uri="{FF2B5EF4-FFF2-40B4-BE49-F238E27FC236}">
                <a16:creationId xmlns:a16="http://schemas.microsoft.com/office/drawing/2014/main" id="{D02C667B-3A43-43D0-BA4D-16CB4ACFBF05}"/>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Gemini chạy trước transaction ghi dữ liệu để tránh giữ khóa SQLite trong lúc đợi mạng.</a:t>
            </a:r>
          </a:p>
        </p:txBody>
      </p:sp>
      <p:sp>
        <p:nvSpPr>
          <p:cNvPr id="6" name="source-code">
            <a:extLst xmlns:a="http://schemas.openxmlformats.org/drawingml/2006/main">
              <a:ext uri="{FF2B5EF4-FFF2-40B4-BE49-F238E27FC236}">
                <a16:creationId xmlns:a16="http://schemas.microsoft.com/office/drawing/2014/main" id="{421B5247-CC32-422B-96FB-7EB77654D06C}"/>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388" b="0">
                <a:solidFill>
                  <a:srgbClr val="172E32"/>
                </a:solidFill>
                <a:latin typeface="Courier New"/>
                <a:ea typeface="Courier New"/>
                <a:cs typeface="Courier New"/>
              </a:defRPr>
            </a:defPPr>
            <a:lvl1pPr>
              <a:defRPr sz="1388" b="0">
                <a:solidFill>
                  <a:srgbClr val="172E32"/>
                </a:solidFill>
                <a:latin typeface="Courier New"/>
                <a:ea typeface="Courier New"/>
                <a:cs typeface="Courier New"/>
              </a:defRPr>
            </a:lvl1pPr>
            <a:lvl2pPr>
              <a:defRPr sz="1388" b="0">
                <a:solidFill>
                  <a:srgbClr val="172E32"/>
                </a:solidFill>
                <a:latin typeface="Courier New"/>
                <a:ea typeface="Courier New"/>
                <a:cs typeface="Courier New"/>
              </a:defRPr>
            </a:lvl2pPr>
            <a:lvl3pPr>
              <a:defRPr sz="1388" b="0">
                <a:solidFill>
                  <a:srgbClr val="172E32"/>
                </a:solidFill>
                <a:latin typeface="Courier New"/>
                <a:ea typeface="Courier New"/>
                <a:cs typeface="Courier New"/>
              </a:defRPr>
            </a:lvl3pPr>
            <a:lvl4pPr>
              <a:defRPr sz="1388" b="0">
                <a:solidFill>
                  <a:srgbClr val="172E32"/>
                </a:solidFill>
                <a:latin typeface="Courier New"/>
                <a:ea typeface="Courier New"/>
                <a:cs typeface="Courier New"/>
              </a:defRPr>
            </a:lvl4pPr>
            <a:lvl5pPr>
              <a:defRPr sz="1388" b="0">
                <a:solidFill>
                  <a:srgbClr val="172E32"/>
                </a:solidFill>
                <a:latin typeface="Courier New"/>
                <a:ea typeface="Courier New"/>
                <a:cs typeface="Courier New"/>
              </a:defRPr>
            </a:lvl5pPr>
            <a:lvl6pPr>
              <a:defRPr sz="1388" b="0">
                <a:solidFill>
                  <a:srgbClr val="172E32"/>
                </a:solidFill>
                <a:latin typeface="Courier New"/>
                <a:ea typeface="Courier New"/>
                <a:cs typeface="Courier New"/>
              </a:defRPr>
            </a:lvl6pPr>
            <a:lvl7pPr>
              <a:defRPr sz="1388" b="0">
                <a:solidFill>
                  <a:srgbClr val="172E32"/>
                </a:solidFill>
                <a:latin typeface="Courier New"/>
                <a:ea typeface="Courier New"/>
                <a:cs typeface="Courier New"/>
              </a:defRPr>
            </a:lvl7pPr>
            <a:lvl8pPr>
              <a:defRPr sz="1388" b="0">
                <a:solidFill>
                  <a:srgbClr val="172E32"/>
                </a:solidFill>
                <a:latin typeface="Courier New"/>
                <a:ea typeface="Courier New"/>
                <a:cs typeface="Courier New"/>
              </a:defRPr>
            </a:lvl8pPr>
            <a:lvl9pPr>
              <a:defRPr sz="1388" b="0">
                <a:solidFill>
                  <a:srgbClr val="172E32"/>
                </a:solidFill>
                <a:latin typeface="Courier New"/>
                <a:ea typeface="Courier New"/>
                <a:cs typeface="Courier New"/>
              </a:defRPr>
            </a:lvl9pPr>
          </a:lstStyle>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255      with transaction(conn):</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256          active = conn.execute("SELECT 1 FROM api_sessions WHERE token_hash=? AND expires_at&gt;?",</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257                                (session["token_hash"], int(time.time()))).fetchone()</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258          if active is None:</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259              raise ApiProblem(401, "auth", "Phiên đã hết hạn hoặc bị thu hồi trong lúc xử lý. Vui lòng mở phiên mới.")</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260          cached = replay(conn, owner, "chat", key, message)</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261          if cached:</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262              return cached</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263          latest = conn.execute("SELECT COALESCE(MAX(id),0) FROM conversation_messages WHERE conversation_id=?", (cid,)).fetchone()[0]</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264          if revision != latest:</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265              raise ApiProblem(409, "conversation_busy", "Hội thoại vừa thay đổi. Vui lòng gửi lại sau khi tin trước xử lý xong.")</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266          slots = conv["context"]</a:t>
            </a:r>
          </a:p>
          <a:p xmlns:a="http://schemas.openxmlformats.org/drawingml/2006/main">
            <a:pPr>
              <a:lnSpc>
                <a:spcPct val="108000"/>
              </a:lnSpc>
              <a:buNone/>
              <a:defRPr sz="1725" b="0">
                <a:solidFill>
                  <a:srgbClr val="172E32"/>
                </a:solidFill>
                <a:latin typeface="Courier New"/>
                <a:ea typeface="Courier New"/>
                <a:cs typeface="Courier New"/>
              </a:defRPr>
            </a:pPr>
            <a:r>
              <a:rPr sz="1388" b="0">
                <a:solidFill>
                  <a:srgbClr val="172E32"/>
                </a:solidFill>
                <a:latin typeface="Courier New"/>
                <a:ea typeface="Courier New"/>
                <a:cs typeface="Courier New"/>
              </a:rPr>
              <a:t>267          if data:</a:t>
            </a:r>
          </a:p>
        </p:txBody>
      </p:sp>
      <p:sp>
        <p:nvSpPr>
          <p:cNvPr id="7" name="code-lesson">
            <a:extLst xmlns:a="http://schemas.openxmlformats.org/drawingml/2006/main">
              <a:ext uri="{FF2B5EF4-FFF2-40B4-BE49-F238E27FC236}">
                <a16:creationId xmlns:a16="http://schemas.microsoft.com/office/drawing/2014/main" id="{2C766BF7-4BC0-4D0B-8C5D-714160DF9FB2}"/>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Sau LLM, server xác thực lại phiên, đọc lại receipt và đối chiếu revision hội thoại.</a:t>
            </a:r>
          </a:p>
        </p:txBody>
      </p:sp>
    </p:spTree>
    <p:extLst>
      <p:ext uri="{BB962C8B-B14F-4D97-AF65-F5344CB8AC3E}">
        <p14:creationId xmlns:p14="http://schemas.microsoft.com/office/powerpoint/2010/main" val="250600105"/>
      </p:ext>
    </p:extLst>
  </p:cSld>
</p:sld>
</file>

<file path=ppt/slides/slide2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78FA763-8287-4627-AAA7-C1EFAB2352D8}"/>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Giá tiền và trạng thái đơn trong DB</a:t>
            </a:r>
          </a:p>
        </p:txBody>
      </p:sp>
      <p:sp>
        <p:nvSpPr>
          <p:cNvPr id="3" name="page-number">
            <a:extLst xmlns:a="http://schemas.openxmlformats.org/drawingml/2006/main">
              <a:ext uri="{FF2B5EF4-FFF2-40B4-BE49-F238E27FC236}">
                <a16:creationId xmlns:a16="http://schemas.microsoft.com/office/drawing/2014/main" id="{61FAE074-E3D0-4D8A-A496-61A4C2C6D7D5}"/>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27 / 88</a:t>
            </a:r>
          </a:p>
        </p:txBody>
      </p:sp>
      <p:sp>
        <p:nvSpPr>
          <p:cNvPr id="4" name="source-reference">
            <a:extLst xmlns:a="http://schemas.openxmlformats.org/drawingml/2006/main">
              <a:ext uri="{FF2B5EF4-FFF2-40B4-BE49-F238E27FC236}">
                <a16:creationId xmlns:a16="http://schemas.microsoft.com/office/drawing/2014/main" id="{94AA3313-DDC4-4EBD-988C-A28688A37B99}"/>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database/shop_db/order_service.py:128,132,138–140   /   database/shop_db/order_common.py:36–40</a:t>
            </a:r>
          </a:p>
        </p:txBody>
      </p:sp>
      <p:sp>
        <p:nvSpPr>
          <p:cNvPr id="5" name="code-intro">
            <a:extLst xmlns:a="http://schemas.openxmlformats.org/drawingml/2006/main">
              <a:ext uri="{FF2B5EF4-FFF2-40B4-BE49-F238E27FC236}">
                <a16:creationId xmlns:a16="http://schemas.microsoft.com/office/drawing/2014/main" id="{5ADB4B38-1803-449D-BBB5-97A0B5DBA8CE}"/>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Lớp dữ liệu kiểm tra hàng/giao nhận và chuyển đơn sang pending_confirmation trong transaction.</a:t>
            </a:r>
          </a:p>
        </p:txBody>
      </p:sp>
      <p:sp>
        <p:nvSpPr>
          <p:cNvPr id="6" name="source-code">
            <a:extLst xmlns:a="http://schemas.openxmlformats.org/drawingml/2006/main">
              <a:ext uri="{FF2B5EF4-FFF2-40B4-BE49-F238E27FC236}">
                <a16:creationId xmlns:a16="http://schemas.microsoft.com/office/drawing/2014/main" id="{90C7F322-A0B8-417C-9563-EA74A11DFF2F}"/>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13" b="0">
                <a:solidFill>
                  <a:srgbClr val="172E32"/>
                </a:solidFill>
                <a:latin typeface="Courier New"/>
                <a:ea typeface="Courier New"/>
                <a:cs typeface="Courier New"/>
              </a:defRPr>
            </a:defPPr>
            <a:lvl1pPr>
              <a:defRPr sz="1613" b="0">
                <a:solidFill>
                  <a:srgbClr val="172E32"/>
                </a:solidFill>
                <a:latin typeface="Courier New"/>
                <a:ea typeface="Courier New"/>
                <a:cs typeface="Courier New"/>
              </a:defRPr>
            </a:lvl1pPr>
            <a:lvl2pPr>
              <a:defRPr sz="1613" b="0">
                <a:solidFill>
                  <a:srgbClr val="172E32"/>
                </a:solidFill>
                <a:latin typeface="Courier New"/>
                <a:ea typeface="Courier New"/>
                <a:cs typeface="Courier New"/>
              </a:defRPr>
            </a:lvl2pPr>
            <a:lvl3pPr>
              <a:defRPr sz="1613" b="0">
                <a:solidFill>
                  <a:srgbClr val="172E32"/>
                </a:solidFill>
                <a:latin typeface="Courier New"/>
                <a:ea typeface="Courier New"/>
                <a:cs typeface="Courier New"/>
              </a:defRPr>
            </a:lvl3pPr>
            <a:lvl4pPr>
              <a:defRPr sz="1613" b="0">
                <a:solidFill>
                  <a:srgbClr val="172E32"/>
                </a:solidFill>
                <a:latin typeface="Courier New"/>
                <a:ea typeface="Courier New"/>
                <a:cs typeface="Courier New"/>
              </a:defRPr>
            </a:lvl4pPr>
            <a:lvl5pPr>
              <a:defRPr sz="1613" b="0">
                <a:solidFill>
                  <a:srgbClr val="172E32"/>
                </a:solidFill>
                <a:latin typeface="Courier New"/>
                <a:ea typeface="Courier New"/>
                <a:cs typeface="Courier New"/>
              </a:defRPr>
            </a:lvl5pPr>
            <a:lvl6pPr>
              <a:defRPr sz="1613" b="0">
                <a:solidFill>
                  <a:srgbClr val="172E32"/>
                </a:solidFill>
                <a:latin typeface="Courier New"/>
                <a:ea typeface="Courier New"/>
                <a:cs typeface="Courier New"/>
              </a:defRPr>
            </a:lvl6pPr>
            <a:lvl7pPr>
              <a:defRPr sz="1613" b="0">
                <a:solidFill>
                  <a:srgbClr val="172E32"/>
                </a:solidFill>
                <a:latin typeface="Courier New"/>
                <a:ea typeface="Courier New"/>
                <a:cs typeface="Courier New"/>
              </a:defRPr>
            </a:lvl7pPr>
            <a:lvl8pPr>
              <a:defRPr sz="1613" b="0">
                <a:solidFill>
                  <a:srgbClr val="172E32"/>
                </a:solidFill>
                <a:latin typeface="Courier New"/>
                <a:ea typeface="Courier New"/>
                <a:cs typeface="Courier New"/>
              </a:defRPr>
            </a:lvl8pPr>
            <a:lvl9pPr>
              <a:defRPr sz="1613" b="0">
                <a:solidFill>
                  <a:srgbClr val="172E32"/>
                </a:solidFill>
                <a:latin typeface="Courier New"/>
                <a:ea typeface="Courier New"/>
                <a:cs typeface="Courier New"/>
              </a:defRPr>
            </a:lvl9pPr>
          </a:lstStyle>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128      with transaction(conn):</a:t>
            </a:r>
          </a:p>
          <a:p xmlns:a="http://schemas.openxmlformats.org/drawingml/2006/main">
            <a:pPr>
              <a:lnSpc>
                <a:spcPct val="108000"/>
              </a:lnSpc>
              <a:buNone/>
              <a:defRPr sz="1388" b="0">
                <a:solidFill>
                  <a:srgbClr val="172E32"/>
                </a:solidFill>
                <a:latin typeface="Courier New"/>
                <a:ea typeface="Courier New"/>
                <a:cs typeface="Courier New"/>
              </a:defRPr>
            </a:pPr>
            <a:r>
              <a:rPr sz="1388" b="0">
                <a:solidFill>
                  <a:srgbClr val="172E32"/>
                </a:solidFill>
                <a:latin typeface="Courier New"/>
                <a:ea typeface="Courier New"/>
                <a:cs typeface="Courier New"/>
              </a:rPr>
              <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132          order = create_cart(conn, ctx, owner, items, source)</a:t>
            </a:r>
          </a:p>
          <a:p xmlns:a="http://schemas.openxmlformats.org/drawingml/2006/main">
            <a:pPr>
              <a:lnSpc>
                <a:spcPct val="108000"/>
              </a:lnSpc>
              <a:buNone/>
              <a:defRPr sz="1388" b="0">
                <a:solidFill>
                  <a:srgbClr val="172E32"/>
                </a:solidFill>
                <a:latin typeface="Courier New"/>
                <a:ea typeface="Courier New"/>
                <a:cs typeface="Courier New"/>
              </a:defRPr>
            </a:pPr>
            <a:r>
              <a:rPr sz="1388" b="0">
                <a:solidFill>
                  <a:srgbClr val="172E32"/>
                </a:solidFill>
                <a:latin typeface="Courier New"/>
                <a:ea typeface="Courier New"/>
                <a:cs typeface="Courier New"/>
              </a:rPr>
              <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138          order = change_status(conn, ctx, order["id"], "pending_confirmation")</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139          order["replayed"] = False</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140          return order</a:t>
            </a:r>
          </a:p>
          <a:p xmlns:a="http://schemas.openxmlformats.org/drawingml/2006/main">
            <a:pPr>
              <a:lnSpc>
                <a:spcPct val="108000"/>
              </a:lnSpc>
              <a:buNone/>
              <a:defRPr sz="1388" b="0">
                <a:solidFill>
                  <a:srgbClr val="172E32"/>
                </a:solidFill>
                <a:latin typeface="Courier New"/>
                <a:ea typeface="Courier New"/>
                <a:cs typeface="Courier New"/>
              </a:defRPr>
            </a:pPr>
            <a:r>
              <a:rPr sz="1388" b="0">
                <a:solidFill>
                  <a:srgbClr val="172E32"/>
                </a:solidFill>
                <a:latin typeface="Courier New"/>
                <a:ea typeface="Courier New"/>
                <a:cs typeface="Courier New"/>
              </a:rPr>
              <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 36  def recalc_total(conn, order_id) -&gt; int:</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 37      total = conn.execute("SELECT COALESCE(SUM(line_total), 0) FROM order_items WHERE order_id = ?",</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 38                           (order_id,)).fetchone()[0]</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 39      conn.execute(f"UPDATE orders SET total_amount = ?, updated_at = {NOW_SQL} WHERE id = ?", (total, order_id))</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 40      return total</a:t>
            </a:r>
          </a:p>
        </p:txBody>
      </p:sp>
      <p:sp>
        <p:nvSpPr>
          <p:cNvPr id="7" name="code-lesson">
            <a:extLst xmlns:a="http://schemas.openxmlformats.org/drawingml/2006/main">
              <a:ext uri="{FF2B5EF4-FFF2-40B4-BE49-F238E27FC236}">
                <a16:creationId xmlns:a16="http://schemas.microsoft.com/office/drawing/2014/main" id="{A2AF65B0-B1F2-4F8F-B9C4-F31AF9A818E3}"/>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line_total và tổng đơn do server tính, không lấy một con số model sinh ra.</a:t>
            </a:r>
          </a:p>
        </p:txBody>
      </p:sp>
    </p:spTree>
    <p:extLst>
      <p:ext uri="{BB962C8B-B14F-4D97-AF65-F5344CB8AC3E}">
        <p14:creationId xmlns:p14="http://schemas.microsoft.com/office/powerpoint/2010/main" val="2118417066"/>
      </p:ext>
    </p:extLst>
  </p:cSld>
</p:sld>
</file>

<file path=ppt/slides/slide2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0A9BDD4-60CD-47B6-9329-2248D9C3A31D}"/>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Checkout từ website</a:t>
            </a:r>
          </a:p>
        </p:txBody>
      </p:sp>
      <p:sp>
        <p:nvSpPr>
          <p:cNvPr id="3" name="page-number">
            <a:extLst xmlns:a="http://schemas.openxmlformats.org/drawingml/2006/main">
              <a:ext uri="{FF2B5EF4-FFF2-40B4-BE49-F238E27FC236}">
                <a16:creationId xmlns:a16="http://schemas.microsoft.com/office/drawing/2014/main" id="{83186F28-FE99-4BE3-87D2-368436996362}"/>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28 / 88</a:t>
            </a:r>
          </a:p>
        </p:txBody>
      </p:sp>
      <p:sp>
        <p:nvSpPr>
          <p:cNvPr id="4" name="source-reference">
            <a:extLst xmlns:a="http://schemas.openxmlformats.org/drawingml/2006/main">
              <a:ext uri="{FF2B5EF4-FFF2-40B4-BE49-F238E27FC236}">
                <a16:creationId xmlns:a16="http://schemas.microsoft.com/office/drawing/2014/main" id="{57045BDF-421A-47F3-A38F-A5E2C22B6F5F}"/>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backend/services.py:103–117</a:t>
            </a:r>
          </a:p>
        </p:txBody>
      </p:sp>
      <p:sp>
        <p:nvSpPr>
          <p:cNvPr id="5" name="code-intro">
            <a:extLst xmlns:a="http://schemas.openxmlformats.org/drawingml/2006/main">
              <a:ext uri="{FF2B5EF4-FFF2-40B4-BE49-F238E27FC236}">
                <a16:creationId xmlns:a16="http://schemas.microsoft.com/office/drawing/2014/main" id="{391A848C-2EB1-469C-BE29-5A73D29671AF}"/>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Luồng web gửi giao nhận và chuyển giỏ của phiên thành đơn chờ xác nhận, không cần LLM.</a:t>
            </a:r>
          </a:p>
        </p:txBody>
      </p:sp>
      <p:sp>
        <p:nvSpPr>
          <p:cNvPr id="6" name="source-code">
            <a:extLst xmlns:a="http://schemas.openxmlformats.org/drawingml/2006/main">
              <a:ext uri="{FF2B5EF4-FFF2-40B4-BE49-F238E27FC236}">
                <a16:creationId xmlns:a16="http://schemas.microsoft.com/office/drawing/2014/main" id="{C520A770-9B9E-40D5-8F80-38D7F47A0497}"/>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388" b="0">
                <a:solidFill>
                  <a:srgbClr val="172E32"/>
                </a:solidFill>
                <a:latin typeface="Courier New"/>
                <a:ea typeface="Courier New"/>
                <a:cs typeface="Courier New"/>
              </a:defRPr>
            </a:defPPr>
            <a:lvl1pPr>
              <a:defRPr sz="1388" b="0">
                <a:solidFill>
                  <a:srgbClr val="172E32"/>
                </a:solidFill>
                <a:latin typeface="Courier New"/>
                <a:ea typeface="Courier New"/>
                <a:cs typeface="Courier New"/>
              </a:defRPr>
            </a:lvl1pPr>
            <a:lvl2pPr>
              <a:defRPr sz="1388" b="0">
                <a:solidFill>
                  <a:srgbClr val="172E32"/>
                </a:solidFill>
                <a:latin typeface="Courier New"/>
                <a:ea typeface="Courier New"/>
                <a:cs typeface="Courier New"/>
              </a:defRPr>
            </a:lvl2pPr>
            <a:lvl3pPr>
              <a:defRPr sz="1388" b="0">
                <a:solidFill>
                  <a:srgbClr val="172E32"/>
                </a:solidFill>
                <a:latin typeface="Courier New"/>
                <a:ea typeface="Courier New"/>
                <a:cs typeface="Courier New"/>
              </a:defRPr>
            </a:lvl3pPr>
            <a:lvl4pPr>
              <a:defRPr sz="1388" b="0">
                <a:solidFill>
                  <a:srgbClr val="172E32"/>
                </a:solidFill>
                <a:latin typeface="Courier New"/>
                <a:ea typeface="Courier New"/>
                <a:cs typeface="Courier New"/>
              </a:defRPr>
            </a:lvl4pPr>
            <a:lvl5pPr>
              <a:defRPr sz="1388" b="0">
                <a:solidFill>
                  <a:srgbClr val="172E32"/>
                </a:solidFill>
                <a:latin typeface="Courier New"/>
                <a:ea typeface="Courier New"/>
                <a:cs typeface="Courier New"/>
              </a:defRPr>
            </a:lvl5pPr>
            <a:lvl6pPr>
              <a:defRPr sz="1388" b="0">
                <a:solidFill>
                  <a:srgbClr val="172E32"/>
                </a:solidFill>
                <a:latin typeface="Courier New"/>
                <a:ea typeface="Courier New"/>
                <a:cs typeface="Courier New"/>
              </a:defRPr>
            </a:lvl6pPr>
            <a:lvl7pPr>
              <a:defRPr sz="1388" b="0">
                <a:solidFill>
                  <a:srgbClr val="172E32"/>
                </a:solidFill>
                <a:latin typeface="Courier New"/>
                <a:ea typeface="Courier New"/>
                <a:cs typeface="Courier New"/>
              </a:defRPr>
            </a:lvl7pPr>
            <a:lvl8pPr>
              <a:defRPr sz="1388" b="0">
                <a:solidFill>
                  <a:srgbClr val="172E32"/>
                </a:solidFill>
                <a:latin typeface="Courier New"/>
                <a:ea typeface="Courier New"/>
                <a:cs typeface="Courier New"/>
              </a:defRPr>
            </a:lvl8pPr>
            <a:lvl9pPr>
              <a:defRPr sz="1388" b="0">
                <a:solidFill>
                  <a:srgbClr val="172E32"/>
                </a:solidFill>
                <a:latin typeface="Courier New"/>
                <a:ea typeface="Courier New"/>
                <a:cs typeface="Courier New"/>
              </a:defRPr>
            </a:lvl9pPr>
          </a:lstStyle>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103  def checkout(conn, ctx, session, shipping, key):</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104      owner = session["owner_id"]</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105      with transaction(conn):</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106          existing = replay(conn, owner, "checkout", key, shipping)</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107          if existing:</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108              return existing</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109          cart = cart_order(conn, session, ctx)</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110          if not cart or not cart["items"]:</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111              raise ApiProblem(409, "empty_cart", "Giỏ hàng đang trống.")</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112          delivery = {"customer_name": shipping["recipient_name"], "phone": shipping["phone"], "address": shipping["address"]}</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113          order = orders.submit_order(conn, ctx, cart["id"], delivery)</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114          conn.execute("UPDATE api_sessions SET cart_id=NULL WHERE owner_id=?", (owner,))</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115          result = order_view(conn, order)</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116          save_receipt(conn, owner, "checkout", key, shipping, result)</a:t>
            </a:r>
          </a:p>
          <a:p xmlns:a="http://schemas.openxmlformats.org/drawingml/2006/main">
            <a:pPr>
              <a:lnSpc>
                <a:spcPct val="108000"/>
              </a:lnSpc>
              <a:buNone/>
              <a:defRPr sz="1763" b="0">
                <a:solidFill>
                  <a:srgbClr val="172E32"/>
                </a:solidFill>
                <a:latin typeface="Courier New"/>
                <a:ea typeface="Courier New"/>
                <a:cs typeface="Courier New"/>
              </a:defRPr>
            </a:pPr>
            <a:r>
              <a:rPr sz="1388" b="0">
                <a:solidFill>
                  <a:srgbClr val="172E32"/>
                </a:solidFill>
                <a:latin typeface="Courier New"/>
                <a:ea typeface="Courier New"/>
                <a:cs typeface="Courier New"/>
              </a:rPr>
              <a:t>117          return result</a:t>
            </a:r>
          </a:p>
        </p:txBody>
      </p:sp>
      <p:sp>
        <p:nvSpPr>
          <p:cNvPr id="7" name="code-lesson">
            <a:extLst xmlns:a="http://schemas.openxmlformats.org/drawingml/2006/main">
              <a:ext uri="{FF2B5EF4-FFF2-40B4-BE49-F238E27FC236}">
                <a16:creationId xmlns:a16="http://schemas.microsoft.com/office/drawing/2014/main" id="{0D1850ED-C65C-4980-917A-54930CAC2C71}"/>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Giỏ web và đơn chat dùng chung database, quyền sở hữu và quy tắc đơn hàng.</a:t>
            </a:r>
          </a:p>
        </p:txBody>
      </p:sp>
    </p:spTree>
    <p:extLst>
      <p:ext uri="{BB962C8B-B14F-4D97-AF65-F5344CB8AC3E}">
        <p14:creationId xmlns:p14="http://schemas.microsoft.com/office/powerpoint/2010/main" val="381948876"/>
      </p:ext>
    </p:extLst>
  </p:cSld>
</p:sld>
</file>

<file path=ppt/slides/slide2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60E8CC3-20BB-4BBC-9A31-37859273A012}"/>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Sửa đơn có kiểm soát</a:t>
            </a:r>
          </a:p>
        </p:txBody>
      </p:sp>
      <p:sp>
        <p:nvSpPr>
          <p:cNvPr id="3" name="page-number">
            <a:extLst xmlns:a="http://schemas.openxmlformats.org/drawingml/2006/main">
              <a:ext uri="{FF2B5EF4-FFF2-40B4-BE49-F238E27FC236}">
                <a16:creationId xmlns:a16="http://schemas.microsoft.com/office/drawing/2014/main" id="{57120694-B1E0-4D93-82C1-19C7996FA71F}"/>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29 / 88</a:t>
            </a:r>
          </a:p>
        </p:txBody>
      </p:sp>
      <p:sp>
        <p:nvSpPr>
          <p:cNvPr id="4" name="source-reference">
            <a:extLst xmlns:a="http://schemas.openxmlformats.org/drawingml/2006/main">
              <a:ext uri="{FF2B5EF4-FFF2-40B4-BE49-F238E27FC236}">
                <a16:creationId xmlns:a16="http://schemas.microsoft.com/office/drawing/2014/main" id="{3C85CCC3-D000-482C-85B6-D41EDD0514A2}"/>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backend/chat_service.py:169–175   /   backend/services.py:89–90,96–97</a:t>
            </a:r>
          </a:p>
        </p:txBody>
      </p:sp>
      <p:sp>
        <p:nvSpPr>
          <p:cNvPr id="5" name="code-intro">
            <a:extLst xmlns:a="http://schemas.openxmlformats.org/drawingml/2006/main">
              <a:ext uri="{FF2B5EF4-FFF2-40B4-BE49-F238E27FC236}">
                <a16:creationId xmlns:a16="http://schemas.microsoft.com/office/drawing/2014/main" id="{A3A50815-05C5-4352-B178-4DFD2FFC97BE}"/>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_update() nhận mã đơn rõ ràng hoặc yêu cầu trong phiên chỉ có duy nhất một đơn chờ xác nhận.</a:t>
            </a:r>
          </a:p>
        </p:txBody>
      </p:sp>
      <p:sp>
        <p:nvSpPr>
          <p:cNvPr id="6" name="source-code">
            <a:extLst xmlns:a="http://schemas.openxmlformats.org/drawingml/2006/main">
              <a:ext uri="{FF2B5EF4-FFF2-40B4-BE49-F238E27FC236}">
                <a16:creationId xmlns:a16="http://schemas.microsoft.com/office/drawing/2014/main" id="{C3048952-1CA4-48E3-87BE-7771C96859BA}"/>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613" b="0">
                <a:solidFill>
                  <a:srgbClr val="172E32"/>
                </a:solidFill>
                <a:latin typeface="Courier New"/>
                <a:ea typeface="Courier New"/>
                <a:cs typeface="Courier New"/>
              </a:defRPr>
            </a:defPPr>
            <a:lvl1pPr>
              <a:defRPr sz="1613" b="0">
                <a:solidFill>
                  <a:srgbClr val="172E32"/>
                </a:solidFill>
                <a:latin typeface="Courier New"/>
                <a:ea typeface="Courier New"/>
                <a:cs typeface="Courier New"/>
              </a:defRPr>
            </a:lvl1pPr>
            <a:lvl2pPr>
              <a:defRPr sz="1613" b="0">
                <a:solidFill>
                  <a:srgbClr val="172E32"/>
                </a:solidFill>
                <a:latin typeface="Courier New"/>
                <a:ea typeface="Courier New"/>
                <a:cs typeface="Courier New"/>
              </a:defRPr>
            </a:lvl2pPr>
            <a:lvl3pPr>
              <a:defRPr sz="1613" b="0">
                <a:solidFill>
                  <a:srgbClr val="172E32"/>
                </a:solidFill>
                <a:latin typeface="Courier New"/>
                <a:ea typeface="Courier New"/>
                <a:cs typeface="Courier New"/>
              </a:defRPr>
            </a:lvl3pPr>
            <a:lvl4pPr>
              <a:defRPr sz="1613" b="0">
                <a:solidFill>
                  <a:srgbClr val="172E32"/>
                </a:solidFill>
                <a:latin typeface="Courier New"/>
                <a:ea typeface="Courier New"/>
                <a:cs typeface="Courier New"/>
              </a:defRPr>
            </a:lvl4pPr>
            <a:lvl5pPr>
              <a:defRPr sz="1613" b="0">
                <a:solidFill>
                  <a:srgbClr val="172E32"/>
                </a:solidFill>
                <a:latin typeface="Courier New"/>
                <a:ea typeface="Courier New"/>
                <a:cs typeface="Courier New"/>
              </a:defRPr>
            </a:lvl5pPr>
            <a:lvl6pPr>
              <a:defRPr sz="1613" b="0">
                <a:solidFill>
                  <a:srgbClr val="172E32"/>
                </a:solidFill>
                <a:latin typeface="Courier New"/>
                <a:ea typeface="Courier New"/>
                <a:cs typeface="Courier New"/>
              </a:defRPr>
            </a:lvl6pPr>
            <a:lvl7pPr>
              <a:defRPr sz="1613" b="0">
                <a:solidFill>
                  <a:srgbClr val="172E32"/>
                </a:solidFill>
                <a:latin typeface="Courier New"/>
                <a:ea typeface="Courier New"/>
                <a:cs typeface="Courier New"/>
              </a:defRPr>
            </a:lvl7pPr>
            <a:lvl8pPr>
              <a:defRPr sz="1613" b="0">
                <a:solidFill>
                  <a:srgbClr val="172E32"/>
                </a:solidFill>
                <a:latin typeface="Courier New"/>
                <a:ea typeface="Courier New"/>
                <a:cs typeface="Courier New"/>
              </a:defRPr>
            </a:lvl8pPr>
            <a:lvl9pPr>
              <a:defRPr sz="1613" b="0">
                <a:solidFill>
                  <a:srgbClr val="172E32"/>
                </a:solidFill>
                <a:latin typeface="Courier New"/>
                <a:ea typeface="Courier New"/>
                <a:cs typeface="Courier New"/>
              </a:defRPr>
            </a:lvl9pPr>
          </a:lstStyle>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169      if reference:</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170          order = owned_order(conn, session["owner_id"], order_number(reference))</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171      else:</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172          candidates = orders.list_orders(conn, session["owner_id"], statuses=["pending_confirmation"], limit=2)</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173          if len(candidates) != 1:</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174              return ask(["order_reference"], "Chưa xác định được duy nhất một đơn nháp trong phiên.")</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175          order = candidates[0]</a:t>
            </a:r>
          </a:p>
          <a:p xmlns:a="http://schemas.openxmlformats.org/drawingml/2006/main">
            <a:pPr>
              <a:lnSpc>
                <a:spcPct val="108000"/>
              </a:lnSpc>
              <a:buNone/>
              <a:defRPr sz="1388" b="0">
                <a:solidFill>
                  <a:srgbClr val="172E32"/>
                </a:solidFill>
                <a:latin typeface="Courier New"/>
                <a:ea typeface="Courier New"/>
                <a:cs typeface="Courier New"/>
              </a:defRPr>
            </a:pPr>
            <a:r>
              <a:rPr sz="1388" b="0">
                <a:solidFill>
                  <a:srgbClr val="172E32"/>
                </a:solidFill>
                <a:latin typeface="Courier New"/>
                <a:ea typeface="Courier New"/>
                <a:cs typeface="Courier New"/>
              </a:rPr>
              <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 89          if order["status"] not in {"cart", "pending_confirmation"}:</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 90              raise OrderNotEditable("Đơn không còn cho phép chỉnh sửa.")</a:t>
            </a:r>
          </a:p>
          <a:p xmlns:a="http://schemas.openxmlformats.org/drawingml/2006/main">
            <a:pPr>
              <a:lnSpc>
                <a:spcPct val="108000"/>
              </a:lnSpc>
              <a:buNone/>
              <a:defRPr sz="1388" b="0">
                <a:solidFill>
                  <a:srgbClr val="172E32"/>
                </a:solidFill>
                <a:latin typeface="Courier New"/>
                <a:ea typeface="Courier New"/>
                <a:cs typeface="Courier New"/>
              </a:defRPr>
            </a:pPr>
            <a:r>
              <a:rPr sz="1388" b="0">
                <a:solidFill>
                  <a:srgbClr val="172E32"/>
                </a:solidFill>
                <a:latin typeface="Courier New"/>
                <a:ea typeface="Courier New"/>
                <a:cs typeface="Courier New"/>
              </a:rPr>
              <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 96          if before["product_id"] != after["product_id"]:</a:t>
            </a:r>
          </a:p>
          <a:p xmlns:a="http://schemas.openxmlformats.org/drawingml/2006/main">
            <a:pPr>
              <a:lnSpc>
                <a:spcPct val="108000"/>
              </a:lnSpc>
              <a:buNone/>
              <a:defRPr sz="1388" b="0">
                <a:solidFill>
                  <a:srgbClr val="172E32"/>
                </a:solidFill>
                <a:latin typeface="Courier New"/>
                <a:ea typeface="Courier New"/>
                <a:cs typeface="Courier New"/>
              </a:defRPr>
            </a:pPr>
            <a:r>
              <a:rPr sz="1613" b="0">
                <a:solidFill>
                  <a:srgbClr val="172E32"/>
                </a:solidFill>
                <a:latin typeface="Courier New"/>
                <a:ea typeface="Courier New"/>
                <a:cs typeface="Courier New"/>
              </a:rPr>
              <a:t> 97              raise ValidationError("Chỉ được đổi biến thể thuộc cùng sản phẩm.", field="sku")</a:t>
            </a:r>
          </a:p>
        </p:txBody>
      </p:sp>
      <p:sp>
        <p:nvSpPr>
          <p:cNvPr id="7" name="code-lesson">
            <a:extLst xmlns:a="http://schemas.openxmlformats.org/drawingml/2006/main">
              <a:ext uri="{FF2B5EF4-FFF2-40B4-BE49-F238E27FC236}">
                <a16:creationId xmlns:a16="http://schemas.microsoft.com/office/drawing/2014/main" id="{D19DF22E-282E-40E9-822F-82A57DA759B6}"/>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update_item() kiểm tra lại owner và trạng thái, chỉ đổi SKU trong cùng một sản phẩm.</a:t>
            </a:r>
          </a:p>
        </p:txBody>
      </p:sp>
    </p:spTree>
    <p:extLst>
      <p:ext uri="{BB962C8B-B14F-4D97-AF65-F5344CB8AC3E}">
        <p14:creationId xmlns:p14="http://schemas.microsoft.com/office/powerpoint/2010/main" val="779541645"/>
      </p:ext>
    </p:extLst>
  </p:cSld>
</p:sld>
</file>

<file path=ppt/slides/slide3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A103C8E-9A26-4C6A-AD24-4977F612AC30}"/>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Context, audit và chống gửi trùng</a:t>
            </a:r>
          </a:p>
        </p:txBody>
      </p:sp>
      <p:sp>
        <p:nvSpPr>
          <p:cNvPr id="3" name="page-number">
            <a:extLst xmlns:a="http://schemas.openxmlformats.org/drawingml/2006/main">
              <a:ext uri="{FF2B5EF4-FFF2-40B4-BE49-F238E27FC236}">
                <a16:creationId xmlns:a16="http://schemas.microsoft.com/office/drawing/2014/main" id="{9B3D5446-14AB-4164-BDB1-07CBBF9DCAE6}"/>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30 / 88</a:t>
            </a:r>
          </a:p>
        </p:txBody>
      </p:sp>
      <p:sp>
        <p:nvSpPr>
          <p:cNvPr id="4" name="source-reference">
            <a:extLst xmlns:a="http://schemas.openxmlformats.org/drawingml/2006/main">
              <a:ext uri="{FF2B5EF4-FFF2-40B4-BE49-F238E27FC236}">
                <a16:creationId xmlns:a16="http://schemas.microsoft.com/office/drawing/2014/main" id="{B0677715-0BAE-42E0-A525-BC0D256C1135}"/>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backend/chat_service.py:309–319</a:t>
            </a:r>
          </a:p>
        </p:txBody>
      </p:sp>
      <p:sp>
        <p:nvSpPr>
          <p:cNvPr id="5" name="code-intro">
            <a:extLst xmlns:a="http://schemas.openxmlformats.org/drawingml/2006/main">
              <a:ext uri="{FF2B5EF4-FFF2-40B4-BE49-F238E27FC236}">
                <a16:creationId xmlns:a16="http://schemas.microsoft.com/office/drawing/2014/main" id="{6B7E6009-6A50-4056-AB80-3EF9347EA068}"/>
              </a:ext>
            </a:extLst>
          </p:cNvPr>
          <p:cNvSpPr>
            <a:spLocks xmlns:a="http://schemas.openxmlformats.org/drawingml/2006/main" noGrp="1"/>
          </p:cNvSpPr>
          <p:nvPr/>
        </p:nvSpPr>
        <p:spPr>
          <a:xfrm xmlns:a="http://schemas.openxmlformats.org/drawingml/2006/main">
            <a:off x="762000" y="1466850"/>
            <a:ext cx="1371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72E32"/>
                </a:solidFill>
                <a:latin typeface="Arial"/>
                <a:ea typeface="Arial"/>
                <a:cs typeface="Arial"/>
              </a:defRPr>
            </a:defPPr>
            <a:lvl1pPr>
              <a:defRPr sz="2175" b="0">
                <a:solidFill>
                  <a:srgbClr val="172E32"/>
                </a:solidFill>
                <a:latin typeface="Arial"/>
                <a:ea typeface="Arial"/>
                <a:cs typeface="Arial"/>
              </a:defRPr>
            </a:lvl1pPr>
            <a:lvl2pPr>
              <a:defRPr sz="2175" b="0">
                <a:solidFill>
                  <a:srgbClr val="172E32"/>
                </a:solidFill>
                <a:latin typeface="Arial"/>
                <a:ea typeface="Arial"/>
                <a:cs typeface="Arial"/>
              </a:defRPr>
            </a:lvl2pPr>
            <a:lvl3pPr>
              <a:defRPr sz="2175" b="0">
                <a:solidFill>
                  <a:srgbClr val="172E32"/>
                </a:solidFill>
                <a:latin typeface="Arial"/>
                <a:ea typeface="Arial"/>
                <a:cs typeface="Arial"/>
              </a:defRPr>
            </a:lvl3pPr>
            <a:lvl4pPr>
              <a:defRPr sz="2175" b="0">
                <a:solidFill>
                  <a:srgbClr val="172E32"/>
                </a:solidFill>
                <a:latin typeface="Arial"/>
                <a:ea typeface="Arial"/>
                <a:cs typeface="Arial"/>
              </a:defRPr>
            </a:lvl4pPr>
            <a:lvl5pPr>
              <a:defRPr sz="2175" b="0">
                <a:solidFill>
                  <a:srgbClr val="172E32"/>
                </a:solidFill>
                <a:latin typeface="Arial"/>
                <a:ea typeface="Arial"/>
                <a:cs typeface="Arial"/>
              </a:defRPr>
            </a:lvl5pPr>
            <a:lvl6pPr>
              <a:defRPr sz="2175" b="0">
                <a:solidFill>
                  <a:srgbClr val="172E32"/>
                </a:solidFill>
                <a:latin typeface="Arial"/>
                <a:ea typeface="Arial"/>
                <a:cs typeface="Arial"/>
              </a:defRPr>
            </a:lvl6pPr>
            <a:lvl7pPr>
              <a:defRPr sz="2175" b="0">
                <a:solidFill>
                  <a:srgbClr val="172E32"/>
                </a:solidFill>
                <a:latin typeface="Arial"/>
                <a:ea typeface="Arial"/>
                <a:cs typeface="Arial"/>
              </a:defRPr>
            </a:lvl7pPr>
            <a:lvl8pPr>
              <a:defRPr sz="2175" b="0">
                <a:solidFill>
                  <a:srgbClr val="172E32"/>
                </a:solidFill>
                <a:latin typeface="Arial"/>
                <a:ea typeface="Arial"/>
                <a:cs typeface="Arial"/>
              </a:defRPr>
            </a:lvl8pPr>
            <a:lvl9pPr>
              <a:defRPr sz="2175" b="0">
                <a:solidFill>
                  <a:srgbClr val="172E32"/>
                </a:solidFill>
                <a:latin typeface="Arial"/>
                <a:ea typeface="Arial"/>
                <a:cs typeface="Arial"/>
              </a:defRPr>
            </a:lvl9pPr>
          </a:lstStyle>
          <a:p xmlns:a="http://schemas.openxmlformats.org/drawingml/2006/main">
            <a:pPr>
              <a:lnSpc>
                <a:spcPct val="112000"/>
              </a:lnSpc>
              <a:buNone/>
              <a:defRPr sz="2175" b="0">
                <a:solidFill>
                  <a:srgbClr val="172E32"/>
                </a:solidFill>
                <a:latin typeface="Arial"/>
                <a:ea typeface="Arial"/>
                <a:cs typeface="Arial"/>
              </a:defRPr>
            </a:pPr>
            <a:r>
              <a:rPr sz="2175" b="0">
                <a:solidFill>
                  <a:srgbClr val="172E32"/>
                </a:solidFill>
                <a:latin typeface="Arial"/>
                <a:ea typeface="Arial"/>
                <a:cs typeface="Arial"/>
              </a:rPr>
              <a:t>Mỗi route cập nhật state hội thoại, lưu metadata và ghi receipt khi có kết quả có thể replay.</a:t>
            </a:r>
          </a:p>
        </p:txBody>
      </p:sp>
      <p:sp>
        <p:nvSpPr>
          <p:cNvPr id="6" name="source-code">
            <a:extLst xmlns:a="http://schemas.openxmlformats.org/drawingml/2006/main">
              <a:ext uri="{FF2B5EF4-FFF2-40B4-BE49-F238E27FC236}">
                <a16:creationId xmlns:a16="http://schemas.microsoft.com/office/drawing/2014/main" id="{406A637A-95D3-422B-A703-8CFC8451B12A}"/>
              </a:ext>
            </a:extLst>
          </p:cNvPr>
          <p:cNvSpPr>
            <a:spLocks xmlns:a="http://schemas.openxmlformats.org/drawingml/2006/main" noGrp="1"/>
          </p:cNvSpPr>
          <p:nvPr/>
        </p:nvSpPr>
        <p:spPr>
          <a:xfrm xmlns:a="http://schemas.openxmlformats.org/drawingml/2006/main">
            <a:off x="762000" y="2486025"/>
            <a:ext cx="13716000" cy="4362450"/>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133350" tIns="95250" rIns="133350" bIns="95250">
            <a:noAutofit/>
          </a:bodyPr>
          <a:lstStyle xmlns:a="http://schemas.openxmlformats.org/drawingml/2006/main">
            <a:defPPr>
              <a:defRPr sz="1800" b="0">
                <a:solidFill>
                  <a:srgbClr val="172E32"/>
                </a:solidFill>
                <a:latin typeface="Courier New"/>
                <a:ea typeface="Courier New"/>
                <a:cs typeface="Courier New"/>
              </a:defRPr>
            </a:defPPr>
            <a:lvl1pPr>
              <a:defRPr sz="1800" b="0">
                <a:solidFill>
                  <a:srgbClr val="172E32"/>
                </a:solidFill>
                <a:latin typeface="Courier New"/>
                <a:ea typeface="Courier New"/>
                <a:cs typeface="Courier New"/>
              </a:defRPr>
            </a:lvl1pPr>
            <a:lvl2pPr>
              <a:defRPr sz="1800" b="0">
                <a:solidFill>
                  <a:srgbClr val="172E32"/>
                </a:solidFill>
                <a:latin typeface="Courier New"/>
                <a:ea typeface="Courier New"/>
                <a:cs typeface="Courier New"/>
              </a:defRPr>
            </a:lvl2pPr>
            <a:lvl3pPr>
              <a:defRPr sz="1800" b="0">
                <a:solidFill>
                  <a:srgbClr val="172E32"/>
                </a:solidFill>
                <a:latin typeface="Courier New"/>
                <a:ea typeface="Courier New"/>
                <a:cs typeface="Courier New"/>
              </a:defRPr>
            </a:lvl3pPr>
            <a:lvl4pPr>
              <a:defRPr sz="1800" b="0">
                <a:solidFill>
                  <a:srgbClr val="172E32"/>
                </a:solidFill>
                <a:latin typeface="Courier New"/>
                <a:ea typeface="Courier New"/>
                <a:cs typeface="Courier New"/>
              </a:defRPr>
            </a:lvl4pPr>
            <a:lvl5pPr>
              <a:defRPr sz="1800" b="0">
                <a:solidFill>
                  <a:srgbClr val="172E32"/>
                </a:solidFill>
                <a:latin typeface="Courier New"/>
                <a:ea typeface="Courier New"/>
                <a:cs typeface="Courier New"/>
              </a:defRPr>
            </a:lvl5pPr>
            <a:lvl6pPr>
              <a:defRPr sz="1800" b="0">
                <a:solidFill>
                  <a:srgbClr val="172E32"/>
                </a:solidFill>
                <a:latin typeface="Courier New"/>
                <a:ea typeface="Courier New"/>
                <a:cs typeface="Courier New"/>
              </a:defRPr>
            </a:lvl6pPr>
            <a:lvl7pPr>
              <a:defRPr sz="1800" b="0">
                <a:solidFill>
                  <a:srgbClr val="172E32"/>
                </a:solidFill>
                <a:latin typeface="Courier New"/>
                <a:ea typeface="Courier New"/>
                <a:cs typeface="Courier New"/>
              </a:defRPr>
            </a:lvl7pPr>
            <a:lvl8pPr>
              <a:defRPr sz="1800" b="0">
                <a:solidFill>
                  <a:srgbClr val="172E32"/>
                </a:solidFill>
                <a:latin typeface="Courier New"/>
                <a:ea typeface="Courier New"/>
                <a:cs typeface="Courier New"/>
              </a:defRPr>
            </a:lvl8pPr>
            <a:lvl9pPr>
              <a:defRPr sz="1800" b="0">
                <a:solidFill>
                  <a:srgbClr val="172E32"/>
                </a:solidFill>
                <a:latin typeface="Courier New"/>
                <a:ea typeface="Courier New"/>
                <a:cs typeface="Courier New"/>
              </a:defRPr>
            </a:lvl9pPr>
          </a:lstStyle>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309          conversations.add_message(conn, cid, "user", "[Nội dung không lưu; intent=" + str(meta["intent"]) + "]")</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310          conversations.add_message(conn, cid, "assistant", result["reply"])</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311          meta.update(route=route, latency_ms=round((time.monotonic() - start) * 1000, 2))</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312          result["request_id"] = ctx.request_id</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313          result["intent"] = meta["intent"]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314          result["interpretation_source"] = meta["interpretation_source"]</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315          audit.log_event(conn, ctx, "chat_processed", details=meta)</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316          if route != "failed_validation":</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317              save_receipt(conn, owner, "chat", key, message, result)</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318      import json</a:t>
            </a:r>
          </a:p>
          <a:p xmlns:a="http://schemas.openxmlformats.org/drawingml/2006/main">
            <a:pPr>
              <a:lnSpc>
                <a:spcPct val="108000"/>
              </a:lnSpc>
              <a:buNone/>
              <a:defRPr sz="1800" b="0">
                <a:solidFill>
                  <a:srgbClr val="172E32"/>
                </a:solidFill>
                <a:latin typeface="Courier New"/>
                <a:ea typeface="Courier New"/>
                <a:cs typeface="Courier New"/>
              </a:defRPr>
            </a:pPr>
            <a:r>
              <a:rPr sz="1800" b="0">
                <a:solidFill>
                  <a:srgbClr val="172E32"/>
                </a:solidFill>
                <a:latin typeface="Courier New"/>
                <a:ea typeface="Courier New"/>
                <a:cs typeface="Courier New"/>
              </a:rPr>
              <a:t>319      logger.info(json.dumps(meta, ensure_ascii=False))</a:t>
            </a:r>
          </a:p>
        </p:txBody>
      </p:sp>
      <p:sp>
        <p:nvSpPr>
          <p:cNvPr id="7" name="code-lesson">
            <a:extLst xmlns:a="http://schemas.openxmlformats.org/drawingml/2006/main">
              <a:ext uri="{FF2B5EF4-FFF2-40B4-BE49-F238E27FC236}">
                <a16:creationId xmlns:a16="http://schemas.microsoft.com/office/drawing/2014/main" id="{DB29E20B-4326-48F3-A52A-2EB8AFB68CEF}"/>
              </a:ext>
            </a:extLst>
          </p:cNvPr>
          <p:cNvSpPr>
            <a:spLocks xmlns:a="http://schemas.openxmlformats.org/drawingml/2006/main" noGrp="1"/>
          </p:cNvSpPr>
          <p:nvPr/>
        </p:nvSpPr>
        <p:spPr>
          <a:xfrm xmlns:a="http://schemas.openxmlformats.org/drawingml/2006/main">
            <a:off x="762000" y="70866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Audit ghi model, prompt, intent, route, thời gian, tokens và lỗi. Giao nhận vẫn tồn tại trong DB nghiệp vụ.</a:t>
            </a:r>
          </a:p>
        </p:txBody>
      </p:sp>
    </p:spTree>
    <p:extLst>
      <p:ext uri="{BB962C8B-B14F-4D97-AF65-F5344CB8AC3E}">
        <p14:creationId xmlns:p14="http://schemas.microsoft.com/office/powerpoint/2010/main" val="345007704"/>
      </p:ext>
    </p:extLst>
  </p:cSld>
</p:sld>
</file>

<file path=ppt/slides/slide3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8675865-A080-4ED6-978A-085BA0F50F28}"/>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Ví dụ balo đã chạy bằng Gemini thật</a:t>
            </a:r>
          </a:p>
        </p:txBody>
      </p:sp>
      <p:sp>
        <p:nvSpPr>
          <p:cNvPr id="3" name="page-number">
            <a:extLst xmlns:a="http://schemas.openxmlformats.org/drawingml/2006/main">
              <a:ext uri="{FF2B5EF4-FFF2-40B4-BE49-F238E27FC236}">
                <a16:creationId xmlns:a16="http://schemas.microsoft.com/office/drawing/2014/main" id="{AFF1F4E4-3C73-4367-BB5F-31ACD4610B30}"/>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31 / 88</a:t>
            </a:r>
          </a:p>
        </p:txBody>
      </p:sp>
      <p:sp>
        <p:nvSpPr>
          <p:cNvPr id="4" name="source-reference">
            <a:extLst xmlns:a="http://schemas.openxmlformats.org/drawingml/2006/main">
              <a:ext uri="{FF2B5EF4-FFF2-40B4-BE49-F238E27FC236}">
                <a16:creationId xmlns:a16="http://schemas.microsoft.com/office/drawing/2014/main" id="{A85FC2D9-C85A-4F9D-AA0B-C24CED4D8032}"/>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sample_results/chat_purchase_2026-10-22/live_gemini_order.json   /   backend/chat_service.py:121-157</a:t>
            </a:r>
          </a:p>
        </p:txBody>
      </p:sp>
      <p:sp>
        <p:nvSpPr>
          <p:cNvPr id="5" name="evidence-0">
            <a:extLst xmlns:a="http://schemas.openxmlformats.org/drawingml/2006/main">
              <a:ext uri="{FF2B5EF4-FFF2-40B4-BE49-F238E27FC236}">
                <a16:creationId xmlns:a16="http://schemas.microsoft.com/office/drawing/2014/main" id="{151AF78D-D17F-4D5C-9C06-A5392EA6555C}"/>
              </a:ext>
            </a:extLst>
          </p:cNvPr>
          <p:cNvSpPr>
            <a:spLocks xmlns:a="http://schemas.openxmlformats.org/drawingml/2006/main" noGrp="1"/>
          </p:cNvSpPr>
          <p:nvPr/>
        </p:nvSpPr>
        <p:spPr>
          <a:xfrm xmlns:a="http://schemas.openxmlformats.org/drawingml/2006/main">
            <a:off x="762000" y="16192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216B66"/>
                </a:solidFill>
                <a:latin typeface="Arial"/>
                <a:ea typeface="Arial"/>
                <a:cs typeface="Arial"/>
              </a:defRPr>
            </a:defPPr>
            <a:lvl1pPr>
              <a:defRPr sz="2100" b="1">
                <a:solidFill>
                  <a:srgbClr val="216B66"/>
                </a:solidFill>
                <a:latin typeface="Arial"/>
                <a:ea typeface="Arial"/>
                <a:cs typeface="Arial"/>
              </a:defRPr>
            </a:lvl1pPr>
            <a:lvl2pPr>
              <a:defRPr sz="2100" b="1">
                <a:solidFill>
                  <a:srgbClr val="216B66"/>
                </a:solidFill>
                <a:latin typeface="Arial"/>
                <a:ea typeface="Arial"/>
                <a:cs typeface="Arial"/>
              </a:defRPr>
            </a:lvl2pPr>
            <a:lvl3pPr>
              <a:defRPr sz="2100" b="1">
                <a:solidFill>
                  <a:srgbClr val="216B66"/>
                </a:solidFill>
                <a:latin typeface="Arial"/>
                <a:ea typeface="Arial"/>
                <a:cs typeface="Arial"/>
              </a:defRPr>
            </a:lvl3pPr>
            <a:lvl4pPr>
              <a:defRPr sz="2100" b="1">
                <a:solidFill>
                  <a:srgbClr val="216B66"/>
                </a:solidFill>
                <a:latin typeface="Arial"/>
                <a:ea typeface="Arial"/>
                <a:cs typeface="Arial"/>
              </a:defRPr>
            </a:lvl4pPr>
            <a:lvl5pPr>
              <a:defRPr sz="2100" b="1">
                <a:solidFill>
                  <a:srgbClr val="216B66"/>
                </a:solidFill>
                <a:latin typeface="Arial"/>
                <a:ea typeface="Arial"/>
                <a:cs typeface="Arial"/>
              </a:defRPr>
            </a:lvl5pPr>
            <a:lvl6pPr>
              <a:defRPr sz="2100" b="1">
                <a:solidFill>
                  <a:srgbClr val="216B66"/>
                </a:solidFill>
                <a:latin typeface="Arial"/>
                <a:ea typeface="Arial"/>
                <a:cs typeface="Arial"/>
              </a:defRPr>
            </a:lvl6pPr>
            <a:lvl7pPr>
              <a:defRPr sz="2100" b="1">
                <a:solidFill>
                  <a:srgbClr val="216B66"/>
                </a:solidFill>
                <a:latin typeface="Arial"/>
                <a:ea typeface="Arial"/>
                <a:cs typeface="Arial"/>
              </a:defRPr>
            </a:lvl7pPr>
            <a:lvl8pPr>
              <a:defRPr sz="2100" b="1">
                <a:solidFill>
                  <a:srgbClr val="216B66"/>
                </a:solidFill>
                <a:latin typeface="Arial"/>
                <a:ea typeface="Arial"/>
                <a:cs typeface="Arial"/>
              </a:defRPr>
            </a:lvl8pPr>
            <a:lvl9pPr>
              <a:defRPr sz="2100" b="1">
                <a:solidFill>
                  <a:srgbClr val="216B66"/>
                </a:solidFill>
                <a:latin typeface="Arial"/>
                <a:ea typeface="Arial"/>
                <a:cs typeface="Arial"/>
              </a:defRPr>
            </a:lvl9pPr>
          </a:lstStyle>
          <a:p xmlns:a="http://schemas.openxmlformats.org/drawingml/2006/main">
            <a:pPr>
              <a:lnSpc>
                <a:spcPct val="112000"/>
              </a:lnSpc>
              <a:buNone/>
              <a:defRPr sz="2100" b="1">
                <a:solidFill>
                  <a:srgbClr val="216B66"/>
                </a:solidFill>
                <a:latin typeface="Arial"/>
                <a:ea typeface="Arial"/>
                <a:cs typeface="Arial"/>
              </a:defRPr>
            </a:pPr>
            <a:r>
              <a:rPr sz="2100" b="1">
                <a:solidFill>
                  <a:srgbClr val="216B66"/>
                </a:solidFill>
                <a:latin typeface="Arial"/>
                <a:ea typeface="Arial"/>
                <a:cs typeface="Arial"/>
              </a:rPr>
              <a:t>Câu đầu: “đặt cho tôi balo laptop Balo laptop xám, 15inch”</a:t>
            </a:r>
          </a:p>
        </p:txBody>
      </p:sp>
      <p:sp>
        <p:nvSpPr>
          <p:cNvPr id="6" name="evidence-1">
            <a:extLst xmlns:a="http://schemas.openxmlformats.org/drawingml/2006/main">
              <a:ext uri="{FF2B5EF4-FFF2-40B4-BE49-F238E27FC236}">
                <a16:creationId xmlns:a16="http://schemas.microsoft.com/office/drawing/2014/main" id="{B918B817-9FEA-48E3-A824-15AA8CE377DC}"/>
              </a:ext>
            </a:extLst>
          </p:cNvPr>
          <p:cNvSpPr>
            <a:spLocks xmlns:a="http://schemas.openxmlformats.org/drawingml/2006/main" noGrp="1"/>
          </p:cNvSpPr>
          <p:nvPr/>
        </p:nvSpPr>
        <p:spPr>
          <a:xfrm xmlns:a="http://schemas.openxmlformats.org/drawingml/2006/main">
            <a:off x="762000" y="274320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E32"/>
                </a:solidFill>
                <a:latin typeface="Arial"/>
                <a:ea typeface="Arial"/>
                <a:cs typeface="Arial"/>
              </a:defRPr>
            </a:defPPr>
            <a:lvl1pPr>
              <a:defRPr sz="2100" b="0">
                <a:solidFill>
                  <a:srgbClr val="172E32"/>
                </a:solidFill>
                <a:latin typeface="Arial"/>
                <a:ea typeface="Arial"/>
                <a:cs typeface="Arial"/>
              </a:defRPr>
            </a:lvl1pPr>
            <a:lvl2pPr>
              <a:defRPr sz="2100" b="0">
                <a:solidFill>
                  <a:srgbClr val="172E32"/>
                </a:solidFill>
                <a:latin typeface="Arial"/>
                <a:ea typeface="Arial"/>
                <a:cs typeface="Arial"/>
              </a:defRPr>
            </a:lvl2pPr>
            <a:lvl3pPr>
              <a:defRPr sz="2100" b="0">
                <a:solidFill>
                  <a:srgbClr val="172E32"/>
                </a:solidFill>
                <a:latin typeface="Arial"/>
                <a:ea typeface="Arial"/>
                <a:cs typeface="Arial"/>
              </a:defRPr>
            </a:lvl3pPr>
            <a:lvl4pPr>
              <a:defRPr sz="2100" b="0">
                <a:solidFill>
                  <a:srgbClr val="172E32"/>
                </a:solidFill>
                <a:latin typeface="Arial"/>
                <a:ea typeface="Arial"/>
                <a:cs typeface="Arial"/>
              </a:defRPr>
            </a:lvl4pPr>
            <a:lvl5pPr>
              <a:defRPr sz="2100" b="0">
                <a:solidFill>
                  <a:srgbClr val="172E32"/>
                </a:solidFill>
                <a:latin typeface="Arial"/>
                <a:ea typeface="Arial"/>
                <a:cs typeface="Arial"/>
              </a:defRPr>
            </a:lvl5pPr>
            <a:lvl6pPr>
              <a:defRPr sz="2100" b="0">
                <a:solidFill>
                  <a:srgbClr val="172E32"/>
                </a:solidFill>
                <a:latin typeface="Arial"/>
                <a:ea typeface="Arial"/>
                <a:cs typeface="Arial"/>
              </a:defRPr>
            </a:lvl6pPr>
            <a:lvl7pPr>
              <a:defRPr sz="2100" b="0">
                <a:solidFill>
                  <a:srgbClr val="172E32"/>
                </a:solidFill>
                <a:latin typeface="Arial"/>
                <a:ea typeface="Arial"/>
                <a:cs typeface="Arial"/>
              </a:defRPr>
            </a:lvl7pPr>
            <a:lvl8pPr>
              <a:defRPr sz="2100" b="0">
                <a:solidFill>
                  <a:srgbClr val="172E32"/>
                </a:solidFill>
                <a:latin typeface="Arial"/>
                <a:ea typeface="Arial"/>
                <a:cs typeface="Arial"/>
              </a:defRPr>
            </a:lvl8pPr>
            <a:lvl9pPr>
              <a:defRPr sz="2100" b="0">
                <a:solidFill>
                  <a:srgbClr val="172E32"/>
                </a:solidFill>
                <a:latin typeface="Arial"/>
                <a:ea typeface="Arial"/>
                <a:cs typeface="Arial"/>
              </a:defRPr>
            </a:lvl9pPr>
          </a:lstStyle>
          <a:p xmlns:a="http://schemas.openxmlformats.org/drawingml/2006/main">
            <a:pPr>
              <a:lnSpc>
                <a:spcPct val="112000"/>
              </a:lnSpc>
              <a:buNone/>
              <a:defRPr sz="2100" b="0">
                <a:solidFill>
                  <a:srgbClr val="172E32"/>
                </a:solidFill>
                <a:latin typeface="Arial"/>
                <a:ea typeface="Arial"/>
                <a:cs typeface="Arial"/>
              </a:defRPr>
            </a:pPr>
            <a:r>
              <a:rPr sz="2100" b="0">
                <a:solidFill>
                  <a:srgbClr val="172E32"/>
                </a:solidFill>
                <a:latin typeface="Arial"/>
                <a:ea typeface="Arial"/>
                <a:cs typeface="Arial"/>
              </a:rPr>
              <a:t>Route đầu: ask_missing, đúng BAG-GRY-15, giá 520.000₫, tồn 4</a:t>
            </a:r>
          </a:p>
        </p:txBody>
      </p:sp>
      <p:sp>
        <p:nvSpPr>
          <p:cNvPr id="7" name="evidence-2">
            <a:extLst xmlns:a="http://schemas.openxmlformats.org/drawingml/2006/main">
              <a:ext uri="{FF2B5EF4-FFF2-40B4-BE49-F238E27FC236}">
                <a16:creationId xmlns:a16="http://schemas.microsoft.com/office/drawing/2014/main" id="{9EF0CB1D-48FC-40A4-8F72-6C1ECBE8E055}"/>
              </a:ext>
            </a:extLst>
          </p:cNvPr>
          <p:cNvSpPr>
            <a:spLocks xmlns:a="http://schemas.openxmlformats.org/drawingml/2006/main" noGrp="1"/>
          </p:cNvSpPr>
          <p:nvPr/>
        </p:nvSpPr>
        <p:spPr>
          <a:xfrm xmlns:a="http://schemas.openxmlformats.org/drawingml/2006/main">
            <a:off x="762000" y="38671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E32"/>
                </a:solidFill>
                <a:latin typeface="Arial"/>
                <a:ea typeface="Arial"/>
                <a:cs typeface="Arial"/>
              </a:defRPr>
            </a:defPPr>
            <a:lvl1pPr>
              <a:defRPr sz="2100" b="0">
                <a:solidFill>
                  <a:srgbClr val="172E32"/>
                </a:solidFill>
                <a:latin typeface="Arial"/>
                <a:ea typeface="Arial"/>
                <a:cs typeface="Arial"/>
              </a:defRPr>
            </a:lvl1pPr>
            <a:lvl2pPr>
              <a:defRPr sz="2100" b="0">
                <a:solidFill>
                  <a:srgbClr val="172E32"/>
                </a:solidFill>
                <a:latin typeface="Arial"/>
                <a:ea typeface="Arial"/>
                <a:cs typeface="Arial"/>
              </a:defRPr>
            </a:lvl2pPr>
            <a:lvl3pPr>
              <a:defRPr sz="2100" b="0">
                <a:solidFill>
                  <a:srgbClr val="172E32"/>
                </a:solidFill>
                <a:latin typeface="Arial"/>
                <a:ea typeface="Arial"/>
                <a:cs typeface="Arial"/>
              </a:defRPr>
            </a:lvl3pPr>
            <a:lvl4pPr>
              <a:defRPr sz="2100" b="0">
                <a:solidFill>
                  <a:srgbClr val="172E32"/>
                </a:solidFill>
                <a:latin typeface="Arial"/>
                <a:ea typeface="Arial"/>
                <a:cs typeface="Arial"/>
              </a:defRPr>
            </a:lvl4pPr>
            <a:lvl5pPr>
              <a:defRPr sz="2100" b="0">
                <a:solidFill>
                  <a:srgbClr val="172E32"/>
                </a:solidFill>
                <a:latin typeface="Arial"/>
                <a:ea typeface="Arial"/>
                <a:cs typeface="Arial"/>
              </a:defRPr>
            </a:lvl5pPr>
            <a:lvl6pPr>
              <a:defRPr sz="2100" b="0">
                <a:solidFill>
                  <a:srgbClr val="172E32"/>
                </a:solidFill>
                <a:latin typeface="Arial"/>
                <a:ea typeface="Arial"/>
                <a:cs typeface="Arial"/>
              </a:defRPr>
            </a:lvl6pPr>
            <a:lvl7pPr>
              <a:defRPr sz="2100" b="0">
                <a:solidFill>
                  <a:srgbClr val="172E32"/>
                </a:solidFill>
                <a:latin typeface="Arial"/>
                <a:ea typeface="Arial"/>
                <a:cs typeface="Arial"/>
              </a:defRPr>
            </a:lvl7pPr>
            <a:lvl8pPr>
              <a:defRPr sz="2100" b="0">
                <a:solidFill>
                  <a:srgbClr val="172E32"/>
                </a:solidFill>
                <a:latin typeface="Arial"/>
                <a:ea typeface="Arial"/>
                <a:cs typeface="Arial"/>
              </a:defRPr>
            </a:lvl8pPr>
            <a:lvl9pPr>
              <a:defRPr sz="2100" b="0">
                <a:solidFill>
                  <a:srgbClr val="172E32"/>
                </a:solidFill>
                <a:latin typeface="Arial"/>
                <a:ea typeface="Arial"/>
                <a:cs typeface="Arial"/>
              </a:defRPr>
            </a:lvl9pPr>
          </a:lstStyle>
          <a:p xmlns:a="http://schemas.openxmlformats.org/drawingml/2006/main">
            <a:pPr>
              <a:lnSpc>
                <a:spcPct val="112000"/>
              </a:lnSpc>
              <a:buNone/>
              <a:defRPr sz="2100" b="0">
                <a:solidFill>
                  <a:srgbClr val="172E32"/>
                </a:solidFill>
                <a:latin typeface="Arial"/>
                <a:ea typeface="Arial"/>
                <a:cs typeface="Arial"/>
              </a:defRPr>
            </a:pPr>
            <a:r>
              <a:rPr sz="2100" b="0">
                <a:solidFill>
                  <a:srgbClr val="172E32"/>
                </a:solidFill>
                <a:latin typeface="Arial"/>
                <a:ea typeface="Arial"/>
                <a:cs typeface="Arial"/>
              </a:rPr>
              <a:t>Bổ sung số lượng 2 và giao nhận demo ngay trong chat</a:t>
            </a:r>
          </a:p>
        </p:txBody>
      </p:sp>
      <p:sp>
        <p:nvSpPr>
          <p:cNvPr id="8" name="evidence-3">
            <a:extLst xmlns:a="http://schemas.openxmlformats.org/drawingml/2006/main">
              <a:ext uri="{FF2B5EF4-FFF2-40B4-BE49-F238E27FC236}">
                <a16:creationId xmlns:a16="http://schemas.microsoft.com/office/drawing/2014/main" id="{31E4CF67-6076-4C38-8ECF-EA9609429C39}"/>
              </a:ext>
            </a:extLst>
          </p:cNvPr>
          <p:cNvSpPr>
            <a:spLocks xmlns:a="http://schemas.openxmlformats.org/drawingml/2006/main" noGrp="1"/>
          </p:cNvSpPr>
          <p:nvPr/>
        </p:nvSpPr>
        <p:spPr>
          <a:xfrm xmlns:a="http://schemas.openxmlformats.org/drawingml/2006/main">
            <a:off x="762000" y="499110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E32"/>
                </a:solidFill>
                <a:latin typeface="Arial"/>
                <a:ea typeface="Arial"/>
                <a:cs typeface="Arial"/>
              </a:defRPr>
            </a:defPPr>
            <a:lvl1pPr>
              <a:defRPr sz="2100" b="0">
                <a:solidFill>
                  <a:srgbClr val="172E32"/>
                </a:solidFill>
                <a:latin typeface="Arial"/>
                <a:ea typeface="Arial"/>
                <a:cs typeface="Arial"/>
              </a:defRPr>
            </a:lvl1pPr>
            <a:lvl2pPr>
              <a:defRPr sz="2100" b="0">
                <a:solidFill>
                  <a:srgbClr val="172E32"/>
                </a:solidFill>
                <a:latin typeface="Arial"/>
                <a:ea typeface="Arial"/>
                <a:cs typeface="Arial"/>
              </a:defRPr>
            </a:lvl2pPr>
            <a:lvl3pPr>
              <a:defRPr sz="2100" b="0">
                <a:solidFill>
                  <a:srgbClr val="172E32"/>
                </a:solidFill>
                <a:latin typeface="Arial"/>
                <a:ea typeface="Arial"/>
                <a:cs typeface="Arial"/>
              </a:defRPr>
            </a:lvl3pPr>
            <a:lvl4pPr>
              <a:defRPr sz="2100" b="0">
                <a:solidFill>
                  <a:srgbClr val="172E32"/>
                </a:solidFill>
                <a:latin typeface="Arial"/>
                <a:ea typeface="Arial"/>
                <a:cs typeface="Arial"/>
              </a:defRPr>
            </a:lvl4pPr>
            <a:lvl5pPr>
              <a:defRPr sz="2100" b="0">
                <a:solidFill>
                  <a:srgbClr val="172E32"/>
                </a:solidFill>
                <a:latin typeface="Arial"/>
                <a:ea typeface="Arial"/>
                <a:cs typeface="Arial"/>
              </a:defRPr>
            </a:lvl5pPr>
            <a:lvl6pPr>
              <a:defRPr sz="2100" b="0">
                <a:solidFill>
                  <a:srgbClr val="172E32"/>
                </a:solidFill>
                <a:latin typeface="Arial"/>
                <a:ea typeface="Arial"/>
                <a:cs typeface="Arial"/>
              </a:defRPr>
            </a:lvl6pPr>
            <a:lvl7pPr>
              <a:defRPr sz="2100" b="0">
                <a:solidFill>
                  <a:srgbClr val="172E32"/>
                </a:solidFill>
                <a:latin typeface="Arial"/>
                <a:ea typeface="Arial"/>
                <a:cs typeface="Arial"/>
              </a:defRPr>
            </a:lvl7pPr>
            <a:lvl8pPr>
              <a:defRPr sz="2100" b="0">
                <a:solidFill>
                  <a:srgbClr val="172E32"/>
                </a:solidFill>
                <a:latin typeface="Arial"/>
                <a:ea typeface="Arial"/>
                <a:cs typeface="Arial"/>
              </a:defRPr>
            </a:lvl8pPr>
            <a:lvl9pPr>
              <a:defRPr sz="2100" b="0">
                <a:solidFill>
                  <a:srgbClr val="172E32"/>
                </a:solidFill>
                <a:latin typeface="Arial"/>
                <a:ea typeface="Arial"/>
                <a:cs typeface="Arial"/>
              </a:defRPr>
            </a:lvl9pPr>
          </a:lstStyle>
          <a:p xmlns:a="http://schemas.openxmlformats.org/drawingml/2006/main">
            <a:pPr>
              <a:lnSpc>
                <a:spcPct val="112000"/>
              </a:lnSpc>
              <a:buNone/>
              <a:defRPr sz="2100" b="0">
                <a:solidFill>
                  <a:srgbClr val="172E32"/>
                </a:solidFill>
                <a:latin typeface="Arial"/>
                <a:ea typeface="Arial"/>
                <a:cs typeface="Arial"/>
              </a:defRPr>
            </a:pPr>
            <a:r>
              <a:rPr sz="2100" b="0">
                <a:solidFill>
                  <a:srgbClr val="172E32"/>
                </a:solidFill>
                <a:latin typeface="Arial"/>
                <a:ea typeface="Arial"/>
                <a:cs typeface="Arial"/>
              </a:rPr>
              <a:t>Route sau: draft_created, tổng 1.040.000₫, source=chat</a:t>
            </a:r>
          </a:p>
        </p:txBody>
      </p:sp>
      <p:sp>
        <p:nvSpPr>
          <p:cNvPr id="9" name="evidence-4">
            <a:extLst xmlns:a="http://schemas.openxmlformats.org/drawingml/2006/main">
              <a:ext uri="{FF2B5EF4-FFF2-40B4-BE49-F238E27FC236}">
                <a16:creationId xmlns:a16="http://schemas.microsoft.com/office/drawing/2014/main" id="{B0983E37-49E0-43CC-9CBE-D0FF5ED2DA3D}"/>
              </a:ext>
            </a:extLst>
          </p:cNvPr>
          <p:cNvSpPr>
            <a:spLocks xmlns:a="http://schemas.openxmlformats.org/drawingml/2006/main" noGrp="1"/>
          </p:cNvSpPr>
          <p:nvPr/>
        </p:nvSpPr>
        <p:spPr>
          <a:xfrm xmlns:a="http://schemas.openxmlformats.org/drawingml/2006/main">
            <a:off x="762000" y="61150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72E32"/>
                </a:solidFill>
                <a:latin typeface="Arial"/>
                <a:ea typeface="Arial"/>
                <a:cs typeface="Arial"/>
              </a:defRPr>
            </a:defPPr>
            <a:lvl1pPr>
              <a:defRPr sz="2100" b="0">
                <a:solidFill>
                  <a:srgbClr val="172E32"/>
                </a:solidFill>
                <a:latin typeface="Arial"/>
                <a:ea typeface="Arial"/>
                <a:cs typeface="Arial"/>
              </a:defRPr>
            </a:lvl1pPr>
            <a:lvl2pPr>
              <a:defRPr sz="2100" b="0">
                <a:solidFill>
                  <a:srgbClr val="172E32"/>
                </a:solidFill>
                <a:latin typeface="Arial"/>
                <a:ea typeface="Arial"/>
                <a:cs typeface="Arial"/>
              </a:defRPr>
            </a:lvl2pPr>
            <a:lvl3pPr>
              <a:defRPr sz="2100" b="0">
                <a:solidFill>
                  <a:srgbClr val="172E32"/>
                </a:solidFill>
                <a:latin typeface="Arial"/>
                <a:ea typeface="Arial"/>
                <a:cs typeface="Arial"/>
              </a:defRPr>
            </a:lvl3pPr>
            <a:lvl4pPr>
              <a:defRPr sz="2100" b="0">
                <a:solidFill>
                  <a:srgbClr val="172E32"/>
                </a:solidFill>
                <a:latin typeface="Arial"/>
                <a:ea typeface="Arial"/>
                <a:cs typeface="Arial"/>
              </a:defRPr>
            </a:lvl4pPr>
            <a:lvl5pPr>
              <a:defRPr sz="2100" b="0">
                <a:solidFill>
                  <a:srgbClr val="172E32"/>
                </a:solidFill>
                <a:latin typeface="Arial"/>
                <a:ea typeface="Arial"/>
                <a:cs typeface="Arial"/>
              </a:defRPr>
            </a:lvl5pPr>
            <a:lvl6pPr>
              <a:defRPr sz="2100" b="0">
                <a:solidFill>
                  <a:srgbClr val="172E32"/>
                </a:solidFill>
                <a:latin typeface="Arial"/>
                <a:ea typeface="Arial"/>
                <a:cs typeface="Arial"/>
              </a:defRPr>
            </a:lvl6pPr>
            <a:lvl7pPr>
              <a:defRPr sz="2100" b="0">
                <a:solidFill>
                  <a:srgbClr val="172E32"/>
                </a:solidFill>
                <a:latin typeface="Arial"/>
                <a:ea typeface="Arial"/>
                <a:cs typeface="Arial"/>
              </a:defRPr>
            </a:lvl7pPr>
            <a:lvl8pPr>
              <a:defRPr sz="2100" b="0">
                <a:solidFill>
                  <a:srgbClr val="172E32"/>
                </a:solidFill>
                <a:latin typeface="Arial"/>
                <a:ea typeface="Arial"/>
                <a:cs typeface="Arial"/>
              </a:defRPr>
            </a:lvl8pPr>
            <a:lvl9pPr>
              <a:defRPr sz="2100" b="0">
                <a:solidFill>
                  <a:srgbClr val="172E32"/>
                </a:solidFill>
                <a:latin typeface="Arial"/>
                <a:ea typeface="Arial"/>
                <a:cs typeface="Arial"/>
              </a:defRPr>
            </a:lvl9pPr>
          </a:lstStyle>
          <a:p xmlns:a="http://schemas.openxmlformats.org/drawingml/2006/main">
            <a:pPr>
              <a:lnSpc>
                <a:spcPct val="112000"/>
              </a:lnSpc>
              <a:buNone/>
              <a:defRPr sz="2100" b="0">
                <a:solidFill>
                  <a:srgbClr val="172E32"/>
                </a:solidFill>
                <a:latin typeface="Arial"/>
                <a:ea typeface="Arial"/>
                <a:cs typeface="Arial"/>
              </a:defRPr>
            </a:pPr>
            <a:r>
              <a:rPr sz="2100" b="0">
                <a:solidFill>
                  <a:srgbClr val="172E32"/>
                </a:solidFill>
                <a:latin typeface="Arial"/>
                <a:ea typeface="Arial"/>
                <a:cs typeface="Arial"/>
              </a:rPr>
              <a:t>Đơn chờ xác nhận, tồn sau kiểm tra vẫn 4</a:t>
            </a:r>
          </a:p>
        </p:txBody>
      </p:sp>
      <p:pic>
        <p:nvPicPr>
          <p:cNvPr id="10" name="">
            <a:extLst xmlns:a="http://schemas.openxmlformats.org/drawingml/2006/main">
              <a:ext uri="{FF2B5EF4-FFF2-40B4-BE49-F238E27FC236}">
                <a16:creationId xmlns:a16="http://schemas.microsoft.com/office/drawing/2014/main" id="{2E047043-1EFD-48C3-98F0-95796F442E28}"/>
              </a:ext>
            </a:extLst>
          </p:cNvPr>
          <p:cNvPicPr>
            <a:picLocks xmlns:a="http://schemas.openxmlformats.org/drawingml/2006/main" noChangeAspect="1"/>
          </p:cNvPicPr>
          <p:nvPr/>
        </p:nvPicPr>
        <p:blipFill>
          <a:blip xmlns:r="http://schemas.openxmlformats.org/officeDocument/2006/relationships" xmlns:a="http://schemas.openxmlformats.org/drawingml/2006/main" r:embed="Rabbb1f961bd74b62"/>
          <a:stretch xmlns:a="http://schemas.openxmlformats.org/drawingml/2006/main"/>
        </p:blipFill>
        <p:spPr>
          <a:xfrm xmlns:a="http://schemas.openxmlformats.org/drawingml/2006/main">
            <a:off x="10915436" y="1476375"/>
            <a:ext cx="2838879" cy="6143625"/>
          </a:xfrm>
          <a:prstGeom xmlns:a="http://schemas.openxmlformats.org/drawingml/2006/main" prst="rect">
            <a:avLst/>
          </a:prstGeom>
        </p:spPr>
      </p:pic>
    </p:spTree>
    <p:extLst>
      <p:ext uri="{BB962C8B-B14F-4D97-AF65-F5344CB8AC3E}">
        <p14:creationId xmlns:p14="http://schemas.microsoft.com/office/powerpoint/2010/main" val="123434875"/>
      </p:ext>
    </p:extLst>
  </p:cSld>
</p:sld>
</file>

<file path=ppt/slides/slide3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C74E717-45B5-40DA-BA64-6D59914C78DC}"/>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Bằng chứng kiểm thử và giới hạn</a:t>
            </a:r>
          </a:p>
        </p:txBody>
      </p:sp>
      <p:sp>
        <p:nvSpPr>
          <p:cNvPr id="3" name="page-number">
            <a:extLst xmlns:a="http://schemas.openxmlformats.org/drawingml/2006/main">
              <a:ext uri="{FF2B5EF4-FFF2-40B4-BE49-F238E27FC236}">
                <a16:creationId xmlns:a16="http://schemas.microsoft.com/office/drawing/2014/main" id="{ACE62269-6D84-40D4-8980-7239205C887E}"/>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32 / 88</a:t>
            </a:r>
          </a:p>
        </p:txBody>
      </p:sp>
      <p:sp>
        <p:nvSpPr>
          <p:cNvPr id="4" name="source-reference">
            <a:extLst xmlns:a="http://schemas.openxmlformats.org/drawingml/2006/main">
              <a:ext uri="{FF2B5EF4-FFF2-40B4-BE49-F238E27FC236}">
                <a16:creationId xmlns:a16="http://schemas.microsoft.com/office/drawing/2014/main" id="{244BE977-27D3-4D84-8AB7-D33CB94FB4CC}"/>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sample_results/chat_purchase_2026-10-22/ (summary.json, python-tests.txt, react-tests.txt)</a:t>
            </a:r>
          </a:p>
        </p:txBody>
      </p:sp>
      <p:sp>
        <p:nvSpPr>
          <p:cNvPr id="5" name="fact-0">
            <a:extLst xmlns:a="http://schemas.openxmlformats.org/drawingml/2006/main">
              <a:ext uri="{FF2B5EF4-FFF2-40B4-BE49-F238E27FC236}">
                <a16:creationId xmlns:a16="http://schemas.microsoft.com/office/drawing/2014/main" id="{EF62649E-B6A7-4EC3-AE89-9455458518E9}"/>
              </a:ext>
            </a:extLst>
          </p:cNvPr>
          <p:cNvSpPr>
            <a:spLocks xmlns:a="http://schemas.openxmlformats.org/drawingml/2006/main" noGrp="1"/>
          </p:cNvSpPr>
          <p:nvPr/>
        </p:nvSpPr>
        <p:spPr>
          <a:xfrm xmlns:a="http://schemas.openxmlformats.org/drawingml/2006/main">
            <a:off x="904875" y="18097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16B66"/>
                </a:solidFill>
                <a:latin typeface="Arial"/>
                <a:ea typeface="Arial"/>
                <a:cs typeface="Arial"/>
              </a:defRPr>
            </a:defPPr>
            <a:lvl1pPr>
              <a:defRPr sz="2325" b="1">
                <a:solidFill>
                  <a:srgbClr val="216B66"/>
                </a:solidFill>
                <a:latin typeface="Arial"/>
                <a:ea typeface="Arial"/>
                <a:cs typeface="Arial"/>
              </a:defRPr>
            </a:lvl1pPr>
            <a:lvl2pPr>
              <a:defRPr sz="2325" b="1">
                <a:solidFill>
                  <a:srgbClr val="216B66"/>
                </a:solidFill>
                <a:latin typeface="Arial"/>
                <a:ea typeface="Arial"/>
                <a:cs typeface="Arial"/>
              </a:defRPr>
            </a:lvl2pPr>
            <a:lvl3pPr>
              <a:defRPr sz="2325" b="1">
                <a:solidFill>
                  <a:srgbClr val="216B66"/>
                </a:solidFill>
                <a:latin typeface="Arial"/>
                <a:ea typeface="Arial"/>
                <a:cs typeface="Arial"/>
              </a:defRPr>
            </a:lvl3pPr>
            <a:lvl4pPr>
              <a:defRPr sz="2325" b="1">
                <a:solidFill>
                  <a:srgbClr val="216B66"/>
                </a:solidFill>
                <a:latin typeface="Arial"/>
                <a:ea typeface="Arial"/>
                <a:cs typeface="Arial"/>
              </a:defRPr>
            </a:lvl4pPr>
            <a:lvl5pPr>
              <a:defRPr sz="2325" b="1">
                <a:solidFill>
                  <a:srgbClr val="216B66"/>
                </a:solidFill>
                <a:latin typeface="Arial"/>
                <a:ea typeface="Arial"/>
                <a:cs typeface="Arial"/>
              </a:defRPr>
            </a:lvl5pPr>
            <a:lvl6pPr>
              <a:defRPr sz="2325" b="1">
                <a:solidFill>
                  <a:srgbClr val="216B66"/>
                </a:solidFill>
                <a:latin typeface="Arial"/>
                <a:ea typeface="Arial"/>
                <a:cs typeface="Arial"/>
              </a:defRPr>
            </a:lvl6pPr>
            <a:lvl7pPr>
              <a:defRPr sz="2325" b="1">
                <a:solidFill>
                  <a:srgbClr val="216B66"/>
                </a:solidFill>
                <a:latin typeface="Arial"/>
                <a:ea typeface="Arial"/>
                <a:cs typeface="Arial"/>
              </a:defRPr>
            </a:lvl7pPr>
            <a:lvl8pPr>
              <a:defRPr sz="2325" b="1">
                <a:solidFill>
                  <a:srgbClr val="216B66"/>
                </a:solidFill>
                <a:latin typeface="Arial"/>
                <a:ea typeface="Arial"/>
                <a:cs typeface="Arial"/>
              </a:defRPr>
            </a:lvl8pPr>
            <a:lvl9pPr>
              <a:defRPr sz="2325" b="1">
                <a:solidFill>
                  <a:srgbClr val="216B66"/>
                </a:solidFill>
                <a:latin typeface="Arial"/>
                <a:ea typeface="Arial"/>
                <a:cs typeface="Arial"/>
              </a:defRPr>
            </a:lvl9pPr>
          </a:lstStyle>
          <a:p xmlns:a="http://schemas.openxmlformats.org/drawingml/2006/main">
            <a:pPr>
              <a:lnSpc>
                <a:spcPct val="112000"/>
              </a:lnSpc>
              <a:buNone/>
              <a:defRPr sz="2325" b="1">
                <a:solidFill>
                  <a:srgbClr val="216B66"/>
                </a:solidFill>
                <a:latin typeface="Arial"/>
                <a:ea typeface="Arial"/>
                <a:cs typeface="Arial"/>
              </a:defRPr>
            </a:pPr>
            <a:r>
              <a:rPr sz="2325" b="1">
                <a:solidFill>
                  <a:srgbClr val="216B66"/>
                </a:solidFill>
                <a:latin typeface="Arial"/>
                <a:ea typeface="Arial"/>
                <a:cs typeface="Arial"/>
              </a:rPr>
              <a:t>180 test Python đạt: 101 application/tooling và 79 database</a:t>
            </a:r>
          </a:p>
        </p:txBody>
      </p:sp>
      <p:sp>
        <p:nvSpPr>
          <p:cNvPr id="6" name="fact-1">
            <a:extLst xmlns:a="http://schemas.openxmlformats.org/drawingml/2006/main">
              <a:ext uri="{FF2B5EF4-FFF2-40B4-BE49-F238E27FC236}">
                <a16:creationId xmlns:a16="http://schemas.microsoft.com/office/drawing/2014/main" id="{EABAE5A0-D9AF-4ADD-9073-FE78F529AF93}"/>
              </a:ext>
            </a:extLst>
          </p:cNvPr>
          <p:cNvSpPr>
            <a:spLocks xmlns:a="http://schemas.openxmlformats.org/drawingml/2006/main" noGrp="1"/>
          </p:cNvSpPr>
          <p:nvPr/>
        </p:nvSpPr>
        <p:spPr>
          <a:xfrm xmlns:a="http://schemas.openxmlformats.org/drawingml/2006/main">
            <a:off x="904875" y="29146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72E32"/>
                </a:solidFill>
                <a:latin typeface="Arial"/>
                <a:ea typeface="Arial"/>
                <a:cs typeface="Arial"/>
              </a:defRPr>
            </a:defPPr>
            <a:lvl1pPr>
              <a:defRPr sz="2325" b="0">
                <a:solidFill>
                  <a:srgbClr val="172E32"/>
                </a:solidFill>
                <a:latin typeface="Arial"/>
                <a:ea typeface="Arial"/>
                <a:cs typeface="Arial"/>
              </a:defRPr>
            </a:lvl1pPr>
            <a:lvl2pPr>
              <a:defRPr sz="2325" b="0">
                <a:solidFill>
                  <a:srgbClr val="172E32"/>
                </a:solidFill>
                <a:latin typeface="Arial"/>
                <a:ea typeface="Arial"/>
                <a:cs typeface="Arial"/>
              </a:defRPr>
            </a:lvl2pPr>
            <a:lvl3pPr>
              <a:defRPr sz="2325" b="0">
                <a:solidFill>
                  <a:srgbClr val="172E32"/>
                </a:solidFill>
                <a:latin typeface="Arial"/>
                <a:ea typeface="Arial"/>
                <a:cs typeface="Arial"/>
              </a:defRPr>
            </a:lvl3pPr>
            <a:lvl4pPr>
              <a:defRPr sz="2325" b="0">
                <a:solidFill>
                  <a:srgbClr val="172E32"/>
                </a:solidFill>
                <a:latin typeface="Arial"/>
                <a:ea typeface="Arial"/>
                <a:cs typeface="Arial"/>
              </a:defRPr>
            </a:lvl4pPr>
            <a:lvl5pPr>
              <a:defRPr sz="2325" b="0">
                <a:solidFill>
                  <a:srgbClr val="172E32"/>
                </a:solidFill>
                <a:latin typeface="Arial"/>
                <a:ea typeface="Arial"/>
                <a:cs typeface="Arial"/>
              </a:defRPr>
            </a:lvl5pPr>
            <a:lvl6pPr>
              <a:defRPr sz="2325" b="0">
                <a:solidFill>
                  <a:srgbClr val="172E32"/>
                </a:solidFill>
                <a:latin typeface="Arial"/>
                <a:ea typeface="Arial"/>
                <a:cs typeface="Arial"/>
              </a:defRPr>
            </a:lvl6pPr>
            <a:lvl7pPr>
              <a:defRPr sz="2325" b="0">
                <a:solidFill>
                  <a:srgbClr val="172E32"/>
                </a:solidFill>
                <a:latin typeface="Arial"/>
                <a:ea typeface="Arial"/>
                <a:cs typeface="Arial"/>
              </a:defRPr>
            </a:lvl7pPr>
            <a:lvl8pPr>
              <a:defRPr sz="2325" b="0">
                <a:solidFill>
                  <a:srgbClr val="172E32"/>
                </a:solidFill>
                <a:latin typeface="Arial"/>
                <a:ea typeface="Arial"/>
                <a:cs typeface="Arial"/>
              </a:defRPr>
            </a:lvl8pPr>
            <a:lvl9pPr>
              <a:defRPr sz="2325" b="0">
                <a:solidFill>
                  <a:srgbClr val="172E32"/>
                </a:solidFill>
                <a:latin typeface="Arial"/>
                <a:ea typeface="Arial"/>
                <a:cs typeface="Arial"/>
              </a:defRPr>
            </a:lvl9pPr>
          </a:lstStyle>
          <a:p xmlns:a="http://schemas.openxmlformats.org/drawingml/2006/main">
            <a:pPr>
              <a:lnSpc>
                <a:spcPct val="112000"/>
              </a:lnSpc>
              <a:buNone/>
              <a:defRPr sz="2325" b="0">
                <a:solidFill>
                  <a:srgbClr val="172E32"/>
                </a:solidFill>
                <a:latin typeface="Arial"/>
                <a:ea typeface="Arial"/>
                <a:cs typeface="Arial"/>
              </a:defRPr>
            </a:pPr>
            <a:r>
              <a:rPr sz="2325" b="0">
                <a:solidFill>
                  <a:srgbClr val="172E32"/>
                </a:solidFill>
                <a:latin typeface="Arial"/>
                <a:ea typeface="Arial"/>
                <a:cs typeface="Arial"/>
              </a:rPr>
              <a:t>12 test React đạt, gồm form chat, gửi lại request và mở đúng đơn</a:t>
            </a:r>
          </a:p>
        </p:txBody>
      </p:sp>
      <p:sp>
        <p:nvSpPr>
          <p:cNvPr id="7" name="fact-2">
            <a:extLst xmlns:a="http://schemas.openxmlformats.org/drawingml/2006/main">
              <a:ext uri="{FF2B5EF4-FFF2-40B4-BE49-F238E27FC236}">
                <a16:creationId xmlns:a16="http://schemas.microsoft.com/office/drawing/2014/main" id="{EEA50B47-C628-4A74-9349-8242B98FCBCC}"/>
              </a:ext>
            </a:extLst>
          </p:cNvPr>
          <p:cNvSpPr>
            <a:spLocks xmlns:a="http://schemas.openxmlformats.org/drawingml/2006/main" noGrp="1"/>
          </p:cNvSpPr>
          <p:nvPr/>
        </p:nvSpPr>
        <p:spPr>
          <a:xfrm xmlns:a="http://schemas.openxmlformats.org/drawingml/2006/main">
            <a:off x="904875" y="40195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72E32"/>
                </a:solidFill>
                <a:latin typeface="Arial"/>
                <a:ea typeface="Arial"/>
                <a:cs typeface="Arial"/>
              </a:defRPr>
            </a:defPPr>
            <a:lvl1pPr>
              <a:defRPr sz="2325" b="0">
                <a:solidFill>
                  <a:srgbClr val="172E32"/>
                </a:solidFill>
                <a:latin typeface="Arial"/>
                <a:ea typeface="Arial"/>
                <a:cs typeface="Arial"/>
              </a:defRPr>
            </a:lvl1pPr>
            <a:lvl2pPr>
              <a:defRPr sz="2325" b="0">
                <a:solidFill>
                  <a:srgbClr val="172E32"/>
                </a:solidFill>
                <a:latin typeface="Arial"/>
                <a:ea typeface="Arial"/>
                <a:cs typeface="Arial"/>
              </a:defRPr>
            </a:lvl2pPr>
            <a:lvl3pPr>
              <a:defRPr sz="2325" b="0">
                <a:solidFill>
                  <a:srgbClr val="172E32"/>
                </a:solidFill>
                <a:latin typeface="Arial"/>
                <a:ea typeface="Arial"/>
                <a:cs typeface="Arial"/>
              </a:defRPr>
            </a:lvl3pPr>
            <a:lvl4pPr>
              <a:defRPr sz="2325" b="0">
                <a:solidFill>
                  <a:srgbClr val="172E32"/>
                </a:solidFill>
                <a:latin typeface="Arial"/>
                <a:ea typeface="Arial"/>
                <a:cs typeface="Arial"/>
              </a:defRPr>
            </a:lvl4pPr>
            <a:lvl5pPr>
              <a:defRPr sz="2325" b="0">
                <a:solidFill>
                  <a:srgbClr val="172E32"/>
                </a:solidFill>
                <a:latin typeface="Arial"/>
                <a:ea typeface="Arial"/>
                <a:cs typeface="Arial"/>
              </a:defRPr>
            </a:lvl5pPr>
            <a:lvl6pPr>
              <a:defRPr sz="2325" b="0">
                <a:solidFill>
                  <a:srgbClr val="172E32"/>
                </a:solidFill>
                <a:latin typeface="Arial"/>
                <a:ea typeface="Arial"/>
                <a:cs typeface="Arial"/>
              </a:defRPr>
            </a:lvl6pPr>
            <a:lvl7pPr>
              <a:defRPr sz="2325" b="0">
                <a:solidFill>
                  <a:srgbClr val="172E32"/>
                </a:solidFill>
                <a:latin typeface="Arial"/>
                <a:ea typeface="Arial"/>
                <a:cs typeface="Arial"/>
              </a:defRPr>
            </a:lvl7pPr>
            <a:lvl8pPr>
              <a:defRPr sz="2325" b="0">
                <a:solidFill>
                  <a:srgbClr val="172E32"/>
                </a:solidFill>
                <a:latin typeface="Arial"/>
                <a:ea typeface="Arial"/>
                <a:cs typeface="Arial"/>
              </a:defRPr>
            </a:lvl8pPr>
            <a:lvl9pPr>
              <a:defRPr sz="2325" b="0">
                <a:solidFill>
                  <a:srgbClr val="172E32"/>
                </a:solidFill>
                <a:latin typeface="Arial"/>
                <a:ea typeface="Arial"/>
                <a:cs typeface="Arial"/>
              </a:defRPr>
            </a:lvl9pPr>
          </a:lstStyle>
          <a:p xmlns:a="http://schemas.openxmlformats.org/drawingml/2006/main">
            <a:pPr>
              <a:lnSpc>
                <a:spcPct val="112000"/>
              </a:lnSpc>
              <a:buNone/>
              <a:defRPr sz="2325" b="0">
                <a:solidFill>
                  <a:srgbClr val="172E32"/>
                </a:solidFill>
                <a:latin typeface="Arial"/>
                <a:ea typeface="Arial"/>
                <a:cs typeface="Arial"/>
              </a:defRPr>
            </a:pPr>
            <a:r>
              <a:rPr sz="2325" b="0">
                <a:solidFill>
                  <a:srgbClr val="172E32"/>
                </a:solidFill>
                <a:latin typeface="Arial"/>
                <a:ea typeface="Arial"/>
                <a:cs typeface="Arial"/>
              </a:rPr>
              <a:t>29 case workflow offline đạt với FakeLLM</a:t>
            </a:r>
          </a:p>
        </p:txBody>
      </p:sp>
      <p:sp>
        <p:nvSpPr>
          <p:cNvPr id="8" name="fact-3">
            <a:extLst xmlns:a="http://schemas.openxmlformats.org/drawingml/2006/main">
              <a:ext uri="{FF2B5EF4-FFF2-40B4-BE49-F238E27FC236}">
                <a16:creationId xmlns:a16="http://schemas.microsoft.com/office/drawing/2014/main" id="{C4EAC034-BEC5-4298-965D-F60FF6D0C127}"/>
              </a:ext>
            </a:extLst>
          </p:cNvPr>
          <p:cNvSpPr>
            <a:spLocks xmlns:a="http://schemas.openxmlformats.org/drawingml/2006/main" noGrp="1"/>
          </p:cNvSpPr>
          <p:nvPr/>
        </p:nvSpPr>
        <p:spPr>
          <a:xfrm xmlns:a="http://schemas.openxmlformats.org/drawingml/2006/main">
            <a:off x="904875" y="51244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72E32"/>
                </a:solidFill>
                <a:latin typeface="Arial"/>
                <a:ea typeface="Arial"/>
                <a:cs typeface="Arial"/>
              </a:defRPr>
            </a:defPPr>
            <a:lvl1pPr>
              <a:defRPr sz="2325" b="0">
                <a:solidFill>
                  <a:srgbClr val="172E32"/>
                </a:solidFill>
                <a:latin typeface="Arial"/>
                <a:ea typeface="Arial"/>
                <a:cs typeface="Arial"/>
              </a:defRPr>
            </a:lvl1pPr>
            <a:lvl2pPr>
              <a:defRPr sz="2325" b="0">
                <a:solidFill>
                  <a:srgbClr val="172E32"/>
                </a:solidFill>
                <a:latin typeface="Arial"/>
                <a:ea typeface="Arial"/>
                <a:cs typeface="Arial"/>
              </a:defRPr>
            </a:lvl2pPr>
            <a:lvl3pPr>
              <a:defRPr sz="2325" b="0">
                <a:solidFill>
                  <a:srgbClr val="172E32"/>
                </a:solidFill>
                <a:latin typeface="Arial"/>
                <a:ea typeface="Arial"/>
                <a:cs typeface="Arial"/>
              </a:defRPr>
            </a:lvl3pPr>
            <a:lvl4pPr>
              <a:defRPr sz="2325" b="0">
                <a:solidFill>
                  <a:srgbClr val="172E32"/>
                </a:solidFill>
                <a:latin typeface="Arial"/>
                <a:ea typeface="Arial"/>
                <a:cs typeface="Arial"/>
              </a:defRPr>
            </a:lvl4pPr>
            <a:lvl5pPr>
              <a:defRPr sz="2325" b="0">
                <a:solidFill>
                  <a:srgbClr val="172E32"/>
                </a:solidFill>
                <a:latin typeface="Arial"/>
                <a:ea typeface="Arial"/>
                <a:cs typeface="Arial"/>
              </a:defRPr>
            </a:lvl5pPr>
            <a:lvl6pPr>
              <a:defRPr sz="2325" b="0">
                <a:solidFill>
                  <a:srgbClr val="172E32"/>
                </a:solidFill>
                <a:latin typeface="Arial"/>
                <a:ea typeface="Arial"/>
                <a:cs typeface="Arial"/>
              </a:defRPr>
            </a:lvl6pPr>
            <a:lvl7pPr>
              <a:defRPr sz="2325" b="0">
                <a:solidFill>
                  <a:srgbClr val="172E32"/>
                </a:solidFill>
                <a:latin typeface="Arial"/>
                <a:ea typeface="Arial"/>
                <a:cs typeface="Arial"/>
              </a:defRPr>
            </a:lvl7pPr>
            <a:lvl8pPr>
              <a:defRPr sz="2325" b="0">
                <a:solidFill>
                  <a:srgbClr val="172E32"/>
                </a:solidFill>
                <a:latin typeface="Arial"/>
                <a:ea typeface="Arial"/>
                <a:cs typeface="Arial"/>
              </a:defRPr>
            </a:lvl8pPr>
            <a:lvl9pPr>
              <a:defRPr sz="2325" b="0">
                <a:solidFill>
                  <a:srgbClr val="172E32"/>
                </a:solidFill>
                <a:latin typeface="Arial"/>
                <a:ea typeface="Arial"/>
                <a:cs typeface="Arial"/>
              </a:defRPr>
            </a:lvl9pPr>
          </a:lstStyle>
          <a:p xmlns:a="http://schemas.openxmlformats.org/drawingml/2006/main">
            <a:pPr>
              <a:lnSpc>
                <a:spcPct val="112000"/>
              </a:lnSpc>
              <a:buNone/>
              <a:defRPr sz="2325" b="0">
                <a:solidFill>
                  <a:srgbClr val="172E32"/>
                </a:solidFill>
                <a:latin typeface="Arial"/>
                <a:ea typeface="Arial"/>
                <a:cs typeface="Arial"/>
              </a:defRPr>
            </a:pPr>
            <a:r>
              <a:rPr sz="2325" b="0">
                <a:solidFill>
                  <a:srgbClr val="172E32"/>
                </a:solidFill>
                <a:latin typeface="Arial"/>
                <a:ea typeface="Arial"/>
                <a:cs typeface="Arial"/>
              </a:rPr>
              <a:t>Luồng balo mới đã có bằng chứng Gemini thật riêng</a:t>
            </a:r>
          </a:p>
        </p:txBody>
      </p:sp>
      <p:sp>
        <p:nvSpPr>
          <p:cNvPr id="9" name="fact-4">
            <a:extLst xmlns:a="http://schemas.openxmlformats.org/drawingml/2006/main">
              <a:ext uri="{FF2B5EF4-FFF2-40B4-BE49-F238E27FC236}">
                <a16:creationId xmlns:a16="http://schemas.microsoft.com/office/drawing/2014/main" id="{EE17D357-7A06-4FD8-87AE-4D8F7DF66D1F}"/>
              </a:ext>
            </a:extLst>
          </p:cNvPr>
          <p:cNvSpPr>
            <a:spLocks xmlns:a="http://schemas.openxmlformats.org/drawingml/2006/main" noGrp="1"/>
          </p:cNvSpPr>
          <p:nvPr/>
        </p:nvSpPr>
        <p:spPr>
          <a:xfrm xmlns:a="http://schemas.openxmlformats.org/drawingml/2006/main">
            <a:off x="904875" y="62293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72E32"/>
                </a:solidFill>
                <a:latin typeface="Arial"/>
                <a:ea typeface="Arial"/>
                <a:cs typeface="Arial"/>
              </a:defRPr>
            </a:defPPr>
            <a:lvl1pPr>
              <a:defRPr sz="2325" b="0">
                <a:solidFill>
                  <a:srgbClr val="172E32"/>
                </a:solidFill>
                <a:latin typeface="Arial"/>
                <a:ea typeface="Arial"/>
                <a:cs typeface="Arial"/>
              </a:defRPr>
            </a:lvl1pPr>
            <a:lvl2pPr>
              <a:defRPr sz="2325" b="0">
                <a:solidFill>
                  <a:srgbClr val="172E32"/>
                </a:solidFill>
                <a:latin typeface="Arial"/>
                <a:ea typeface="Arial"/>
                <a:cs typeface="Arial"/>
              </a:defRPr>
            </a:lvl2pPr>
            <a:lvl3pPr>
              <a:defRPr sz="2325" b="0">
                <a:solidFill>
                  <a:srgbClr val="172E32"/>
                </a:solidFill>
                <a:latin typeface="Arial"/>
                <a:ea typeface="Arial"/>
                <a:cs typeface="Arial"/>
              </a:defRPr>
            </a:lvl3pPr>
            <a:lvl4pPr>
              <a:defRPr sz="2325" b="0">
                <a:solidFill>
                  <a:srgbClr val="172E32"/>
                </a:solidFill>
                <a:latin typeface="Arial"/>
                <a:ea typeface="Arial"/>
                <a:cs typeface="Arial"/>
              </a:defRPr>
            </a:lvl4pPr>
            <a:lvl5pPr>
              <a:defRPr sz="2325" b="0">
                <a:solidFill>
                  <a:srgbClr val="172E32"/>
                </a:solidFill>
                <a:latin typeface="Arial"/>
                <a:ea typeface="Arial"/>
                <a:cs typeface="Arial"/>
              </a:defRPr>
            </a:lvl5pPr>
            <a:lvl6pPr>
              <a:defRPr sz="2325" b="0">
                <a:solidFill>
                  <a:srgbClr val="172E32"/>
                </a:solidFill>
                <a:latin typeface="Arial"/>
                <a:ea typeface="Arial"/>
                <a:cs typeface="Arial"/>
              </a:defRPr>
            </a:lvl6pPr>
            <a:lvl7pPr>
              <a:defRPr sz="2325" b="0">
                <a:solidFill>
                  <a:srgbClr val="172E32"/>
                </a:solidFill>
                <a:latin typeface="Arial"/>
                <a:ea typeface="Arial"/>
                <a:cs typeface="Arial"/>
              </a:defRPr>
            </a:lvl7pPr>
            <a:lvl8pPr>
              <a:defRPr sz="2325" b="0">
                <a:solidFill>
                  <a:srgbClr val="172E32"/>
                </a:solidFill>
                <a:latin typeface="Arial"/>
                <a:ea typeface="Arial"/>
                <a:cs typeface="Arial"/>
              </a:defRPr>
            </a:lvl8pPr>
            <a:lvl9pPr>
              <a:defRPr sz="2325" b="0">
                <a:solidFill>
                  <a:srgbClr val="172E32"/>
                </a:solidFill>
                <a:latin typeface="Arial"/>
                <a:ea typeface="Arial"/>
                <a:cs typeface="Arial"/>
              </a:defRPr>
            </a:lvl9pPr>
          </a:lstStyle>
          <a:p xmlns:a="http://schemas.openxmlformats.org/drawingml/2006/main">
            <a:pPr>
              <a:lnSpc>
                <a:spcPct val="112000"/>
              </a:lnSpc>
              <a:buNone/>
              <a:defRPr sz="2325" b="0">
                <a:solidFill>
                  <a:srgbClr val="172E32"/>
                </a:solidFill>
                <a:latin typeface="Arial"/>
                <a:ea typeface="Arial"/>
                <a:cs typeface="Arial"/>
              </a:defRPr>
            </a:pPr>
            <a:r>
              <a:rPr sz="2325" b="0">
                <a:solidFill>
                  <a:srgbClr val="172E32"/>
                </a:solidFill>
                <a:latin typeface="Arial"/>
                <a:ea typeface="Arial"/>
                <a:cs typeface="Arial"/>
              </a:rPr>
              <a:t>Bản demo một process, phiên có hạn, chưa có tài khoản khôi phục đơn</a:t>
            </a:r>
          </a:p>
        </p:txBody>
      </p:sp>
    </p:spTree>
    <p:extLst>
      <p:ext uri="{BB962C8B-B14F-4D97-AF65-F5344CB8AC3E}">
        <p14:creationId xmlns:p14="http://schemas.microsoft.com/office/powerpoint/2010/main" val="584286817"/>
      </p:ext>
    </p:extLst>
  </p:cSld>
</p:sld>
</file>

<file path=ppt/slides/slide3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DE7218DC-4A20-4A78-9E6B-9F1FAA0BE562}"/>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Câu hỏi khi bảo vệ</a:t>
            </a:r>
          </a:p>
        </p:txBody>
      </p:sp>
      <p:sp>
        <p:nvSpPr>
          <p:cNvPr id="3" name="page-number">
            <a:extLst xmlns:a="http://schemas.openxmlformats.org/drawingml/2006/main">
              <a:ext uri="{FF2B5EF4-FFF2-40B4-BE49-F238E27FC236}">
                <a16:creationId xmlns:a16="http://schemas.microsoft.com/office/drawing/2014/main" id="{9193222A-B7AE-48AA-8EB5-2EBEC1DCB4BC}"/>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33 / 88</a:t>
            </a:r>
          </a:p>
        </p:txBody>
      </p:sp>
      <p:sp>
        <p:nvSpPr>
          <p:cNvPr id="4" name="source-reference">
            <a:extLst xmlns:a="http://schemas.openxmlformats.org/drawingml/2006/main">
              <a:ext uri="{FF2B5EF4-FFF2-40B4-BE49-F238E27FC236}">
                <a16:creationId xmlns:a16="http://schemas.microsoft.com/office/drawing/2014/main" id="{3AA2B199-3183-45DA-A90F-73DC3AAD3422}"/>
              </a:ext>
            </a:extLst>
          </p:cNvPr>
          <p:cNvSpPr>
            <a:spLocks xmlns:a="http://schemas.openxmlformats.org/drawingml/2006/main" noGrp="1"/>
          </p:cNvSpPr>
          <p:nvPr/>
        </p:nvSpPr>
        <p:spPr>
          <a:xfrm xmlns:a="http://schemas.openxmlformats.org/drawingml/2006/main">
            <a:off x="762000" y="7848600"/>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   /   backend/storage.py   /   src/parser.py</a:t>
            </a:r>
          </a:p>
        </p:txBody>
      </p:sp>
      <p:sp>
        <p:nvSpPr>
          <p:cNvPr id="5" name="question-0">
            <a:extLst xmlns:a="http://schemas.openxmlformats.org/drawingml/2006/main">
              <a:ext uri="{FF2B5EF4-FFF2-40B4-BE49-F238E27FC236}">
                <a16:creationId xmlns:a16="http://schemas.microsoft.com/office/drawing/2014/main" id="{1CD54E3D-940C-4643-9B3A-872B1FB5F271}"/>
              </a:ext>
            </a:extLst>
          </p:cNvPr>
          <p:cNvSpPr>
            <a:spLocks xmlns:a="http://schemas.openxmlformats.org/drawingml/2006/main" noGrp="1"/>
          </p:cNvSpPr>
          <p:nvPr/>
        </p:nvSpPr>
        <p:spPr>
          <a:xfrm xmlns:a="http://schemas.openxmlformats.org/drawingml/2006/main">
            <a:off x="762000" y="1504950"/>
            <a:ext cx="1362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LLM có trực tiếp ghi database không?</a:t>
            </a:r>
          </a:p>
        </p:txBody>
      </p:sp>
      <p:sp>
        <p:nvSpPr>
          <p:cNvPr id="6" name="answer-0">
            <a:extLst xmlns:a="http://schemas.openxmlformats.org/drawingml/2006/main">
              <a:ext uri="{FF2B5EF4-FFF2-40B4-BE49-F238E27FC236}">
                <a16:creationId xmlns:a16="http://schemas.microsoft.com/office/drawing/2014/main" id="{49EF9788-82F1-45DE-A166-6162224ECD25}"/>
              </a:ext>
            </a:extLst>
          </p:cNvPr>
          <p:cNvSpPr>
            <a:spLocks xmlns:a="http://schemas.openxmlformats.org/drawingml/2006/main" noGrp="1"/>
          </p:cNvSpPr>
          <p:nvPr/>
        </p:nvSpPr>
        <p:spPr>
          <a:xfrm xmlns:a="http://schemas.openxmlformats.org/drawingml/2006/main">
            <a:off x="762000" y="1905000"/>
            <a:ext cx="1362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2E32"/>
                </a:solidFill>
                <a:latin typeface="Arial"/>
                <a:ea typeface="Arial"/>
                <a:cs typeface="Arial"/>
              </a:defRPr>
            </a:defPPr>
            <a:lvl1pPr>
              <a:defRPr sz="1875" b="0">
                <a:solidFill>
                  <a:srgbClr val="172E32"/>
                </a:solidFill>
                <a:latin typeface="Arial"/>
                <a:ea typeface="Arial"/>
                <a:cs typeface="Arial"/>
              </a:defRPr>
            </a:lvl1pPr>
            <a:lvl2pPr>
              <a:defRPr sz="1875" b="0">
                <a:solidFill>
                  <a:srgbClr val="172E32"/>
                </a:solidFill>
                <a:latin typeface="Arial"/>
                <a:ea typeface="Arial"/>
                <a:cs typeface="Arial"/>
              </a:defRPr>
            </a:lvl2pPr>
            <a:lvl3pPr>
              <a:defRPr sz="1875" b="0">
                <a:solidFill>
                  <a:srgbClr val="172E32"/>
                </a:solidFill>
                <a:latin typeface="Arial"/>
                <a:ea typeface="Arial"/>
                <a:cs typeface="Arial"/>
              </a:defRPr>
            </a:lvl3pPr>
            <a:lvl4pPr>
              <a:defRPr sz="1875" b="0">
                <a:solidFill>
                  <a:srgbClr val="172E32"/>
                </a:solidFill>
                <a:latin typeface="Arial"/>
                <a:ea typeface="Arial"/>
                <a:cs typeface="Arial"/>
              </a:defRPr>
            </a:lvl4pPr>
            <a:lvl5pPr>
              <a:defRPr sz="1875" b="0">
                <a:solidFill>
                  <a:srgbClr val="172E32"/>
                </a:solidFill>
                <a:latin typeface="Arial"/>
                <a:ea typeface="Arial"/>
                <a:cs typeface="Arial"/>
              </a:defRPr>
            </a:lvl5pPr>
            <a:lvl6pPr>
              <a:defRPr sz="1875" b="0">
                <a:solidFill>
                  <a:srgbClr val="172E32"/>
                </a:solidFill>
                <a:latin typeface="Arial"/>
                <a:ea typeface="Arial"/>
                <a:cs typeface="Arial"/>
              </a:defRPr>
            </a:lvl6pPr>
            <a:lvl7pPr>
              <a:defRPr sz="1875" b="0">
                <a:solidFill>
                  <a:srgbClr val="172E32"/>
                </a:solidFill>
                <a:latin typeface="Arial"/>
                <a:ea typeface="Arial"/>
                <a:cs typeface="Arial"/>
              </a:defRPr>
            </a:lvl7pPr>
            <a:lvl8pPr>
              <a:defRPr sz="1875" b="0">
                <a:solidFill>
                  <a:srgbClr val="172E32"/>
                </a:solidFill>
                <a:latin typeface="Arial"/>
                <a:ea typeface="Arial"/>
                <a:cs typeface="Arial"/>
              </a:defRPr>
            </a:lvl8pPr>
            <a:lvl9pPr>
              <a:defRPr sz="1875" b="0">
                <a:solidFill>
                  <a:srgbClr val="172E32"/>
                </a:solidFill>
                <a:latin typeface="Arial"/>
                <a:ea typeface="Arial"/>
                <a:cs typeface="Arial"/>
              </a:defRPr>
            </a:lvl9pPr>
          </a:lstStyle>
          <a:p xmlns:a="http://schemas.openxmlformats.org/drawingml/2006/main">
            <a:pPr>
              <a:lnSpc>
                <a:spcPct val="112000"/>
              </a:lnSpc>
              <a:buNone/>
              <a:defRPr sz="1875" b="0">
                <a:solidFill>
                  <a:srgbClr val="172E32"/>
                </a:solidFill>
                <a:latin typeface="Arial"/>
                <a:ea typeface="Arial"/>
                <a:cs typeface="Arial"/>
              </a:defRPr>
            </a:pPr>
            <a:r>
              <a:rPr sz="1875" b="0">
                <a:solidFill>
                  <a:srgbClr val="172E32"/>
                </a:solidFill>
                <a:latin typeface="Arial"/>
                <a:ea typeface="Arial"/>
                <a:cs typeface="Arial"/>
              </a:rPr>
              <a:t>Không có đường đó. generate trả LLMResult, chat() kiểm tra rồi mới gọi _draft/_update.</a:t>
            </a:r>
          </a:p>
        </p:txBody>
      </p:sp>
      <p:sp>
        <p:nvSpPr>
          <p:cNvPr id="7" name="question-1">
            <a:extLst xmlns:a="http://schemas.openxmlformats.org/drawingml/2006/main">
              <a:ext uri="{FF2B5EF4-FFF2-40B4-BE49-F238E27FC236}">
                <a16:creationId xmlns:a16="http://schemas.microsoft.com/office/drawing/2014/main" id="{96A97943-DA5E-48F7-8338-58017A1BDCD2}"/>
              </a:ext>
            </a:extLst>
          </p:cNvPr>
          <p:cNvSpPr>
            <a:spLocks xmlns:a="http://schemas.openxmlformats.org/drawingml/2006/main" noGrp="1"/>
          </p:cNvSpPr>
          <p:nvPr/>
        </p:nvSpPr>
        <p:spPr>
          <a:xfrm xmlns:a="http://schemas.openxmlformats.org/drawingml/2006/main">
            <a:off x="762000" y="2514600"/>
            <a:ext cx="1362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JSON đúng thì đã tạo đơn được chưa?</a:t>
            </a:r>
          </a:p>
        </p:txBody>
      </p:sp>
      <p:sp>
        <p:nvSpPr>
          <p:cNvPr id="8" name="answer-1">
            <a:extLst xmlns:a="http://schemas.openxmlformats.org/drawingml/2006/main">
              <a:ext uri="{FF2B5EF4-FFF2-40B4-BE49-F238E27FC236}">
                <a16:creationId xmlns:a16="http://schemas.microsoft.com/office/drawing/2014/main" id="{D617722F-6EA6-4885-99BF-22E0B29F7F48}"/>
              </a:ext>
            </a:extLst>
          </p:cNvPr>
          <p:cNvSpPr>
            <a:spLocks xmlns:a="http://schemas.openxmlformats.org/drawingml/2006/main" noGrp="1"/>
          </p:cNvSpPr>
          <p:nvPr/>
        </p:nvSpPr>
        <p:spPr>
          <a:xfrm xmlns:a="http://schemas.openxmlformats.org/drawingml/2006/main">
            <a:off x="762000" y="2914650"/>
            <a:ext cx="1362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2E32"/>
                </a:solidFill>
                <a:latin typeface="Arial"/>
                <a:ea typeface="Arial"/>
                <a:cs typeface="Arial"/>
              </a:defRPr>
            </a:defPPr>
            <a:lvl1pPr>
              <a:defRPr sz="1875" b="0">
                <a:solidFill>
                  <a:srgbClr val="172E32"/>
                </a:solidFill>
                <a:latin typeface="Arial"/>
                <a:ea typeface="Arial"/>
                <a:cs typeface="Arial"/>
              </a:defRPr>
            </a:lvl1pPr>
            <a:lvl2pPr>
              <a:defRPr sz="1875" b="0">
                <a:solidFill>
                  <a:srgbClr val="172E32"/>
                </a:solidFill>
                <a:latin typeface="Arial"/>
                <a:ea typeface="Arial"/>
                <a:cs typeface="Arial"/>
              </a:defRPr>
            </a:lvl2pPr>
            <a:lvl3pPr>
              <a:defRPr sz="1875" b="0">
                <a:solidFill>
                  <a:srgbClr val="172E32"/>
                </a:solidFill>
                <a:latin typeface="Arial"/>
                <a:ea typeface="Arial"/>
                <a:cs typeface="Arial"/>
              </a:defRPr>
            </a:lvl3pPr>
            <a:lvl4pPr>
              <a:defRPr sz="1875" b="0">
                <a:solidFill>
                  <a:srgbClr val="172E32"/>
                </a:solidFill>
                <a:latin typeface="Arial"/>
                <a:ea typeface="Arial"/>
                <a:cs typeface="Arial"/>
              </a:defRPr>
            </a:lvl4pPr>
            <a:lvl5pPr>
              <a:defRPr sz="1875" b="0">
                <a:solidFill>
                  <a:srgbClr val="172E32"/>
                </a:solidFill>
                <a:latin typeface="Arial"/>
                <a:ea typeface="Arial"/>
                <a:cs typeface="Arial"/>
              </a:defRPr>
            </a:lvl5pPr>
            <a:lvl6pPr>
              <a:defRPr sz="1875" b="0">
                <a:solidFill>
                  <a:srgbClr val="172E32"/>
                </a:solidFill>
                <a:latin typeface="Arial"/>
                <a:ea typeface="Arial"/>
                <a:cs typeface="Arial"/>
              </a:defRPr>
            </a:lvl6pPr>
            <a:lvl7pPr>
              <a:defRPr sz="1875" b="0">
                <a:solidFill>
                  <a:srgbClr val="172E32"/>
                </a:solidFill>
                <a:latin typeface="Arial"/>
                <a:ea typeface="Arial"/>
                <a:cs typeface="Arial"/>
              </a:defRPr>
            </a:lvl7pPr>
            <a:lvl8pPr>
              <a:defRPr sz="1875" b="0">
                <a:solidFill>
                  <a:srgbClr val="172E32"/>
                </a:solidFill>
                <a:latin typeface="Arial"/>
                <a:ea typeface="Arial"/>
                <a:cs typeface="Arial"/>
              </a:defRPr>
            </a:lvl8pPr>
            <a:lvl9pPr>
              <a:defRPr sz="1875" b="0">
                <a:solidFill>
                  <a:srgbClr val="172E32"/>
                </a:solidFill>
                <a:latin typeface="Arial"/>
                <a:ea typeface="Arial"/>
                <a:cs typeface="Arial"/>
              </a:defRPr>
            </a:lvl9pPr>
          </a:lstStyle>
          <a:p xmlns:a="http://schemas.openxmlformats.org/drawingml/2006/main">
            <a:pPr>
              <a:lnSpc>
                <a:spcPct val="112000"/>
              </a:lnSpc>
              <a:buNone/>
              <a:defRPr sz="1875" b="0">
                <a:solidFill>
                  <a:srgbClr val="172E32"/>
                </a:solidFill>
                <a:latin typeface="Arial"/>
                <a:ea typeface="Arial"/>
                <a:cs typeface="Arial"/>
              </a:defRPr>
            </a:pPr>
            <a:r>
              <a:rPr sz="1875" b="0">
                <a:solidFill>
                  <a:srgbClr val="172E32"/>
                </a:solidFill>
                <a:latin typeface="Arial"/>
                <a:ea typeface="Arial"/>
                <a:cs typeface="Arial"/>
              </a:rPr>
              <a:t>Còn grounding, SKU duy nhất, số lượng, tồn kho, giao nhận và quyền phiên.</a:t>
            </a:r>
          </a:p>
        </p:txBody>
      </p:sp>
      <p:sp>
        <p:nvSpPr>
          <p:cNvPr id="9" name="question-2">
            <a:extLst xmlns:a="http://schemas.openxmlformats.org/drawingml/2006/main">
              <a:ext uri="{FF2B5EF4-FFF2-40B4-BE49-F238E27FC236}">
                <a16:creationId xmlns:a16="http://schemas.microsoft.com/office/drawing/2014/main" id="{8AC9FD33-6A14-4F21-81AC-361C2D963100}"/>
              </a:ext>
            </a:extLst>
          </p:cNvPr>
          <p:cNvSpPr>
            <a:spLocks xmlns:a="http://schemas.openxmlformats.org/drawingml/2006/main" noGrp="1"/>
          </p:cNvSpPr>
          <p:nvPr/>
        </p:nvSpPr>
        <p:spPr>
          <a:xfrm xmlns:a="http://schemas.openxmlformats.org/drawingml/2006/main">
            <a:off x="762000" y="3524250"/>
            <a:ext cx="1362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Vì sao phải kiểm tra phiên hai lần?</a:t>
            </a:r>
          </a:p>
        </p:txBody>
      </p:sp>
      <p:sp>
        <p:nvSpPr>
          <p:cNvPr id="10" name="answer-2">
            <a:extLst xmlns:a="http://schemas.openxmlformats.org/drawingml/2006/main">
              <a:ext uri="{FF2B5EF4-FFF2-40B4-BE49-F238E27FC236}">
                <a16:creationId xmlns:a16="http://schemas.microsoft.com/office/drawing/2014/main" id="{69059EF4-63B6-4F03-81B9-6EAC4E28A10D}"/>
              </a:ext>
            </a:extLst>
          </p:cNvPr>
          <p:cNvSpPr>
            <a:spLocks xmlns:a="http://schemas.openxmlformats.org/drawingml/2006/main" noGrp="1"/>
          </p:cNvSpPr>
          <p:nvPr/>
        </p:nvSpPr>
        <p:spPr>
          <a:xfrm xmlns:a="http://schemas.openxmlformats.org/drawingml/2006/main">
            <a:off x="762000" y="3924300"/>
            <a:ext cx="1362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2E32"/>
                </a:solidFill>
                <a:latin typeface="Arial"/>
                <a:ea typeface="Arial"/>
                <a:cs typeface="Arial"/>
              </a:defRPr>
            </a:defPPr>
            <a:lvl1pPr>
              <a:defRPr sz="1875" b="0">
                <a:solidFill>
                  <a:srgbClr val="172E32"/>
                </a:solidFill>
                <a:latin typeface="Arial"/>
                <a:ea typeface="Arial"/>
                <a:cs typeface="Arial"/>
              </a:defRPr>
            </a:lvl1pPr>
            <a:lvl2pPr>
              <a:defRPr sz="1875" b="0">
                <a:solidFill>
                  <a:srgbClr val="172E32"/>
                </a:solidFill>
                <a:latin typeface="Arial"/>
                <a:ea typeface="Arial"/>
                <a:cs typeface="Arial"/>
              </a:defRPr>
            </a:lvl2pPr>
            <a:lvl3pPr>
              <a:defRPr sz="1875" b="0">
                <a:solidFill>
                  <a:srgbClr val="172E32"/>
                </a:solidFill>
                <a:latin typeface="Arial"/>
                <a:ea typeface="Arial"/>
                <a:cs typeface="Arial"/>
              </a:defRPr>
            </a:lvl3pPr>
            <a:lvl4pPr>
              <a:defRPr sz="1875" b="0">
                <a:solidFill>
                  <a:srgbClr val="172E32"/>
                </a:solidFill>
                <a:latin typeface="Arial"/>
                <a:ea typeface="Arial"/>
                <a:cs typeface="Arial"/>
              </a:defRPr>
            </a:lvl4pPr>
            <a:lvl5pPr>
              <a:defRPr sz="1875" b="0">
                <a:solidFill>
                  <a:srgbClr val="172E32"/>
                </a:solidFill>
                <a:latin typeface="Arial"/>
                <a:ea typeface="Arial"/>
                <a:cs typeface="Arial"/>
              </a:defRPr>
            </a:lvl5pPr>
            <a:lvl6pPr>
              <a:defRPr sz="1875" b="0">
                <a:solidFill>
                  <a:srgbClr val="172E32"/>
                </a:solidFill>
                <a:latin typeface="Arial"/>
                <a:ea typeface="Arial"/>
                <a:cs typeface="Arial"/>
              </a:defRPr>
            </a:lvl6pPr>
            <a:lvl7pPr>
              <a:defRPr sz="1875" b="0">
                <a:solidFill>
                  <a:srgbClr val="172E32"/>
                </a:solidFill>
                <a:latin typeface="Arial"/>
                <a:ea typeface="Arial"/>
                <a:cs typeface="Arial"/>
              </a:defRPr>
            </a:lvl7pPr>
            <a:lvl8pPr>
              <a:defRPr sz="1875" b="0">
                <a:solidFill>
                  <a:srgbClr val="172E32"/>
                </a:solidFill>
                <a:latin typeface="Arial"/>
                <a:ea typeface="Arial"/>
                <a:cs typeface="Arial"/>
              </a:defRPr>
            </a:lvl8pPr>
            <a:lvl9pPr>
              <a:defRPr sz="1875" b="0">
                <a:solidFill>
                  <a:srgbClr val="172E32"/>
                </a:solidFill>
                <a:latin typeface="Arial"/>
                <a:ea typeface="Arial"/>
                <a:cs typeface="Arial"/>
              </a:defRPr>
            </a:lvl9pPr>
          </a:lstStyle>
          <a:p xmlns:a="http://schemas.openxmlformats.org/drawingml/2006/main">
            <a:pPr>
              <a:lnSpc>
                <a:spcPct val="112000"/>
              </a:lnSpc>
              <a:buNone/>
              <a:defRPr sz="1875" b="0">
                <a:solidFill>
                  <a:srgbClr val="172E32"/>
                </a:solidFill>
                <a:latin typeface="Arial"/>
                <a:ea typeface="Arial"/>
                <a:cs typeface="Arial"/>
              </a:defRPr>
            </a:pPr>
            <a:r>
              <a:rPr sz="1875" b="0">
                <a:solidFill>
                  <a:srgbClr val="172E32"/>
                </a:solidFill>
                <a:latin typeface="Arial"/>
                <a:ea typeface="Arial"/>
                <a:cs typeface="Arial"/>
              </a:rPr>
              <a:t>Token có thể bị thu hồi trong thời gian chờ Gemini.</a:t>
            </a:r>
          </a:p>
        </p:txBody>
      </p:sp>
      <p:sp>
        <p:nvSpPr>
          <p:cNvPr id="11" name="question-3">
            <a:extLst xmlns:a="http://schemas.openxmlformats.org/drawingml/2006/main">
              <a:ext uri="{FF2B5EF4-FFF2-40B4-BE49-F238E27FC236}">
                <a16:creationId xmlns:a16="http://schemas.microsoft.com/office/drawing/2014/main" id="{CE1C959C-41E8-4ABD-805D-1EDF9693CF45}"/>
              </a:ext>
            </a:extLst>
          </p:cNvPr>
          <p:cNvSpPr>
            <a:spLocks xmlns:a="http://schemas.openxmlformats.org/drawingml/2006/main" noGrp="1"/>
          </p:cNvSpPr>
          <p:nvPr/>
        </p:nvSpPr>
        <p:spPr>
          <a:xfrm xmlns:a="http://schemas.openxmlformats.org/drawingml/2006/main">
            <a:off x="762000" y="4533900"/>
            <a:ext cx="1362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Gửi lại tin nhắn có tạo hai đơn không?</a:t>
            </a:r>
          </a:p>
        </p:txBody>
      </p:sp>
      <p:sp>
        <p:nvSpPr>
          <p:cNvPr id="12" name="answer-3">
            <a:extLst xmlns:a="http://schemas.openxmlformats.org/drawingml/2006/main">
              <a:ext uri="{FF2B5EF4-FFF2-40B4-BE49-F238E27FC236}">
                <a16:creationId xmlns:a16="http://schemas.microsoft.com/office/drawing/2014/main" id="{1F879E24-BA19-4FE9-BF77-BF89D13AFE4B}"/>
              </a:ext>
            </a:extLst>
          </p:cNvPr>
          <p:cNvSpPr>
            <a:spLocks xmlns:a="http://schemas.openxmlformats.org/drawingml/2006/main" noGrp="1"/>
          </p:cNvSpPr>
          <p:nvPr/>
        </p:nvSpPr>
        <p:spPr>
          <a:xfrm xmlns:a="http://schemas.openxmlformats.org/drawingml/2006/main">
            <a:off x="762000" y="4933950"/>
            <a:ext cx="1362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2E32"/>
                </a:solidFill>
                <a:latin typeface="Arial"/>
                <a:ea typeface="Arial"/>
                <a:cs typeface="Arial"/>
              </a:defRPr>
            </a:defPPr>
            <a:lvl1pPr>
              <a:defRPr sz="1875" b="0">
                <a:solidFill>
                  <a:srgbClr val="172E32"/>
                </a:solidFill>
                <a:latin typeface="Arial"/>
                <a:ea typeface="Arial"/>
                <a:cs typeface="Arial"/>
              </a:defRPr>
            </a:lvl1pPr>
            <a:lvl2pPr>
              <a:defRPr sz="1875" b="0">
                <a:solidFill>
                  <a:srgbClr val="172E32"/>
                </a:solidFill>
                <a:latin typeface="Arial"/>
                <a:ea typeface="Arial"/>
                <a:cs typeface="Arial"/>
              </a:defRPr>
            </a:lvl2pPr>
            <a:lvl3pPr>
              <a:defRPr sz="1875" b="0">
                <a:solidFill>
                  <a:srgbClr val="172E32"/>
                </a:solidFill>
                <a:latin typeface="Arial"/>
                <a:ea typeface="Arial"/>
                <a:cs typeface="Arial"/>
              </a:defRPr>
            </a:lvl3pPr>
            <a:lvl4pPr>
              <a:defRPr sz="1875" b="0">
                <a:solidFill>
                  <a:srgbClr val="172E32"/>
                </a:solidFill>
                <a:latin typeface="Arial"/>
                <a:ea typeface="Arial"/>
                <a:cs typeface="Arial"/>
              </a:defRPr>
            </a:lvl4pPr>
            <a:lvl5pPr>
              <a:defRPr sz="1875" b="0">
                <a:solidFill>
                  <a:srgbClr val="172E32"/>
                </a:solidFill>
                <a:latin typeface="Arial"/>
                <a:ea typeface="Arial"/>
                <a:cs typeface="Arial"/>
              </a:defRPr>
            </a:lvl5pPr>
            <a:lvl6pPr>
              <a:defRPr sz="1875" b="0">
                <a:solidFill>
                  <a:srgbClr val="172E32"/>
                </a:solidFill>
                <a:latin typeface="Arial"/>
                <a:ea typeface="Arial"/>
                <a:cs typeface="Arial"/>
              </a:defRPr>
            </a:lvl6pPr>
            <a:lvl7pPr>
              <a:defRPr sz="1875" b="0">
                <a:solidFill>
                  <a:srgbClr val="172E32"/>
                </a:solidFill>
                <a:latin typeface="Arial"/>
                <a:ea typeface="Arial"/>
                <a:cs typeface="Arial"/>
              </a:defRPr>
            </a:lvl7pPr>
            <a:lvl8pPr>
              <a:defRPr sz="1875" b="0">
                <a:solidFill>
                  <a:srgbClr val="172E32"/>
                </a:solidFill>
                <a:latin typeface="Arial"/>
                <a:ea typeface="Arial"/>
                <a:cs typeface="Arial"/>
              </a:defRPr>
            </a:lvl8pPr>
            <a:lvl9pPr>
              <a:defRPr sz="1875" b="0">
                <a:solidFill>
                  <a:srgbClr val="172E32"/>
                </a:solidFill>
                <a:latin typeface="Arial"/>
                <a:ea typeface="Arial"/>
                <a:cs typeface="Arial"/>
              </a:defRPr>
            </a:lvl9pPr>
          </a:lstStyle>
          <a:p xmlns:a="http://schemas.openxmlformats.org/drawingml/2006/main">
            <a:pPr>
              <a:lnSpc>
                <a:spcPct val="112000"/>
              </a:lnSpc>
              <a:buNone/>
              <a:defRPr sz="1875" b="0">
                <a:solidFill>
                  <a:srgbClr val="172E32"/>
                </a:solidFill>
                <a:latin typeface="Arial"/>
                <a:ea typeface="Arial"/>
                <a:cs typeface="Arial"/>
              </a:defRPr>
            </a:pPr>
            <a:r>
              <a:rPr sz="1875" b="0">
                <a:solidFill>
                  <a:srgbClr val="172E32"/>
                </a:solidFill>
                <a:latin typeface="Arial"/>
                <a:ea typeface="Arial"/>
                <a:cs typeface="Arial"/>
              </a:rPr>
              <a:t>Cùng Idempotency-Key và nội dung được replay. Khác nội dung cùng key trả 409.</a:t>
            </a:r>
          </a:p>
        </p:txBody>
      </p:sp>
      <p:sp>
        <p:nvSpPr>
          <p:cNvPr id="13" name="question-4">
            <a:extLst xmlns:a="http://schemas.openxmlformats.org/drawingml/2006/main">
              <a:ext uri="{FF2B5EF4-FFF2-40B4-BE49-F238E27FC236}">
                <a16:creationId xmlns:a16="http://schemas.microsoft.com/office/drawing/2014/main" id="{308433FF-EBDD-4B72-A25C-243F428723B7}"/>
              </a:ext>
            </a:extLst>
          </p:cNvPr>
          <p:cNvSpPr>
            <a:spLocks xmlns:a="http://schemas.openxmlformats.org/drawingml/2006/main" noGrp="1"/>
          </p:cNvSpPr>
          <p:nvPr/>
        </p:nvSpPr>
        <p:spPr>
          <a:xfrm xmlns:a="http://schemas.openxmlformats.org/drawingml/2006/main">
            <a:off x="762000" y="5543550"/>
            <a:ext cx="1362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15inch có bị hiểu là mua 15 cái không?</a:t>
            </a:r>
          </a:p>
        </p:txBody>
      </p:sp>
      <p:sp>
        <p:nvSpPr>
          <p:cNvPr id="14" name="answer-4">
            <a:extLst xmlns:a="http://schemas.openxmlformats.org/drawingml/2006/main">
              <a:ext uri="{FF2B5EF4-FFF2-40B4-BE49-F238E27FC236}">
                <a16:creationId xmlns:a16="http://schemas.microsoft.com/office/drawing/2014/main" id="{5FCD6305-54F7-4D4D-A247-0532A79AFD66}"/>
              </a:ext>
            </a:extLst>
          </p:cNvPr>
          <p:cNvSpPr>
            <a:spLocks xmlns:a="http://schemas.openxmlformats.org/drawingml/2006/main" noGrp="1"/>
          </p:cNvSpPr>
          <p:nvPr/>
        </p:nvSpPr>
        <p:spPr>
          <a:xfrm xmlns:a="http://schemas.openxmlformats.org/drawingml/2006/main">
            <a:off x="762000" y="5943600"/>
            <a:ext cx="1362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2E32"/>
                </a:solidFill>
                <a:latin typeface="Arial"/>
                <a:ea typeface="Arial"/>
                <a:cs typeface="Arial"/>
              </a:defRPr>
            </a:defPPr>
            <a:lvl1pPr>
              <a:defRPr sz="1875" b="0">
                <a:solidFill>
                  <a:srgbClr val="172E32"/>
                </a:solidFill>
                <a:latin typeface="Arial"/>
                <a:ea typeface="Arial"/>
                <a:cs typeface="Arial"/>
              </a:defRPr>
            </a:lvl1pPr>
            <a:lvl2pPr>
              <a:defRPr sz="1875" b="0">
                <a:solidFill>
                  <a:srgbClr val="172E32"/>
                </a:solidFill>
                <a:latin typeface="Arial"/>
                <a:ea typeface="Arial"/>
                <a:cs typeface="Arial"/>
              </a:defRPr>
            </a:lvl2pPr>
            <a:lvl3pPr>
              <a:defRPr sz="1875" b="0">
                <a:solidFill>
                  <a:srgbClr val="172E32"/>
                </a:solidFill>
                <a:latin typeface="Arial"/>
                <a:ea typeface="Arial"/>
                <a:cs typeface="Arial"/>
              </a:defRPr>
            </a:lvl3pPr>
            <a:lvl4pPr>
              <a:defRPr sz="1875" b="0">
                <a:solidFill>
                  <a:srgbClr val="172E32"/>
                </a:solidFill>
                <a:latin typeface="Arial"/>
                <a:ea typeface="Arial"/>
                <a:cs typeface="Arial"/>
              </a:defRPr>
            </a:lvl4pPr>
            <a:lvl5pPr>
              <a:defRPr sz="1875" b="0">
                <a:solidFill>
                  <a:srgbClr val="172E32"/>
                </a:solidFill>
                <a:latin typeface="Arial"/>
                <a:ea typeface="Arial"/>
                <a:cs typeface="Arial"/>
              </a:defRPr>
            </a:lvl5pPr>
            <a:lvl6pPr>
              <a:defRPr sz="1875" b="0">
                <a:solidFill>
                  <a:srgbClr val="172E32"/>
                </a:solidFill>
                <a:latin typeface="Arial"/>
                <a:ea typeface="Arial"/>
                <a:cs typeface="Arial"/>
              </a:defRPr>
            </a:lvl6pPr>
            <a:lvl7pPr>
              <a:defRPr sz="1875" b="0">
                <a:solidFill>
                  <a:srgbClr val="172E32"/>
                </a:solidFill>
                <a:latin typeface="Arial"/>
                <a:ea typeface="Arial"/>
                <a:cs typeface="Arial"/>
              </a:defRPr>
            </a:lvl7pPr>
            <a:lvl8pPr>
              <a:defRPr sz="1875" b="0">
                <a:solidFill>
                  <a:srgbClr val="172E32"/>
                </a:solidFill>
                <a:latin typeface="Arial"/>
                <a:ea typeface="Arial"/>
                <a:cs typeface="Arial"/>
              </a:defRPr>
            </a:lvl8pPr>
            <a:lvl9pPr>
              <a:defRPr sz="1875" b="0">
                <a:solidFill>
                  <a:srgbClr val="172E32"/>
                </a:solidFill>
                <a:latin typeface="Arial"/>
                <a:ea typeface="Arial"/>
                <a:cs typeface="Arial"/>
              </a:defRPr>
            </a:lvl9pPr>
          </a:lstStyle>
          <a:p xmlns:a="http://schemas.openxmlformats.org/drawingml/2006/main">
            <a:pPr>
              <a:lnSpc>
                <a:spcPct val="112000"/>
              </a:lnSpc>
              <a:buNone/>
              <a:defRPr sz="1875" b="0">
                <a:solidFill>
                  <a:srgbClr val="172E32"/>
                </a:solidFill>
                <a:latin typeface="Arial"/>
                <a:ea typeface="Arial"/>
                <a:cs typeface="Arial"/>
              </a:defRPr>
            </a:pPr>
            <a:r>
              <a:rPr sz="1875" b="0">
                <a:solidFill>
                  <a:srgbClr val="172E32"/>
                </a:solidFill>
                <a:latin typeface="Arial"/>
                <a:ea typeface="Arial"/>
                <a:cs typeface="Arial"/>
              </a:rPr>
              <a:t>quantity_source loại số đo. Không nêu số lượng thì bot hỏi lại.</a:t>
            </a:r>
          </a:p>
        </p:txBody>
      </p:sp>
      <p:sp>
        <p:nvSpPr>
          <p:cNvPr id="15" name="question-5">
            <a:extLst xmlns:a="http://schemas.openxmlformats.org/drawingml/2006/main">
              <a:ext uri="{FF2B5EF4-FFF2-40B4-BE49-F238E27FC236}">
                <a16:creationId xmlns:a16="http://schemas.microsoft.com/office/drawing/2014/main" id="{25CB8C12-A566-41E7-9E0D-4743CB535E80}"/>
              </a:ext>
            </a:extLst>
          </p:cNvPr>
          <p:cNvSpPr>
            <a:spLocks xmlns:a="http://schemas.openxmlformats.org/drawingml/2006/main" noGrp="1"/>
          </p:cNvSpPr>
          <p:nvPr/>
        </p:nvSpPr>
        <p:spPr>
          <a:xfrm xmlns:a="http://schemas.openxmlformats.org/drawingml/2006/main">
            <a:off x="762000" y="6553200"/>
            <a:ext cx="1362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216B66"/>
                </a:solidFill>
                <a:latin typeface="Arial"/>
                <a:ea typeface="Arial"/>
                <a:cs typeface="Arial"/>
              </a:defRPr>
            </a:defPPr>
            <a:lvl1pPr>
              <a:defRPr sz="2025" b="1">
                <a:solidFill>
                  <a:srgbClr val="216B66"/>
                </a:solidFill>
                <a:latin typeface="Arial"/>
                <a:ea typeface="Arial"/>
                <a:cs typeface="Arial"/>
              </a:defRPr>
            </a:lvl1pPr>
            <a:lvl2pPr>
              <a:defRPr sz="2025" b="1">
                <a:solidFill>
                  <a:srgbClr val="216B66"/>
                </a:solidFill>
                <a:latin typeface="Arial"/>
                <a:ea typeface="Arial"/>
                <a:cs typeface="Arial"/>
              </a:defRPr>
            </a:lvl2pPr>
            <a:lvl3pPr>
              <a:defRPr sz="2025" b="1">
                <a:solidFill>
                  <a:srgbClr val="216B66"/>
                </a:solidFill>
                <a:latin typeface="Arial"/>
                <a:ea typeface="Arial"/>
                <a:cs typeface="Arial"/>
              </a:defRPr>
            </a:lvl3pPr>
            <a:lvl4pPr>
              <a:defRPr sz="2025" b="1">
                <a:solidFill>
                  <a:srgbClr val="216B66"/>
                </a:solidFill>
                <a:latin typeface="Arial"/>
                <a:ea typeface="Arial"/>
                <a:cs typeface="Arial"/>
              </a:defRPr>
            </a:lvl4pPr>
            <a:lvl5pPr>
              <a:defRPr sz="2025" b="1">
                <a:solidFill>
                  <a:srgbClr val="216B66"/>
                </a:solidFill>
                <a:latin typeface="Arial"/>
                <a:ea typeface="Arial"/>
                <a:cs typeface="Arial"/>
              </a:defRPr>
            </a:lvl5pPr>
            <a:lvl6pPr>
              <a:defRPr sz="2025" b="1">
                <a:solidFill>
                  <a:srgbClr val="216B66"/>
                </a:solidFill>
                <a:latin typeface="Arial"/>
                <a:ea typeface="Arial"/>
                <a:cs typeface="Arial"/>
              </a:defRPr>
            </a:lvl6pPr>
            <a:lvl7pPr>
              <a:defRPr sz="2025" b="1">
                <a:solidFill>
                  <a:srgbClr val="216B66"/>
                </a:solidFill>
                <a:latin typeface="Arial"/>
                <a:ea typeface="Arial"/>
                <a:cs typeface="Arial"/>
              </a:defRPr>
            </a:lvl7pPr>
            <a:lvl8pPr>
              <a:defRPr sz="2025" b="1">
                <a:solidFill>
                  <a:srgbClr val="216B66"/>
                </a:solidFill>
                <a:latin typeface="Arial"/>
                <a:ea typeface="Arial"/>
                <a:cs typeface="Arial"/>
              </a:defRPr>
            </a:lvl8pPr>
            <a:lvl9pPr>
              <a:defRPr sz="2025" b="1">
                <a:solidFill>
                  <a:srgbClr val="216B66"/>
                </a:solidFill>
                <a:latin typeface="Arial"/>
                <a:ea typeface="Arial"/>
                <a:cs typeface="Arial"/>
              </a:defRPr>
            </a:lvl9pPr>
          </a:lstStyle>
          <a:p xmlns:a="http://schemas.openxmlformats.org/drawingml/2006/main">
            <a:pPr>
              <a:lnSpc>
                <a:spcPct val="112000"/>
              </a:lnSpc>
              <a:buNone/>
              <a:defRPr sz="2025" b="1">
                <a:solidFill>
                  <a:srgbClr val="216B66"/>
                </a:solidFill>
                <a:latin typeface="Arial"/>
                <a:ea typeface="Arial"/>
                <a:cs typeface="Arial"/>
              </a:defRPr>
            </a:pPr>
            <a:r>
              <a:rPr sz="2025" b="1">
                <a:solidFill>
                  <a:srgbClr val="216B66"/>
                </a:solidFill>
                <a:latin typeface="Arial"/>
                <a:ea typeface="Arial"/>
                <a:cs typeface="Arial"/>
              </a:rPr>
              <a:t>Tại sao không dùng LLM trả giá luôn?</a:t>
            </a:r>
          </a:p>
        </p:txBody>
      </p:sp>
      <p:sp>
        <p:nvSpPr>
          <p:cNvPr id="16" name="answer-5">
            <a:extLst xmlns:a="http://schemas.openxmlformats.org/drawingml/2006/main">
              <a:ext uri="{FF2B5EF4-FFF2-40B4-BE49-F238E27FC236}">
                <a16:creationId xmlns:a16="http://schemas.microsoft.com/office/drawing/2014/main" id="{AA181BB9-7532-4F30-8A38-94401C51E10A}"/>
              </a:ext>
            </a:extLst>
          </p:cNvPr>
          <p:cNvSpPr>
            <a:spLocks xmlns:a="http://schemas.openxmlformats.org/drawingml/2006/main" noGrp="1"/>
          </p:cNvSpPr>
          <p:nvPr/>
        </p:nvSpPr>
        <p:spPr>
          <a:xfrm xmlns:a="http://schemas.openxmlformats.org/drawingml/2006/main">
            <a:off x="762000" y="6953250"/>
            <a:ext cx="1362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72E32"/>
                </a:solidFill>
                <a:latin typeface="Arial"/>
                <a:ea typeface="Arial"/>
                <a:cs typeface="Arial"/>
              </a:defRPr>
            </a:defPPr>
            <a:lvl1pPr>
              <a:defRPr sz="1875" b="0">
                <a:solidFill>
                  <a:srgbClr val="172E32"/>
                </a:solidFill>
                <a:latin typeface="Arial"/>
                <a:ea typeface="Arial"/>
                <a:cs typeface="Arial"/>
              </a:defRPr>
            </a:lvl1pPr>
            <a:lvl2pPr>
              <a:defRPr sz="1875" b="0">
                <a:solidFill>
                  <a:srgbClr val="172E32"/>
                </a:solidFill>
                <a:latin typeface="Arial"/>
                <a:ea typeface="Arial"/>
                <a:cs typeface="Arial"/>
              </a:defRPr>
            </a:lvl2pPr>
            <a:lvl3pPr>
              <a:defRPr sz="1875" b="0">
                <a:solidFill>
                  <a:srgbClr val="172E32"/>
                </a:solidFill>
                <a:latin typeface="Arial"/>
                <a:ea typeface="Arial"/>
                <a:cs typeface="Arial"/>
              </a:defRPr>
            </a:lvl3pPr>
            <a:lvl4pPr>
              <a:defRPr sz="1875" b="0">
                <a:solidFill>
                  <a:srgbClr val="172E32"/>
                </a:solidFill>
                <a:latin typeface="Arial"/>
                <a:ea typeface="Arial"/>
                <a:cs typeface="Arial"/>
              </a:defRPr>
            </a:lvl4pPr>
            <a:lvl5pPr>
              <a:defRPr sz="1875" b="0">
                <a:solidFill>
                  <a:srgbClr val="172E32"/>
                </a:solidFill>
                <a:latin typeface="Arial"/>
                <a:ea typeface="Arial"/>
                <a:cs typeface="Arial"/>
              </a:defRPr>
            </a:lvl5pPr>
            <a:lvl6pPr>
              <a:defRPr sz="1875" b="0">
                <a:solidFill>
                  <a:srgbClr val="172E32"/>
                </a:solidFill>
                <a:latin typeface="Arial"/>
                <a:ea typeface="Arial"/>
                <a:cs typeface="Arial"/>
              </a:defRPr>
            </a:lvl6pPr>
            <a:lvl7pPr>
              <a:defRPr sz="1875" b="0">
                <a:solidFill>
                  <a:srgbClr val="172E32"/>
                </a:solidFill>
                <a:latin typeface="Arial"/>
                <a:ea typeface="Arial"/>
                <a:cs typeface="Arial"/>
              </a:defRPr>
            </a:lvl7pPr>
            <a:lvl8pPr>
              <a:defRPr sz="1875" b="0">
                <a:solidFill>
                  <a:srgbClr val="172E32"/>
                </a:solidFill>
                <a:latin typeface="Arial"/>
                <a:ea typeface="Arial"/>
                <a:cs typeface="Arial"/>
              </a:defRPr>
            </a:lvl8pPr>
            <a:lvl9pPr>
              <a:defRPr sz="1875" b="0">
                <a:solidFill>
                  <a:srgbClr val="172E32"/>
                </a:solidFill>
                <a:latin typeface="Arial"/>
                <a:ea typeface="Arial"/>
                <a:cs typeface="Arial"/>
              </a:defRPr>
            </a:lvl9pPr>
          </a:lstStyle>
          <a:p xmlns:a="http://schemas.openxmlformats.org/drawingml/2006/main">
            <a:pPr>
              <a:lnSpc>
                <a:spcPct val="112000"/>
              </a:lnSpc>
              <a:buNone/>
              <a:defRPr sz="1875" b="0">
                <a:solidFill>
                  <a:srgbClr val="172E32"/>
                </a:solidFill>
                <a:latin typeface="Arial"/>
                <a:ea typeface="Arial"/>
                <a:cs typeface="Arial"/>
              </a:defRPr>
            </a:pPr>
            <a:r>
              <a:rPr sz="1875" b="0">
                <a:solidFill>
                  <a:srgbClr val="172E32"/>
                </a:solidFill>
                <a:latin typeface="Arial"/>
                <a:ea typeface="Arial"/>
                <a:cs typeface="Arial"/>
              </a:rPr>
              <a:t>Giá và tồn thay đổi theo DB. catalog_reply/order service đọc giá/tồn thực tế.</a:t>
            </a:r>
          </a:p>
        </p:txBody>
      </p:sp>
    </p:spTree>
    <p:extLst>
      <p:ext uri="{BB962C8B-B14F-4D97-AF65-F5344CB8AC3E}">
        <p14:creationId xmlns:p14="http://schemas.microsoft.com/office/powerpoint/2010/main" val="1713784966"/>
      </p:ext>
    </p:extLst>
  </p:cSld>
</p:sld>
</file>

<file path=ppt/slides/slide3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DAD5554D-6D8C-4BC2-BFC1-FECE082EF2A4}"/>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Tra cứu toàn bộ 100 hàm</a:t>
            </a:r>
          </a:p>
        </p:txBody>
      </p:sp>
      <p:sp>
        <p:nvSpPr>
          <p:cNvPr id="3" name="page-number">
            <a:extLst xmlns:a="http://schemas.openxmlformats.org/drawingml/2006/main">
              <a:ext uri="{FF2B5EF4-FFF2-40B4-BE49-F238E27FC236}">
                <a16:creationId xmlns:a16="http://schemas.microsoft.com/office/drawing/2014/main" id="{2BB857E6-813D-4EE4-9DCF-3473E20E16F5}"/>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34 / 88</a:t>
            </a:r>
          </a:p>
        </p:txBody>
      </p:sp>
      <p:sp>
        <p:nvSpPr>
          <p:cNvPr id="4" name="fact-0">
            <a:extLst xmlns:a="http://schemas.openxmlformats.org/drawingml/2006/main">
              <a:ext uri="{FF2B5EF4-FFF2-40B4-BE49-F238E27FC236}">
                <a16:creationId xmlns:a16="http://schemas.microsoft.com/office/drawing/2014/main" id="{45AF0C58-910A-4EDF-8A7A-4CFD92D58009}"/>
              </a:ext>
            </a:extLst>
          </p:cNvPr>
          <p:cNvSpPr>
            <a:spLocks xmlns:a="http://schemas.openxmlformats.org/drawingml/2006/main" noGrp="1"/>
          </p:cNvSpPr>
          <p:nvPr/>
        </p:nvSpPr>
        <p:spPr>
          <a:xfrm xmlns:a="http://schemas.openxmlformats.org/drawingml/2006/main">
            <a:off x="904875" y="18097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216B66"/>
                </a:solidFill>
                <a:latin typeface="Arial"/>
                <a:ea typeface="Arial"/>
                <a:cs typeface="Arial"/>
              </a:defRPr>
            </a:defPPr>
            <a:lvl1pPr>
              <a:defRPr sz="2325" b="1">
                <a:solidFill>
                  <a:srgbClr val="216B66"/>
                </a:solidFill>
                <a:latin typeface="Arial"/>
                <a:ea typeface="Arial"/>
                <a:cs typeface="Arial"/>
              </a:defRPr>
            </a:lvl1pPr>
            <a:lvl2pPr>
              <a:defRPr sz="2325" b="1">
                <a:solidFill>
                  <a:srgbClr val="216B66"/>
                </a:solidFill>
                <a:latin typeface="Arial"/>
                <a:ea typeface="Arial"/>
                <a:cs typeface="Arial"/>
              </a:defRPr>
            </a:lvl2pPr>
            <a:lvl3pPr>
              <a:defRPr sz="2325" b="1">
                <a:solidFill>
                  <a:srgbClr val="216B66"/>
                </a:solidFill>
                <a:latin typeface="Arial"/>
                <a:ea typeface="Arial"/>
                <a:cs typeface="Arial"/>
              </a:defRPr>
            </a:lvl3pPr>
            <a:lvl4pPr>
              <a:defRPr sz="2325" b="1">
                <a:solidFill>
                  <a:srgbClr val="216B66"/>
                </a:solidFill>
                <a:latin typeface="Arial"/>
                <a:ea typeface="Arial"/>
                <a:cs typeface="Arial"/>
              </a:defRPr>
            </a:lvl4pPr>
            <a:lvl5pPr>
              <a:defRPr sz="2325" b="1">
                <a:solidFill>
                  <a:srgbClr val="216B66"/>
                </a:solidFill>
                <a:latin typeface="Arial"/>
                <a:ea typeface="Arial"/>
                <a:cs typeface="Arial"/>
              </a:defRPr>
            </a:lvl5pPr>
            <a:lvl6pPr>
              <a:defRPr sz="2325" b="1">
                <a:solidFill>
                  <a:srgbClr val="216B66"/>
                </a:solidFill>
                <a:latin typeface="Arial"/>
                <a:ea typeface="Arial"/>
                <a:cs typeface="Arial"/>
              </a:defRPr>
            </a:lvl6pPr>
            <a:lvl7pPr>
              <a:defRPr sz="2325" b="1">
                <a:solidFill>
                  <a:srgbClr val="216B66"/>
                </a:solidFill>
                <a:latin typeface="Arial"/>
                <a:ea typeface="Arial"/>
                <a:cs typeface="Arial"/>
              </a:defRPr>
            </a:lvl7pPr>
            <a:lvl8pPr>
              <a:defRPr sz="2325" b="1">
                <a:solidFill>
                  <a:srgbClr val="216B66"/>
                </a:solidFill>
                <a:latin typeface="Arial"/>
                <a:ea typeface="Arial"/>
                <a:cs typeface="Arial"/>
              </a:defRPr>
            </a:lvl8pPr>
            <a:lvl9pPr>
              <a:defRPr sz="2325" b="1">
                <a:solidFill>
                  <a:srgbClr val="216B66"/>
                </a:solidFill>
                <a:latin typeface="Arial"/>
                <a:ea typeface="Arial"/>
                <a:cs typeface="Arial"/>
              </a:defRPr>
            </a:lvl9pPr>
          </a:lstStyle>
          <a:p xmlns:a="http://schemas.openxmlformats.org/drawingml/2006/main">
            <a:pPr>
              <a:lnSpc>
                <a:spcPct val="112000"/>
              </a:lnSpc>
              <a:buNone/>
              <a:defRPr sz="2325" b="1">
                <a:solidFill>
                  <a:srgbClr val="216B66"/>
                </a:solidFill>
                <a:latin typeface="Arial"/>
                <a:ea typeface="Arial"/>
                <a:cs typeface="Arial"/>
              </a:defRPr>
            </a:pPr>
            <a:r>
              <a:rPr sz="2325" b="1">
                <a:solidFill>
                  <a:srgbClr val="216B66"/>
                </a:solidFill>
                <a:latin typeface="Arial"/>
                <a:ea typeface="Arial"/>
                <a:cs typeface="Arial"/>
              </a:rPr>
              <a:t>80 hàm trong backend/ và 20 hàm trong src/</a:t>
            </a:r>
          </a:p>
        </p:txBody>
      </p:sp>
      <p:sp>
        <p:nvSpPr>
          <p:cNvPr id="5" name="fact-1">
            <a:extLst xmlns:a="http://schemas.openxmlformats.org/drawingml/2006/main">
              <a:ext uri="{FF2B5EF4-FFF2-40B4-BE49-F238E27FC236}">
                <a16:creationId xmlns:a16="http://schemas.microsoft.com/office/drawing/2014/main" id="{6B9FAD2F-0D63-4C86-8E8B-95E6F9C2BE09}"/>
              </a:ext>
            </a:extLst>
          </p:cNvPr>
          <p:cNvSpPr>
            <a:spLocks xmlns:a="http://schemas.openxmlformats.org/drawingml/2006/main" noGrp="1"/>
          </p:cNvSpPr>
          <p:nvPr/>
        </p:nvSpPr>
        <p:spPr>
          <a:xfrm xmlns:a="http://schemas.openxmlformats.org/drawingml/2006/main">
            <a:off x="904875" y="29146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72E32"/>
                </a:solidFill>
                <a:latin typeface="Arial"/>
                <a:ea typeface="Arial"/>
                <a:cs typeface="Arial"/>
              </a:defRPr>
            </a:defPPr>
            <a:lvl1pPr>
              <a:defRPr sz="2325" b="0">
                <a:solidFill>
                  <a:srgbClr val="172E32"/>
                </a:solidFill>
                <a:latin typeface="Arial"/>
                <a:ea typeface="Arial"/>
                <a:cs typeface="Arial"/>
              </a:defRPr>
            </a:lvl1pPr>
            <a:lvl2pPr>
              <a:defRPr sz="2325" b="0">
                <a:solidFill>
                  <a:srgbClr val="172E32"/>
                </a:solidFill>
                <a:latin typeface="Arial"/>
                <a:ea typeface="Arial"/>
                <a:cs typeface="Arial"/>
              </a:defRPr>
            </a:lvl2pPr>
            <a:lvl3pPr>
              <a:defRPr sz="2325" b="0">
                <a:solidFill>
                  <a:srgbClr val="172E32"/>
                </a:solidFill>
                <a:latin typeface="Arial"/>
                <a:ea typeface="Arial"/>
                <a:cs typeface="Arial"/>
              </a:defRPr>
            </a:lvl3pPr>
            <a:lvl4pPr>
              <a:defRPr sz="2325" b="0">
                <a:solidFill>
                  <a:srgbClr val="172E32"/>
                </a:solidFill>
                <a:latin typeface="Arial"/>
                <a:ea typeface="Arial"/>
                <a:cs typeface="Arial"/>
              </a:defRPr>
            </a:lvl4pPr>
            <a:lvl5pPr>
              <a:defRPr sz="2325" b="0">
                <a:solidFill>
                  <a:srgbClr val="172E32"/>
                </a:solidFill>
                <a:latin typeface="Arial"/>
                <a:ea typeface="Arial"/>
                <a:cs typeface="Arial"/>
              </a:defRPr>
            </a:lvl5pPr>
            <a:lvl6pPr>
              <a:defRPr sz="2325" b="0">
                <a:solidFill>
                  <a:srgbClr val="172E32"/>
                </a:solidFill>
                <a:latin typeface="Arial"/>
                <a:ea typeface="Arial"/>
                <a:cs typeface="Arial"/>
              </a:defRPr>
            </a:lvl6pPr>
            <a:lvl7pPr>
              <a:defRPr sz="2325" b="0">
                <a:solidFill>
                  <a:srgbClr val="172E32"/>
                </a:solidFill>
                <a:latin typeface="Arial"/>
                <a:ea typeface="Arial"/>
                <a:cs typeface="Arial"/>
              </a:defRPr>
            </a:lvl7pPr>
            <a:lvl8pPr>
              <a:defRPr sz="2325" b="0">
                <a:solidFill>
                  <a:srgbClr val="172E32"/>
                </a:solidFill>
                <a:latin typeface="Arial"/>
                <a:ea typeface="Arial"/>
                <a:cs typeface="Arial"/>
              </a:defRPr>
            </a:lvl8pPr>
            <a:lvl9pPr>
              <a:defRPr sz="2325" b="0">
                <a:solidFill>
                  <a:srgbClr val="172E32"/>
                </a:solidFill>
                <a:latin typeface="Arial"/>
                <a:ea typeface="Arial"/>
                <a:cs typeface="Arial"/>
              </a:defRPr>
            </a:lvl9pPr>
          </a:lstStyle>
          <a:p xmlns:a="http://schemas.openxmlformats.org/drawingml/2006/main">
            <a:pPr>
              <a:lnSpc>
                <a:spcPct val="112000"/>
              </a:lnSpc>
              <a:buNone/>
              <a:defRPr sz="2325" b="0">
                <a:solidFill>
                  <a:srgbClr val="172E32"/>
                </a:solidFill>
                <a:latin typeface="Arial"/>
                <a:ea typeface="Arial"/>
                <a:cs typeface="Arial"/>
              </a:defRPr>
            </a:pPr>
            <a:r>
              <a:rPr sz="2325" b="0">
                <a:solidFill>
                  <a:srgbClr val="172E32"/>
                </a:solidFill>
                <a:latin typeface="Arial"/>
                <a:ea typeface="Arial"/>
                <a:cs typeface="Arial"/>
              </a:rPr>
              <a:t>Mỗi hàm có chức năng, đầu vào, đầu ra và code nguyên văn</a:t>
            </a:r>
          </a:p>
        </p:txBody>
      </p:sp>
      <p:sp>
        <p:nvSpPr>
          <p:cNvPr id="6" name="fact-2">
            <a:extLst xmlns:a="http://schemas.openxmlformats.org/drawingml/2006/main">
              <a:ext uri="{FF2B5EF4-FFF2-40B4-BE49-F238E27FC236}">
                <a16:creationId xmlns:a16="http://schemas.microsoft.com/office/drawing/2014/main" id="{E4F81CB0-7628-42E0-9C47-19D27778AB4A}"/>
              </a:ext>
            </a:extLst>
          </p:cNvPr>
          <p:cNvSpPr>
            <a:spLocks xmlns:a="http://schemas.openxmlformats.org/drawingml/2006/main" noGrp="1"/>
          </p:cNvSpPr>
          <p:nvPr/>
        </p:nvSpPr>
        <p:spPr>
          <a:xfrm xmlns:a="http://schemas.openxmlformats.org/drawingml/2006/main">
            <a:off x="904875" y="40195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72E32"/>
                </a:solidFill>
                <a:latin typeface="Arial"/>
                <a:ea typeface="Arial"/>
                <a:cs typeface="Arial"/>
              </a:defRPr>
            </a:defPPr>
            <a:lvl1pPr>
              <a:defRPr sz="2325" b="0">
                <a:solidFill>
                  <a:srgbClr val="172E32"/>
                </a:solidFill>
                <a:latin typeface="Arial"/>
                <a:ea typeface="Arial"/>
                <a:cs typeface="Arial"/>
              </a:defRPr>
            </a:lvl1pPr>
            <a:lvl2pPr>
              <a:defRPr sz="2325" b="0">
                <a:solidFill>
                  <a:srgbClr val="172E32"/>
                </a:solidFill>
                <a:latin typeface="Arial"/>
                <a:ea typeface="Arial"/>
                <a:cs typeface="Arial"/>
              </a:defRPr>
            </a:lvl2pPr>
            <a:lvl3pPr>
              <a:defRPr sz="2325" b="0">
                <a:solidFill>
                  <a:srgbClr val="172E32"/>
                </a:solidFill>
                <a:latin typeface="Arial"/>
                <a:ea typeface="Arial"/>
                <a:cs typeface="Arial"/>
              </a:defRPr>
            </a:lvl3pPr>
            <a:lvl4pPr>
              <a:defRPr sz="2325" b="0">
                <a:solidFill>
                  <a:srgbClr val="172E32"/>
                </a:solidFill>
                <a:latin typeface="Arial"/>
                <a:ea typeface="Arial"/>
                <a:cs typeface="Arial"/>
              </a:defRPr>
            </a:lvl4pPr>
            <a:lvl5pPr>
              <a:defRPr sz="2325" b="0">
                <a:solidFill>
                  <a:srgbClr val="172E32"/>
                </a:solidFill>
                <a:latin typeface="Arial"/>
                <a:ea typeface="Arial"/>
                <a:cs typeface="Arial"/>
              </a:defRPr>
            </a:lvl5pPr>
            <a:lvl6pPr>
              <a:defRPr sz="2325" b="0">
                <a:solidFill>
                  <a:srgbClr val="172E32"/>
                </a:solidFill>
                <a:latin typeface="Arial"/>
                <a:ea typeface="Arial"/>
                <a:cs typeface="Arial"/>
              </a:defRPr>
            </a:lvl6pPr>
            <a:lvl7pPr>
              <a:defRPr sz="2325" b="0">
                <a:solidFill>
                  <a:srgbClr val="172E32"/>
                </a:solidFill>
                <a:latin typeface="Arial"/>
                <a:ea typeface="Arial"/>
                <a:cs typeface="Arial"/>
              </a:defRPr>
            </a:lvl7pPr>
            <a:lvl8pPr>
              <a:defRPr sz="2325" b="0">
                <a:solidFill>
                  <a:srgbClr val="172E32"/>
                </a:solidFill>
                <a:latin typeface="Arial"/>
                <a:ea typeface="Arial"/>
                <a:cs typeface="Arial"/>
              </a:defRPr>
            </a:lvl8pPr>
            <a:lvl9pPr>
              <a:defRPr sz="2325" b="0">
                <a:solidFill>
                  <a:srgbClr val="172E32"/>
                </a:solidFill>
                <a:latin typeface="Arial"/>
                <a:ea typeface="Arial"/>
                <a:cs typeface="Arial"/>
              </a:defRPr>
            </a:lvl9pPr>
          </a:lstStyle>
          <a:p xmlns:a="http://schemas.openxmlformats.org/drawingml/2006/main">
            <a:pPr>
              <a:lnSpc>
                <a:spcPct val="112000"/>
              </a:lnSpc>
              <a:buNone/>
              <a:defRPr sz="2325" b="0">
                <a:solidFill>
                  <a:srgbClr val="172E32"/>
                </a:solidFill>
                <a:latin typeface="Arial"/>
                <a:ea typeface="Arial"/>
                <a:cs typeface="Arial"/>
              </a:defRPr>
            </a:pPr>
            <a:r>
              <a:rPr sz="2325" b="0">
                <a:solidFill>
                  <a:srgbClr val="172E32"/>
                </a:solidFill>
                <a:latin typeface="Arial"/>
                <a:ea typeface="Arial"/>
                <a:cs typeface="Arial"/>
              </a:rPr>
              <a:t>File cùng số dòng giúp mở đúng vị trí khi được hỏi</a:t>
            </a:r>
          </a:p>
        </p:txBody>
      </p:sp>
      <p:sp>
        <p:nvSpPr>
          <p:cNvPr id="7" name="fact-3">
            <a:extLst xmlns:a="http://schemas.openxmlformats.org/drawingml/2006/main">
              <a:ext uri="{FF2B5EF4-FFF2-40B4-BE49-F238E27FC236}">
                <a16:creationId xmlns:a16="http://schemas.microsoft.com/office/drawing/2014/main" id="{E396FACB-F470-4CEE-8DD8-15BA6134A114}"/>
              </a:ext>
            </a:extLst>
          </p:cNvPr>
          <p:cNvSpPr>
            <a:spLocks xmlns:a="http://schemas.openxmlformats.org/drawingml/2006/main" noGrp="1"/>
          </p:cNvSpPr>
          <p:nvPr/>
        </p:nvSpPr>
        <p:spPr>
          <a:xfrm xmlns:a="http://schemas.openxmlformats.org/drawingml/2006/main">
            <a:off x="904875" y="51244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72E32"/>
                </a:solidFill>
                <a:latin typeface="Arial"/>
                <a:ea typeface="Arial"/>
                <a:cs typeface="Arial"/>
              </a:defRPr>
            </a:defPPr>
            <a:lvl1pPr>
              <a:defRPr sz="2325" b="0">
                <a:solidFill>
                  <a:srgbClr val="172E32"/>
                </a:solidFill>
                <a:latin typeface="Arial"/>
                <a:ea typeface="Arial"/>
                <a:cs typeface="Arial"/>
              </a:defRPr>
            </a:lvl1pPr>
            <a:lvl2pPr>
              <a:defRPr sz="2325" b="0">
                <a:solidFill>
                  <a:srgbClr val="172E32"/>
                </a:solidFill>
                <a:latin typeface="Arial"/>
                <a:ea typeface="Arial"/>
                <a:cs typeface="Arial"/>
              </a:defRPr>
            </a:lvl2pPr>
            <a:lvl3pPr>
              <a:defRPr sz="2325" b="0">
                <a:solidFill>
                  <a:srgbClr val="172E32"/>
                </a:solidFill>
                <a:latin typeface="Arial"/>
                <a:ea typeface="Arial"/>
                <a:cs typeface="Arial"/>
              </a:defRPr>
            </a:lvl3pPr>
            <a:lvl4pPr>
              <a:defRPr sz="2325" b="0">
                <a:solidFill>
                  <a:srgbClr val="172E32"/>
                </a:solidFill>
                <a:latin typeface="Arial"/>
                <a:ea typeface="Arial"/>
                <a:cs typeface="Arial"/>
              </a:defRPr>
            </a:lvl4pPr>
            <a:lvl5pPr>
              <a:defRPr sz="2325" b="0">
                <a:solidFill>
                  <a:srgbClr val="172E32"/>
                </a:solidFill>
                <a:latin typeface="Arial"/>
                <a:ea typeface="Arial"/>
                <a:cs typeface="Arial"/>
              </a:defRPr>
            </a:lvl5pPr>
            <a:lvl6pPr>
              <a:defRPr sz="2325" b="0">
                <a:solidFill>
                  <a:srgbClr val="172E32"/>
                </a:solidFill>
                <a:latin typeface="Arial"/>
                <a:ea typeface="Arial"/>
                <a:cs typeface="Arial"/>
              </a:defRPr>
            </a:lvl6pPr>
            <a:lvl7pPr>
              <a:defRPr sz="2325" b="0">
                <a:solidFill>
                  <a:srgbClr val="172E32"/>
                </a:solidFill>
                <a:latin typeface="Arial"/>
                <a:ea typeface="Arial"/>
                <a:cs typeface="Arial"/>
              </a:defRPr>
            </a:lvl7pPr>
            <a:lvl8pPr>
              <a:defRPr sz="2325" b="0">
                <a:solidFill>
                  <a:srgbClr val="172E32"/>
                </a:solidFill>
                <a:latin typeface="Arial"/>
                <a:ea typeface="Arial"/>
                <a:cs typeface="Arial"/>
              </a:defRPr>
            </a:lvl8pPr>
            <a:lvl9pPr>
              <a:defRPr sz="2325" b="0">
                <a:solidFill>
                  <a:srgbClr val="172E32"/>
                </a:solidFill>
                <a:latin typeface="Arial"/>
                <a:ea typeface="Arial"/>
                <a:cs typeface="Arial"/>
              </a:defRPr>
            </a:lvl9pPr>
          </a:lstStyle>
          <a:p xmlns:a="http://schemas.openxmlformats.org/drawingml/2006/main">
            <a:pPr>
              <a:lnSpc>
                <a:spcPct val="112000"/>
              </a:lnSpc>
              <a:buNone/>
              <a:defRPr sz="2325" b="0">
                <a:solidFill>
                  <a:srgbClr val="172E32"/>
                </a:solidFill>
                <a:latin typeface="Arial"/>
                <a:ea typeface="Arial"/>
                <a:cs typeface="Arial"/>
              </a:defRPr>
            </a:pPr>
            <a:r>
              <a:rPr sz="2325" b="0">
                <a:solidFill>
                  <a:srgbClr val="172E32"/>
                </a:solidFill>
                <a:latin typeface="Arial"/>
                <a:ea typeface="Arial"/>
                <a:cs typeface="Arial"/>
              </a:rPr>
              <a:t>Hàm tương thích Streamlit được ghi rõ để tránh nhầm đường chạy</a:t>
            </a:r>
          </a:p>
        </p:txBody>
      </p:sp>
      <p:sp>
        <p:nvSpPr>
          <p:cNvPr id="8" name="fact-4">
            <a:extLst xmlns:a="http://schemas.openxmlformats.org/drawingml/2006/main">
              <a:ext uri="{FF2B5EF4-FFF2-40B4-BE49-F238E27FC236}">
                <a16:creationId xmlns:a16="http://schemas.microsoft.com/office/drawing/2014/main" id="{E7388FE8-2C7D-4EE7-8884-DA1C3E1614C3}"/>
              </a:ext>
            </a:extLst>
          </p:cNvPr>
          <p:cNvSpPr>
            <a:spLocks xmlns:a="http://schemas.openxmlformats.org/drawingml/2006/main" noGrp="1"/>
          </p:cNvSpPr>
          <p:nvPr/>
        </p:nvSpPr>
        <p:spPr>
          <a:xfrm xmlns:a="http://schemas.openxmlformats.org/drawingml/2006/main">
            <a:off x="904875" y="62293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172E32"/>
                </a:solidFill>
                <a:latin typeface="Arial"/>
                <a:ea typeface="Arial"/>
                <a:cs typeface="Arial"/>
              </a:defRPr>
            </a:defPPr>
            <a:lvl1pPr>
              <a:defRPr sz="2325" b="0">
                <a:solidFill>
                  <a:srgbClr val="172E32"/>
                </a:solidFill>
                <a:latin typeface="Arial"/>
                <a:ea typeface="Arial"/>
                <a:cs typeface="Arial"/>
              </a:defRPr>
            </a:lvl1pPr>
            <a:lvl2pPr>
              <a:defRPr sz="2325" b="0">
                <a:solidFill>
                  <a:srgbClr val="172E32"/>
                </a:solidFill>
                <a:latin typeface="Arial"/>
                <a:ea typeface="Arial"/>
                <a:cs typeface="Arial"/>
              </a:defRPr>
            </a:lvl2pPr>
            <a:lvl3pPr>
              <a:defRPr sz="2325" b="0">
                <a:solidFill>
                  <a:srgbClr val="172E32"/>
                </a:solidFill>
                <a:latin typeface="Arial"/>
                <a:ea typeface="Arial"/>
                <a:cs typeface="Arial"/>
              </a:defRPr>
            </a:lvl3pPr>
            <a:lvl4pPr>
              <a:defRPr sz="2325" b="0">
                <a:solidFill>
                  <a:srgbClr val="172E32"/>
                </a:solidFill>
                <a:latin typeface="Arial"/>
                <a:ea typeface="Arial"/>
                <a:cs typeface="Arial"/>
              </a:defRPr>
            </a:lvl4pPr>
            <a:lvl5pPr>
              <a:defRPr sz="2325" b="0">
                <a:solidFill>
                  <a:srgbClr val="172E32"/>
                </a:solidFill>
                <a:latin typeface="Arial"/>
                <a:ea typeface="Arial"/>
                <a:cs typeface="Arial"/>
              </a:defRPr>
            </a:lvl5pPr>
            <a:lvl6pPr>
              <a:defRPr sz="2325" b="0">
                <a:solidFill>
                  <a:srgbClr val="172E32"/>
                </a:solidFill>
                <a:latin typeface="Arial"/>
                <a:ea typeface="Arial"/>
                <a:cs typeface="Arial"/>
              </a:defRPr>
            </a:lvl6pPr>
            <a:lvl7pPr>
              <a:defRPr sz="2325" b="0">
                <a:solidFill>
                  <a:srgbClr val="172E32"/>
                </a:solidFill>
                <a:latin typeface="Arial"/>
                <a:ea typeface="Arial"/>
                <a:cs typeface="Arial"/>
              </a:defRPr>
            </a:lvl7pPr>
            <a:lvl8pPr>
              <a:defRPr sz="2325" b="0">
                <a:solidFill>
                  <a:srgbClr val="172E32"/>
                </a:solidFill>
                <a:latin typeface="Arial"/>
                <a:ea typeface="Arial"/>
                <a:cs typeface="Arial"/>
              </a:defRPr>
            </a:lvl8pPr>
            <a:lvl9pPr>
              <a:defRPr sz="2325" b="0">
                <a:solidFill>
                  <a:srgbClr val="172E32"/>
                </a:solidFill>
                <a:latin typeface="Arial"/>
                <a:ea typeface="Arial"/>
                <a:cs typeface="Arial"/>
              </a:defRPr>
            </a:lvl9pPr>
          </a:lstStyle>
          <a:p xmlns:a="http://schemas.openxmlformats.org/drawingml/2006/main">
            <a:pPr>
              <a:lnSpc>
                <a:spcPct val="112000"/>
              </a:lnSpc>
              <a:buNone/>
              <a:defRPr sz="2325" b="0">
                <a:solidFill>
                  <a:srgbClr val="172E32"/>
                </a:solidFill>
                <a:latin typeface="Arial"/>
                <a:ea typeface="Arial"/>
                <a:cs typeface="Arial"/>
              </a:defRPr>
            </a:pPr>
            <a:r>
              <a:rPr sz="2325" b="0">
                <a:solidFill>
                  <a:srgbClr val="172E32"/>
                </a:solidFill>
                <a:latin typeface="Arial"/>
                <a:ea typeface="Arial"/>
                <a:cs typeface="Arial"/>
              </a:rPr>
              <a:t>Tài liệu đi kèm chứa toàn bộ thân hàm và mục lục</a:t>
            </a:r>
          </a:p>
        </p:txBody>
      </p:sp>
    </p:spTree>
    <p:extLst>
      <p:ext uri="{BB962C8B-B14F-4D97-AF65-F5344CB8AC3E}">
        <p14:creationId xmlns:p14="http://schemas.microsoft.com/office/powerpoint/2010/main" val="914191844"/>
      </p:ext>
    </p:extLst>
  </p:cSld>
</p:sld>
</file>

<file path=ppt/slides/slide3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E6A09A2-F7D5-42B9-B643-3C28BC645952}"/>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(1–2/27)</a:t>
            </a:r>
          </a:p>
        </p:txBody>
      </p:sp>
      <p:sp>
        <p:nvSpPr>
          <p:cNvPr id="3" name="page-number">
            <a:extLst xmlns:a="http://schemas.openxmlformats.org/drawingml/2006/main">
              <a:ext uri="{FF2B5EF4-FFF2-40B4-BE49-F238E27FC236}">
                <a16:creationId xmlns:a16="http://schemas.microsoft.com/office/drawing/2014/main" id="{4319645F-00C3-4A75-BA5A-57960041D9BE}"/>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35 / 88</a:t>
            </a:r>
          </a:p>
        </p:txBody>
      </p:sp>
      <p:sp>
        <p:nvSpPr>
          <p:cNvPr id="4" name="function-name-0">
            <a:extLst xmlns:a="http://schemas.openxmlformats.org/drawingml/2006/main">
              <a:ext uri="{FF2B5EF4-FFF2-40B4-BE49-F238E27FC236}">
                <a16:creationId xmlns:a16="http://schemas.microsoft.com/office/drawing/2014/main" id="{A1FC47DD-E9AF-4B9C-80DF-8803A18E3D43}"/>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RateLimiter.__init__</a:t>
            </a:r>
          </a:p>
        </p:txBody>
      </p:sp>
      <p:sp>
        <p:nvSpPr>
          <p:cNvPr id="5" name="function-purpose-0">
            <a:extLst xmlns:a="http://schemas.openxmlformats.org/drawingml/2006/main">
              <a:ext uri="{FF2B5EF4-FFF2-40B4-BE49-F238E27FC236}">
                <a16:creationId xmlns:a16="http://schemas.microsoft.com/office/drawing/2014/main" id="{46B6EA5A-0FB9-49C6-B8C4-596F1F18EB51}"/>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Khởi tạo bộ đếm request và khóa để nhiều luồng cập nhật an toàn.</a:t>
            </a:r>
          </a:p>
        </p:txBody>
      </p:sp>
      <p:sp>
        <p:nvSpPr>
          <p:cNvPr id="6" name="function-io-0">
            <a:extLst xmlns:a="http://schemas.openxmlformats.org/drawingml/2006/main">
              <a:ext uri="{FF2B5EF4-FFF2-40B4-BE49-F238E27FC236}">
                <a16:creationId xmlns:a16="http://schemas.microsoft.com/office/drawing/2014/main" id="{E603FB9A-12F3-4BDB-BF5C-2B7CA34D0832}"/>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không có tham số ngoài đối tượng.  Ra / tác động: Khởi tạo entries và lock trên đối tượng.</a:t>
            </a:r>
          </a:p>
        </p:txBody>
      </p:sp>
      <p:sp>
        <p:nvSpPr>
          <p:cNvPr id="7" name="function-code-0">
            <a:extLst xmlns:a="http://schemas.openxmlformats.org/drawingml/2006/main">
              <a:ext uri="{FF2B5EF4-FFF2-40B4-BE49-F238E27FC236}">
                <a16:creationId xmlns:a16="http://schemas.microsoft.com/office/drawing/2014/main" id="{CFD989EE-AAF9-41E4-B610-262A59B5EAE2}"/>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32      def __init__(self):</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33          self.entries =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34          self.lock = threading.Lock()</a:t>
            </a:r>
          </a:p>
        </p:txBody>
      </p:sp>
      <p:sp>
        <p:nvSpPr>
          <p:cNvPr id="8" name="function-source-0">
            <a:extLst xmlns:a="http://schemas.openxmlformats.org/drawingml/2006/main">
              <a:ext uri="{FF2B5EF4-FFF2-40B4-BE49-F238E27FC236}">
                <a16:creationId xmlns:a16="http://schemas.microsoft.com/office/drawing/2014/main" id="{A79E7B5E-F6AD-4B27-B860-CDE07560349F}"/>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backend/main.py:32–34     Đoạn trích: 32–34</a:t>
            </a:r>
          </a:p>
        </p:txBody>
      </p:sp>
      <p:sp>
        <p:nvSpPr>
          <p:cNvPr id="9" name="function-name-1">
            <a:extLst xmlns:a="http://schemas.openxmlformats.org/drawingml/2006/main">
              <a:ext uri="{FF2B5EF4-FFF2-40B4-BE49-F238E27FC236}">
                <a16:creationId xmlns:a16="http://schemas.microsoft.com/office/drawing/2014/main" id="{D45E443F-9679-454B-ADC9-33F1CC5DF22F}"/>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RateLimiter.check</a:t>
            </a:r>
          </a:p>
        </p:txBody>
      </p:sp>
      <p:sp>
        <p:nvSpPr>
          <p:cNvPr id="10" name="function-purpose-1">
            <a:extLst xmlns:a="http://schemas.openxmlformats.org/drawingml/2006/main">
              <a:ext uri="{FF2B5EF4-FFF2-40B4-BE49-F238E27FC236}">
                <a16:creationId xmlns:a16="http://schemas.microsoft.com/office/drawing/2014/main" id="{6FB8BF7A-60F4-4836-86DC-089619C5C3E9}"/>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Chặn khi số request của một IP hoặc phiên vượt giới hạn trong 60 giây.</a:t>
            </a:r>
          </a:p>
        </p:txBody>
      </p:sp>
      <p:sp>
        <p:nvSpPr>
          <p:cNvPr id="11" name="function-io-1">
            <a:extLst xmlns:a="http://schemas.openxmlformats.org/drawingml/2006/main">
              <a:ext uri="{FF2B5EF4-FFF2-40B4-BE49-F238E27FC236}">
                <a16:creationId xmlns:a16="http://schemas.microsoft.com/office/drawing/2014/main" id="{367C183A-5465-4946-BB34-98E59D789EDA}"/>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bucket, identity, limit.  Ra / tác động: Không trả dữ liệu, hoặc ném ApiProblem 429.</a:t>
            </a:r>
          </a:p>
        </p:txBody>
      </p:sp>
      <p:sp>
        <p:nvSpPr>
          <p:cNvPr id="12" name="function-code-1">
            <a:extLst xmlns:a="http://schemas.openxmlformats.org/drawingml/2006/main">
              <a:ext uri="{FF2B5EF4-FFF2-40B4-BE49-F238E27FC236}">
                <a16:creationId xmlns:a16="http://schemas.microsoft.com/office/drawing/2014/main" id="{7EB4CD6B-E00F-4634-AE9A-9AD2A4716670}"/>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37      def check(self, bucket, identity, limit):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38          now = time.monotonic()</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39          with self.lock:</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40              self.entries = {k: q for k, q in self.entries.items() if q and q[-1] &gt; now - 60}</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41              queue = self.entries.setdefault((bucket, identity), deque())</a:t>
            </a:r>
          </a:p>
        </p:txBody>
      </p:sp>
      <p:sp>
        <p:nvSpPr>
          <p:cNvPr id="13" name="function-source-1">
            <a:extLst xmlns:a="http://schemas.openxmlformats.org/drawingml/2006/main">
              <a:ext uri="{FF2B5EF4-FFF2-40B4-BE49-F238E27FC236}">
                <a16:creationId xmlns:a16="http://schemas.microsoft.com/office/drawing/2014/main" id="{98496252-2A94-45EE-A2DC-F5F90F65D7A3}"/>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backend/main.py:37–46     Đoạn trích: 37–41</a:t>
            </a:r>
          </a:p>
        </p:txBody>
      </p:sp>
    </p:spTree>
    <p:extLst>
      <p:ext uri="{BB962C8B-B14F-4D97-AF65-F5344CB8AC3E}">
        <p14:creationId xmlns:p14="http://schemas.microsoft.com/office/powerpoint/2010/main" val="2097019224"/>
      </p:ext>
    </p:extLst>
  </p:cSld>
</p:sld>
</file>

<file path=ppt/slides/slide3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702FAC6-0968-44A1-BA1B-011768E31B14}"/>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(3–4/27)</a:t>
            </a:r>
          </a:p>
        </p:txBody>
      </p:sp>
      <p:sp>
        <p:nvSpPr>
          <p:cNvPr id="3" name="page-number">
            <a:extLst xmlns:a="http://schemas.openxmlformats.org/drawingml/2006/main">
              <a:ext uri="{FF2B5EF4-FFF2-40B4-BE49-F238E27FC236}">
                <a16:creationId xmlns:a16="http://schemas.microsoft.com/office/drawing/2014/main" id="{9D4BD494-5FF9-434A-99EB-9656B5C736B2}"/>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36 / 88</a:t>
            </a:r>
          </a:p>
        </p:txBody>
      </p:sp>
      <p:sp>
        <p:nvSpPr>
          <p:cNvPr id="4" name="function-name-0">
            <a:extLst xmlns:a="http://schemas.openxmlformats.org/drawingml/2006/main">
              <a:ext uri="{FF2B5EF4-FFF2-40B4-BE49-F238E27FC236}">
                <a16:creationId xmlns:a16="http://schemas.microsoft.com/office/drawing/2014/main" id="{8FDBAA5B-14B4-4B4E-B8BF-B7B3FEBDE2C6}"/>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_error</a:t>
            </a:r>
          </a:p>
        </p:txBody>
      </p:sp>
      <p:sp>
        <p:nvSpPr>
          <p:cNvPr id="5" name="function-purpose-0">
            <a:extLst xmlns:a="http://schemas.openxmlformats.org/drawingml/2006/main">
              <a:ext uri="{FF2B5EF4-FFF2-40B4-BE49-F238E27FC236}">
                <a16:creationId xmlns:a16="http://schemas.microsoft.com/office/drawing/2014/main" id="{9C69E9E8-36A0-4ED6-ACDC-1A742AAC4A4B}"/>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Đóng gói lỗi thành JSON thống nhất, kèm request ID và thời gian chờ nếu bị giới hạn.</a:t>
            </a:r>
          </a:p>
        </p:txBody>
      </p:sp>
      <p:sp>
        <p:nvSpPr>
          <p:cNvPr id="6" name="function-io-0">
            <a:extLst xmlns:a="http://schemas.openxmlformats.org/drawingml/2006/main">
              <a:ext uri="{FF2B5EF4-FFF2-40B4-BE49-F238E27FC236}">
                <a16:creationId xmlns:a16="http://schemas.microsoft.com/office/drawing/2014/main" id="{733FACF2-CD70-472E-8F85-6BD1A7CDAB21}"/>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problem, request_id.  Ra / tác động: JSONResponse chứa error, fields và request_id.</a:t>
            </a:r>
          </a:p>
        </p:txBody>
      </p:sp>
      <p:sp>
        <p:nvSpPr>
          <p:cNvPr id="7" name="function-code-0">
            <a:extLst xmlns:a="http://schemas.openxmlformats.org/drawingml/2006/main">
              <a:ext uri="{FF2B5EF4-FFF2-40B4-BE49-F238E27FC236}">
                <a16:creationId xmlns:a16="http://schemas.microsoft.com/office/drawing/2014/main" id="{D7AD0F4E-7CC2-4B77-AB84-6F6C69CD58CC}"/>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50  def _error(problem, request_id=None):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51      headers = {"Retry-After": "60"} if problem.status == 429 else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52      return JSONResponse(status_code=problem.status, headers=headers,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53                          content={"error": {"code": problem.code, "message": problem.message,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54                                             "fields": problem.fields}, "request_id": request_id})</a:t>
            </a:r>
          </a:p>
        </p:txBody>
      </p:sp>
      <p:sp>
        <p:nvSpPr>
          <p:cNvPr id="8" name="function-source-0">
            <a:extLst xmlns:a="http://schemas.openxmlformats.org/drawingml/2006/main">
              <a:ext uri="{FF2B5EF4-FFF2-40B4-BE49-F238E27FC236}">
                <a16:creationId xmlns:a16="http://schemas.microsoft.com/office/drawing/2014/main" id="{653A3A1E-F2B8-45DD-97B7-ED2937D68F3A}"/>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backend/main.py:50–54     Đoạn trích: 50–54</a:t>
            </a:r>
          </a:p>
        </p:txBody>
      </p:sp>
      <p:sp>
        <p:nvSpPr>
          <p:cNvPr id="9" name="function-name-1">
            <a:extLst xmlns:a="http://schemas.openxmlformats.org/drawingml/2006/main">
              <a:ext uri="{FF2B5EF4-FFF2-40B4-BE49-F238E27FC236}">
                <a16:creationId xmlns:a16="http://schemas.microsoft.com/office/drawing/2014/main" id="{23B5EB04-DF6A-4405-A463-807DBB363D56}"/>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a:t>
            </a:r>
          </a:p>
        </p:txBody>
      </p:sp>
      <p:sp>
        <p:nvSpPr>
          <p:cNvPr id="10" name="function-purpose-1">
            <a:extLst xmlns:a="http://schemas.openxmlformats.org/drawingml/2006/main">
              <a:ext uri="{FF2B5EF4-FFF2-40B4-BE49-F238E27FC236}">
                <a16:creationId xmlns:a16="http://schemas.microsoft.com/office/drawing/2014/main" id="{0E6207BD-80C6-4E99-939E-6BB4BAF5F2AC}"/>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Tạo ứng dụng FastAPI, gắn cấu hình, LLM, middleware và các endpoint.</a:t>
            </a:r>
          </a:p>
        </p:txBody>
      </p:sp>
      <p:sp>
        <p:nvSpPr>
          <p:cNvPr id="11" name="function-io-1">
            <a:extLst xmlns:a="http://schemas.openxmlformats.org/drawingml/2006/main">
              <a:ext uri="{FF2B5EF4-FFF2-40B4-BE49-F238E27FC236}">
                <a16:creationId xmlns:a16="http://schemas.microsoft.com/office/drawing/2014/main" id="{9C5D494A-D2D6-4F46-9A8F-AC15126B9F99}"/>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settings, llm_client.  Ra / tác động: Đối tượng FastAPI đã gắn route và middleware.</a:t>
            </a:r>
          </a:p>
        </p:txBody>
      </p:sp>
      <p:sp>
        <p:nvSpPr>
          <p:cNvPr id="12" name="function-code-1">
            <a:extLst xmlns:a="http://schemas.openxmlformats.org/drawingml/2006/main">
              <a:ext uri="{FF2B5EF4-FFF2-40B4-BE49-F238E27FC236}">
                <a16:creationId xmlns:a16="http://schemas.microsoft.com/office/drawing/2014/main" id="{D75F6821-4E6B-4998-AB98-26D58064D15A}"/>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59      settings = settings or Settings.from_env()</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61      @asynccontextmanager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63      async def lifespan(app):</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64          initialize(settings.db_path)</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65          yield</a:t>
            </a:r>
          </a:p>
        </p:txBody>
      </p:sp>
      <p:sp>
        <p:nvSpPr>
          <p:cNvPr id="13" name="function-source-1">
            <a:extLst xmlns:a="http://schemas.openxmlformats.org/drawingml/2006/main">
              <a:ext uri="{FF2B5EF4-FFF2-40B4-BE49-F238E27FC236}">
                <a16:creationId xmlns:a16="http://schemas.microsoft.com/office/drawing/2014/main" id="{FAAE2432-DB03-4FAD-86A3-ECBACF00EA69}"/>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backend/main.py:58–245     Đoạn trích: 59–65</a:t>
            </a:r>
          </a:p>
        </p:txBody>
      </p:sp>
    </p:spTree>
    <p:extLst>
      <p:ext uri="{BB962C8B-B14F-4D97-AF65-F5344CB8AC3E}">
        <p14:creationId xmlns:p14="http://schemas.microsoft.com/office/powerpoint/2010/main" val="1952980860"/>
      </p:ext>
    </p:extLst>
  </p:cSld>
</p:sld>
</file>

<file path=ppt/slides/slide3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F168178-4ECA-492D-9764-0034DA65E211}"/>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(5–6/27)</a:t>
            </a:r>
          </a:p>
        </p:txBody>
      </p:sp>
      <p:sp>
        <p:nvSpPr>
          <p:cNvPr id="3" name="page-number">
            <a:extLst xmlns:a="http://schemas.openxmlformats.org/drawingml/2006/main">
              <a:ext uri="{FF2B5EF4-FFF2-40B4-BE49-F238E27FC236}">
                <a16:creationId xmlns:a16="http://schemas.microsoft.com/office/drawing/2014/main" id="{813F181A-5996-4F59-8D1E-28EFA9A6769A}"/>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37 / 88</a:t>
            </a:r>
          </a:p>
        </p:txBody>
      </p:sp>
      <p:sp>
        <p:nvSpPr>
          <p:cNvPr id="4" name="function-name-0">
            <a:extLst xmlns:a="http://schemas.openxmlformats.org/drawingml/2006/main">
              <a:ext uri="{FF2B5EF4-FFF2-40B4-BE49-F238E27FC236}">
                <a16:creationId xmlns:a16="http://schemas.microsoft.com/office/drawing/2014/main" id="{358FA458-0500-4984-880A-4F6DA2FCE3BC}"/>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create_app.lifespan</a:t>
            </a:r>
          </a:p>
        </p:txBody>
      </p:sp>
      <p:sp>
        <p:nvSpPr>
          <p:cNvPr id="5" name="function-purpose-0">
            <a:extLst xmlns:a="http://schemas.openxmlformats.org/drawingml/2006/main">
              <a:ext uri="{FF2B5EF4-FFF2-40B4-BE49-F238E27FC236}">
                <a16:creationId xmlns:a16="http://schemas.microsoft.com/office/drawing/2014/main" id="{3B70E7F9-6AFE-4B18-BF69-15CAF2F65082}"/>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Chuẩn bị database và catalog mẫu trước khi ứng dụng bắt đầu nhận request.</a:t>
            </a:r>
          </a:p>
        </p:txBody>
      </p:sp>
      <p:sp>
        <p:nvSpPr>
          <p:cNvPr id="6" name="function-io-0">
            <a:extLst xmlns:a="http://schemas.openxmlformats.org/drawingml/2006/main">
              <a:ext uri="{FF2B5EF4-FFF2-40B4-BE49-F238E27FC236}">
                <a16:creationId xmlns:a16="http://schemas.microsoft.com/office/drawing/2014/main" id="{1761E633-E6D3-41B4-BCB4-03E9BED9023E}"/>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app.  Ra / tác động: Async context manager khởi tạo DB trước yield.</a:t>
            </a:r>
          </a:p>
        </p:txBody>
      </p:sp>
      <p:sp>
        <p:nvSpPr>
          <p:cNvPr id="7" name="function-code-0">
            <a:extLst xmlns:a="http://schemas.openxmlformats.org/drawingml/2006/main">
              <a:ext uri="{FF2B5EF4-FFF2-40B4-BE49-F238E27FC236}">
                <a16:creationId xmlns:a16="http://schemas.microsoft.com/office/drawing/2014/main" id="{6506BA32-5289-4474-A136-EA0AB7AE17A4}"/>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63      async def lifespan(app):</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64          initialize(settings.db_path)</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65          yield</a:t>
            </a:r>
          </a:p>
        </p:txBody>
      </p:sp>
      <p:sp>
        <p:nvSpPr>
          <p:cNvPr id="8" name="function-source-0">
            <a:extLst xmlns:a="http://schemas.openxmlformats.org/drawingml/2006/main">
              <a:ext uri="{FF2B5EF4-FFF2-40B4-BE49-F238E27FC236}">
                <a16:creationId xmlns:a16="http://schemas.microsoft.com/office/drawing/2014/main" id="{C5E12310-070D-4D31-AED6-0068363FF350}"/>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backend/main.py:63–65     Đoạn trích: 63–65</a:t>
            </a:r>
          </a:p>
        </p:txBody>
      </p:sp>
      <p:sp>
        <p:nvSpPr>
          <p:cNvPr id="9" name="function-name-1">
            <a:extLst xmlns:a="http://schemas.openxmlformats.org/drawingml/2006/main">
              <a:ext uri="{FF2B5EF4-FFF2-40B4-BE49-F238E27FC236}">
                <a16:creationId xmlns:a16="http://schemas.microsoft.com/office/drawing/2014/main" id="{D13F4598-67E4-469A-8D5A-AAE8ED9B8A5B}"/>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create_app.request_context</a:t>
            </a:r>
          </a:p>
        </p:txBody>
      </p:sp>
      <p:sp>
        <p:nvSpPr>
          <p:cNvPr id="10" name="function-purpose-1">
            <a:extLst xmlns:a="http://schemas.openxmlformats.org/drawingml/2006/main">
              <a:ext uri="{FF2B5EF4-FFF2-40B4-BE49-F238E27FC236}">
                <a16:creationId xmlns:a16="http://schemas.microsoft.com/office/drawing/2014/main" id="{AFAC4E25-54E6-4CF1-A150-FFE71240D473}"/>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Gắn mã theo dõi, giới hạn request/kích thước body và xử lý lỗi chung cho mỗi lượt gọi.</a:t>
            </a:r>
          </a:p>
        </p:txBody>
      </p:sp>
      <p:sp>
        <p:nvSpPr>
          <p:cNvPr id="11" name="function-io-1">
            <a:extLst xmlns:a="http://schemas.openxmlformats.org/drawingml/2006/main">
              <a:ext uri="{FF2B5EF4-FFF2-40B4-BE49-F238E27FC236}">
                <a16:creationId xmlns:a16="http://schemas.microsoft.com/office/drawing/2014/main" id="{0AE6A9F3-9EEC-4FD8-9520-14EC913E0767}"/>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call_next.  Ra / tác động: HTTP response có X-Request-ID và Cache-Control.</a:t>
            </a:r>
          </a:p>
        </p:txBody>
      </p:sp>
      <p:sp>
        <p:nvSpPr>
          <p:cNvPr id="12" name="function-code-1">
            <a:extLst xmlns:a="http://schemas.openxmlformats.org/drawingml/2006/main">
              <a:ext uri="{FF2B5EF4-FFF2-40B4-BE49-F238E27FC236}">
                <a16:creationId xmlns:a16="http://schemas.microsoft.com/office/drawing/2014/main" id="{4BB967F2-FCF4-46D1-AAE6-CEE22BE3405D}"/>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75          request.state.request_id = uuid.uuid4().hex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76          try: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77              limiter.check("http", request.client.host if request.client else "local", settings.request_limit)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78              body = bytearray()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79              async for chunk in request.stream():</a:t>
            </a:r>
          </a:p>
        </p:txBody>
      </p:sp>
      <p:sp>
        <p:nvSpPr>
          <p:cNvPr id="13" name="function-source-1">
            <a:extLst xmlns:a="http://schemas.openxmlformats.org/drawingml/2006/main">
              <a:ext uri="{FF2B5EF4-FFF2-40B4-BE49-F238E27FC236}">
                <a16:creationId xmlns:a16="http://schemas.microsoft.com/office/drawing/2014/main" id="{8BF5E410-4CFC-444D-BFFD-83FB9CD521CA}"/>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backend/main.py:74–94     Đoạn trích: 75–79</a:t>
            </a:r>
          </a:p>
        </p:txBody>
      </p:sp>
    </p:spTree>
    <p:extLst>
      <p:ext uri="{BB962C8B-B14F-4D97-AF65-F5344CB8AC3E}">
        <p14:creationId xmlns:p14="http://schemas.microsoft.com/office/powerpoint/2010/main" val="1794860996"/>
      </p:ext>
    </p:extLst>
  </p:cSld>
</p:sld>
</file>

<file path=ppt/slides/slide3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BF78E344-1F0C-4C79-BF75-E115318401DB}"/>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(7–8/27)</a:t>
            </a:r>
          </a:p>
        </p:txBody>
      </p:sp>
      <p:sp>
        <p:nvSpPr>
          <p:cNvPr id="3" name="page-number">
            <a:extLst xmlns:a="http://schemas.openxmlformats.org/drawingml/2006/main">
              <a:ext uri="{FF2B5EF4-FFF2-40B4-BE49-F238E27FC236}">
                <a16:creationId xmlns:a16="http://schemas.microsoft.com/office/drawing/2014/main" id="{68AFDCA1-9A22-4ADC-8D97-C1046C966EE4}"/>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38 / 88</a:t>
            </a:r>
          </a:p>
        </p:txBody>
      </p:sp>
      <p:sp>
        <p:nvSpPr>
          <p:cNvPr id="4" name="function-name-0">
            <a:extLst xmlns:a="http://schemas.openxmlformats.org/drawingml/2006/main">
              <a:ext uri="{FF2B5EF4-FFF2-40B4-BE49-F238E27FC236}">
                <a16:creationId xmlns:a16="http://schemas.microsoft.com/office/drawing/2014/main" id="{93815A32-82CC-467B-91EE-39826B9C8B4F}"/>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create_app.api_error</a:t>
            </a:r>
          </a:p>
        </p:txBody>
      </p:sp>
      <p:sp>
        <p:nvSpPr>
          <p:cNvPr id="5" name="function-purpose-0">
            <a:extLst xmlns:a="http://schemas.openxmlformats.org/drawingml/2006/main">
              <a:ext uri="{FF2B5EF4-FFF2-40B4-BE49-F238E27FC236}">
                <a16:creationId xmlns:a16="http://schemas.microsoft.com/office/drawing/2014/main" id="{2297179A-F4FD-403E-96AF-86BC2BC925FC}"/>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Chuyển lỗi nghiệp vụ API thành phản hồi JSON có mã HTTP tương ứng.</a:t>
            </a:r>
          </a:p>
        </p:txBody>
      </p:sp>
      <p:sp>
        <p:nvSpPr>
          <p:cNvPr id="6" name="function-io-0">
            <a:extLst xmlns:a="http://schemas.openxmlformats.org/drawingml/2006/main">
              <a:ext uri="{FF2B5EF4-FFF2-40B4-BE49-F238E27FC236}">
                <a16:creationId xmlns:a16="http://schemas.microsoft.com/office/drawing/2014/main" id="{5B2B72C9-7461-4636-BDD7-4FDFB2A95091}"/>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err.  Ra / tác động: JSON lỗi nghiệp vụ API.</a:t>
            </a:r>
          </a:p>
        </p:txBody>
      </p:sp>
      <p:sp>
        <p:nvSpPr>
          <p:cNvPr id="7" name="function-code-0">
            <a:extLst xmlns:a="http://schemas.openxmlformats.org/drawingml/2006/main">
              <a:ext uri="{FF2B5EF4-FFF2-40B4-BE49-F238E27FC236}">
                <a16:creationId xmlns:a16="http://schemas.microsoft.com/office/drawing/2014/main" id="{FE89A9AC-DDF1-469A-8FD9-B275ED048326}"/>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98      async def api_error(request, err):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99          return _error(err, request.state.request_id)</a:t>
            </a:r>
          </a:p>
        </p:txBody>
      </p:sp>
      <p:sp>
        <p:nvSpPr>
          <p:cNvPr id="8" name="function-source-0">
            <a:extLst xmlns:a="http://schemas.openxmlformats.org/drawingml/2006/main">
              <a:ext uri="{FF2B5EF4-FFF2-40B4-BE49-F238E27FC236}">
                <a16:creationId xmlns:a16="http://schemas.microsoft.com/office/drawing/2014/main" id="{406CB990-2E94-40EB-BB63-1835F2A36DC3}"/>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backend/main.py:98–99     Đoạn trích: 98–99</a:t>
            </a:r>
          </a:p>
        </p:txBody>
      </p:sp>
      <p:sp>
        <p:nvSpPr>
          <p:cNvPr id="9" name="function-name-1">
            <a:extLst xmlns:a="http://schemas.openxmlformats.org/drawingml/2006/main">
              <a:ext uri="{FF2B5EF4-FFF2-40B4-BE49-F238E27FC236}">
                <a16:creationId xmlns:a16="http://schemas.microsoft.com/office/drawing/2014/main" id="{A299E637-26AC-4E4C-ABC4-E8694BDD5804}"/>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create_app.db_error</a:t>
            </a:r>
          </a:p>
        </p:txBody>
      </p:sp>
      <p:sp>
        <p:nvSpPr>
          <p:cNvPr id="10" name="function-purpose-1">
            <a:extLst xmlns:a="http://schemas.openxmlformats.org/drawingml/2006/main">
              <a:ext uri="{FF2B5EF4-FFF2-40B4-BE49-F238E27FC236}">
                <a16:creationId xmlns:a16="http://schemas.microsoft.com/office/drawing/2014/main" id="{3BE1F541-999C-4193-B553-07348D6B41A8}"/>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Chuyển lỗi từ lớp database thành lỗi API dễ hiểu cho frontend.</a:t>
            </a:r>
          </a:p>
        </p:txBody>
      </p:sp>
      <p:sp>
        <p:nvSpPr>
          <p:cNvPr id="11" name="function-io-1">
            <a:extLst xmlns:a="http://schemas.openxmlformats.org/drawingml/2006/main">
              <a:ext uri="{FF2B5EF4-FFF2-40B4-BE49-F238E27FC236}">
                <a16:creationId xmlns:a16="http://schemas.microsoft.com/office/drawing/2014/main" id="{8A16C058-30C8-4512-9261-D6EF3258A0C4}"/>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err.  Ra / tác động: JSON lỗi đã ánh xạ từ database.</a:t>
            </a:r>
          </a:p>
        </p:txBody>
      </p:sp>
      <p:sp>
        <p:nvSpPr>
          <p:cNvPr id="12" name="function-code-1">
            <a:extLst xmlns:a="http://schemas.openxmlformats.org/drawingml/2006/main">
              <a:ext uri="{FF2B5EF4-FFF2-40B4-BE49-F238E27FC236}">
                <a16:creationId xmlns:a16="http://schemas.microsoft.com/office/drawing/2014/main" id="{0FCBBAFE-41DE-4D53-9D51-D5E903327AC3}"/>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103      async def db_error(request, err):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104          return _error(database_problem(err), request.state.request_id)</a:t>
            </a:r>
          </a:p>
        </p:txBody>
      </p:sp>
      <p:sp>
        <p:nvSpPr>
          <p:cNvPr id="13" name="function-source-1">
            <a:extLst xmlns:a="http://schemas.openxmlformats.org/drawingml/2006/main">
              <a:ext uri="{FF2B5EF4-FFF2-40B4-BE49-F238E27FC236}">
                <a16:creationId xmlns:a16="http://schemas.microsoft.com/office/drawing/2014/main" id="{E0514A4D-2ED7-479B-B772-47B3D1AB11EB}"/>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backend/main.py:103–104     Đoạn trích: 103–104</a:t>
            </a:r>
          </a:p>
        </p:txBody>
      </p:sp>
    </p:spTree>
    <p:extLst>
      <p:ext uri="{BB962C8B-B14F-4D97-AF65-F5344CB8AC3E}">
        <p14:creationId xmlns:p14="http://schemas.microsoft.com/office/powerpoint/2010/main" val="1112871609"/>
      </p:ext>
    </p:extLst>
  </p:cSld>
</p:sld>
</file>

<file path=ppt/slides/slide3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C2CF83BE-1886-46F3-A7C1-3908606F401D}"/>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(9–10/27)</a:t>
            </a:r>
          </a:p>
        </p:txBody>
      </p:sp>
      <p:sp>
        <p:nvSpPr>
          <p:cNvPr id="3" name="page-number">
            <a:extLst xmlns:a="http://schemas.openxmlformats.org/drawingml/2006/main">
              <a:ext uri="{FF2B5EF4-FFF2-40B4-BE49-F238E27FC236}">
                <a16:creationId xmlns:a16="http://schemas.microsoft.com/office/drawing/2014/main" id="{CB6AADCE-AA4D-4222-9FB4-12DCEF2B21BC}"/>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39 / 88</a:t>
            </a:r>
          </a:p>
        </p:txBody>
      </p:sp>
      <p:sp>
        <p:nvSpPr>
          <p:cNvPr id="4" name="function-name-0">
            <a:extLst xmlns:a="http://schemas.openxmlformats.org/drawingml/2006/main">
              <a:ext uri="{FF2B5EF4-FFF2-40B4-BE49-F238E27FC236}">
                <a16:creationId xmlns:a16="http://schemas.microsoft.com/office/drawing/2014/main" id="{92F2D815-7F6B-4F8D-9EC5-FF9D4E010EF1}"/>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create_app.validation_error</a:t>
            </a:r>
          </a:p>
        </p:txBody>
      </p:sp>
      <p:sp>
        <p:nvSpPr>
          <p:cNvPr id="5" name="function-purpose-0">
            <a:extLst xmlns:a="http://schemas.openxmlformats.org/drawingml/2006/main">
              <a:ext uri="{FF2B5EF4-FFF2-40B4-BE49-F238E27FC236}">
                <a16:creationId xmlns:a16="http://schemas.microsoft.com/office/drawing/2014/main" id="{BD9ECC24-319A-41E2-8489-23F44A5A8E3D}"/>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Báo các trường đầu vào thiếu, sai kiểu hoặc không được phép gửi.</a:t>
            </a:r>
          </a:p>
        </p:txBody>
      </p:sp>
      <p:sp>
        <p:nvSpPr>
          <p:cNvPr id="6" name="function-io-0">
            <a:extLst xmlns:a="http://schemas.openxmlformats.org/drawingml/2006/main">
              <a:ext uri="{FF2B5EF4-FFF2-40B4-BE49-F238E27FC236}">
                <a16:creationId xmlns:a16="http://schemas.microsoft.com/office/drawing/2014/main" id="{B9277F2A-544D-4AF1-A933-DCFE79E56046}"/>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err.  Ra / tác động: JSON 422 với lỗi theo tên trường.</a:t>
            </a:r>
          </a:p>
        </p:txBody>
      </p:sp>
      <p:sp>
        <p:nvSpPr>
          <p:cNvPr id="7" name="function-code-0">
            <a:extLst xmlns:a="http://schemas.openxmlformats.org/drawingml/2006/main">
              <a:ext uri="{FF2B5EF4-FFF2-40B4-BE49-F238E27FC236}">
                <a16:creationId xmlns:a16="http://schemas.microsoft.com/office/drawing/2014/main" id="{94561319-70C9-4D26-A427-E22990F17753}"/>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463" b="0">
                <a:solidFill>
                  <a:srgbClr val="172E32"/>
                </a:solidFill>
                <a:latin typeface="Courier New"/>
                <a:ea typeface="Courier New"/>
                <a:cs typeface="Courier New"/>
              </a:defRPr>
            </a:defPPr>
            <a:lvl1pPr>
              <a:defRPr sz="1463" b="0">
                <a:solidFill>
                  <a:srgbClr val="172E32"/>
                </a:solidFill>
                <a:latin typeface="Courier New"/>
                <a:ea typeface="Courier New"/>
                <a:cs typeface="Courier New"/>
              </a:defRPr>
            </a:lvl1pPr>
            <a:lvl2pPr>
              <a:defRPr sz="1463" b="0">
                <a:solidFill>
                  <a:srgbClr val="172E32"/>
                </a:solidFill>
                <a:latin typeface="Courier New"/>
                <a:ea typeface="Courier New"/>
                <a:cs typeface="Courier New"/>
              </a:defRPr>
            </a:lvl2pPr>
            <a:lvl3pPr>
              <a:defRPr sz="1463" b="0">
                <a:solidFill>
                  <a:srgbClr val="172E32"/>
                </a:solidFill>
                <a:latin typeface="Courier New"/>
                <a:ea typeface="Courier New"/>
                <a:cs typeface="Courier New"/>
              </a:defRPr>
            </a:lvl3pPr>
            <a:lvl4pPr>
              <a:defRPr sz="1463" b="0">
                <a:solidFill>
                  <a:srgbClr val="172E32"/>
                </a:solidFill>
                <a:latin typeface="Courier New"/>
                <a:ea typeface="Courier New"/>
                <a:cs typeface="Courier New"/>
              </a:defRPr>
            </a:lvl4pPr>
            <a:lvl5pPr>
              <a:defRPr sz="1463" b="0">
                <a:solidFill>
                  <a:srgbClr val="172E32"/>
                </a:solidFill>
                <a:latin typeface="Courier New"/>
                <a:ea typeface="Courier New"/>
                <a:cs typeface="Courier New"/>
              </a:defRPr>
            </a:lvl5pPr>
            <a:lvl6pPr>
              <a:defRPr sz="1463" b="0">
                <a:solidFill>
                  <a:srgbClr val="172E32"/>
                </a:solidFill>
                <a:latin typeface="Courier New"/>
                <a:ea typeface="Courier New"/>
                <a:cs typeface="Courier New"/>
              </a:defRPr>
            </a:lvl6pPr>
            <a:lvl7pPr>
              <a:defRPr sz="1463" b="0">
                <a:solidFill>
                  <a:srgbClr val="172E32"/>
                </a:solidFill>
                <a:latin typeface="Courier New"/>
                <a:ea typeface="Courier New"/>
                <a:cs typeface="Courier New"/>
              </a:defRPr>
            </a:lvl7pPr>
            <a:lvl8pPr>
              <a:defRPr sz="1463" b="0">
                <a:solidFill>
                  <a:srgbClr val="172E32"/>
                </a:solidFill>
                <a:latin typeface="Courier New"/>
                <a:ea typeface="Courier New"/>
                <a:cs typeface="Courier New"/>
              </a:defRPr>
            </a:lvl8pPr>
            <a:lvl9pPr>
              <a:defRPr sz="1463" b="0">
                <a:solidFill>
                  <a:srgbClr val="172E32"/>
                </a:solidFill>
                <a:latin typeface="Courier New"/>
                <a:ea typeface="Courier New"/>
                <a:cs typeface="Courier New"/>
              </a:defRPr>
            </a:lvl9pPr>
          </a:lstStyle>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108      async def validation_error(request, err):</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109          fields = {}</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110          for error in err.errors():</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111              name = str(error["loc"][-1])</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112              fields[name] = "Trường không được phép." if error["type"] == "extra_forbidden" else "Giá trị không hợp lệ hoặc còn thiếu."</a:t>
            </a:r>
          </a:p>
        </p:txBody>
      </p:sp>
      <p:sp>
        <p:nvSpPr>
          <p:cNvPr id="8" name="function-source-0">
            <a:extLst xmlns:a="http://schemas.openxmlformats.org/drawingml/2006/main">
              <a:ext uri="{FF2B5EF4-FFF2-40B4-BE49-F238E27FC236}">
                <a16:creationId xmlns:a16="http://schemas.microsoft.com/office/drawing/2014/main" id="{8EB8D237-DAC8-4AA2-8B9E-1438BE26AEB3}"/>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backend/main.py:108–113     Đoạn trích: 108–112</a:t>
            </a:r>
          </a:p>
        </p:txBody>
      </p:sp>
      <p:sp>
        <p:nvSpPr>
          <p:cNvPr id="9" name="function-name-1">
            <a:extLst xmlns:a="http://schemas.openxmlformats.org/drawingml/2006/main">
              <a:ext uri="{FF2B5EF4-FFF2-40B4-BE49-F238E27FC236}">
                <a16:creationId xmlns:a16="http://schemas.microsoft.com/office/drawing/2014/main" id="{5C00CAFA-1917-48F3-A311-4954C6EB60D6}"/>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create_app.http_error</a:t>
            </a:r>
          </a:p>
        </p:txBody>
      </p:sp>
      <p:sp>
        <p:nvSpPr>
          <p:cNvPr id="10" name="function-purpose-1">
            <a:extLst xmlns:a="http://schemas.openxmlformats.org/drawingml/2006/main">
              <a:ext uri="{FF2B5EF4-FFF2-40B4-BE49-F238E27FC236}">
                <a16:creationId xmlns:a16="http://schemas.microsoft.com/office/drawing/2014/main" id="{D5DE533B-32C1-43AC-896B-D2D52736E93C}"/>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Trả thông báo thống nhất khi endpoint không tồn tại hoặc request không được hỗ trợ.</a:t>
            </a:r>
          </a:p>
        </p:txBody>
      </p:sp>
      <p:sp>
        <p:nvSpPr>
          <p:cNvPr id="11" name="function-io-1">
            <a:extLst xmlns:a="http://schemas.openxmlformats.org/drawingml/2006/main">
              <a:ext uri="{FF2B5EF4-FFF2-40B4-BE49-F238E27FC236}">
                <a16:creationId xmlns:a16="http://schemas.microsoft.com/office/drawing/2014/main" id="{A8147473-4D14-47E3-8581-58837232FAC7}"/>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err.  Ra / tác động: JSON lỗi endpoint hoặc method.</a:t>
            </a:r>
          </a:p>
        </p:txBody>
      </p:sp>
      <p:sp>
        <p:nvSpPr>
          <p:cNvPr id="12" name="function-code-1">
            <a:extLst xmlns:a="http://schemas.openxmlformats.org/drawingml/2006/main">
              <a:ext uri="{FF2B5EF4-FFF2-40B4-BE49-F238E27FC236}">
                <a16:creationId xmlns:a16="http://schemas.microsoft.com/office/drawing/2014/main" id="{E372ED37-1718-4209-B61C-353C5CD9796E}"/>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117      async def http_error(request, err):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118          return _error(ApiProblem(err.status_code, "not_found" if err.status_code == 404 else "request_error",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119                                   "Không tìm thấy endpoint." if err.status_code == 404 else "Yêu cầu không được hỗ trợ."), request.state.request_id)</a:t>
            </a:r>
          </a:p>
        </p:txBody>
      </p:sp>
      <p:sp>
        <p:nvSpPr>
          <p:cNvPr id="13" name="function-source-1">
            <a:extLst xmlns:a="http://schemas.openxmlformats.org/drawingml/2006/main">
              <a:ext uri="{FF2B5EF4-FFF2-40B4-BE49-F238E27FC236}">
                <a16:creationId xmlns:a16="http://schemas.microsoft.com/office/drawing/2014/main" id="{2E430A8D-6E81-4835-873A-D4E3A46A37E3}"/>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backend/main.py:117–119     Đoạn trích: 117–119</a:t>
            </a:r>
          </a:p>
        </p:txBody>
      </p:sp>
    </p:spTree>
    <p:extLst>
      <p:ext uri="{BB962C8B-B14F-4D97-AF65-F5344CB8AC3E}">
        <p14:creationId xmlns:p14="http://schemas.microsoft.com/office/powerpoint/2010/main" val="853028148"/>
      </p:ext>
    </p:extLst>
  </p:cSld>
</p:sld>
</file>

<file path=ppt/slides/slide4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427100E-645A-49B8-96C1-2A4FED35BB28}"/>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(11–12/27)</a:t>
            </a:r>
          </a:p>
        </p:txBody>
      </p:sp>
      <p:sp>
        <p:nvSpPr>
          <p:cNvPr id="3" name="page-number">
            <a:extLst xmlns:a="http://schemas.openxmlformats.org/drawingml/2006/main">
              <a:ext uri="{FF2B5EF4-FFF2-40B4-BE49-F238E27FC236}">
                <a16:creationId xmlns:a16="http://schemas.microsoft.com/office/drawing/2014/main" id="{17FBFDAD-3EC7-4593-856A-08802B3B50F0}"/>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40 / 88</a:t>
            </a:r>
          </a:p>
        </p:txBody>
      </p:sp>
      <p:sp>
        <p:nvSpPr>
          <p:cNvPr id="4" name="function-name-0">
            <a:extLst xmlns:a="http://schemas.openxmlformats.org/drawingml/2006/main">
              <a:ext uri="{FF2B5EF4-FFF2-40B4-BE49-F238E27FC236}">
                <a16:creationId xmlns:a16="http://schemas.microsoft.com/office/drawing/2014/main" id="{D9F90727-D42B-4203-9E72-B4C8912E86D2}"/>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create_app.busy_error</a:t>
            </a:r>
          </a:p>
        </p:txBody>
      </p:sp>
      <p:sp>
        <p:nvSpPr>
          <p:cNvPr id="5" name="function-purpose-0">
            <a:extLst xmlns:a="http://schemas.openxmlformats.org/drawingml/2006/main">
              <a:ext uri="{FF2B5EF4-FFF2-40B4-BE49-F238E27FC236}">
                <a16:creationId xmlns:a16="http://schemas.microsoft.com/office/drawing/2014/main" id="{6A15712C-BEF1-4E8D-8A28-FA972E5C7649}"/>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Trả lỗi 503 khi SQLite tạm thời không truy cập được để khách có thể thử lại.</a:t>
            </a:r>
          </a:p>
        </p:txBody>
      </p:sp>
      <p:sp>
        <p:nvSpPr>
          <p:cNvPr id="6" name="function-io-0">
            <a:extLst xmlns:a="http://schemas.openxmlformats.org/drawingml/2006/main">
              <a:ext uri="{FF2B5EF4-FFF2-40B4-BE49-F238E27FC236}">
                <a16:creationId xmlns:a16="http://schemas.microsoft.com/office/drawing/2014/main" id="{E42CF128-FC1A-4673-A4BF-1757E9E5A3DF}"/>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err.  Ra / tác động: JSON 503 khi SQLite gặp OperationalError.</a:t>
            </a:r>
          </a:p>
        </p:txBody>
      </p:sp>
      <p:sp>
        <p:nvSpPr>
          <p:cNvPr id="7" name="function-code-0">
            <a:extLst xmlns:a="http://schemas.openxmlformats.org/drawingml/2006/main">
              <a:ext uri="{FF2B5EF4-FFF2-40B4-BE49-F238E27FC236}">
                <a16:creationId xmlns:a16="http://schemas.microsoft.com/office/drawing/2014/main" id="{7297B4FD-E292-4E74-B7AF-EB9B9D2708AB}"/>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123      async def busy_error(request, err):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124          return _error(ApiProblem(503, "database_unavailable", "Dữ liệu tạm thời chưa truy cập được. Vui lòng thử lại."), request.state.request_id)</a:t>
            </a:r>
          </a:p>
        </p:txBody>
      </p:sp>
      <p:sp>
        <p:nvSpPr>
          <p:cNvPr id="8" name="function-source-0">
            <a:extLst xmlns:a="http://schemas.openxmlformats.org/drawingml/2006/main">
              <a:ext uri="{FF2B5EF4-FFF2-40B4-BE49-F238E27FC236}">
                <a16:creationId xmlns:a16="http://schemas.microsoft.com/office/drawing/2014/main" id="{6B0F800B-F9F2-4F7E-887D-2F6B514DB05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backend/main.py:123–124     Đoạn trích: 123–124</a:t>
            </a:r>
          </a:p>
        </p:txBody>
      </p:sp>
      <p:sp>
        <p:nvSpPr>
          <p:cNvPr id="9" name="function-name-1">
            <a:extLst xmlns:a="http://schemas.openxmlformats.org/drawingml/2006/main">
              <a:ext uri="{FF2B5EF4-FFF2-40B4-BE49-F238E27FC236}">
                <a16:creationId xmlns:a16="http://schemas.microsoft.com/office/drawing/2014/main" id="{A30B0F14-2967-4D17-BE45-BB9865E9D568}"/>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create_app.db</a:t>
            </a:r>
          </a:p>
        </p:txBody>
      </p:sp>
      <p:sp>
        <p:nvSpPr>
          <p:cNvPr id="10" name="function-purpose-1">
            <a:extLst xmlns:a="http://schemas.openxmlformats.org/drawingml/2006/main">
              <a:ext uri="{FF2B5EF4-FFF2-40B4-BE49-F238E27FC236}">
                <a16:creationId xmlns:a16="http://schemas.microsoft.com/office/drawing/2014/main" id="{A303ED7F-207B-4980-A68A-0DD47DE05787}"/>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Mở kết nối database cho một khối xử lý và luôn đóng kết nối khi khối kết thúc.</a:t>
            </a:r>
          </a:p>
        </p:txBody>
      </p:sp>
      <p:sp>
        <p:nvSpPr>
          <p:cNvPr id="11" name="function-io-1">
            <a:extLst xmlns:a="http://schemas.openxmlformats.org/drawingml/2006/main">
              <a:ext uri="{FF2B5EF4-FFF2-40B4-BE49-F238E27FC236}">
                <a16:creationId xmlns:a16="http://schemas.microsoft.com/office/drawing/2014/main" id="{9570301E-0014-4CDD-8DE7-DC72DA62D2DB}"/>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không có tham số ngoài đối tượng.  Ra / tác động: Yield kết nối rồi đóng trong finally.</a:t>
            </a:r>
          </a:p>
        </p:txBody>
      </p:sp>
      <p:sp>
        <p:nvSpPr>
          <p:cNvPr id="12" name="function-code-1">
            <a:extLst xmlns:a="http://schemas.openxmlformats.org/drawingml/2006/main">
              <a:ext uri="{FF2B5EF4-FFF2-40B4-BE49-F238E27FC236}">
                <a16:creationId xmlns:a16="http://schemas.microsoft.com/office/drawing/2014/main" id="{469373CE-C7BC-4F80-947C-FF383A336A22}"/>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128      def db():</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129          conn = connect(settings.db_path)</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130          try: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131              yield 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132          finally:</a:t>
            </a:r>
          </a:p>
        </p:txBody>
      </p:sp>
      <p:sp>
        <p:nvSpPr>
          <p:cNvPr id="13" name="function-source-1">
            <a:extLst xmlns:a="http://schemas.openxmlformats.org/drawingml/2006/main">
              <a:ext uri="{FF2B5EF4-FFF2-40B4-BE49-F238E27FC236}">
                <a16:creationId xmlns:a16="http://schemas.microsoft.com/office/drawing/2014/main" id="{E5D0C45B-BC8F-412A-8655-3C56D0A84316}"/>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backend/main.py:128–133     Đoạn trích: 128–132</a:t>
            </a:r>
          </a:p>
        </p:txBody>
      </p:sp>
    </p:spTree>
    <p:extLst>
      <p:ext uri="{BB962C8B-B14F-4D97-AF65-F5344CB8AC3E}">
        <p14:creationId xmlns:p14="http://schemas.microsoft.com/office/powerpoint/2010/main" val="68213481"/>
      </p:ext>
    </p:extLst>
  </p:cSld>
</p:sld>
</file>

<file path=ppt/slides/slide4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D363FC96-6ED6-4D07-8A63-24E7E668DCA3}"/>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(13–14/27)</a:t>
            </a:r>
          </a:p>
        </p:txBody>
      </p:sp>
      <p:sp>
        <p:nvSpPr>
          <p:cNvPr id="3" name="page-number">
            <a:extLst xmlns:a="http://schemas.openxmlformats.org/drawingml/2006/main">
              <a:ext uri="{FF2B5EF4-FFF2-40B4-BE49-F238E27FC236}">
                <a16:creationId xmlns:a16="http://schemas.microsoft.com/office/drawing/2014/main" id="{C40E0370-6F6A-4446-A4AC-A061A60C6A00}"/>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41 / 88</a:t>
            </a:r>
          </a:p>
        </p:txBody>
      </p:sp>
      <p:sp>
        <p:nvSpPr>
          <p:cNvPr id="4" name="function-name-0">
            <a:extLst xmlns:a="http://schemas.openxmlformats.org/drawingml/2006/main">
              <a:ext uri="{FF2B5EF4-FFF2-40B4-BE49-F238E27FC236}">
                <a16:creationId xmlns:a16="http://schemas.microsoft.com/office/drawing/2014/main" id="{1D834A1B-78FB-47BB-BC74-0BB7FD771415}"/>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create_app.session_db</a:t>
            </a:r>
          </a:p>
        </p:txBody>
      </p:sp>
      <p:sp>
        <p:nvSpPr>
          <p:cNvPr id="5" name="function-purpose-0">
            <a:extLst xmlns:a="http://schemas.openxmlformats.org/drawingml/2006/main">
              <a:ext uri="{FF2B5EF4-FFF2-40B4-BE49-F238E27FC236}">
                <a16:creationId xmlns:a16="http://schemas.microsoft.com/office/drawing/2014/main" id="{4F953273-CDE0-4DFE-8B00-F2B1B7382713}"/>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Xác thực Bearer token và cung cấp database, phiên cùng thông tin ghi audit.</a:t>
            </a:r>
          </a:p>
        </p:txBody>
      </p:sp>
      <p:sp>
        <p:nvSpPr>
          <p:cNvPr id="6" name="function-io-0">
            <a:extLst xmlns:a="http://schemas.openxmlformats.org/drawingml/2006/main">
              <a:ext uri="{FF2B5EF4-FFF2-40B4-BE49-F238E27FC236}">
                <a16:creationId xmlns:a16="http://schemas.microsoft.com/office/drawing/2014/main" id="{EDABA169-F718-4FC1-9A81-7B3D4E22342F}"/>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Ra / tác động: Yield (conn, session, ctx) sau xác thực.</a:t>
            </a:r>
          </a:p>
        </p:txBody>
      </p:sp>
      <p:sp>
        <p:nvSpPr>
          <p:cNvPr id="7" name="function-code-0">
            <a:extLst xmlns:a="http://schemas.openxmlformats.org/drawingml/2006/main">
              <a:ext uri="{FF2B5EF4-FFF2-40B4-BE49-F238E27FC236}">
                <a16:creationId xmlns:a16="http://schemas.microsoft.com/office/drawing/2014/main" id="{9B80FA06-E760-43C5-BC9A-C8DBB257BAC8}"/>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137      def session_db(request):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138          with db() as 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139              session = authenticate(conn, request.headers.get("Authorization"))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140              ctx = Ctx("customer", session["owner_id"], request.state.request_id)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141              yield conn, session, ctx</a:t>
            </a:r>
          </a:p>
        </p:txBody>
      </p:sp>
      <p:sp>
        <p:nvSpPr>
          <p:cNvPr id="8" name="function-source-0">
            <a:extLst xmlns:a="http://schemas.openxmlformats.org/drawingml/2006/main">
              <a:ext uri="{FF2B5EF4-FFF2-40B4-BE49-F238E27FC236}">
                <a16:creationId xmlns:a16="http://schemas.microsoft.com/office/drawing/2014/main" id="{367FA6FA-FDA4-4FF8-AD25-9B2D1124850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backend/main.py:137–141     Đoạn trích: 137–141</a:t>
            </a:r>
          </a:p>
        </p:txBody>
      </p:sp>
      <p:sp>
        <p:nvSpPr>
          <p:cNvPr id="9" name="function-name-1">
            <a:extLst xmlns:a="http://schemas.openxmlformats.org/drawingml/2006/main">
              <a:ext uri="{FF2B5EF4-FFF2-40B4-BE49-F238E27FC236}">
                <a16:creationId xmlns:a16="http://schemas.microsoft.com/office/drawing/2014/main" id="{C88D440A-2833-4FB5-8D33-DDA0CC2C3337}"/>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create_app.health</a:t>
            </a:r>
          </a:p>
        </p:txBody>
      </p:sp>
      <p:sp>
        <p:nvSpPr>
          <p:cNvPr id="10" name="function-purpose-1">
            <a:extLst xmlns:a="http://schemas.openxmlformats.org/drawingml/2006/main">
              <a:ext uri="{FF2B5EF4-FFF2-40B4-BE49-F238E27FC236}">
                <a16:creationId xmlns:a16="http://schemas.microsoft.com/office/drawing/2014/main" id="{1DEE4BC1-CAEF-4F10-93B4-E4318480AF6E}"/>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Kiểm tra database và trả provider/model hiện tại mà không gọi Gemini.</a:t>
            </a:r>
          </a:p>
        </p:txBody>
      </p:sp>
      <p:sp>
        <p:nvSpPr>
          <p:cNvPr id="11" name="function-io-1">
            <a:extLst xmlns:a="http://schemas.openxmlformats.org/drawingml/2006/main">
              <a:ext uri="{FF2B5EF4-FFF2-40B4-BE49-F238E27FC236}">
                <a16:creationId xmlns:a16="http://schemas.microsoft.com/office/drawing/2014/main" id="{5C00C3FC-1446-4DCC-BBE0-2DA0DC5FC6C2}"/>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không có tham số ngoài đối tượng.  Ra / tác động: status, llm_provider, model_id.</a:t>
            </a:r>
          </a:p>
        </p:txBody>
      </p:sp>
      <p:sp>
        <p:nvSpPr>
          <p:cNvPr id="12" name="function-code-1">
            <a:extLst xmlns:a="http://schemas.openxmlformats.org/drawingml/2006/main">
              <a:ext uri="{FF2B5EF4-FFF2-40B4-BE49-F238E27FC236}">
                <a16:creationId xmlns:a16="http://schemas.microsoft.com/office/drawing/2014/main" id="{ADA092A3-B743-479E-9AA4-4ACFA1836833}"/>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145      def health():</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146          with db() as 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147              conn.execute("SELECT 1 FROM products LIMIT 1").fetchone()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148          return {"status": "ok", "llm_provider": settings.llm_provider, "model_id": app.state.llm_client.model_id}</a:t>
            </a:r>
          </a:p>
        </p:txBody>
      </p:sp>
      <p:sp>
        <p:nvSpPr>
          <p:cNvPr id="13" name="function-source-1">
            <a:extLst xmlns:a="http://schemas.openxmlformats.org/drawingml/2006/main">
              <a:ext uri="{FF2B5EF4-FFF2-40B4-BE49-F238E27FC236}">
                <a16:creationId xmlns:a16="http://schemas.microsoft.com/office/drawing/2014/main" id="{964770D1-2081-4D8B-8539-AA00CB9EF966}"/>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backend/main.py:145–148     Đoạn trích: 145–148</a:t>
            </a:r>
          </a:p>
        </p:txBody>
      </p:sp>
    </p:spTree>
    <p:extLst>
      <p:ext uri="{BB962C8B-B14F-4D97-AF65-F5344CB8AC3E}">
        <p14:creationId xmlns:p14="http://schemas.microsoft.com/office/powerpoint/2010/main" val="1083943148"/>
      </p:ext>
    </p:extLst>
  </p:cSld>
</p:sld>
</file>

<file path=ppt/slides/slide4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87A5302-B49A-497F-B97E-4CDEA4791287}"/>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(15–16/27)</a:t>
            </a:r>
          </a:p>
        </p:txBody>
      </p:sp>
      <p:sp>
        <p:nvSpPr>
          <p:cNvPr id="3" name="page-number">
            <a:extLst xmlns:a="http://schemas.openxmlformats.org/drawingml/2006/main">
              <a:ext uri="{FF2B5EF4-FFF2-40B4-BE49-F238E27FC236}">
                <a16:creationId xmlns:a16="http://schemas.microsoft.com/office/drawing/2014/main" id="{7B6326E9-9772-4281-83A7-2DBF38FDA765}"/>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42 / 88</a:t>
            </a:r>
          </a:p>
        </p:txBody>
      </p:sp>
      <p:sp>
        <p:nvSpPr>
          <p:cNvPr id="4" name="function-name-0">
            <a:extLst xmlns:a="http://schemas.openxmlformats.org/drawingml/2006/main">
              <a:ext uri="{FF2B5EF4-FFF2-40B4-BE49-F238E27FC236}">
                <a16:creationId xmlns:a16="http://schemas.microsoft.com/office/drawing/2014/main" id="{15FC7850-3346-406F-AAEE-87D5F9E07B46}"/>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create_app.start_session</a:t>
            </a:r>
          </a:p>
        </p:txBody>
      </p:sp>
      <p:sp>
        <p:nvSpPr>
          <p:cNvPr id="5" name="function-purpose-0">
            <a:extLst xmlns:a="http://schemas.openxmlformats.org/drawingml/2006/main">
              <a:ext uri="{FF2B5EF4-FFF2-40B4-BE49-F238E27FC236}">
                <a16:creationId xmlns:a16="http://schemas.microsoft.com/office/drawing/2014/main" id="{80FA560B-4BB5-4536-929A-DE99D020D882}"/>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Tạo phiên mua sắm mới sau khi kiểm tra giới hạn tạo phiên theo IP.</a:t>
            </a:r>
          </a:p>
        </p:txBody>
      </p:sp>
      <p:sp>
        <p:nvSpPr>
          <p:cNvPr id="6" name="function-io-0">
            <a:extLst xmlns:a="http://schemas.openxmlformats.org/drawingml/2006/main">
              <a:ext uri="{FF2B5EF4-FFF2-40B4-BE49-F238E27FC236}">
                <a16:creationId xmlns:a16="http://schemas.microsoft.com/office/drawing/2014/main" id="{19615463-8C55-4A55-855C-63A9078C0715}"/>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Ra / tác động: token mới và expires_at.</a:t>
            </a:r>
          </a:p>
        </p:txBody>
      </p:sp>
      <p:sp>
        <p:nvSpPr>
          <p:cNvPr id="7" name="function-code-0">
            <a:extLst xmlns:a="http://schemas.openxmlformats.org/drawingml/2006/main">
              <a:ext uri="{FF2B5EF4-FFF2-40B4-BE49-F238E27FC236}">
                <a16:creationId xmlns:a16="http://schemas.microsoft.com/office/drawing/2014/main" id="{59B86CFA-11D7-4CA6-98E0-64F4ECC53DA3}"/>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152      def start_session(request: 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153          limiter.check("session", request.client.host if request.client else "local", settings.session_limit)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154          with db() as 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155              return new_session(conn, settings.session_ttl)</a:t>
            </a:r>
          </a:p>
        </p:txBody>
      </p:sp>
      <p:sp>
        <p:nvSpPr>
          <p:cNvPr id="8" name="function-source-0">
            <a:extLst xmlns:a="http://schemas.openxmlformats.org/drawingml/2006/main">
              <a:ext uri="{FF2B5EF4-FFF2-40B4-BE49-F238E27FC236}">
                <a16:creationId xmlns:a16="http://schemas.microsoft.com/office/drawing/2014/main" id="{E1AC4CB7-5965-4917-8AAA-C9C5F25487A8}"/>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backend/main.py:152–155     Đoạn trích: 152–155</a:t>
            </a:r>
          </a:p>
        </p:txBody>
      </p:sp>
      <p:sp>
        <p:nvSpPr>
          <p:cNvPr id="9" name="function-name-1">
            <a:extLst xmlns:a="http://schemas.openxmlformats.org/drawingml/2006/main">
              <a:ext uri="{FF2B5EF4-FFF2-40B4-BE49-F238E27FC236}">
                <a16:creationId xmlns:a16="http://schemas.microsoft.com/office/drawing/2014/main" id="{00A83E1A-61AC-44A2-868F-C45C1230C05D}"/>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create_app.end_session</a:t>
            </a:r>
          </a:p>
        </p:txBody>
      </p:sp>
      <p:sp>
        <p:nvSpPr>
          <p:cNvPr id="10" name="function-purpose-1">
            <a:extLst xmlns:a="http://schemas.openxmlformats.org/drawingml/2006/main">
              <a:ext uri="{FF2B5EF4-FFF2-40B4-BE49-F238E27FC236}">
                <a16:creationId xmlns:a16="http://schemas.microsoft.com/office/drawing/2014/main" id="{4F3AFF63-491A-4020-AF7F-2F2B35733727}"/>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Thu hồi token của phiên hiện tại để token đó không truy cập tiếp được.</a:t>
            </a:r>
          </a:p>
        </p:txBody>
      </p:sp>
      <p:sp>
        <p:nvSpPr>
          <p:cNvPr id="11" name="function-io-1">
            <a:extLst xmlns:a="http://schemas.openxmlformats.org/drawingml/2006/main">
              <a:ext uri="{FF2B5EF4-FFF2-40B4-BE49-F238E27FC236}">
                <a16:creationId xmlns:a16="http://schemas.microsoft.com/office/drawing/2014/main" id="{F8C6E6E5-7AF9-4FB1-BC02-0A5E97EAA8AF}"/>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Ra / tác động: {revoked: True}, token không còn dùng được.</a:t>
            </a:r>
          </a:p>
        </p:txBody>
      </p:sp>
      <p:sp>
        <p:nvSpPr>
          <p:cNvPr id="12" name="function-code-1">
            <a:extLst xmlns:a="http://schemas.openxmlformats.org/drawingml/2006/main">
              <a:ext uri="{FF2B5EF4-FFF2-40B4-BE49-F238E27FC236}">
                <a16:creationId xmlns:a16="http://schemas.microsoft.com/office/drawing/2014/main" id="{47A83F44-4DE7-46A5-BF8C-C6FA7B79DC75}"/>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159      def end_session(request: 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160          with session_db(request) as (conn,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161              conn.execute("DELETE FROM api_sessions WHERE token_hash=?", (session["token_hash"],))</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162          return {"revoked": True}</a:t>
            </a:r>
          </a:p>
        </p:txBody>
      </p:sp>
      <p:sp>
        <p:nvSpPr>
          <p:cNvPr id="13" name="function-source-1">
            <a:extLst xmlns:a="http://schemas.openxmlformats.org/drawingml/2006/main">
              <a:ext uri="{FF2B5EF4-FFF2-40B4-BE49-F238E27FC236}">
                <a16:creationId xmlns:a16="http://schemas.microsoft.com/office/drawing/2014/main" id="{5C46E5B8-B02B-4183-991B-496E52A3E401}"/>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backend/main.py:159–162     Đoạn trích: 159–162</a:t>
            </a:r>
          </a:p>
        </p:txBody>
      </p:sp>
    </p:spTree>
    <p:extLst>
      <p:ext uri="{BB962C8B-B14F-4D97-AF65-F5344CB8AC3E}">
        <p14:creationId xmlns:p14="http://schemas.microsoft.com/office/powerpoint/2010/main" val="1560291378"/>
      </p:ext>
    </p:extLst>
  </p:cSld>
</p:sld>
</file>

<file path=ppt/slides/slide4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F2E63FE-A977-41FB-8FFC-184652CABB4A}"/>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(17–18/27)</a:t>
            </a:r>
          </a:p>
        </p:txBody>
      </p:sp>
      <p:sp>
        <p:nvSpPr>
          <p:cNvPr id="3" name="page-number">
            <a:extLst xmlns:a="http://schemas.openxmlformats.org/drawingml/2006/main">
              <a:ext uri="{FF2B5EF4-FFF2-40B4-BE49-F238E27FC236}">
                <a16:creationId xmlns:a16="http://schemas.microsoft.com/office/drawing/2014/main" id="{30DDF142-B16C-4C71-86B0-6D7998ECB5A2}"/>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43 / 88</a:t>
            </a:r>
          </a:p>
        </p:txBody>
      </p:sp>
      <p:sp>
        <p:nvSpPr>
          <p:cNvPr id="4" name="function-name-0">
            <a:extLst xmlns:a="http://schemas.openxmlformats.org/drawingml/2006/main">
              <a:ext uri="{FF2B5EF4-FFF2-40B4-BE49-F238E27FC236}">
                <a16:creationId xmlns:a16="http://schemas.microsoft.com/office/drawing/2014/main" id="{90216ACC-83EB-42EB-8FDA-EE14010DB52E}"/>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create_app.products</a:t>
            </a:r>
          </a:p>
        </p:txBody>
      </p:sp>
      <p:sp>
        <p:nvSpPr>
          <p:cNvPr id="5" name="function-purpose-0">
            <a:extLst xmlns:a="http://schemas.openxmlformats.org/drawingml/2006/main">
              <a:ext uri="{FF2B5EF4-FFF2-40B4-BE49-F238E27FC236}">
                <a16:creationId xmlns:a16="http://schemas.microsoft.com/office/drawing/2014/main" id="{7B133B97-41EC-495F-9887-E73B72C71FCA}"/>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Trả danh sách sản phẩm đang bán theo định dạng mà frontend sử dụng.</a:t>
            </a:r>
          </a:p>
        </p:txBody>
      </p:sp>
      <p:sp>
        <p:nvSpPr>
          <p:cNvPr id="6" name="function-io-0">
            <a:extLst xmlns:a="http://schemas.openxmlformats.org/drawingml/2006/main">
              <a:ext uri="{FF2B5EF4-FFF2-40B4-BE49-F238E27FC236}">
                <a16:creationId xmlns:a16="http://schemas.microsoft.com/office/drawing/2014/main" id="{F9034FE4-FBAB-4CF2-B72B-A5392A0DD829}"/>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không có tham số ngoài đối tượng.  Ra / tác động: {products: [...]}.</a:t>
            </a:r>
          </a:p>
        </p:txBody>
      </p:sp>
      <p:sp>
        <p:nvSpPr>
          <p:cNvPr id="7" name="function-code-0">
            <a:extLst xmlns:a="http://schemas.openxmlformats.org/drawingml/2006/main">
              <a:ext uri="{FF2B5EF4-FFF2-40B4-BE49-F238E27FC236}">
                <a16:creationId xmlns:a16="http://schemas.microsoft.com/office/drawing/2014/main" id="{25E7AD12-8771-4EB7-AA9B-2AB34E76BE69}"/>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166      def products():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167          with db() as 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168              return {"products": [product_view(p) for p in catalog.list_products(conn)]}</a:t>
            </a:r>
          </a:p>
        </p:txBody>
      </p:sp>
      <p:sp>
        <p:nvSpPr>
          <p:cNvPr id="8" name="function-source-0">
            <a:extLst xmlns:a="http://schemas.openxmlformats.org/drawingml/2006/main">
              <a:ext uri="{FF2B5EF4-FFF2-40B4-BE49-F238E27FC236}">
                <a16:creationId xmlns:a16="http://schemas.microsoft.com/office/drawing/2014/main" id="{7F79C275-0DEF-41BC-820F-08786161EA7A}"/>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backend/main.py:166–168     Đoạn trích: 166–168</a:t>
            </a:r>
          </a:p>
        </p:txBody>
      </p:sp>
      <p:sp>
        <p:nvSpPr>
          <p:cNvPr id="9" name="function-name-1">
            <a:extLst xmlns:a="http://schemas.openxmlformats.org/drawingml/2006/main">
              <a:ext uri="{FF2B5EF4-FFF2-40B4-BE49-F238E27FC236}">
                <a16:creationId xmlns:a16="http://schemas.microsoft.com/office/drawing/2014/main" id="{A97E8032-C864-46CC-A412-1A2FDB845456}"/>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create_app.product</a:t>
            </a:r>
          </a:p>
        </p:txBody>
      </p:sp>
      <p:sp>
        <p:nvSpPr>
          <p:cNvPr id="10" name="function-purpose-1">
            <a:extLst xmlns:a="http://schemas.openxmlformats.org/drawingml/2006/main">
              <a:ext uri="{FF2B5EF4-FFF2-40B4-BE49-F238E27FC236}">
                <a16:creationId xmlns:a16="http://schemas.microsoft.com/office/drawing/2014/main" id="{8B2FFCCA-654A-4781-BD2F-5398D5C225A4}"/>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Trả chi tiết một sản phẩm cùng giá, biến thể và tồn kho trong database.</a:t>
            </a:r>
          </a:p>
        </p:txBody>
      </p:sp>
      <p:sp>
        <p:nvSpPr>
          <p:cNvPr id="11" name="function-io-1">
            <a:extLst xmlns:a="http://schemas.openxmlformats.org/drawingml/2006/main">
              <a:ext uri="{FF2B5EF4-FFF2-40B4-BE49-F238E27FC236}">
                <a16:creationId xmlns:a16="http://schemas.microsoft.com/office/drawing/2014/main" id="{0760D157-A478-4115-8064-2FED9F36A690}"/>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product_id.  Ra / tác động: Một product_view.</a:t>
            </a:r>
          </a:p>
        </p:txBody>
      </p:sp>
      <p:sp>
        <p:nvSpPr>
          <p:cNvPr id="12" name="function-code-1">
            <a:extLst xmlns:a="http://schemas.openxmlformats.org/drawingml/2006/main">
              <a:ext uri="{FF2B5EF4-FFF2-40B4-BE49-F238E27FC236}">
                <a16:creationId xmlns:a16="http://schemas.microsoft.com/office/drawing/2014/main" id="{93DC82F5-82AF-4E73-8723-C24D48331C3E}"/>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172      def product(product_id: int):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173          with db() as 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174              return product_view(catalog.get_product(conn, product_id))</a:t>
            </a:r>
          </a:p>
        </p:txBody>
      </p:sp>
      <p:sp>
        <p:nvSpPr>
          <p:cNvPr id="13" name="function-source-1">
            <a:extLst xmlns:a="http://schemas.openxmlformats.org/drawingml/2006/main">
              <a:ext uri="{FF2B5EF4-FFF2-40B4-BE49-F238E27FC236}">
                <a16:creationId xmlns:a16="http://schemas.microsoft.com/office/drawing/2014/main" id="{5CB100F5-C306-44A9-B7BB-7F6D111014AA}"/>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backend/main.py:172–174     Đoạn trích: 172–174</a:t>
            </a:r>
          </a:p>
        </p:txBody>
      </p:sp>
    </p:spTree>
    <p:extLst>
      <p:ext uri="{BB962C8B-B14F-4D97-AF65-F5344CB8AC3E}">
        <p14:creationId xmlns:p14="http://schemas.microsoft.com/office/powerpoint/2010/main" val="559691385"/>
      </p:ext>
    </p:extLst>
  </p:cSld>
</p:sld>
</file>

<file path=ppt/slides/slide4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C0534C3-64E1-4BD2-9B26-E1EB18476BAC}"/>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(19–20/27)</a:t>
            </a:r>
          </a:p>
        </p:txBody>
      </p:sp>
      <p:sp>
        <p:nvSpPr>
          <p:cNvPr id="3" name="page-number">
            <a:extLst xmlns:a="http://schemas.openxmlformats.org/drawingml/2006/main">
              <a:ext uri="{FF2B5EF4-FFF2-40B4-BE49-F238E27FC236}">
                <a16:creationId xmlns:a16="http://schemas.microsoft.com/office/drawing/2014/main" id="{6FFCA159-4A76-410C-8324-F6088DE39AAB}"/>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44 / 88</a:t>
            </a:r>
          </a:p>
        </p:txBody>
      </p:sp>
      <p:sp>
        <p:nvSpPr>
          <p:cNvPr id="4" name="function-name-0">
            <a:extLst xmlns:a="http://schemas.openxmlformats.org/drawingml/2006/main">
              <a:ext uri="{FF2B5EF4-FFF2-40B4-BE49-F238E27FC236}">
                <a16:creationId xmlns:a16="http://schemas.microsoft.com/office/drawing/2014/main" id="{041A8E7A-AAF1-4095-8218-29535A75DA45}"/>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create_app.get_cart</a:t>
            </a:r>
          </a:p>
        </p:txBody>
      </p:sp>
      <p:sp>
        <p:nvSpPr>
          <p:cNvPr id="5" name="function-purpose-0">
            <a:extLst xmlns:a="http://schemas.openxmlformats.org/drawingml/2006/main">
              <a:ext uri="{FF2B5EF4-FFF2-40B4-BE49-F238E27FC236}">
                <a16:creationId xmlns:a16="http://schemas.microsoft.com/office/drawing/2014/main" id="{C2C615A1-624E-42FB-AEE6-4728142DD301}"/>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Đọc giỏ hàng thuộc phiên đã xác thực; chưa có giỏ thì trả giỏ trống.</a:t>
            </a:r>
          </a:p>
        </p:txBody>
      </p:sp>
      <p:sp>
        <p:nvSpPr>
          <p:cNvPr id="6" name="function-io-0">
            <a:extLst xmlns:a="http://schemas.openxmlformats.org/drawingml/2006/main">
              <a:ext uri="{FF2B5EF4-FFF2-40B4-BE49-F238E27FC236}">
                <a16:creationId xmlns:a16="http://schemas.microsoft.com/office/drawing/2014/main" id="{1731B489-C7BD-46A3-9E0A-1AE2DC7AD2EF}"/>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Ra / tác động: Giỏ của phiên hoặc giỏ trống.</a:t>
            </a:r>
          </a:p>
        </p:txBody>
      </p:sp>
      <p:sp>
        <p:nvSpPr>
          <p:cNvPr id="7" name="function-code-0">
            <a:extLst xmlns:a="http://schemas.openxmlformats.org/drawingml/2006/main">
              <a:ext uri="{FF2B5EF4-FFF2-40B4-BE49-F238E27FC236}">
                <a16:creationId xmlns:a16="http://schemas.microsoft.com/office/drawing/2014/main" id="{0113B1C9-8855-476C-8B9C-2EBFBFE8372B}"/>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178      def get_cart(request: 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179          with session_db(request) as (conn,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180              return cart_view(conn, session, ctx)</a:t>
            </a:r>
          </a:p>
        </p:txBody>
      </p:sp>
      <p:sp>
        <p:nvSpPr>
          <p:cNvPr id="8" name="function-source-0">
            <a:extLst xmlns:a="http://schemas.openxmlformats.org/drawingml/2006/main">
              <a:ext uri="{FF2B5EF4-FFF2-40B4-BE49-F238E27FC236}">
                <a16:creationId xmlns:a16="http://schemas.microsoft.com/office/drawing/2014/main" id="{D8C98FEE-F087-4945-AFA8-413D2EE181C5}"/>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backend/main.py:178–180     Đoạn trích: 178–180</a:t>
            </a:r>
          </a:p>
        </p:txBody>
      </p:sp>
      <p:sp>
        <p:nvSpPr>
          <p:cNvPr id="9" name="function-name-1">
            <a:extLst xmlns:a="http://schemas.openxmlformats.org/drawingml/2006/main">
              <a:ext uri="{FF2B5EF4-FFF2-40B4-BE49-F238E27FC236}">
                <a16:creationId xmlns:a16="http://schemas.microsoft.com/office/drawing/2014/main" id="{384547C2-DEFB-4A48-A5A8-E421D1C406E8}"/>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create_app.add_cart_item</a:t>
            </a:r>
          </a:p>
        </p:txBody>
      </p:sp>
      <p:sp>
        <p:nvSpPr>
          <p:cNvPr id="10" name="function-purpose-1">
            <a:extLst xmlns:a="http://schemas.openxmlformats.org/drawingml/2006/main">
              <a:ext uri="{FF2B5EF4-FFF2-40B4-BE49-F238E27FC236}">
                <a16:creationId xmlns:a16="http://schemas.microsoft.com/office/drawing/2014/main" id="{C4F87422-D875-4070-AE42-733B9E8F922C}"/>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Thêm hoặc gộp sản phẩm vào giỏ của phiên và kiểm tra số lượng, tồn kho.</a:t>
            </a:r>
          </a:p>
        </p:txBody>
      </p:sp>
      <p:sp>
        <p:nvSpPr>
          <p:cNvPr id="11" name="function-io-1">
            <a:extLst xmlns:a="http://schemas.openxmlformats.org/drawingml/2006/main">
              <a:ext uri="{FF2B5EF4-FFF2-40B4-BE49-F238E27FC236}">
                <a16:creationId xmlns:a16="http://schemas.microsoft.com/office/drawing/2014/main" id="{C29D16DA-B3BA-4995-92AC-36CC9B93271C}"/>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body, request.  Ra / tác động: Giỏ đã thêm/gộp hàng.</a:t>
            </a:r>
          </a:p>
        </p:txBody>
      </p:sp>
      <p:sp>
        <p:nvSpPr>
          <p:cNvPr id="12" name="function-code-1">
            <a:extLst xmlns:a="http://schemas.openxmlformats.org/drawingml/2006/main">
              <a:ext uri="{FF2B5EF4-FFF2-40B4-BE49-F238E27FC236}">
                <a16:creationId xmlns:a16="http://schemas.microsoft.com/office/drawing/2014/main" id="{06E865A9-2D67-45AA-8938-7FF89EDC17A0}"/>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184      def add_cart_item(body: CartItem, request: 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185          with session_db(request) as (conn, session, ctx), transaction(conn):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186              cart = cart_order(conn, session, ctx, create=True)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187              return order_view(conn, orders.add_item(conn, ctx, cart["id"], body.sku, body.quantity))</a:t>
            </a:r>
          </a:p>
        </p:txBody>
      </p:sp>
      <p:sp>
        <p:nvSpPr>
          <p:cNvPr id="13" name="function-source-1">
            <a:extLst xmlns:a="http://schemas.openxmlformats.org/drawingml/2006/main">
              <a:ext uri="{FF2B5EF4-FFF2-40B4-BE49-F238E27FC236}">
                <a16:creationId xmlns:a16="http://schemas.microsoft.com/office/drawing/2014/main" id="{3027E12C-F6AF-4763-AA91-F985487FE039}"/>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backend/main.py:184–187     Đoạn trích: 184–187</a:t>
            </a:r>
          </a:p>
        </p:txBody>
      </p:sp>
    </p:spTree>
    <p:extLst>
      <p:ext uri="{BB962C8B-B14F-4D97-AF65-F5344CB8AC3E}">
        <p14:creationId xmlns:p14="http://schemas.microsoft.com/office/powerpoint/2010/main" val="966950283"/>
      </p:ext>
    </p:extLst>
  </p:cSld>
</p:sld>
</file>

<file path=ppt/slides/slide4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0E4992F-1CE9-4DFB-A309-71451425898B}"/>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(21–22/27)</a:t>
            </a:r>
          </a:p>
        </p:txBody>
      </p:sp>
      <p:sp>
        <p:nvSpPr>
          <p:cNvPr id="3" name="page-number">
            <a:extLst xmlns:a="http://schemas.openxmlformats.org/drawingml/2006/main">
              <a:ext uri="{FF2B5EF4-FFF2-40B4-BE49-F238E27FC236}">
                <a16:creationId xmlns:a16="http://schemas.microsoft.com/office/drawing/2014/main" id="{36BAA0E8-10B7-4DDF-ADCF-B095EBDFB6AD}"/>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45 / 88</a:t>
            </a:r>
          </a:p>
        </p:txBody>
      </p:sp>
      <p:sp>
        <p:nvSpPr>
          <p:cNvPr id="4" name="function-name-0">
            <a:extLst xmlns:a="http://schemas.openxmlformats.org/drawingml/2006/main">
              <a:ext uri="{FF2B5EF4-FFF2-40B4-BE49-F238E27FC236}">
                <a16:creationId xmlns:a16="http://schemas.microsoft.com/office/drawing/2014/main" id="{D8C6F13D-B778-4EE3-BBFC-44213B3DA335}"/>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create_app.edit_cart_item</a:t>
            </a:r>
          </a:p>
        </p:txBody>
      </p:sp>
      <p:sp>
        <p:nvSpPr>
          <p:cNvPr id="5" name="function-purpose-0">
            <a:extLst xmlns:a="http://schemas.openxmlformats.org/drawingml/2006/main">
              <a:ext uri="{FF2B5EF4-FFF2-40B4-BE49-F238E27FC236}">
                <a16:creationId xmlns:a16="http://schemas.microsoft.com/office/drawing/2014/main" id="{7B45F7E3-C794-4664-BFB0-0D2B5C892B11}"/>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Đổi số lượng của một dòng trong giỏ hiện tại và trả giỏ đã tính lại tiền.</a:t>
            </a:r>
          </a:p>
        </p:txBody>
      </p:sp>
      <p:sp>
        <p:nvSpPr>
          <p:cNvPr id="6" name="function-io-0">
            <a:extLst xmlns:a="http://schemas.openxmlformats.org/drawingml/2006/main">
              <a:ext uri="{FF2B5EF4-FFF2-40B4-BE49-F238E27FC236}">
                <a16:creationId xmlns:a16="http://schemas.microsoft.com/office/drawing/2014/main" id="{97E6AAEB-8E79-4226-9D67-4AD62686FC1F}"/>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item_id, body, request.  Ra / tác động: Giỏ với số lượng và tiền đã tính lại.</a:t>
            </a:r>
          </a:p>
        </p:txBody>
      </p:sp>
      <p:sp>
        <p:nvSpPr>
          <p:cNvPr id="7" name="function-code-0">
            <a:extLst xmlns:a="http://schemas.openxmlformats.org/drawingml/2006/main">
              <a:ext uri="{FF2B5EF4-FFF2-40B4-BE49-F238E27FC236}">
                <a16:creationId xmlns:a16="http://schemas.microsoft.com/office/drawing/2014/main" id="{77E8758E-B0E9-4611-9DE9-074571E6512A}"/>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191      def edit_cart_item(item_id: str, body: QuantityChange, request: 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192          with session_db(request) as (conn, session, ctx), transaction(conn):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193              cart = cart_order(conn,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194              if cart is None: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195                  raise ApiProblem(404, "not_found", "Giỏ hàng đang trống.")</a:t>
            </a:r>
          </a:p>
        </p:txBody>
      </p:sp>
      <p:sp>
        <p:nvSpPr>
          <p:cNvPr id="8" name="function-source-0">
            <a:extLst xmlns:a="http://schemas.openxmlformats.org/drawingml/2006/main">
              <a:ext uri="{FF2B5EF4-FFF2-40B4-BE49-F238E27FC236}">
                <a16:creationId xmlns:a16="http://schemas.microsoft.com/office/drawing/2014/main" id="{7729780B-F6BE-4075-BA8E-6ED1308930BD}"/>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backend/main.py:191–197     Đoạn trích: 191–195</a:t>
            </a:r>
          </a:p>
        </p:txBody>
      </p:sp>
      <p:sp>
        <p:nvSpPr>
          <p:cNvPr id="9" name="function-name-1">
            <a:extLst xmlns:a="http://schemas.openxmlformats.org/drawingml/2006/main">
              <a:ext uri="{FF2B5EF4-FFF2-40B4-BE49-F238E27FC236}">
                <a16:creationId xmlns:a16="http://schemas.microsoft.com/office/drawing/2014/main" id="{A327A9A3-0A7D-4E04-95E4-5DD6262D5813}"/>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create_app.delete_cart_item</a:t>
            </a:r>
          </a:p>
        </p:txBody>
      </p:sp>
      <p:sp>
        <p:nvSpPr>
          <p:cNvPr id="10" name="function-purpose-1">
            <a:extLst xmlns:a="http://schemas.openxmlformats.org/drawingml/2006/main">
              <a:ext uri="{FF2B5EF4-FFF2-40B4-BE49-F238E27FC236}">
                <a16:creationId xmlns:a16="http://schemas.microsoft.com/office/drawing/2014/main" id="{FC3D8173-25E2-4D63-A52B-A722D817A004}"/>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Xóa một dòng khỏi giỏ hiện tại và trả trạng thái giỏ sau khi xóa.</a:t>
            </a:r>
          </a:p>
        </p:txBody>
      </p:sp>
      <p:sp>
        <p:nvSpPr>
          <p:cNvPr id="11" name="function-io-1">
            <a:extLst xmlns:a="http://schemas.openxmlformats.org/drawingml/2006/main">
              <a:ext uri="{FF2B5EF4-FFF2-40B4-BE49-F238E27FC236}">
                <a16:creationId xmlns:a16="http://schemas.microsoft.com/office/drawing/2014/main" id="{CDE7394D-B4FF-4496-A58A-0C4BB1BECB71}"/>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item_id, request.  Ra / tác động: Giỏ sau khi xóa dòng.</a:t>
            </a:r>
          </a:p>
        </p:txBody>
      </p:sp>
      <p:sp>
        <p:nvSpPr>
          <p:cNvPr id="12" name="function-code-1">
            <a:extLst xmlns:a="http://schemas.openxmlformats.org/drawingml/2006/main">
              <a:ext uri="{FF2B5EF4-FFF2-40B4-BE49-F238E27FC236}">
                <a16:creationId xmlns:a16="http://schemas.microsoft.com/office/drawing/2014/main" id="{F9690DC3-80DF-46B7-9D52-C5646B4F2DCA}"/>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201      def delete_cart_item(item_id: str, request: 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202          with session_db(request) as (conn, session, ctx), transaction(conn):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203              cart = cart_order(conn,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204              if cart is None: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205                  raise ApiProblem(404, "not_found", "Giỏ hàng đang trống.")</a:t>
            </a:r>
          </a:p>
        </p:txBody>
      </p:sp>
      <p:sp>
        <p:nvSpPr>
          <p:cNvPr id="13" name="function-source-1">
            <a:extLst xmlns:a="http://schemas.openxmlformats.org/drawingml/2006/main">
              <a:ext uri="{FF2B5EF4-FFF2-40B4-BE49-F238E27FC236}">
                <a16:creationId xmlns:a16="http://schemas.microsoft.com/office/drawing/2014/main" id="{CB96F1AE-F152-41A3-9434-7EFD22356E95}"/>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backend/main.py:201–207     Đoạn trích: 201–205</a:t>
            </a:r>
          </a:p>
        </p:txBody>
      </p:sp>
    </p:spTree>
    <p:extLst>
      <p:ext uri="{BB962C8B-B14F-4D97-AF65-F5344CB8AC3E}">
        <p14:creationId xmlns:p14="http://schemas.microsoft.com/office/powerpoint/2010/main" val="721579367"/>
      </p:ext>
    </p:extLst>
  </p:cSld>
</p:sld>
</file>

<file path=ppt/slides/slide4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7007F45-3785-4BDD-AEBC-2E9EF48A7047}"/>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(23–24/27)</a:t>
            </a:r>
          </a:p>
        </p:txBody>
      </p:sp>
      <p:sp>
        <p:nvSpPr>
          <p:cNvPr id="3" name="page-number">
            <a:extLst xmlns:a="http://schemas.openxmlformats.org/drawingml/2006/main">
              <a:ext uri="{FF2B5EF4-FFF2-40B4-BE49-F238E27FC236}">
                <a16:creationId xmlns:a16="http://schemas.microsoft.com/office/drawing/2014/main" id="{0D36446F-3F92-4B7B-83A5-6F5D56598990}"/>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46 / 88</a:t>
            </a:r>
          </a:p>
        </p:txBody>
      </p:sp>
      <p:sp>
        <p:nvSpPr>
          <p:cNvPr id="4" name="function-name-0">
            <a:extLst xmlns:a="http://schemas.openxmlformats.org/drawingml/2006/main">
              <a:ext uri="{FF2B5EF4-FFF2-40B4-BE49-F238E27FC236}">
                <a16:creationId xmlns:a16="http://schemas.microsoft.com/office/drawing/2014/main" id="{FD40E566-4B34-48DE-AEE0-C06DA61DD766}"/>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create_app.create_order</a:t>
            </a:r>
          </a:p>
        </p:txBody>
      </p:sp>
      <p:sp>
        <p:nvSpPr>
          <p:cNvPr id="5" name="function-purpose-0">
            <a:extLst xmlns:a="http://schemas.openxmlformats.org/drawingml/2006/main">
              <a:ext uri="{FF2B5EF4-FFF2-40B4-BE49-F238E27FC236}">
                <a16:creationId xmlns:a16="http://schemas.microsoft.com/office/drawing/2014/main" id="{8431A5EC-7DFE-4C62-9D12-E380CCB19E56}"/>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Gửi giỏ hàng thành đơn chờ xác nhận, dùng khóa chống tạo trùng nếu được cung cấp.</a:t>
            </a:r>
          </a:p>
        </p:txBody>
      </p:sp>
      <p:sp>
        <p:nvSpPr>
          <p:cNvPr id="6" name="function-io-0">
            <a:extLst xmlns:a="http://schemas.openxmlformats.org/drawingml/2006/main">
              <a:ext uri="{FF2B5EF4-FFF2-40B4-BE49-F238E27FC236}">
                <a16:creationId xmlns:a16="http://schemas.microsoft.com/office/drawing/2014/main" id="{9B70B08C-67F7-40A2-994C-213788ED1F9F}"/>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body, request.  Ra / tác động: Đơn pending_confirmation hoặc kết quả replay.</a:t>
            </a:r>
          </a:p>
        </p:txBody>
      </p:sp>
      <p:sp>
        <p:nvSpPr>
          <p:cNvPr id="7" name="function-code-0">
            <a:extLst xmlns:a="http://schemas.openxmlformats.org/drawingml/2006/main">
              <a:ext uri="{FF2B5EF4-FFF2-40B4-BE49-F238E27FC236}">
                <a16:creationId xmlns:a16="http://schemas.microsoft.com/office/drawing/2014/main" id="{A696DCCA-12F9-4C68-9182-CF8330283C28}"/>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211      def create_order(body: Checkout, request: 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212          key = request_key(request.headers.get("Idempotency-Key"))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213          with session_db(request) as (conn,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214              return checkout(conn, ctx, session, body.shipping.model_dump(), key)</a:t>
            </a:r>
          </a:p>
        </p:txBody>
      </p:sp>
      <p:sp>
        <p:nvSpPr>
          <p:cNvPr id="8" name="function-source-0">
            <a:extLst xmlns:a="http://schemas.openxmlformats.org/drawingml/2006/main">
              <a:ext uri="{FF2B5EF4-FFF2-40B4-BE49-F238E27FC236}">
                <a16:creationId xmlns:a16="http://schemas.microsoft.com/office/drawing/2014/main" id="{0C0404E7-8D7A-4BD0-9682-B627A2AFAB13}"/>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backend/main.py:211–214     Đoạn trích: 211–214</a:t>
            </a:r>
          </a:p>
        </p:txBody>
      </p:sp>
      <p:sp>
        <p:nvSpPr>
          <p:cNvPr id="9" name="function-name-1">
            <a:extLst xmlns:a="http://schemas.openxmlformats.org/drawingml/2006/main">
              <a:ext uri="{FF2B5EF4-FFF2-40B4-BE49-F238E27FC236}">
                <a16:creationId xmlns:a16="http://schemas.microsoft.com/office/drawing/2014/main" id="{ABC12514-18C3-4B0B-B19A-4E65ABD897F9}"/>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create_app.list_orders</a:t>
            </a:r>
          </a:p>
        </p:txBody>
      </p:sp>
      <p:sp>
        <p:nvSpPr>
          <p:cNvPr id="10" name="function-purpose-1">
            <a:extLst xmlns:a="http://schemas.openxmlformats.org/drawingml/2006/main">
              <a:ext uri="{FF2B5EF4-FFF2-40B4-BE49-F238E27FC236}">
                <a16:creationId xmlns:a16="http://schemas.microsoft.com/office/drawing/2014/main" id="{D698A78E-4DA2-4D06-951E-364F5F3DC79B}"/>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Liệt kê tối đa 100 đơn đã gửi của chính phiên hiện tại, không gồm giỏ chưa gửi.</a:t>
            </a:r>
          </a:p>
        </p:txBody>
      </p:sp>
      <p:sp>
        <p:nvSpPr>
          <p:cNvPr id="11" name="function-io-1">
            <a:extLst xmlns:a="http://schemas.openxmlformats.org/drawingml/2006/main">
              <a:ext uri="{FF2B5EF4-FFF2-40B4-BE49-F238E27FC236}">
                <a16:creationId xmlns:a16="http://schemas.microsoft.com/office/drawing/2014/main" id="{AF960A8B-E70A-4C96-9510-E0ACD83DB4E4}"/>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request.  Ra / tác động: {orders: [...]}, tối đa 100 đơn của phiên.</a:t>
            </a:r>
          </a:p>
        </p:txBody>
      </p:sp>
      <p:sp>
        <p:nvSpPr>
          <p:cNvPr id="12" name="function-code-1">
            <a:extLst xmlns:a="http://schemas.openxmlformats.org/drawingml/2006/main">
              <a:ext uri="{FF2B5EF4-FFF2-40B4-BE49-F238E27FC236}">
                <a16:creationId xmlns:a16="http://schemas.microsoft.com/office/drawing/2014/main" id="{817BE492-2322-4D05-8A7D-EE1AE935D263}"/>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218      def list_orders(request: 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219          with session_db(request) as (conn,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220              found = orders.list_orders(conn, session["owner_id"], statuses=["pending_confirmation", "confirmed", "cancelled"], limit=100)</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221              return {"orders": [order_view(conn, o) for o in found]}</a:t>
            </a:r>
          </a:p>
        </p:txBody>
      </p:sp>
      <p:sp>
        <p:nvSpPr>
          <p:cNvPr id="13" name="function-source-1">
            <a:extLst xmlns:a="http://schemas.openxmlformats.org/drawingml/2006/main">
              <a:ext uri="{FF2B5EF4-FFF2-40B4-BE49-F238E27FC236}">
                <a16:creationId xmlns:a16="http://schemas.microsoft.com/office/drawing/2014/main" id="{8FE9E1EE-168D-4480-AB84-82C288B83CDF}"/>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backend/main.py:218–221     Đoạn trích: 218–221</a:t>
            </a:r>
          </a:p>
        </p:txBody>
      </p:sp>
    </p:spTree>
    <p:extLst>
      <p:ext uri="{BB962C8B-B14F-4D97-AF65-F5344CB8AC3E}">
        <p14:creationId xmlns:p14="http://schemas.microsoft.com/office/powerpoint/2010/main" val="1197436587"/>
      </p:ext>
    </p:extLst>
  </p:cSld>
</p:sld>
</file>

<file path=ppt/slides/slide4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A983710-91D1-41C5-903E-B74FB857A556}"/>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(25–26/27)</a:t>
            </a:r>
          </a:p>
        </p:txBody>
      </p:sp>
      <p:sp>
        <p:nvSpPr>
          <p:cNvPr id="3" name="page-number">
            <a:extLst xmlns:a="http://schemas.openxmlformats.org/drawingml/2006/main">
              <a:ext uri="{FF2B5EF4-FFF2-40B4-BE49-F238E27FC236}">
                <a16:creationId xmlns:a16="http://schemas.microsoft.com/office/drawing/2014/main" id="{8C2BE666-5ABD-4458-9149-7E1A53713A8C}"/>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47 / 88</a:t>
            </a:r>
          </a:p>
        </p:txBody>
      </p:sp>
      <p:sp>
        <p:nvSpPr>
          <p:cNvPr id="4" name="function-name-0">
            <a:extLst xmlns:a="http://schemas.openxmlformats.org/drawingml/2006/main">
              <a:ext uri="{FF2B5EF4-FFF2-40B4-BE49-F238E27FC236}">
                <a16:creationId xmlns:a16="http://schemas.microsoft.com/office/drawing/2014/main" id="{EE00F6A6-B139-4C9F-8BD2-B6509050A505}"/>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create_app.get_order</a:t>
            </a:r>
          </a:p>
        </p:txBody>
      </p:sp>
      <p:sp>
        <p:nvSpPr>
          <p:cNvPr id="5" name="function-purpose-0">
            <a:extLst xmlns:a="http://schemas.openxmlformats.org/drawingml/2006/main">
              <a:ext uri="{FF2B5EF4-FFF2-40B4-BE49-F238E27FC236}">
                <a16:creationId xmlns:a16="http://schemas.microsoft.com/office/drawing/2014/main" id="{56B1F0D6-6BCE-4B90-B1D9-19AFFA4D1D96}"/>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Lấy chi tiết đơn sau khi kiểm tra mã đơn và quyền sở hữu của phiên.</a:t>
            </a:r>
          </a:p>
        </p:txBody>
      </p:sp>
      <p:sp>
        <p:nvSpPr>
          <p:cNvPr id="6" name="function-io-0">
            <a:extLst xmlns:a="http://schemas.openxmlformats.org/drawingml/2006/main">
              <a:ext uri="{FF2B5EF4-FFF2-40B4-BE49-F238E27FC236}">
                <a16:creationId xmlns:a16="http://schemas.microsoft.com/office/drawing/2014/main" id="{82044E48-8CDE-45F9-990D-431C59B4FD6A}"/>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order_id, request.  Ra / tác động: Đơn đã kiểm tra quyền sở hữu.</a:t>
            </a:r>
          </a:p>
        </p:txBody>
      </p:sp>
      <p:sp>
        <p:nvSpPr>
          <p:cNvPr id="7" name="function-code-0">
            <a:extLst xmlns:a="http://schemas.openxmlformats.org/drawingml/2006/main">
              <a:ext uri="{FF2B5EF4-FFF2-40B4-BE49-F238E27FC236}">
                <a16:creationId xmlns:a16="http://schemas.microsoft.com/office/drawing/2014/main" id="{283E5B12-7A9B-402F-A6CD-F682BECE2482}"/>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225      def get_order(order_id: str, request: 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226          with session_db(request) as (conn,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227              return order_view(conn, owned_order(conn, session["owner_id"], order_number(order_id)))</a:t>
            </a:r>
          </a:p>
        </p:txBody>
      </p:sp>
      <p:sp>
        <p:nvSpPr>
          <p:cNvPr id="8" name="function-source-0">
            <a:extLst xmlns:a="http://schemas.openxmlformats.org/drawingml/2006/main">
              <a:ext uri="{FF2B5EF4-FFF2-40B4-BE49-F238E27FC236}">
                <a16:creationId xmlns:a16="http://schemas.microsoft.com/office/drawing/2014/main" id="{99DC6F99-D1DF-435D-B8E2-456AD345FC10}"/>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backend/main.py:225–227     Đoạn trích: 225–227</a:t>
            </a:r>
          </a:p>
        </p:txBody>
      </p:sp>
      <p:sp>
        <p:nvSpPr>
          <p:cNvPr id="9" name="function-name-1">
            <a:extLst xmlns:a="http://schemas.openxmlformats.org/drawingml/2006/main">
              <a:ext uri="{FF2B5EF4-FFF2-40B4-BE49-F238E27FC236}">
                <a16:creationId xmlns:a16="http://schemas.microsoft.com/office/drawing/2014/main" id="{220E6196-EDE1-4987-8CC8-02A76A062954}"/>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create_app.edit_order_item</a:t>
            </a:r>
          </a:p>
        </p:txBody>
      </p:sp>
      <p:sp>
        <p:nvSpPr>
          <p:cNvPr id="10" name="function-purpose-1">
            <a:extLst xmlns:a="http://schemas.openxmlformats.org/drawingml/2006/main">
              <a:ext uri="{FF2B5EF4-FFF2-40B4-BE49-F238E27FC236}">
                <a16:creationId xmlns:a16="http://schemas.microsoft.com/office/drawing/2014/main" id="{D600091F-4CE8-4247-A5E3-3DD62C75A1E7}"/>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Cập nhật số lượng hoặc biến thể của một dòng đơn mà phiên được phép sửa.</a:t>
            </a:r>
          </a:p>
        </p:txBody>
      </p:sp>
      <p:sp>
        <p:nvSpPr>
          <p:cNvPr id="11" name="function-io-1">
            <a:extLst xmlns:a="http://schemas.openxmlformats.org/drawingml/2006/main">
              <a:ext uri="{FF2B5EF4-FFF2-40B4-BE49-F238E27FC236}">
                <a16:creationId xmlns:a16="http://schemas.microsoft.com/office/drawing/2014/main" id="{DB519A6B-999E-4C34-BC4F-7C370BBF9401}"/>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order_id, item_id, body, request.  Ra / tác động: Đơn sau sửa quantity/SKU.</a:t>
            </a:r>
          </a:p>
        </p:txBody>
      </p:sp>
      <p:sp>
        <p:nvSpPr>
          <p:cNvPr id="12" name="function-code-1">
            <a:extLst xmlns:a="http://schemas.openxmlformats.org/drawingml/2006/main">
              <a:ext uri="{FF2B5EF4-FFF2-40B4-BE49-F238E27FC236}">
                <a16:creationId xmlns:a16="http://schemas.microsoft.com/office/drawing/2014/main" id="{47E8667F-BE70-4C48-B412-704AFBE543BE}"/>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231      def edit_order_item(order_id: str, item_id: str, body: ItemChange, request: Request):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232          with session_db(request) as (conn,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233              order = update_item(conn, ctx, session["owner_id"], order_number(order_id), item_id,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234                                  body.model_dump(exclude_unset=True))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235              return order_view(conn, order)</a:t>
            </a:r>
          </a:p>
        </p:txBody>
      </p:sp>
      <p:sp>
        <p:nvSpPr>
          <p:cNvPr id="13" name="function-source-1">
            <a:extLst xmlns:a="http://schemas.openxmlformats.org/drawingml/2006/main">
              <a:ext uri="{FF2B5EF4-FFF2-40B4-BE49-F238E27FC236}">
                <a16:creationId xmlns:a16="http://schemas.microsoft.com/office/drawing/2014/main" id="{7681F537-20ED-4A0F-8D99-DAC2480BD46F}"/>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backend/main.py:231–235     Đoạn trích: 231–235</a:t>
            </a:r>
          </a:p>
        </p:txBody>
      </p:sp>
    </p:spTree>
    <p:extLst>
      <p:ext uri="{BB962C8B-B14F-4D97-AF65-F5344CB8AC3E}">
        <p14:creationId xmlns:p14="http://schemas.microsoft.com/office/powerpoint/2010/main" val="1791981836"/>
      </p:ext>
    </p:extLst>
  </p:cSld>
</p:sld>
</file>

<file path=ppt/slides/slide4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E55495F-C56D-4DBE-A95B-ECA985E1881E}"/>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backend/main.py  (27–27/27)</a:t>
            </a:r>
          </a:p>
        </p:txBody>
      </p:sp>
      <p:sp>
        <p:nvSpPr>
          <p:cNvPr id="3" name="page-number">
            <a:extLst xmlns:a="http://schemas.openxmlformats.org/drawingml/2006/main">
              <a:ext uri="{FF2B5EF4-FFF2-40B4-BE49-F238E27FC236}">
                <a16:creationId xmlns:a16="http://schemas.microsoft.com/office/drawing/2014/main" id="{B250E7A5-816E-4FDA-9CA9-A581CDA32182}"/>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48 / 88</a:t>
            </a:r>
          </a:p>
        </p:txBody>
      </p:sp>
      <p:sp>
        <p:nvSpPr>
          <p:cNvPr id="4" name="function-name-0">
            <a:extLst xmlns:a="http://schemas.openxmlformats.org/drawingml/2006/main">
              <a:ext uri="{FF2B5EF4-FFF2-40B4-BE49-F238E27FC236}">
                <a16:creationId xmlns:a16="http://schemas.microsoft.com/office/drawing/2014/main" id="{E6E93343-9354-466A-A5DA-8B3CAD087B72}"/>
              </a:ext>
            </a:extLst>
          </p:cNvPr>
          <p:cNvSpPr>
            <a:spLocks xmlns:a="http://schemas.openxmlformats.org/drawingml/2006/main" noGrp="1"/>
          </p:cNvSpPr>
          <p:nvPr/>
        </p:nvSpPr>
        <p:spPr>
          <a:xfrm xmlns:a="http://schemas.openxmlformats.org/drawingml/2006/main">
            <a:off x="762000" y="23050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create_app.chat_message</a:t>
            </a:r>
          </a:p>
        </p:txBody>
      </p:sp>
      <p:sp>
        <p:nvSpPr>
          <p:cNvPr id="5" name="function-purpose-0">
            <a:extLst xmlns:a="http://schemas.openxmlformats.org/drawingml/2006/main">
              <a:ext uri="{FF2B5EF4-FFF2-40B4-BE49-F238E27FC236}">
                <a16:creationId xmlns:a16="http://schemas.microsoft.com/office/drawing/2014/main" id="{5D3F5A57-AD1E-41C6-8532-A0A46A32FA12}"/>
              </a:ext>
            </a:extLst>
          </p:cNvPr>
          <p:cNvSpPr>
            <a:spLocks xmlns:a="http://schemas.openxmlformats.org/drawingml/2006/main" noGrp="1"/>
          </p:cNvSpPr>
          <p:nvPr/>
        </p:nvSpPr>
        <p:spPr>
          <a:xfrm xmlns:a="http://schemas.openxmlformats.org/drawingml/2006/main">
            <a:off x="762000" y="27622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Nhận tin nhắn, kiểm tra phiên/giới hạn gọi chat rồi chuyển sang luồng xử lý bot.</a:t>
            </a:r>
          </a:p>
        </p:txBody>
      </p:sp>
      <p:sp>
        <p:nvSpPr>
          <p:cNvPr id="6" name="function-io-0">
            <a:extLst xmlns:a="http://schemas.openxmlformats.org/drawingml/2006/main">
              <a:ext uri="{FF2B5EF4-FFF2-40B4-BE49-F238E27FC236}">
                <a16:creationId xmlns:a16="http://schemas.microsoft.com/office/drawing/2014/main" id="{9C45D4C0-C26F-49C6-931A-D77B8C3F87EB}"/>
              </a:ext>
            </a:extLst>
          </p:cNvPr>
          <p:cNvSpPr>
            <a:spLocks xmlns:a="http://schemas.openxmlformats.org/drawingml/2006/main" noGrp="1"/>
          </p:cNvSpPr>
          <p:nvPr/>
        </p:nvSpPr>
        <p:spPr>
          <a:xfrm xmlns:a="http://schemas.openxmlformats.org/drawingml/2006/main">
            <a:off x="762000" y="334327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body, request.  Ra / tác động: Kết quả workflow chat với route và reply.</a:t>
            </a:r>
          </a:p>
        </p:txBody>
      </p:sp>
      <p:sp>
        <p:nvSpPr>
          <p:cNvPr id="7" name="function-code-0">
            <a:extLst xmlns:a="http://schemas.openxmlformats.org/drawingml/2006/main">
              <a:ext uri="{FF2B5EF4-FFF2-40B4-BE49-F238E27FC236}">
                <a16:creationId xmlns:a16="http://schemas.microsoft.com/office/drawing/2014/main" id="{876C6DCC-2185-4BFC-80C5-A88EBA6EAE0D}"/>
              </a:ext>
            </a:extLst>
          </p:cNvPr>
          <p:cNvSpPr>
            <a:spLocks xmlns:a="http://schemas.openxmlformats.org/drawingml/2006/main" noGrp="1"/>
          </p:cNvSpPr>
          <p:nvPr/>
        </p:nvSpPr>
        <p:spPr>
          <a:xfrm xmlns:a="http://schemas.openxmlformats.org/drawingml/2006/main">
            <a:off x="762000" y="391477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240          key = request_key(request.headers.get("Idempotency-Key"))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241          with session_db(request) as (conn,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242              limiter.check("chat", session["owner_id"], settings.chat_limit)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243              return chat(conn, ctx, session, body.message, app.state.llm_client, key)</a:t>
            </a:r>
          </a:p>
        </p:txBody>
      </p:sp>
      <p:sp>
        <p:nvSpPr>
          <p:cNvPr id="8" name="function-source-0">
            <a:extLst xmlns:a="http://schemas.openxmlformats.org/drawingml/2006/main">
              <a:ext uri="{FF2B5EF4-FFF2-40B4-BE49-F238E27FC236}">
                <a16:creationId xmlns:a16="http://schemas.microsoft.com/office/drawing/2014/main" id="{C2437873-4728-4384-A42E-D96EEA2E1815}"/>
              </a:ext>
            </a:extLst>
          </p:cNvPr>
          <p:cNvSpPr>
            <a:spLocks xmlns:a="http://schemas.openxmlformats.org/drawingml/2006/main" noGrp="1"/>
          </p:cNvSpPr>
          <p:nvPr/>
        </p:nvSpPr>
        <p:spPr>
          <a:xfrm xmlns:a="http://schemas.openxmlformats.org/drawingml/2006/main">
            <a:off x="762000" y="532447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backend/main.py:239–243     Đoạn trích: 240–243</a:t>
            </a:r>
          </a:p>
        </p:txBody>
      </p:sp>
    </p:spTree>
    <p:extLst>
      <p:ext uri="{BB962C8B-B14F-4D97-AF65-F5344CB8AC3E}">
        <p14:creationId xmlns:p14="http://schemas.microsoft.com/office/powerpoint/2010/main" val="2079852715"/>
      </p:ext>
    </p:extLst>
  </p:cSld>
</p:sld>
</file>

<file path=ppt/slides/slide4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8D02F5F-D03A-49A0-8CED-71E650A550F2}"/>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backend/chat_service.py  (1–2/10)</a:t>
            </a:r>
          </a:p>
        </p:txBody>
      </p:sp>
      <p:sp>
        <p:nvSpPr>
          <p:cNvPr id="3" name="page-number">
            <a:extLst xmlns:a="http://schemas.openxmlformats.org/drawingml/2006/main">
              <a:ext uri="{FF2B5EF4-FFF2-40B4-BE49-F238E27FC236}">
                <a16:creationId xmlns:a16="http://schemas.microsoft.com/office/drawing/2014/main" id="{5941335E-B038-45F2-A614-3652E3811625}"/>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49 / 88</a:t>
            </a:r>
          </a:p>
        </p:txBody>
      </p:sp>
      <p:sp>
        <p:nvSpPr>
          <p:cNvPr id="4" name="function-name-0">
            <a:extLst xmlns:a="http://schemas.openxmlformats.org/drawingml/2006/main">
              <a:ext uri="{FF2B5EF4-FFF2-40B4-BE49-F238E27FC236}">
                <a16:creationId xmlns:a16="http://schemas.microsoft.com/office/drawing/2014/main" id="{2FA8D967-9C8F-47A9-9167-3EB47406A8FA}"/>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response</a:t>
            </a:r>
          </a:p>
        </p:txBody>
      </p:sp>
      <p:sp>
        <p:nvSpPr>
          <p:cNvPr id="5" name="function-purpose-0">
            <a:extLst xmlns:a="http://schemas.openxmlformats.org/drawingml/2006/main">
              <a:ext uri="{FF2B5EF4-FFF2-40B4-BE49-F238E27FC236}">
                <a16:creationId xmlns:a16="http://schemas.microsoft.com/office/drawing/2014/main" id="{0FE75053-CED0-43BE-ACBD-62793D858AE0}"/>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Tạo cấu trúc phản hồi chat chung gồm lời nhắn, nhánh xử lý, trường thiếu và đơn nếu có.</a:t>
            </a:r>
          </a:p>
        </p:txBody>
      </p:sp>
      <p:sp>
        <p:nvSpPr>
          <p:cNvPr id="6" name="function-io-0">
            <a:extLst xmlns:a="http://schemas.openxmlformats.org/drawingml/2006/main">
              <a:ext uri="{FF2B5EF4-FFF2-40B4-BE49-F238E27FC236}">
                <a16:creationId xmlns:a16="http://schemas.microsoft.com/office/drawing/2014/main" id="{80CC10E8-9A31-4A9B-A39A-3F9CA22CAEB3}"/>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reply, route, missing, order.  Ra / tác động: Dictionary reply, route, missing_fields, order và phần bổ sung.</a:t>
            </a:r>
          </a:p>
        </p:txBody>
      </p:sp>
      <p:sp>
        <p:nvSpPr>
          <p:cNvPr id="7" name="function-code-0">
            <a:extLst xmlns:a="http://schemas.openxmlformats.org/drawingml/2006/main">
              <a:ext uri="{FF2B5EF4-FFF2-40B4-BE49-F238E27FC236}">
                <a16:creationId xmlns:a16="http://schemas.microsoft.com/office/drawing/2014/main" id="{ABB1FBAA-096D-4FFE-B029-F3C4ACE284B5}"/>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33  def response(reply, route, missing=(), order=None, **extra):</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34      return {"reply": reply, "route": route, "missing_fields": list(missing), "order": order, **extra}</a:t>
            </a:r>
          </a:p>
        </p:txBody>
      </p:sp>
      <p:sp>
        <p:nvSpPr>
          <p:cNvPr id="8" name="function-source-0">
            <a:extLst xmlns:a="http://schemas.openxmlformats.org/drawingml/2006/main">
              <a:ext uri="{FF2B5EF4-FFF2-40B4-BE49-F238E27FC236}">
                <a16:creationId xmlns:a16="http://schemas.microsoft.com/office/drawing/2014/main" id="{5F97898C-4E5E-4D91-A904-8F8A51BCA549}"/>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backend/chat_service.py:33–34     Đoạn trích: 33–34</a:t>
            </a:r>
          </a:p>
        </p:txBody>
      </p:sp>
      <p:sp>
        <p:nvSpPr>
          <p:cNvPr id="9" name="function-name-1">
            <a:extLst xmlns:a="http://schemas.openxmlformats.org/drawingml/2006/main">
              <a:ext uri="{FF2B5EF4-FFF2-40B4-BE49-F238E27FC236}">
                <a16:creationId xmlns:a16="http://schemas.microsoft.com/office/drawing/2014/main" id="{7A33B8DA-EF5B-4A02-AF91-0469F28AD39A}"/>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ask</a:t>
            </a:r>
          </a:p>
        </p:txBody>
      </p:sp>
      <p:sp>
        <p:nvSpPr>
          <p:cNvPr id="10" name="function-purpose-1">
            <a:extLst xmlns:a="http://schemas.openxmlformats.org/drawingml/2006/main">
              <a:ext uri="{FF2B5EF4-FFF2-40B4-BE49-F238E27FC236}">
                <a16:creationId xmlns:a16="http://schemas.microsoft.com/office/drawing/2014/main" id="{321C3AC6-F9F7-4C18-A7C1-F176BFC7C662}"/>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Đổi tên các trường còn thiếu sang tiếng Việt và tạo câu hỏi bổ sung thông tin.</a:t>
            </a:r>
          </a:p>
        </p:txBody>
      </p:sp>
      <p:sp>
        <p:nvSpPr>
          <p:cNvPr id="11" name="function-io-1">
            <a:extLst xmlns:a="http://schemas.openxmlformats.org/drawingml/2006/main">
              <a:ext uri="{FF2B5EF4-FFF2-40B4-BE49-F238E27FC236}">
                <a16:creationId xmlns:a16="http://schemas.microsoft.com/office/drawing/2014/main" id="{AF19489E-0809-44C1-B599-D3663918284B}"/>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fields, detail.  Ra / tác động: Response ask_missing với nhãn trường bằng tiếng Việt.</a:t>
            </a:r>
          </a:p>
        </p:txBody>
      </p:sp>
      <p:sp>
        <p:nvSpPr>
          <p:cNvPr id="12" name="function-code-1">
            <a:extLst xmlns:a="http://schemas.openxmlformats.org/drawingml/2006/main">
              <a:ext uri="{FF2B5EF4-FFF2-40B4-BE49-F238E27FC236}">
                <a16:creationId xmlns:a16="http://schemas.microsoft.com/office/drawing/2014/main" id="{FF1F87E1-3E53-493D-8F5F-9DFF1D5B8B51}"/>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38  def ask(fields, detail=""):</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39      fields = list(dict.fromkeys(fields))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40      text = ", ".join(FIELD_NAMES.get(f, f) for f in fields)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41      return response((detail + " Vui lòng bổ sung: " + text + ".").strip(), "ask_missing", fields)</a:t>
            </a:r>
          </a:p>
        </p:txBody>
      </p:sp>
      <p:sp>
        <p:nvSpPr>
          <p:cNvPr id="13" name="function-source-1">
            <a:extLst xmlns:a="http://schemas.openxmlformats.org/drawingml/2006/main">
              <a:ext uri="{FF2B5EF4-FFF2-40B4-BE49-F238E27FC236}">
                <a16:creationId xmlns:a16="http://schemas.microsoft.com/office/drawing/2014/main" id="{BD270295-EAF9-4956-87A3-16D4D94716A6}"/>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backend/chat_service.py:38–41     Đoạn trích: 38–41</a:t>
            </a:r>
          </a:p>
        </p:txBody>
      </p:sp>
    </p:spTree>
    <p:extLst>
      <p:ext uri="{BB962C8B-B14F-4D97-AF65-F5344CB8AC3E}">
        <p14:creationId xmlns:p14="http://schemas.microsoft.com/office/powerpoint/2010/main" val="201929786"/>
      </p:ext>
    </p:extLst>
  </p:cSld>
</p:sld>
</file>

<file path=ppt/slides/slide5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C8E1C34-B1C1-4E61-AD4C-5FD9467DB0CD}"/>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backend/chat_service.py  (3–4/10)</a:t>
            </a:r>
          </a:p>
        </p:txBody>
      </p:sp>
      <p:sp>
        <p:nvSpPr>
          <p:cNvPr id="3" name="page-number">
            <a:extLst xmlns:a="http://schemas.openxmlformats.org/drawingml/2006/main">
              <a:ext uri="{FF2B5EF4-FFF2-40B4-BE49-F238E27FC236}">
                <a16:creationId xmlns:a16="http://schemas.microsoft.com/office/drawing/2014/main" id="{0F3CEE3F-E441-4852-A1AA-A16C9DD7942E}"/>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50 / 88</a:t>
            </a:r>
          </a:p>
        </p:txBody>
      </p:sp>
      <p:sp>
        <p:nvSpPr>
          <p:cNvPr id="4" name="function-name-0">
            <a:extLst xmlns:a="http://schemas.openxmlformats.org/drawingml/2006/main">
              <a:ext uri="{FF2B5EF4-FFF2-40B4-BE49-F238E27FC236}">
                <a16:creationId xmlns:a16="http://schemas.microsoft.com/office/drawing/2014/main" id="{38758C68-816F-4939-865B-BC4D4CABD9DB}"/>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_catalog_context</a:t>
            </a:r>
          </a:p>
        </p:txBody>
      </p:sp>
      <p:sp>
        <p:nvSpPr>
          <p:cNvPr id="5" name="function-purpose-0">
            <a:extLst xmlns:a="http://schemas.openxmlformats.org/drawingml/2006/main">
              <a:ext uri="{FF2B5EF4-FFF2-40B4-BE49-F238E27FC236}">
                <a16:creationId xmlns:a16="http://schemas.microsoft.com/office/drawing/2014/main" id="{3DDB6355-87DF-45B8-A36A-C539DBB16199}"/>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Chọn sản phẩm liên quan từ database làm ngữ cảnh để LLM nhận diện yêu cầu.</a:t>
            </a:r>
          </a:p>
        </p:txBody>
      </p:sp>
      <p:sp>
        <p:nvSpPr>
          <p:cNvPr id="6" name="function-io-0">
            <a:extLst xmlns:a="http://schemas.openxmlformats.org/drawingml/2006/main">
              <a:ext uri="{FF2B5EF4-FFF2-40B4-BE49-F238E27FC236}">
                <a16:creationId xmlns:a16="http://schemas.microsoft.com/office/drawing/2014/main" id="{40C33D49-569C-4BDA-AF5F-58A69C4AFF74}"/>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message, context.  Ra / tác động: Tối đa 6 sản phẩm, alias và định danh biến thể cho prompt.</a:t>
            </a:r>
          </a:p>
        </p:txBody>
      </p:sp>
      <p:sp>
        <p:nvSpPr>
          <p:cNvPr id="7" name="function-code-0">
            <a:extLst xmlns:a="http://schemas.openxmlformats.org/drawingml/2006/main">
              <a:ext uri="{FF2B5EF4-FFF2-40B4-BE49-F238E27FC236}">
                <a16:creationId xmlns:a16="http://schemas.microsoft.com/office/drawing/2014/main" id="{266C723E-8020-42A6-ADD8-05FDF833A668}"/>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45  def _catalog_context(conn, message, context):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46      found = catalog.search_products(conn, message, limit=3)</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47      for item in context.get("items",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48          found += catalog.search_products(conn, item.get("requested_product") or item.get("sku"), limit=2)</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49      if not found:</a:t>
            </a:r>
          </a:p>
        </p:txBody>
      </p:sp>
      <p:sp>
        <p:nvSpPr>
          <p:cNvPr id="8" name="function-source-0">
            <a:extLst xmlns:a="http://schemas.openxmlformats.org/drawingml/2006/main">
              <a:ext uri="{FF2B5EF4-FFF2-40B4-BE49-F238E27FC236}">
                <a16:creationId xmlns:a16="http://schemas.microsoft.com/office/drawing/2014/main" id="{224EAA63-5A4F-4C48-9FA6-A63C48D9FE20}"/>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backend/chat_service.py:45–57     Đoạn trích: 45–49</a:t>
            </a:r>
          </a:p>
        </p:txBody>
      </p:sp>
      <p:sp>
        <p:nvSpPr>
          <p:cNvPr id="9" name="function-name-1">
            <a:extLst xmlns:a="http://schemas.openxmlformats.org/drawingml/2006/main">
              <a:ext uri="{FF2B5EF4-FFF2-40B4-BE49-F238E27FC236}">
                <a16:creationId xmlns:a16="http://schemas.microsoft.com/office/drawing/2014/main" id="{AE7E5E1E-FB27-4972-B3C7-CFE68CDB5298}"/>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_merge_items</a:t>
            </a:r>
          </a:p>
        </p:txBody>
      </p:sp>
      <p:sp>
        <p:nvSpPr>
          <p:cNvPr id="10" name="function-purpose-1">
            <a:extLst xmlns:a="http://schemas.openxmlformats.org/drawingml/2006/main">
              <a:ext uri="{FF2B5EF4-FFF2-40B4-BE49-F238E27FC236}">
                <a16:creationId xmlns:a16="http://schemas.microsoft.com/office/drawing/2014/main" id="{886F10FC-20BA-485A-8A05-09E7BA9F8610}"/>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Gộp thông tin bổ sung của cùng một sản phẩm với dữ liệu đã thu thập ở lượt trước.</a:t>
            </a:r>
          </a:p>
        </p:txBody>
      </p:sp>
      <p:sp>
        <p:nvSpPr>
          <p:cNvPr id="11" name="function-io-1">
            <a:extLst xmlns:a="http://schemas.openxmlformats.org/drawingml/2006/main">
              <a:ext uri="{FF2B5EF4-FFF2-40B4-BE49-F238E27FC236}">
                <a16:creationId xmlns:a16="http://schemas.microsoft.com/office/drawing/2014/main" id="{55972961-D7D8-47A4-BB0D-5E1931D469B5}"/>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previous, incoming.  Ra / tác động: Danh sách item đã ghép hoặc danh sách mới.</a:t>
            </a:r>
          </a:p>
        </p:txBody>
      </p:sp>
      <p:sp>
        <p:nvSpPr>
          <p:cNvPr id="12" name="function-code-1">
            <a:extLst xmlns:a="http://schemas.openxmlformats.org/drawingml/2006/main">
              <a:ext uri="{FF2B5EF4-FFF2-40B4-BE49-F238E27FC236}">
                <a16:creationId xmlns:a16="http://schemas.microsoft.com/office/drawing/2014/main" id="{B93CDF6B-DE96-4D53-BCAC-A1060E67A4F4}"/>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61  def _merge_items(previous, incoming):</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62      if not incoming:</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63          return previous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64      if len(previous) == len(incoming) == 1:</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65          old, new = previous[0], incoming[0]</a:t>
            </a:r>
          </a:p>
        </p:txBody>
      </p:sp>
      <p:sp>
        <p:nvSpPr>
          <p:cNvPr id="13" name="function-source-1">
            <a:extLst xmlns:a="http://schemas.openxmlformats.org/drawingml/2006/main">
              <a:ext uri="{FF2B5EF4-FFF2-40B4-BE49-F238E27FC236}">
                <a16:creationId xmlns:a16="http://schemas.microsoft.com/office/drawing/2014/main" id="{6798C611-C644-421A-B62A-5D9B5BE976C4}"/>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backend/chat_service.py:61–73     Đoạn trích: 61–65</a:t>
            </a:r>
          </a:p>
        </p:txBody>
      </p:sp>
    </p:spTree>
    <p:extLst>
      <p:ext uri="{BB962C8B-B14F-4D97-AF65-F5344CB8AC3E}">
        <p14:creationId xmlns:p14="http://schemas.microsoft.com/office/powerpoint/2010/main" val="1146617446"/>
      </p:ext>
    </p:extLst>
  </p:cSld>
</p:sld>
</file>

<file path=ppt/slides/slide5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15D0497-7EB2-4433-9ECE-7064F84DE4F0}"/>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backend/chat_service.py  (5–6/10)</a:t>
            </a:r>
          </a:p>
        </p:txBody>
      </p:sp>
      <p:sp>
        <p:nvSpPr>
          <p:cNvPr id="3" name="page-number">
            <a:extLst xmlns:a="http://schemas.openxmlformats.org/drawingml/2006/main">
              <a:ext uri="{FF2B5EF4-FFF2-40B4-BE49-F238E27FC236}">
                <a16:creationId xmlns:a16="http://schemas.microsoft.com/office/drawing/2014/main" id="{E41501E9-0CC8-4745-B7DE-A1B222F1C9C3}"/>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51 / 88</a:t>
            </a:r>
          </a:p>
        </p:txBody>
      </p:sp>
      <p:sp>
        <p:nvSpPr>
          <p:cNvPr id="4" name="function-name-0">
            <a:extLst xmlns:a="http://schemas.openxmlformats.org/drawingml/2006/main">
              <a:ext uri="{FF2B5EF4-FFF2-40B4-BE49-F238E27FC236}">
                <a16:creationId xmlns:a16="http://schemas.microsoft.com/office/drawing/2014/main" id="{33E7A605-F22A-4EEC-87C7-C20C5BAF1212}"/>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resolve_item</a:t>
            </a:r>
          </a:p>
        </p:txBody>
      </p:sp>
      <p:sp>
        <p:nvSpPr>
          <p:cNvPr id="5" name="function-purpose-0">
            <a:extLst xmlns:a="http://schemas.openxmlformats.org/drawingml/2006/main">
              <a:ext uri="{FF2B5EF4-FFF2-40B4-BE49-F238E27FC236}">
                <a16:creationId xmlns:a16="http://schemas.microsoft.com/office/drawing/2014/main" id="{AFF7D65F-ACEB-4099-A2D9-A3F829E79B7F}"/>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Đối chiếu tên/SKU, màu và size với catalog; hỏi lại khi chưa xác định duy nhất biến thể.</a:t>
            </a:r>
          </a:p>
        </p:txBody>
      </p:sp>
      <p:sp>
        <p:nvSpPr>
          <p:cNvPr id="6" name="function-io-0">
            <a:extLst xmlns:a="http://schemas.openxmlformats.org/drawingml/2006/main">
              <a:ext uri="{FF2B5EF4-FFF2-40B4-BE49-F238E27FC236}">
                <a16:creationId xmlns:a16="http://schemas.microsoft.com/office/drawing/2014/main" id="{9F5FC71B-AF12-402D-972F-204164E1B34D}"/>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item.  Ra / tác động: (variant, None) hoặc (None, câu hỏi bổ sung).</a:t>
            </a:r>
          </a:p>
        </p:txBody>
      </p:sp>
      <p:sp>
        <p:nvSpPr>
          <p:cNvPr id="7" name="function-code-0">
            <a:extLst xmlns:a="http://schemas.openxmlformats.org/drawingml/2006/main">
              <a:ext uri="{FF2B5EF4-FFF2-40B4-BE49-F238E27FC236}">
                <a16:creationId xmlns:a16="http://schemas.microsoft.com/office/drawing/2014/main" id="{548DAA2C-0521-4913-8FEB-182799478251}"/>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77  def resolve_item(conn, item):</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78      if item.get("sku"):</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79          candidates = [catalog.get_variant(conn, item["sku"])]</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80      elif item.get("requested_product"):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81          found = catalog.search_products(conn, item["requested_product"], limit=5)</a:t>
            </a:r>
          </a:p>
        </p:txBody>
      </p:sp>
      <p:sp>
        <p:nvSpPr>
          <p:cNvPr id="8" name="function-source-0">
            <a:extLst xmlns:a="http://schemas.openxmlformats.org/drawingml/2006/main">
              <a:ext uri="{FF2B5EF4-FFF2-40B4-BE49-F238E27FC236}">
                <a16:creationId xmlns:a16="http://schemas.microsoft.com/office/drawing/2014/main" id="{8BEB9467-E605-4DAB-AB8A-C6718D546D7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backend/chat_service.py:77–98     Đoạn trích: 77–81</a:t>
            </a:r>
          </a:p>
        </p:txBody>
      </p:sp>
      <p:sp>
        <p:nvSpPr>
          <p:cNvPr id="9" name="function-name-1">
            <a:extLst xmlns:a="http://schemas.openxmlformats.org/drawingml/2006/main">
              <a:ext uri="{FF2B5EF4-FFF2-40B4-BE49-F238E27FC236}">
                <a16:creationId xmlns:a16="http://schemas.microsoft.com/office/drawing/2014/main" id="{07D56155-0796-4496-A2EC-E0499C388C49}"/>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_shipping</a:t>
            </a:r>
          </a:p>
        </p:txBody>
      </p:sp>
      <p:sp>
        <p:nvSpPr>
          <p:cNvPr id="10" name="function-purpose-1">
            <a:extLst xmlns:a="http://schemas.openxmlformats.org/drawingml/2006/main">
              <a:ext uri="{FF2B5EF4-FFF2-40B4-BE49-F238E27FC236}">
                <a16:creationId xmlns:a16="http://schemas.microsoft.com/office/drawing/2014/main" id="{AA46AA10-AE8E-4D8C-B5CA-3398C1E7028F}"/>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Kiểm tra tên, điện thoại, địa chỉ và trả giao nhận đã chuẩn hóa hoặc danh sách trường lỗi.</a:t>
            </a:r>
          </a:p>
        </p:txBody>
      </p:sp>
      <p:sp>
        <p:nvSpPr>
          <p:cNvPr id="11" name="function-io-1">
            <a:extLst xmlns:a="http://schemas.openxmlformats.org/drawingml/2006/main">
              <a:ext uri="{FF2B5EF4-FFF2-40B4-BE49-F238E27FC236}">
                <a16:creationId xmlns:a16="http://schemas.microsoft.com/office/drawing/2014/main" id="{5C36DA64-8D0F-422C-B629-869E1773AEC7}"/>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customer.  Ra / tác động: (giao nhận sạch, []) hoặc (None, các trường thiếu/sai).</a:t>
            </a:r>
          </a:p>
        </p:txBody>
      </p:sp>
      <p:sp>
        <p:nvSpPr>
          <p:cNvPr id="12" name="function-code-1">
            <a:extLst xmlns:a="http://schemas.openxmlformats.org/drawingml/2006/main">
              <a:ext uri="{FF2B5EF4-FFF2-40B4-BE49-F238E27FC236}">
                <a16:creationId xmlns:a16="http://schemas.microsoft.com/office/drawing/2014/main" id="{DA041E61-5E98-477B-B924-2739D241D619}"/>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463" b="0">
                <a:solidFill>
                  <a:srgbClr val="172E32"/>
                </a:solidFill>
                <a:latin typeface="Courier New"/>
                <a:ea typeface="Courier New"/>
                <a:cs typeface="Courier New"/>
              </a:defRPr>
            </a:defPPr>
            <a:lvl1pPr>
              <a:defRPr sz="1463" b="0">
                <a:solidFill>
                  <a:srgbClr val="172E32"/>
                </a:solidFill>
                <a:latin typeface="Courier New"/>
                <a:ea typeface="Courier New"/>
                <a:cs typeface="Courier New"/>
              </a:defRPr>
            </a:lvl1pPr>
            <a:lvl2pPr>
              <a:defRPr sz="1463" b="0">
                <a:solidFill>
                  <a:srgbClr val="172E32"/>
                </a:solidFill>
                <a:latin typeface="Courier New"/>
                <a:ea typeface="Courier New"/>
                <a:cs typeface="Courier New"/>
              </a:defRPr>
            </a:lvl2pPr>
            <a:lvl3pPr>
              <a:defRPr sz="1463" b="0">
                <a:solidFill>
                  <a:srgbClr val="172E32"/>
                </a:solidFill>
                <a:latin typeface="Courier New"/>
                <a:ea typeface="Courier New"/>
                <a:cs typeface="Courier New"/>
              </a:defRPr>
            </a:lvl3pPr>
            <a:lvl4pPr>
              <a:defRPr sz="1463" b="0">
                <a:solidFill>
                  <a:srgbClr val="172E32"/>
                </a:solidFill>
                <a:latin typeface="Courier New"/>
                <a:ea typeface="Courier New"/>
                <a:cs typeface="Courier New"/>
              </a:defRPr>
            </a:lvl4pPr>
            <a:lvl5pPr>
              <a:defRPr sz="1463" b="0">
                <a:solidFill>
                  <a:srgbClr val="172E32"/>
                </a:solidFill>
                <a:latin typeface="Courier New"/>
                <a:ea typeface="Courier New"/>
                <a:cs typeface="Courier New"/>
              </a:defRPr>
            </a:lvl5pPr>
            <a:lvl6pPr>
              <a:defRPr sz="1463" b="0">
                <a:solidFill>
                  <a:srgbClr val="172E32"/>
                </a:solidFill>
                <a:latin typeface="Courier New"/>
                <a:ea typeface="Courier New"/>
                <a:cs typeface="Courier New"/>
              </a:defRPr>
            </a:lvl6pPr>
            <a:lvl7pPr>
              <a:defRPr sz="1463" b="0">
                <a:solidFill>
                  <a:srgbClr val="172E32"/>
                </a:solidFill>
                <a:latin typeface="Courier New"/>
                <a:ea typeface="Courier New"/>
                <a:cs typeface="Courier New"/>
              </a:defRPr>
            </a:lvl7pPr>
            <a:lvl8pPr>
              <a:defRPr sz="1463" b="0">
                <a:solidFill>
                  <a:srgbClr val="172E32"/>
                </a:solidFill>
                <a:latin typeface="Courier New"/>
                <a:ea typeface="Courier New"/>
                <a:cs typeface="Courier New"/>
              </a:defRPr>
            </a:lvl8pPr>
            <a:lvl9pPr>
              <a:defRPr sz="1463" b="0">
                <a:solidFill>
                  <a:srgbClr val="172E32"/>
                </a:solidFill>
                <a:latin typeface="Courier New"/>
                <a:ea typeface="Courier New"/>
                <a:cs typeface="Courier New"/>
              </a:defRPr>
            </a:lvl9pPr>
          </a:lstStyle>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102  def _shipping(customer):</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103      mapped = {"recipient_name": customer.get("name"), "phone": customer.get("phone"), "address": customer.get("address")}</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104      missing = [k for k, v in mapped.items() if not v]</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105      if missing:</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106          return None, missing</a:t>
            </a:r>
          </a:p>
        </p:txBody>
      </p:sp>
      <p:sp>
        <p:nvSpPr>
          <p:cNvPr id="13" name="function-source-1">
            <a:extLst xmlns:a="http://schemas.openxmlformats.org/drawingml/2006/main">
              <a:ext uri="{FF2B5EF4-FFF2-40B4-BE49-F238E27FC236}">
                <a16:creationId xmlns:a16="http://schemas.microsoft.com/office/drawing/2014/main" id="{34F9510C-9F6F-4AC3-8B91-A55FCEE1BDA5}"/>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backend/chat_service.py:102–117     Đoạn trích: 102–106</a:t>
            </a:r>
          </a:p>
        </p:txBody>
      </p:sp>
    </p:spTree>
    <p:extLst>
      <p:ext uri="{BB962C8B-B14F-4D97-AF65-F5344CB8AC3E}">
        <p14:creationId xmlns:p14="http://schemas.microsoft.com/office/powerpoint/2010/main" val="2141338990"/>
      </p:ext>
    </p:extLst>
  </p:cSld>
</p:sld>
</file>

<file path=ppt/slides/slide5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F3F205D-41B6-4A21-9D6D-EEF8A3D94957}"/>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backend/chat_service.py  (7–8/10)</a:t>
            </a:r>
          </a:p>
        </p:txBody>
      </p:sp>
      <p:sp>
        <p:nvSpPr>
          <p:cNvPr id="3" name="page-number">
            <a:extLst xmlns:a="http://schemas.openxmlformats.org/drawingml/2006/main">
              <a:ext uri="{FF2B5EF4-FFF2-40B4-BE49-F238E27FC236}">
                <a16:creationId xmlns:a16="http://schemas.microsoft.com/office/drawing/2014/main" id="{EA6D759A-E71D-4A99-A142-8FAF722F8C6E}"/>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52 / 88</a:t>
            </a:r>
          </a:p>
        </p:txBody>
      </p:sp>
      <p:sp>
        <p:nvSpPr>
          <p:cNvPr id="4" name="function-name-0">
            <a:extLst xmlns:a="http://schemas.openxmlformats.org/drawingml/2006/main">
              <a:ext uri="{FF2B5EF4-FFF2-40B4-BE49-F238E27FC236}">
                <a16:creationId xmlns:a16="http://schemas.microsoft.com/office/drawing/2014/main" id="{72EE7D90-A2D3-4264-896C-FF9AD4EA2420}"/>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_draft</a:t>
            </a:r>
          </a:p>
        </p:txBody>
      </p:sp>
      <p:sp>
        <p:nvSpPr>
          <p:cNvPr id="5" name="function-purpose-0">
            <a:extLst xmlns:a="http://schemas.openxmlformats.org/drawingml/2006/main">
              <a:ext uri="{FF2B5EF4-FFF2-40B4-BE49-F238E27FC236}">
                <a16:creationId xmlns:a16="http://schemas.microsoft.com/office/drawing/2014/main" id="{25ADA461-9E91-4421-B66E-AE7560B264FD}"/>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Kiểm tra hàng, số lượng, giao nhận; hỏi phần còn thiếu hoặc tạo đơn nháp từ hội thoại.</a:t>
            </a:r>
          </a:p>
        </p:txBody>
      </p:sp>
      <p:sp>
        <p:nvSpPr>
          <p:cNvPr id="6" name="function-io-0">
            <a:extLst xmlns:a="http://schemas.openxmlformats.org/drawingml/2006/main">
              <a:ext uri="{FF2B5EF4-FFF2-40B4-BE49-F238E27FC236}">
                <a16:creationId xmlns:a16="http://schemas.microsoft.com/office/drawing/2014/main" id="{BF61747D-EF44-4C06-9E6F-16D232854120}"/>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ctx, session, slots, key.  Ra / tác động: ask_missing/purchase, out_of_stock hoặc draft_created/order.</a:t>
            </a:r>
          </a:p>
        </p:txBody>
      </p:sp>
      <p:sp>
        <p:nvSpPr>
          <p:cNvPr id="7" name="function-code-0">
            <a:extLst xmlns:a="http://schemas.openxmlformats.org/drawingml/2006/main">
              <a:ext uri="{FF2B5EF4-FFF2-40B4-BE49-F238E27FC236}">
                <a16:creationId xmlns:a16="http://schemas.microsoft.com/office/drawing/2014/main" id="{320104E7-7956-4158-9BE6-9EA4F02739D2}"/>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154      order = orders.create_draft_order(conn, ctx, session["owner_id"], resolved, delivery, source="chat", idempotency_key=key)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155      return response("Đã tạo đơn nháp. Bạn có thể xem và sửa ở trang Đơn hàng; đơn đang chờ xác nhận.",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156                      "draft_created", order=order_view(conn, order))</a:t>
            </a:r>
          </a:p>
        </p:txBody>
      </p:sp>
      <p:sp>
        <p:nvSpPr>
          <p:cNvPr id="8" name="function-source-0">
            <a:extLst xmlns:a="http://schemas.openxmlformats.org/drawingml/2006/main">
              <a:ext uri="{FF2B5EF4-FFF2-40B4-BE49-F238E27FC236}">
                <a16:creationId xmlns:a16="http://schemas.microsoft.com/office/drawing/2014/main" id="{B4498F0F-823C-48A8-AD42-33051AFD3E49}"/>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backend/chat_service.py:121–156     Đoạn trích: 154–156</a:t>
            </a:r>
          </a:p>
        </p:txBody>
      </p:sp>
      <p:sp>
        <p:nvSpPr>
          <p:cNvPr id="9" name="function-name-1">
            <a:extLst xmlns:a="http://schemas.openxmlformats.org/drawingml/2006/main">
              <a:ext uri="{FF2B5EF4-FFF2-40B4-BE49-F238E27FC236}">
                <a16:creationId xmlns:a16="http://schemas.microsoft.com/office/drawing/2014/main" id="{7A0C9DB9-2C50-48E7-9FEC-2C0B5929F225}"/>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_query</a:t>
            </a:r>
          </a:p>
        </p:txBody>
      </p:sp>
      <p:sp>
        <p:nvSpPr>
          <p:cNvPr id="10" name="function-purpose-1">
            <a:extLst xmlns:a="http://schemas.openxmlformats.org/drawingml/2006/main">
              <a:ext uri="{FF2B5EF4-FFF2-40B4-BE49-F238E27FC236}">
                <a16:creationId xmlns:a16="http://schemas.microsoft.com/office/drawing/2014/main" id="{A9F1C848-A52A-48EF-9A29-72ED1235A3FD}"/>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Yêu cầu tên sản phẩm nếu chưa rõ, rồi trả thông tin catalog, giá hoặc tồn kho từ database.</a:t>
            </a:r>
          </a:p>
        </p:txBody>
      </p:sp>
      <p:sp>
        <p:nvSpPr>
          <p:cNvPr id="11" name="function-io-1">
            <a:extLst xmlns:a="http://schemas.openxmlformats.org/drawingml/2006/main">
              <a:ext uri="{FF2B5EF4-FFF2-40B4-BE49-F238E27FC236}">
                <a16:creationId xmlns:a16="http://schemas.microsoft.com/office/drawing/2014/main" id="{FCA63276-25BF-4F53-A8F5-5D3FB667EFB4}"/>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items, intent, filters.  Ra / tác động: Câu hỏi tên hàng hoặc kết quả giá/tồn/catalog từ DB.</a:t>
            </a:r>
          </a:p>
        </p:txBody>
      </p:sp>
      <p:sp>
        <p:nvSpPr>
          <p:cNvPr id="12" name="function-code-1">
            <a:extLst xmlns:a="http://schemas.openxmlformats.org/drawingml/2006/main">
              <a:ext uri="{FF2B5EF4-FFF2-40B4-BE49-F238E27FC236}">
                <a16:creationId xmlns:a16="http://schemas.microsoft.com/office/drawing/2014/main" id="{3B772527-1990-4EA1-9292-E216BDBA6A59}"/>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160  def _query(conn, items, intent, filters):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161      if not items or any(not i.get("requested_product") and not i.get("sku") for i in items):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162          return ask(["product"])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163      return catalog_reply(conn, items, filters, intent)</a:t>
            </a:r>
          </a:p>
        </p:txBody>
      </p:sp>
      <p:sp>
        <p:nvSpPr>
          <p:cNvPr id="13" name="function-source-1">
            <a:extLst xmlns:a="http://schemas.openxmlformats.org/drawingml/2006/main">
              <a:ext uri="{FF2B5EF4-FFF2-40B4-BE49-F238E27FC236}">
                <a16:creationId xmlns:a16="http://schemas.microsoft.com/office/drawing/2014/main" id="{EF5EE78A-0F6B-482F-A5F3-9253FC2E7CAF}"/>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backend/chat_service.py:160–163     Đoạn trích: 160–163</a:t>
            </a:r>
          </a:p>
        </p:txBody>
      </p:sp>
    </p:spTree>
    <p:extLst>
      <p:ext uri="{BB962C8B-B14F-4D97-AF65-F5344CB8AC3E}">
        <p14:creationId xmlns:p14="http://schemas.microsoft.com/office/powerpoint/2010/main" val="784558122"/>
      </p:ext>
    </p:extLst>
  </p:cSld>
</p:sld>
</file>

<file path=ppt/slides/slide5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D0B5CE7-36EA-4A1A-BFBF-C420AD1A50B7}"/>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backend/chat_service.py  (9–10/10)</a:t>
            </a:r>
          </a:p>
        </p:txBody>
      </p:sp>
      <p:sp>
        <p:nvSpPr>
          <p:cNvPr id="3" name="page-number">
            <a:extLst xmlns:a="http://schemas.openxmlformats.org/drawingml/2006/main">
              <a:ext uri="{FF2B5EF4-FFF2-40B4-BE49-F238E27FC236}">
                <a16:creationId xmlns:a16="http://schemas.microsoft.com/office/drawing/2014/main" id="{A89E40D5-DF3F-451A-97E6-399D816B6CA8}"/>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53 / 88</a:t>
            </a:r>
          </a:p>
        </p:txBody>
      </p:sp>
      <p:sp>
        <p:nvSpPr>
          <p:cNvPr id="4" name="function-name-0">
            <a:extLst xmlns:a="http://schemas.openxmlformats.org/drawingml/2006/main">
              <a:ext uri="{FF2B5EF4-FFF2-40B4-BE49-F238E27FC236}">
                <a16:creationId xmlns:a16="http://schemas.microsoft.com/office/drawing/2014/main" id="{57C104FC-E2D3-43A4-8EED-0BE487DBB96B}"/>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_update</a:t>
            </a:r>
          </a:p>
        </p:txBody>
      </p:sp>
      <p:sp>
        <p:nvSpPr>
          <p:cNvPr id="5" name="function-purpose-0">
            <a:extLst xmlns:a="http://schemas.openxmlformats.org/drawingml/2006/main">
              <a:ext uri="{FF2B5EF4-FFF2-40B4-BE49-F238E27FC236}">
                <a16:creationId xmlns:a16="http://schemas.microsoft.com/office/drawing/2014/main" id="{69406D9B-8D22-4B0C-9628-FE16C335654A}"/>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Xác định đúng đơn/dòng hàng được phép sửa và cập nhật số lượng hoặc biến thể theo yêu cầu.</a:t>
            </a:r>
          </a:p>
        </p:txBody>
      </p:sp>
      <p:sp>
        <p:nvSpPr>
          <p:cNvPr id="6" name="function-io-0">
            <a:extLst xmlns:a="http://schemas.openxmlformats.org/drawingml/2006/main">
              <a:ext uri="{FF2B5EF4-FFF2-40B4-BE49-F238E27FC236}">
                <a16:creationId xmlns:a16="http://schemas.microsoft.com/office/drawing/2014/main" id="{C684447F-EFB5-479E-994C-C02D4915657F}"/>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ctx, session, slots.  Ra / tác động: order_updated hoặc câu hỏi làm rõ đích sửa.</a:t>
            </a:r>
          </a:p>
        </p:txBody>
      </p:sp>
      <p:sp>
        <p:nvSpPr>
          <p:cNvPr id="7" name="function-code-0">
            <a:extLst xmlns:a="http://schemas.openxmlformats.org/drawingml/2006/main">
              <a:ext uri="{FF2B5EF4-FFF2-40B4-BE49-F238E27FC236}">
                <a16:creationId xmlns:a16="http://schemas.microsoft.com/office/drawing/2014/main" id="{0A4A7D7C-C18A-482D-9A50-6B732833D744}"/>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169      if reference: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170          order = owned_order(conn, session["owner_id"], order_number(reference))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171      else: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172          candidates = orders.list_orders(conn, session["owner_id"], statuses=["pending_confirmation"], limit=2)</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173          if len(candidates) != 1:</a:t>
            </a:r>
          </a:p>
        </p:txBody>
      </p:sp>
      <p:sp>
        <p:nvSpPr>
          <p:cNvPr id="8" name="function-source-0">
            <a:extLst xmlns:a="http://schemas.openxmlformats.org/drawingml/2006/main">
              <a:ext uri="{FF2B5EF4-FFF2-40B4-BE49-F238E27FC236}">
                <a16:creationId xmlns:a16="http://schemas.microsoft.com/office/drawing/2014/main" id="{74C7CD72-8783-4995-8F6F-894348E87A76}"/>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backend/chat_service.py:167–206     Đoạn trích: 169–173</a:t>
            </a:r>
          </a:p>
        </p:txBody>
      </p:sp>
      <p:sp>
        <p:nvSpPr>
          <p:cNvPr id="9" name="function-name-1">
            <a:extLst xmlns:a="http://schemas.openxmlformats.org/drawingml/2006/main">
              <a:ext uri="{FF2B5EF4-FFF2-40B4-BE49-F238E27FC236}">
                <a16:creationId xmlns:a16="http://schemas.microsoft.com/office/drawing/2014/main" id="{FEE9C33A-82EF-4CB1-B37C-2D5BE51360E5}"/>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chat</a:t>
            </a:r>
          </a:p>
        </p:txBody>
      </p:sp>
      <p:sp>
        <p:nvSpPr>
          <p:cNvPr id="10" name="function-purpose-1">
            <a:extLst xmlns:a="http://schemas.openxmlformats.org/drawingml/2006/main">
              <a:ext uri="{FF2B5EF4-FFF2-40B4-BE49-F238E27FC236}">
                <a16:creationId xmlns:a16="http://schemas.microsoft.com/office/drawing/2014/main" id="{0A0EBBD1-A34D-4CF5-BD7C-244D6498795F}"/>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Điều phối toàn bộ lượt chat: chống gửi trùng, gọi LLM, kiểm tra dữ liệu, xử lý đơn và ghi audit.</a:t>
            </a:r>
          </a:p>
        </p:txBody>
      </p:sp>
      <p:sp>
        <p:nvSpPr>
          <p:cNvPr id="11" name="function-io-1">
            <a:extLst xmlns:a="http://schemas.openxmlformats.org/drawingml/2006/main">
              <a:ext uri="{FF2B5EF4-FFF2-40B4-BE49-F238E27FC236}">
                <a16:creationId xmlns:a16="http://schemas.microsoft.com/office/drawing/2014/main" id="{A2585D23-5723-4B75-AF55-28F189908E7D}"/>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ctx, session, message, client, key.  Ra / tác động: Response chat, cập nhật context, receipt và audit trong DB.</a:t>
            </a:r>
          </a:p>
        </p:txBody>
      </p:sp>
      <p:sp>
        <p:nvSpPr>
          <p:cNvPr id="12" name="function-code-1">
            <a:extLst xmlns:a="http://schemas.openxmlformats.org/drawingml/2006/main">
              <a:ext uri="{FF2B5EF4-FFF2-40B4-BE49-F238E27FC236}">
                <a16:creationId xmlns:a16="http://schemas.microsoft.com/office/drawing/2014/main" id="{064B688E-E3ED-4B51-A11D-1B3011BBB0D7}"/>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463" b="0">
                <a:solidFill>
                  <a:srgbClr val="172E32"/>
                </a:solidFill>
                <a:latin typeface="Courier New"/>
                <a:ea typeface="Courier New"/>
                <a:cs typeface="Courier New"/>
              </a:defRPr>
            </a:defPPr>
            <a:lvl1pPr>
              <a:defRPr sz="1463" b="0">
                <a:solidFill>
                  <a:srgbClr val="172E32"/>
                </a:solidFill>
                <a:latin typeface="Courier New"/>
                <a:ea typeface="Courier New"/>
                <a:cs typeface="Courier New"/>
              </a:defRPr>
            </a:lvl1pPr>
            <a:lvl2pPr>
              <a:defRPr sz="1463" b="0">
                <a:solidFill>
                  <a:srgbClr val="172E32"/>
                </a:solidFill>
                <a:latin typeface="Courier New"/>
                <a:ea typeface="Courier New"/>
                <a:cs typeface="Courier New"/>
              </a:defRPr>
            </a:lvl2pPr>
            <a:lvl3pPr>
              <a:defRPr sz="1463" b="0">
                <a:solidFill>
                  <a:srgbClr val="172E32"/>
                </a:solidFill>
                <a:latin typeface="Courier New"/>
                <a:ea typeface="Courier New"/>
                <a:cs typeface="Courier New"/>
              </a:defRPr>
            </a:lvl3pPr>
            <a:lvl4pPr>
              <a:defRPr sz="1463" b="0">
                <a:solidFill>
                  <a:srgbClr val="172E32"/>
                </a:solidFill>
                <a:latin typeface="Courier New"/>
                <a:ea typeface="Courier New"/>
                <a:cs typeface="Courier New"/>
              </a:defRPr>
            </a:lvl4pPr>
            <a:lvl5pPr>
              <a:defRPr sz="1463" b="0">
                <a:solidFill>
                  <a:srgbClr val="172E32"/>
                </a:solidFill>
                <a:latin typeface="Courier New"/>
                <a:ea typeface="Courier New"/>
                <a:cs typeface="Courier New"/>
              </a:defRPr>
            </a:lvl5pPr>
            <a:lvl6pPr>
              <a:defRPr sz="1463" b="0">
                <a:solidFill>
                  <a:srgbClr val="172E32"/>
                </a:solidFill>
                <a:latin typeface="Courier New"/>
                <a:ea typeface="Courier New"/>
                <a:cs typeface="Courier New"/>
              </a:defRPr>
            </a:lvl6pPr>
            <a:lvl7pPr>
              <a:defRPr sz="1463" b="0">
                <a:solidFill>
                  <a:srgbClr val="172E32"/>
                </a:solidFill>
                <a:latin typeface="Courier New"/>
                <a:ea typeface="Courier New"/>
                <a:cs typeface="Courier New"/>
              </a:defRPr>
            </a:lvl7pPr>
            <a:lvl8pPr>
              <a:defRPr sz="1463" b="0">
                <a:solidFill>
                  <a:srgbClr val="172E32"/>
                </a:solidFill>
                <a:latin typeface="Courier New"/>
                <a:ea typeface="Courier New"/>
                <a:cs typeface="Courier New"/>
              </a:defRPr>
            </a:lvl8pPr>
            <a:lvl9pPr>
              <a:defRPr sz="1463" b="0">
                <a:solidFill>
                  <a:srgbClr val="172E32"/>
                </a:solidFill>
                <a:latin typeface="Courier New"/>
                <a:ea typeface="Courier New"/>
                <a:cs typeface="Courier New"/>
              </a:defRPr>
            </a:lvl9pPr>
          </a:lstStyle>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237              llm = client.generate(message, _catalog_context(conn, message, context), context)</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238              meta.update(input_tokens=llm.input_tokens, output_tokens=llm.output_tokens, retry_count=llm.retry_count)</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239              parsed = parse_output(llm.text)</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240              quantities = [item.quantity for item in parsed.items]</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241              data = validate_grounding(discard_implicit_quantities(parsed, message), message)</a:t>
            </a:r>
          </a:p>
        </p:txBody>
      </p:sp>
      <p:sp>
        <p:nvSpPr>
          <p:cNvPr id="13" name="function-source-1">
            <a:extLst xmlns:a="http://schemas.openxmlformats.org/drawingml/2006/main">
              <a:ext uri="{FF2B5EF4-FFF2-40B4-BE49-F238E27FC236}">
                <a16:creationId xmlns:a16="http://schemas.microsoft.com/office/drawing/2014/main" id="{B5A6733D-0699-46DF-B7EB-BF8D993B85D4}"/>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backend/chat_service.py:210–320     Đoạn trích: 237–241</a:t>
            </a:r>
          </a:p>
        </p:txBody>
      </p:sp>
    </p:spTree>
    <p:extLst>
      <p:ext uri="{BB962C8B-B14F-4D97-AF65-F5344CB8AC3E}">
        <p14:creationId xmlns:p14="http://schemas.microsoft.com/office/powerpoint/2010/main" val="1766794422"/>
      </p:ext>
    </p:extLst>
  </p:cSld>
</p:sld>
</file>

<file path=ppt/slides/slide5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82CE4468-5662-435D-A990-4C79441263BE}"/>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src/llm_client.py  (1–2/8)</a:t>
            </a:r>
          </a:p>
        </p:txBody>
      </p:sp>
      <p:sp>
        <p:nvSpPr>
          <p:cNvPr id="3" name="page-number">
            <a:extLst xmlns:a="http://schemas.openxmlformats.org/drawingml/2006/main">
              <a:ext uri="{FF2B5EF4-FFF2-40B4-BE49-F238E27FC236}">
                <a16:creationId xmlns:a16="http://schemas.microsoft.com/office/drawing/2014/main" id="{FFE8A7A5-2549-442C-AFD0-32EA3BF67483}"/>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54 / 88</a:t>
            </a:r>
          </a:p>
        </p:txBody>
      </p:sp>
      <p:sp>
        <p:nvSpPr>
          <p:cNvPr id="4" name="function-name-0">
            <a:extLst xmlns:a="http://schemas.openxmlformats.org/drawingml/2006/main">
              <a:ext uri="{FF2B5EF4-FFF2-40B4-BE49-F238E27FC236}">
                <a16:creationId xmlns:a16="http://schemas.microsoft.com/office/drawing/2014/main" id="{7469BF27-B6B1-442F-8087-100E6BC21959}"/>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LLMError.__init__</a:t>
            </a:r>
          </a:p>
        </p:txBody>
      </p:sp>
      <p:sp>
        <p:nvSpPr>
          <p:cNvPr id="5" name="function-purpose-0">
            <a:extLst xmlns:a="http://schemas.openxmlformats.org/drawingml/2006/main">
              <a:ext uri="{FF2B5EF4-FFF2-40B4-BE49-F238E27FC236}">
                <a16:creationId xmlns:a16="http://schemas.microsoft.com/office/drawing/2014/main" id="{0E341D8E-E9FF-4B50-94EC-C9466F6A1D4C}"/>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Đóng gói mã lỗi provider và số lần retry để workflow trả thông báo phù hợp.</a:t>
            </a:r>
          </a:p>
        </p:txBody>
      </p:sp>
      <p:sp>
        <p:nvSpPr>
          <p:cNvPr id="6" name="function-io-0">
            <a:extLst xmlns:a="http://schemas.openxmlformats.org/drawingml/2006/main">
              <a:ext uri="{FF2B5EF4-FFF2-40B4-BE49-F238E27FC236}">
                <a16:creationId xmlns:a16="http://schemas.microsoft.com/office/drawing/2014/main" id="{37838C08-FDAF-4BE3-89FC-D2EBCA207FFC}"/>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code, retry_count.  Ra / tác động: Đối tượng lỗi có code và retry_count.</a:t>
            </a:r>
          </a:p>
        </p:txBody>
      </p:sp>
      <p:sp>
        <p:nvSpPr>
          <p:cNvPr id="7" name="function-code-0">
            <a:extLst xmlns:a="http://schemas.openxmlformats.org/drawingml/2006/main">
              <a:ext uri="{FF2B5EF4-FFF2-40B4-BE49-F238E27FC236}">
                <a16:creationId xmlns:a16="http://schemas.microsoft.com/office/drawing/2014/main" id="{181079DC-12DB-4923-BFCC-DFD430B14D75}"/>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28      def __init__(self, code, retry_count=0):</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29          self.code = code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30          self.retry_count = retry_count</a:t>
            </a:r>
          </a:p>
        </p:txBody>
      </p:sp>
      <p:sp>
        <p:nvSpPr>
          <p:cNvPr id="8" name="function-source-0">
            <a:extLst xmlns:a="http://schemas.openxmlformats.org/drawingml/2006/main">
              <a:ext uri="{FF2B5EF4-FFF2-40B4-BE49-F238E27FC236}">
                <a16:creationId xmlns:a16="http://schemas.microsoft.com/office/drawing/2014/main" id="{557B560D-C2CE-41C5-89FB-0AFA2BD8074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src/llm_client.py:28–30     Đoạn trích: 28–30</a:t>
            </a:r>
          </a:p>
        </p:txBody>
      </p:sp>
      <p:sp>
        <p:nvSpPr>
          <p:cNvPr id="9" name="function-name-1">
            <a:extLst xmlns:a="http://schemas.openxmlformats.org/drawingml/2006/main">
              <a:ext uri="{FF2B5EF4-FFF2-40B4-BE49-F238E27FC236}">
                <a16:creationId xmlns:a16="http://schemas.microsoft.com/office/drawing/2014/main" id="{E9584F67-A8DF-4886-9C62-95FC32FF945E}"/>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_retry_delay</a:t>
            </a:r>
          </a:p>
        </p:txBody>
      </p:sp>
      <p:sp>
        <p:nvSpPr>
          <p:cNvPr id="10" name="function-purpose-1">
            <a:extLst xmlns:a="http://schemas.openxmlformats.org/drawingml/2006/main">
              <a:ext uri="{FF2B5EF4-FFF2-40B4-BE49-F238E27FC236}">
                <a16:creationId xmlns:a16="http://schemas.microsoft.com/office/drawing/2014/main" id="{9A5EAD90-4088-4F38-B9C4-FA944355E9F4}"/>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Tính thời gian chờ từ Retry-After dạng giây hoặc ngày giờ, kết hợp backoff theo lượt.</a:t>
            </a:r>
          </a:p>
        </p:txBody>
      </p:sp>
      <p:sp>
        <p:nvSpPr>
          <p:cNvPr id="11" name="function-io-1">
            <a:extLst xmlns:a="http://schemas.openxmlformats.org/drawingml/2006/main">
              <a:ext uri="{FF2B5EF4-FFF2-40B4-BE49-F238E27FC236}">
                <a16:creationId xmlns:a16="http://schemas.microsoft.com/office/drawing/2014/main" id="{5A91C8DD-30FC-4659-B0AF-305D635B244A}"/>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header, attempt.  Ra / tác động: Số giây cần chờ trước retry.</a:t>
            </a:r>
          </a:p>
        </p:txBody>
      </p:sp>
      <p:sp>
        <p:nvSpPr>
          <p:cNvPr id="12" name="function-code-1">
            <a:extLst xmlns:a="http://schemas.openxmlformats.org/drawingml/2006/main">
              <a:ext uri="{FF2B5EF4-FFF2-40B4-BE49-F238E27FC236}">
                <a16:creationId xmlns:a16="http://schemas.microsoft.com/office/drawing/2014/main" id="{EF776F7C-9C54-4ED9-B227-276B86759016}"/>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33  def _retry_delay(header, attempt):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34      try: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35          seconds = float(header)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36      except (ValueError, TypeError):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37          try:</a:t>
            </a:r>
          </a:p>
        </p:txBody>
      </p:sp>
      <p:sp>
        <p:nvSpPr>
          <p:cNvPr id="13" name="function-source-1">
            <a:extLst xmlns:a="http://schemas.openxmlformats.org/drawingml/2006/main">
              <a:ext uri="{FF2B5EF4-FFF2-40B4-BE49-F238E27FC236}">
                <a16:creationId xmlns:a16="http://schemas.microsoft.com/office/drawing/2014/main" id="{5E93635B-F469-4FE9-B434-71EBE820BBDA}"/>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src/llm_client.py:33–41     Đoạn trích: 33–37</a:t>
            </a:r>
          </a:p>
        </p:txBody>
      </p:sp>
    </p:spTree>
    <p:extLst>
      <p:ext uri="{BB962C8B-B14F-4D97-AF65-F5344CB8AC3E}">
        <p14:creationId xmlns:p14="http://schemas.microsoft.com/office/powerpoint/2010/main" val="1508970480"/>
      </p:ext>
    </p:extLst>
  </p:cSld>
</p:sld>
</file>

<file path=ppt/slides/slide5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F9C0988-7ADA-4474-B264-9B9F3D31814B}"/>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src/llm_client.py  (3–4/8)</a:t>
            </a:r>
          </a:p>
        </p:txBody>
      </p:sp>
      <p:sp>
        <p:nvSpPr>
          <p:cNvPr id="3" name="page-number">
            <a:extLst xmlns:a="http://schemas.openxmlformats.org/drawingml/2006/main">
              <a:ext uri="{FF2B5EF4-FFF2-40B4-BE49-F238E27FC236}">
                <a16:creationId xmlns:a16="http://schemas.microsoft.com/office/drawing/2014/main" id="{DD8C632A-9D7F-4928-9562-315DA72D04A5}"/>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55 / 88</a:t>
            </a:r>
          </a:p>
        </p:txBody>
      </p:sp>
      <p:sp>
        <p:nvSpPr>
          <p:cNvPr id="4" name="function-name-0">
            <a:extLst xmlns:a="http://schemas.openxmlformats.org/drawingml/2006/main">
              <a:ext uri="{FF2B5EF4-FFF2-40B4-BE49-F238E27FC236}">
                <a16:creationId xmlns:a16="http://schemas.microsoft.com/office/drawing/2014/main" id="{213DC0E0-1597-488E-BE37-861E9EFF75F1}"/>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GeminiLLMClient.__init__</a:t>
            </a:r>
          </a:p>
        </p:txBody>
      </p:sp>
      <p:sp>
        <p:nvSpPr>
          <p:cNvPr id="5" name="function-purpose-0">
            <a:extLst xmlns:a="http://schemas.openxmlformats.org/drawingml/2006/main">
              <a:ext uri="{FF2B5EF4-FFF2-40B4-BE49-F238E27FC236}">
                <a16:creationId xmlns:a16="http://schemas.microsoft.com/office/drawing/2014/main" id="{FF0068AB-1649-48C2-8814-833148A2A3CA}"/>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Gắn cấu hình/model và khởi tạo bộ đếm ngân sách ngày nếu có đường dẫn ledger.</a:t>
            </a:r>
          </a:p>
        </p:txBody>
      </p:sp>
      <p:sp>
        <p:nvSpPr>
          <p:cNvPr id="6" name="function-io-0">
            <a:extLst xmlns:a="http://schemas.openxmlformats.org/drawingml/2006/main">
              <a:ext uri="{FF2B5EF4-FFF2-40B4-BE49-F238E27FC236}">
                <a16:creationId xmlns:a16="http://schemas.microsoft.com/office/drawing/2014/main" id="{2FF51C98-DEE3-4AF7-916A-2222FF8A97A8}"/>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settings.  Ra / tác động: Client giữ settings, model_id và DailyBudget/None.</a:t>
            </a:r>
          </a:p>
        </p:txBody>
      </p:sp>
      <p:sp>
        <p:nvSpPr>
          <p:cNvPr id="7" name="function-code-0">
            <a:extLst xmlns:a="http://schemas.openxmlformats.org/drawingml/2006/main">
              <a:ext uri="{FF2B5EF4-FFF2-40B4-BE49-F238E27FC236}">
                <a16:creationId xmlns:a16="http://schemas.microsoft.com/office/drawing/2014/main" id="{DA44D445-08C6-4220-A68A-1B741598FACB}"/>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45      def __init__(self, settings):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46          self.settings = settings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47          self.model_id = settings.model_id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48          self.budget = DailyBudget(settings.llm_usage_path, settings.llm_daily_limit) if settings.llm_usage_path else None</a:t>
            </a:r>
          </a:p>
        </p:txBody>
      </p:sp>
      <p:sp>
        <p:nvSpPr>
          <p:cNvPr id="8" name="function-source-0">
            <a:extLst xmlns:a="http://schemas.openxmlformats.org/drawingml/2006/main">
              <a:ext uri="{FF2B5EF4-FFF2-40B4-BE49-F238E27FC236}">
                <a16:creationId xmlns:a16="http://schemas.microsoft.com/office/drawing/2014/main" id="{6027F595-439D-469D-8BAF-9CFCBC9A480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src/llm_client.py:45–48     Đoạn trích: 45–48</a:t>
            </a:r>
          </a:p>
        </p:txBody>
      </p:sp>
      <p:sp>
        <p:nvSpPr>
          <p:cNvPr id="9" name="function-name-1">
            <a:extLst xmlns:a="http://schemas.openxmlformats.org/drawingml/2006/main">
              <a:ext uri="{FF2B5EF4-FFF2-40B4-BE49-F238E27FC236}">
                <a16:creationId xmlns:a16="http://schemas.microsoft.com/office/drawing/2014/main" id="{1DA45A28-54AB-432A-B862-A83F194C7D24}"/>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GeminiLLMClient.generate</a:t>
            </a:r>
          </a:p>
        </p:txBody>
      </p:sp>
      <p:sp>
        <p:nvSpPr>
          <p:cNvPr id="10" name="function-purpose-1">
            <a:extLst xmlns:a="http://schemas.openxmlformats.org/drawingml/2006/main">
              <a:ext uri="{FF2B5EF4-FFF2-40B4-BE49-F238E27FC236}">
                <a16:creationId xmlns:a16="http://schemas.microsoft.com/office/drawing/2014/main" id="{8270F3D0-D4BA-4995-BFE7-1799FBDCDC31}"/>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Ghép prompt, giữ ngân sách, gọi Gemini REST, kiểm tra response và trả văn bản JSON cùng usage.</a:t>
            </a:r>
          </a:p>
        </p:txBody>
      </p:sp>
      <p:sp>
        <p:nvSpPr>
          <p:cNvPr id="11" name="function-io-1">
            <a:extLst xmlns:a="http://schemas.openxmlformats.org/drawingml/2006/main">
              <a:ext uri="{FF2B5EF4-FFF2-40B4-BE49-F238E27FC236}">
                <a16:creationId xmlns:a16="http://schemas.microsoft.com/office/drawing/2014/main" id="{104B3786-DD52-42F5-92DC-9B92F3112052}"/>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message, catalog, context.  Ra / tác động: LLMResult(text, input_tokens, output_tokens, retry_count).</a:t>
            </a:r>
          </a:p>
        </p:txBody>
      </p:sp>
      <p:sp>
        <p:nvSpPr>
          <p:cNvPr id="12" name="function-code-1">
            <a:extLst xmlns:a="http://schemas.openxmlformats.org/drawingml/2006/main">
              <a:ext uri="{FF2B5EF4-FFF2-40B4-BE49-F238E27FC236}">
                <a16:creationId xmlns:a16="http://schemas.microsoft.com/office/drawing/2014/main" id="{EDE6B3FF-3388-4DEC-9945-4E799F909BC4}"/>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66                  response = requests.post(url, headers={"x-goog-api-key": self.settings.api_key}, json=payload,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67                                           timeout=self.settings.llm_timeout, allow_redirects=False)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68              except (requests.Timeout, requests.ConnectionError):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69                  error = "llm_timeout"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70              except requests.RequestException:</a:t>
            </a:r>
          </a:p>
        </p:txBody>
      </p:sp>
      <p:sp>
        <p:nvSpPr>
          <p:cNvPr id="13" name="function-source-1">
            <a:extLst xmlns:a="http://schemas.openxmlformats.org/drawingml/2006/main">
              <a:ext uri="{FF2B5EF4-FFF2-40B4-BE49-F238E27FC236}">
                <a16:creationId xmlns:a16="http://schemas.microsoft.com/office/drawing/2014/main" id="{9C236DD9-158C-4B8F-B674-FE2D1AAE1179}"/>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src/llm_client.py:50–99     Đoạn trích: 66–70</a:t>
            </a:r>
          </a:p>
        </p:txBody>
      </p:sp>
    </p:spTree>
    <p:extLst>
      <p:ext uri="{BB962C8B-B14F-4D97-AF65-F5344CB8AC3E}">
        <p14:creationId xmlns:p14="http://schemas.microsoft.com/office/powerpoint/2010/main" val="1021424152"/>
      </p:ext>
    </p:extLst>
  </p:cSld>
</p:sld>
</file>

<file path=ppt/slides/slide5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8949C25-AE7F-4D2E-8E6D-1F3707AA36BD}"/>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src/llm_client.py  (5–6/8)</a:t>
            </a:r>
          </a:p>
        </p:txBody>
      </p:sp>
      <p:sp>
        <p:nvSpPr>
          <p:cNvPr id="3" name="page-number">
            <a:extLst xmlns:a="http://schemas.openxmlformats.org/drawingml/2006/main">
              <a:ext uri="{FF2B5EF4-FFF2-40B4-BE49-F238E27FC236}">
                <a16:creationId xmlns:a16="http://schemas.microsoft.com/office/drawing/2014/main" id="{EFE69C0B-27FE-46FF-99DD-59F657B81845}"/>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56 / 88</a:t>
            </a:r>
          </a:p>
        </p:txBody>
      </p:sp>
      <p:sp>
        <p:nvSpPr>
          <p:cNvPr id="4" name="function-name-0">
            <a:extLst xmlns:a="http://schemas.openxmlformats.org/drawingml/2006/main">
              <a:ext uri="{FF2B5EF4-FFF2-40B4-BE49-F238E27FC236}">
                <a16:creationId xmlns:a16="http://schemas.microsoft.com/office/drawing/2014/main" id="{F44C5C26-B784-427A-B4AE-8F26EDF84306}"/>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_plain</a:t>
            </a:r>
          </a:p>
        </p:txBody>
      </p:sp>
      <p:sp>
        <p:nvSpPr>
          <p:cNvPr id="5" name="function-purpose-0">
            <a:extLst xmlns:a="http://schemas.openxmlformats.org/drawingml/2006/main">
              <a:ext uri="{FF2B5EF4-FFF2-40B4-BE49-F238E27FC236}">
                <a16:creationId xmlns:a16="http://schemas.microsoft.com/office/drawing/2014/main" id="{87A52CEB-51A7-4036-8F42-B09433F2D477}"/>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Bỏ dấu và chuyển chữ thường để FakeLLM nhận diện các mẫu câu bằng regex.</a:t>
            </a:r>
          </a:p>
        </p:txBody>
      </p:sp>
      <p:sp>
        <p:nvSpPr>
          <p:cNvPr id="6" name="function-io-0">
            <a:extLst xmlns:a="http://schemas.openxmlformats.org/drawingml/2006/main">
              <a:ext uri="{FF2B5EF4-FFF2-40B4-BE49-F238E27FC236}">
                <a16:creationId xmlns:a16="http://schemas.microsoft.com/office/drawing/2014/main" id="{87A14BBF-1868-476C-905E-302ABDBCFA80}"/>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text.  Ra / tác động: Chuỗi không dấu để chạy regex.</a:t>
            </a:r>
          </a:p>
        </p:txBody>
      </p:sp>
      <p:sp>
        <p:nvSpPr>
          <p:cNvPr id="7" name="function-code-0">
            <a:extLst xmlns:a="http://schemas.openxmlformats.org/drawingml/2006/main">
              <a:ext uri="{FF2B5EF4-FFF2-40B4-BE49-F238E27FC236}">
                <a16:creationId xmlns:a16="http://schemas.microsoft.com/office/drawing/2014/main" id="{2DAE2106-91C9-433B-A763-232266D1F3DF}"/>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102  def _plain(text):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103      text = unicodedata.normalize("NFD", text.lower().replace("đ", "d"))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104      return "".join(c for c in text if unicodedata.category(c) != "Mn")</a:t>
            </a:r>
          </a:p>
        </p:txBody>
      </p:sp>
      <p:sp>
        <p:nvSpPr>
          <p:cNvPr id="8" name="function-source-0">
            <a:extLst xmlns:a="http://schemas.openxmlformats.org/drawingml/2006/main">
              <a:ext uri="{FF2B5EF4-FFF2-40B4-BE49-F238E27FC236}">
                <a16:creationId xmlns:a16="http://schemas.microsoft.com/office/drawing/2014/main" id="{BC180EEB-76F4-4E2F-A8F8-2CFCCC0CC2B6}"/>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src/llm_client.py:102–104     Đoạn trích: 102–104</a:t>
            </a:r>
          </a:p>
        </p:txBody>
      </p:sp>
      <p:sp>
        <p:nvSpPr>
          <p:cNvPr id="9" name="function-name-1">
            <a:extLst xmlns:a="http://schemas.openxmlformats.org/drawingml/2006/main">
              <a:ext uri="{FF2B5EF4-FFF2-40B4-BE49-F238E27FC236}">
                <a16:creationId xmlns:a16="http://schemas.microsoft.com/office/drawing/2014/main" id="{E63E16C1-B032-43D5-ABDF-ABCFED71EAF5}"/>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_span</a:t>
            </a:r>
          </a:p>
        </p:txBody>
      </p:sp>
      <p:sp>
        <p:nvSpPr>
          <p:cNvPr id="10" name="function-purpose-1">
            <a:extLst xmlns:a="http://schemas.openxmlformats.org/drawingml/2006/main">
              <a:ext uri="{FF2B5EF4-FFF2-40B4-BE49-F238E27FC236}">
                <a16:creationId xmlns:a16="http://schemas.microsoft.com/office/drawing/2014/main" id="{A8FCAE73-1976-4D9C-8A8E-410D008C4095}"/>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Tìm nhóm regex trên bản không dấu rồi lấy lại đoạn nguyên văn tương ứng trong tin nhắn.</a:t>
            </a:r>
          </a:p>
        </p:txBody>
      </p:sp>
      <p:sp>
        <p:nvSpPr>
          <p:cNvPr id="11" name="function-io-1">
            <a:extLst xmlns:a="http://schemas.openxmlformats.org/drawingml/2006/main">
              <a:ext uri="{FF2B5EF4-FFF2-40B4-BE49-F238E27FC236}">
                <a16:creationId xmlns:a16="http://schemas.microsoft.com/office/drawing/2014/main" id="{349BD2E3-2CC6-4F9A-807F-ED620F43EBDD}"/>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text, pattern.  Ra / tác động: Đoạn chữ nguyên văn hoặc None.</a:t>
            </a:r>
          </a:p>
        </p:txBody>
      </p:sp>
      <p:sp>
        <p:nvSpPr>
          <p:cNvPr id="12" name="function-code-1">
            <a:extLst xmlns:a="http://schemas.openxmlformats.org/drawingml/2006/main">
              <a:ext uri="{FF2B5EF4-FFF2-40B4-BE49-F238E27FC236}">
                <a16:creationId xmlns:a16="http://schemas.microsoft.com/office/drawing/2014/main" id="{18628D26-A411-45CE-9D92-10FD5C45F780}"/>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107  def _span(text, pattern):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108      match = re.search(pattern, _plain(text), flags=re.I)</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109      return text[match.start(1):match.end(1)].strip() if match else None</a:t>
            </a:r>
          </a:p>
        </p:txBody>
      </p:sp>
      <p:sp>
        <p:nvSpPr>
          <p:cNvPr id="13" name="function-source-1">
            <a:extLst xmlns:a="http://schemas.openxmlformats.org/drawingml/2006/main">
              <a:ext uri="{FF2B5EF4-FFF2-40B4-BE49-F238E27FC236}">
                <a16:creationId xmlns:a16="http://schemas.microsoft.com/office/drawing/2014/main" id="{30A15B45-D843-4F7A-8135-17F8920A1F42}"/>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src/llm_client.py:107–109     Đoạn trích: 107–109</a:t>
            </a:r>
          </a:p>
        </p:txBody>
      </p:sp>
    </p:spTree>
    <p:extLst>
      <p:ext uri="{BB962C8B-B14F-4D97-AF65-F5344CB8AC3E}">
        <p14:creationId xmlns:p14="http://schemas.microsoft.com/office/powerpoint/2010/main" val="1952128801"/>
      </p:ext>
    </p:extLst>
  </p:cSld>
</p:sld>
</file>

<file path=ppt/slides/slide5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1AFFA05-E59D-479D-90D7-DBE29B3DCC13}"/>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src/llm_client.py  (7–8/8)</a:t>
            </a:r>
          </a:p>
        </p:txBody>
      </p:sp>
      <p:sp>
        <p:nvSpPr>
          <p:cNvPr id="3" name="page-number">
            <a:extLst xmlns:a="http://schemas.openxmlformats.org/drawingml/2006/main">
              <a:ext uri="{FF2B5EF4-FFF2-40B4-BE49-F238E27FC236}">
                <a16:creationId xmlns:a16="http://schemas.microsoft.com/office/drawing/2014/main" id="{6C3A7B53-0908-479C-9803-66B6D5E8B450}"/>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57 / 88</a:t>
            </a:r>
          </a:p>
        </p:txBody>
      </p:sp>
      <p:sp>
        <p:nvSpPr>
          <p:cNvPr id="4" name="function-name-0">
            <a:extLst xmlns:a="http://schemas.openxmlformats.org/drawingml/2006/main">
              <a:ext uri="{FF2B5EF4-FFF2-40B4-BE49-F238E27FC236}">
                <a16:creationId xmlns:a16="http://schemas.microsoft.com/office/drawing/2014/main" id="{8AE363A5-3751-4309-B60A-C3C14E9391D1}"/>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FakeLLMClient.generate</a:t>
            </a:r>
          </a:p>
        </p:txBody>
      </p:sp>
      <p:sp>
        <p:nvSpPr>
          <p:cNvPr id="5" name="function-purpose-0">
            <a:extLst xmlns:a="http://schemas.openxmlformats.org/drawingml/2006/main">
              <a:ext uri="{FF2B5EF4-FFF2-40B4-BE49-F238E27FC236}">
                <a16:creationId xmlns:a16="http://schemas.microsoft.com/office/drawing/2014/main" id="{D3002B1C-27CA-440B-A5F2-6682356FB961}"/>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Trích xuất theo rule cho demo và test offline, tạo JSON cùng schema với Gemini.</a:t>
            </a:r>
          </a:p>
        </p:txBody>
      </p:sp>
      <p:sp>
        <p:nvSpPr>
          <p:cNvPr id="6" name="function-io-0">
            <a:extLst xmlns:a="http://schemas.openxmlformats.org/drawingml/2006/main">
              <a:ext uri="{FF2B5EF4-FFF2-40B4-BE49-F238E27FC236}">
                <a16:creationId xmlns:a16="http://schemas.microsoft.com/office/drawing/2014/main" id="{6C2CA960-DBD4-48BC-B0B6-AC429943EEAF}"/>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message, catalog, context.  Ra / tác động: LLMResult chứa JSON rule-based, không gọi mạng.</a:t>
            </a:r>
          </a:p>
        </p:txBody>
      </p:sp>
      <p:sp>
        <p:nvSpPr>
          <p:cNvPr id="7" name="function-code-0">
            <a:extLst xmlns:a="http://schemas.openxmlformats.org/drawingml/2006/main">
              <a:ext uri="{FF2B5EF4-FFF2-40B4-BE49-F238E27FC236}">
                <a16:creationId xmlns:a16="http://schemas.microsoft.com/office/drawing/2014/main" id="{AF6EE783-C9A2-483D-981B-78C8C3B9C3C4}"/>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119          if re.search(r"\b(doi|sua|cap nhat)\b", 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120              intent = "update_order"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121          elif re.search(r"\b(ban (?:nhung )?gi|tham khao|catalog|cho.*xem|tim|tu van|gioi thieu)\b", 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122              intent = "browse_catalog"</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123          elif re.search(r"\b(gia|bao nhieu tien)\b", text):</a:t>
            </a:r>
          </a:p>
        </p:txBody>
      </p:sp>
      <p:sp>
        <p:nvSpPr>
          <p:cNvPr id="8" name="function-source-0">
            <a:extLst xmlns:a="http://schemas.openxmlformats.org/drawingml/2006/main">
              <a:ext uri="{FF2B5EF4-FFF2-40B4-BE49-F238E27FC236}">
                <a16:creationId xmlns:a16="http://schemas.microsoft.com/office/drawing/2014/main" id="{DCCBABBB-8DE7-40C7-9C3F-3E1BA06DCE3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src/llm_client.py:116–187     Đoạn trích: 119–123</a:t>
            </a:r>
          </a:p>
        </p:txBody>
      </p:sp>
      <p:sp>
        <p:nvSpPr>
          <p:cNvPr id="9" name="function-name-1">
            <a:extLst xmlns:a="http://schemas.openxmlformats.org/drawingml/2006/main">
              <a:ext uri="{FF2B5EF4-FFF2-40B4-BE49-F238E27FC236}">
                <a16:creationId xmlns:a16="http://schemas.microsoft.com/office/drawing/2014/main" id="{D177BBDC-EFFE-4072-A394-473A4F291E09}"/>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make_client</a:t>
            </a:r>
          </a:p>
        </p:txBody>
      </p:sp>
      <p:sp>
        <p:nvSpPr>
          <p:cNvPr id="10" name="function-purpose-1">
            <a:extLst xmlns:a="http://schemas.openxmlformats.org/drawingml/2006/main">
              <a:ext uri="{FF2B5EF4-FFF2-40B4-BE49-F238E27FC236}">
                <a16:creationId xmlns:a16="http://schemas.microsoft.com/office/drawing/2014/main" id="{B4A628B8-FF0F-454E-A49D-F9C6DFAA6D30}"/>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Chọn GeminiLLMClient hoặc FakeLLMClient theo cấu hình provider.</a:t>
            </a:r>
          </a:p>
        </p:txBody>
      </p:sp>
      <p:sp>
        <p:nvSpPr>
          <p:cNvPr id="11" name="function-io-1">
            <a:extLst xmlns:a="http://schemas.openxmlformats.org/drawingml/2006/main">
              <a:ext uri="{FF2B5EF4-FFF2-40B4-BE49-F238E27FC236}">
                <a16:creationId xmlns:a16="http://schemas.microsoft.com/office/drawing/2014/main" id="{6460B3C7-AA06-4BA0-A341-9AA006355FBE}"/>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settings.  Ra / tác động: Client Gemini hoặc FakeLLM theo settings.</a:t>
            </a:r>
          </a:p>
        </p:txBody>
      </p:sp>
      <p:sp>
        <p:nvSpPr>
          <p:cNvPr id="12" name="function-code-1">
            <a:extLst xmlns:a="http://schemas.openxmlformats.org/drawingml/2006/main">
              <a:ext uri="{FF2B5EF4-FFF2-40B4-BE49-F238E27FC236}">
                <a16:creationId xmlns:a16="http://schemas.microsoft.com/office/drawing/2014/main" id="{C897A257-2A21-46E4-B9B2-69B166FBC150}"/>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190  def make_client(settings):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191      return GeminiLLMClient(settings) if settings.llm_provider == "gemini" else FakeLLMClient()</a:t>
            </a:r>
          </a:p>
        </p:txBody>
      </p:sp>
      <p:sp>
        <p:nvSpPr>
          <p:cNvPr id="13" name="function-source-1">
            <a:extLst xmlns:a="http://schemas.openxmlformats.org/drawingml/2006/main">
              <a:ext uri="{FF2B5EF4-FFF2-40B4-BE49-F238E27FC236}">
                <a16:creationId xmlns:a16="http://schemas.microsoft.com/office/drawing/2014/main" id="{714FE085-61E7-4568-ACA3-B77C5995ED54}"/>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src/llm_client.py:190–191     Đoạn trích: 190–191</a:t>
            </a:r>
          </a:p>
        </p:txBody>
      </p:sp>
    </p:spTree>
    <p:extLst>
      <p:ext uri="{BB962C8B-B14F-4D97-AF65-F5344CB8AC3E}">
        <p14:creationId xmlns:p14="http://schemas.microsoft.com/office/powerpoint/2010/main" val="1701561690"/>
      </p:ext>
    </p:extLst>
  </p:cSld>
</p:sld>
</file>

<file path=ppt/slides/slide5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B8028DA-89B2-4AA4-80BE-2B4261C38476}"/>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src/prompts.py  (1–1/1)</a:t>
            </a:r>
          </a:p>
        </p:txBody>
      </p:sp>
      <p:sp>
        <p:nvSpPr>
          <p:cNvPr id="3" name="page-number">
            <a:extLst xmlns:a="http://schemas.openxmlformats.org/drawingml/2006/main">
              <a:ext uri="{FF2B5EF4-FFF2-40B4-BE49-F238E27FC236}">
                <a16:creationId xmlns:a16="http://schemas.microsoft.com/office/drawing/2014/main" id="{E46B83DD-A192-48F8-A4A4-7D79188D947A}"/>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58 / 88</a:t>
            </a:r>
          </a:p>
        </p:txBody>
      </p:sp>
      <p:sp>
        <p:nvSpPr>
          <p:cNvPr id="4" name="function-name-0">
            <a:extLst xmlns:a="http://schemas.openxmlformats.org/drawingml/2006/main">
              <a:ext uri="{FF2B5EF4-FFF2-40B4-BE49-F238E27FC236}">
                <a16:creationId xmlns:a16="http://schemas.microsoft.com/office/drawing/2014/main" id="{6D5B1F3B-5682-4AAE-81A5-A1FC49ED20F7}"/>
              </a:ext>
            </a:extLst>
          </p:cNvPr>
          <p:cNvSpPr>
            <a:spLocks xmlns:a="http://schemas.openxmlformats.org/drawingml/2006/main" noGrp="1"/>
          </p:cNvSpPr>
          <p:nvPr/>
        </p:nvSpPr>
        <p:spPr>
          <a:xfrm xmlns:a="http://schemas.openxmlformats.org/drawingml/2006/main">
            <a:off x="762000" y="23050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build_prompt</a:t>
            </a:r>
          </a:p>
        </p:txBody>
      </p:sp>
      <p:sp>
        <p:nvSpPr>
          <p:cNvPr id="5" name="function-purpose-0">
            <a:extLst xmlns:a="http://schemas.openxmlformats.org/drawingml/2006/main">
              <a:ext uri="{FF2B5EF4-FFF2-40B4-BE49-F238E27FC236}">
                <a16:creationId xmlns:a16="http://schemas.microsoft.com/office/drawing/2014/main" id="{44C856C3-521E-442F-B8FD-7A93EE4F14CF}"/>
              </a:ext>
            </a:extLst>
          </p:cNvPr>
          <p:cNvSpPr>
            <a:spLocks xmlns:a="http://schemas.openxmlformats.org/drawingml/2006/main" noGrp="1"/>
          </p:cNvSpPr>
          <p:nvPr/>
        </p:nvSpPr>
        <p:spPr>
          <a:xfrm xmlns:a="http://schemas.openxmlformats.org/drawingml/2006/main">
            <a:off x="762000" y="27622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Ghép message, catalog và context có giới hạn thành JSON, trả riêng system prompt và user payload.</a:t>
            </a:r>
          </a:p>
        </p:txBody>
      </p:sp>
      <p:sp>
        <p:nvSpPr>
          <p:cNvPr id="6" name="function-io-0">
            <a:extLst xmlns:a="http://schemas.openxmlformats.org/drawingml/2006/main">
              <a:ext uri="{FF2B5EF4-FFF2-40B4-BE49-F238E27FC236}">
                <a16:creationId xmlns:a16="http://schemas.microsoft.com/office/drawing/2014/main" id="{724092F9-FF36-405E-A30F-5D8092C78D1B}"/>
              </a:ext>
            </a:extLst>
          </p:cNvPr>
          <p:cNvSpPr>
            <a:spLocks xmlns:a="http://schemas.openxmlformats.org/drawingml/2006/main" noGrp="1"/>
          </p:cNvSpPr>
          <p:nvPr/>
        </p:nvSpPr>
        <p:spPr>
          <a:xfrm xmlns:a="http://schemas.openxmlformats.org/drawingml/2006/main">
            <a:off x="762000" y="334327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message, catalog, context.  Ra / tác động: Tuple (SYSTEM_PROMPT, JSON payload).</a:t>
            </a:r>
          </a:p>
        </p:txBody>
      </p:sp>
      <p:sp>
        <p:nvSpPr>
          <p:cNvPr id="7" name="function-code-0">
            <a:extLst xmlns:a="http://schemas.openxmlformats.org/drawingml/2006/main">
              <a:ext uri="{FF2B5EF4-FFF2-40B4-BE49-F238E27FC236}">
                <a16:creationId xmlns:a16="http://schemas.microsoft.com/office/drawing/2014/main" id="{9E20E854-0299-4DEA-B818-0BEA17C3F0A0}"/>
              </a:ext>
            </a:extLst>
          </p:cNvPr>
          <p:cNvSpPr>
            <a:spLocks xmlns:a="http://schemas.openxmlformats.org/drawingml/2006/main" noGrp="1"/>
          </p:cNvSpPr>
          <p:nvPr/>
        </p:nvSpPr>
        <p:spPr>
          <a:xfrm xmlns:a="http://schemas.openxmlformats.org/drawingml/2006/main">
            <a:off x="762000" y="391477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48  def build_prompt(message, catalog, context):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49      safe_context = {"pending_intent": context.get("pending_intent"),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50                      "pending_items": context.get("items",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51                      "recent_products": context.get("recent_products",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52      payload = {"CUSTOMER_MESSAGE": message, "CATALOG_CONTEXT": catalog,</a:t>
            </a:r>
          </a:p>
        </p:txBody>
      </p:sp>
      <p:sp>
        <p:nvSpPr>
          <p:cNvPr id="8" name="function-source-0">
            <a:extLst xmlns:a="http://schemas.openxmlformats.org/drawingml/2006/main">
              <a:ext uri="{FF2B5EF4-FFF2-40B4-BE49-F238E27FC236}">
                <a16:creationId xmlns:a16="http://schemas.microsoft.com/office/drawing/2014/main" id="{022E897E-34DD-4A95-961F-0980B6B0B0A2}"/>
              </a:ext>
            </a:extLst>
          </p:cNvPr>
          <p:cNvSpPr>
            <a:spLocks xmlns:a="http://schemas.openxmlformats.org/drawingml/2006/main" noGrp="1"/>
          </p:cNvSpPr>
          <p:nvPr/>
        </p:nvSpPr>
        <p:spPr>
          <a:xfrm xmlns:a="http://schemas.openxmlformats.org/drawingml/2006/main">
            <a:off x="762000" y="532447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src/prompts.py:48–54     Đoạn trích: 48–52</a:t>
            </a:r>
          </a:p>
        </p:txBody>
      </p:sp>
    </p:spTree>
    <p:extLst>
      <p:ext uri="{BB962C8B-B14F-4D97-AF65-F5344CB8AC3E}">
        <p14:creationId xmlns:p14="http://schemas.microsoft.com/office/powerpoint/2010/main" val="243132478"/>
      </p:ext>
    </p:extLst>
  </p:cSld>
</p:sld>
</file>

<file path=ppt/slides/slide5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291C9C3-3F25-421B-998A-397529780602}"/>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src/parser.py  (1–2/9)</a:t>
            </a:r>
          </a:p>
        </p:txBody>
      </p:sp>
      <p:sp>
        <p:nvSpPr>
          <p:cNvPr id="3" name="page-number">
            <a:extLst xmlns:a="http://schemas.openxmlformats.org/drawingml/2006/main">
              <a:ext uri="{FF2B5EF4-FFF2-40B4-BE49-F238E27FC236}">
                <a16:creationId xmlns:a16="http://schemas.microsoft.com/office/drawing/2014/main" id="{83261C4C-36BF-4362-A028-722A698CDB07}"/>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59 / 88</a:t>
            </a:r>
          </a:p>
        </p:txBody>
      </p:sp>
      <p:sp>
        <p:nvSpPr>
          <p:cNvPr id="4" name="function-name-0">
            <a:extLst xmlns:a="http://schemas.openxmlformats.org/drawingml/2006/main">
              <a:ext uri="{FF2B5EF4-FFF2-40B4-BE49-F238E27FC236}">
                <a16:creationId xmlns:a16="http://schemas.microsoft.com/office/drawing/2014/main" id="{46C3FE9C-C313-4650-8FA1-7E87865FE08B}"/>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OutputError.__init__</a:t>
            </a:r>
          </a:p>
        </p:txBody>
      </p:sp>
      <p:sp>
        <p:nvSpPr>
          <p:cNvPr id="5" name="function-purpose-0">
            <a:extLst xmlns:a="http://schemas.openxmlformats.org/drawingml/2006/main">
              <a:ext uri="{FF2B5EF4-FFF2-40B4-BE49-F238E27FC236}">
                <a16:creationId xmlns:a16="http://schemas.microsoft.com/office/drawing/2014/main" id="{F977BBF1-9EA4-49C9-87FD-97982E37053A}"/>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Gắn mã lỗi kiểm tra output để workflow phân biệt lỗi JSON, schema và evidence.</a:t>
            </a:r>
          </a:p>
        </p:txBody>
      </p:sp>
      <p:sp>
        <p:nvSpPr>
          <p:cNvPr id="6" name="function-io-0">
            <a:extLst xmlns:a="http://schemas.openxmlformats.org/drawingml/2006/main">
              <a:ext uri="{FF2B5EF4-FFF2-40B4-BE49-F238E27FC236}">
                <a16:creationId xmlns:a16="http://schemas.microsoft.com/office/drawing/2014/main" id="{6E963C12-DF90-4CC0-BEE6-B1E5DD964CEF}"/>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code.  Ra / tác động: Đối tượng lỗi output có code.</a:t>
            </a:r>
          </a:p>
        </p:txBody>
      </p:sp>
      <p:sp>
        <p:nvSpPr>
          <p:cNvPr id="7" name="function-code-0">
            <a:extLst xmlns:a="http://schemas.openxmlformats.org/drawingml/2006/main">
              <a:ext uri="{FF2B5EF4-FFF2-40B4-BE49-F238E27FC236}">
                <a16:creationId xmlns:a16="http://schemas.microsoft.com/office/drawing/2014/main" id="{9D0E1627-6471-4AD4-9D78-2521FC2F34EF}"/>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54      def __init__(self, code):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55          self.code = code</a:t>
            </a:r>
          </a:p>
        </p:txBody>
      </p:sp>
      <p:sp>
        <p:nvSpPr>
          <p:cNvPr id="8" name="function-source-0">
            <a:extLst xmlns:a="http://schemas.openxmlformats.org/drawingml/2006/main">
              <a:ext uri="{FF2B5EF4-FFF2-40B4-BE49-F238E27FC236}">
                <a16:creationId xmlns:a16="http://schemas.microsoft.com/office/drawing/2014/main" id="{D4116BF6-C511-4A0D-8ABF-88C9D8B8E643}"/>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src/parser.py:54–55     Đoạn trích: 54–55</a:t>
            </a:r>
          </a:p>
        </p:txBody>
      </p:sp>
      <p:sp>
        <p:nvSpPr>
          <p:cNvPr id="9" name="function-name-1">
            <a:extLst xmlns:a="http://schemas.openxmlformats.org/drawingml/2006/main">
              <a:ext uri="{FF2B5EF4-FFF2-40B4-BE49-F238E27FC236}">
                <a16:creationId xmlns:a16="http://schemas.microsoft.com/office/drawing/2014/main" id="{277141AE-D327-4040-B27B-6FC6B0CB5EF3}"/>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_unique_object</a:t>
            </a:r>
          </a:p>
        </p:txBody>
      </p:sp>
      <p:sp>
        <p:nvSpPr>
          <p:cNvPr id="10" name="function-purpose-1">
            <a:extLst xmlns:a="http://schemas.openxmlformats.org/drawingml/2006/main">
              <a:ext uri="{FF2B5EF4-FFF2-40B4-BE49-F238E27FC236}">
                <a16:creationId xmlns:a16="http://schemas.microsoft.com/office/drawing/2014/main" id="{B3846519-F62D-4973-AC18-41FCF864F30D}"/>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Phát hiện khóa JSON lặp trong cùng một object và từ chối kết quả đó.</a:t>
            </a:r>
          </a:p>
        </p:txBody>
      </p:sp>
      <p:sp>
        <p:nvSpPr>
          <p:cNvPr id="11" name="function-io-1">
            <a:extLst xmlns:a="http://schemas.openxmlformats.org/drawingml/2006/main">
              <a:ext uri="{FF2B5EF4-FFF2-40B4-BE49-F238E27FC236}">
                <a16:creationId xmlns:a16="http://schemas.microsoft.com/office/drawing/2014/main" id="{4CC6C3AD-CC59-4FA2-A95F-FAE38E9EEE5F}"/>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pairs.  Ra / tác động: Dictionary không có khóa trùng hoặc ValueError.</a:t>
            </a:r>
          </a:p>
        </p:txBody>
      </p:sp>
      <p:sp>
        <p:nvSpPr>
          <p:cNvPr id="12" name="function-code-1">
            <a:extLst xmlns:a="http://schemas.openxmlformats.org/drawingml/2006/main">
              <a:ext uri="{FF2B5EF4-FFF2-40B4-BE49-F238E27FC236}">
                <a16:creationId xmlns:a16="http://schemas.microsoft.com/office/drawing/2014/main" id="{4D5BDADE-BC05-40B7-9A87-42C4E0414A79}"/>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58  def _unique_object(pairs):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59      result =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60      for key, value in pairs: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61          if key in result: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62              raise ValueError("duplicate key")</a:t>
            </a:r>
          </a:p>
        </p:txBody>
      </p:sp>
      <p:sp>
        <p:nvSpPr>
          <p:cNvPr id="13" name="function-source-1">
            <a:extLst xmlns:a="http://schemas.openxmlformats.org/drawingml/2006/main">
              <a:ext uri="{FF2B5EF4-FFF2-40B4-BE49-F238E27FC236}">
                <a16:creationId xmlns:a16="http://schemas.microsoft.com/office/drawing/2014/main" id="{0CC93C74-B5E3-4CAE-A427-4EB7DC116685}"/>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src/parser.py:58–64     Đoạn trích: 58–62</a:t>
            </a:r>
          </a:p>
        </p:txBody>
      </p:sp>
    </p:spTree>
    <p:extLst>
      <p:ext uri="{BB962C8B-B14F-4D97-AF65-F5344CB8AC3E}">
        <p14:creationId xmlns:p14="http://schemas.microsoft.com/office/powerpoint/2010/main" val="1492396135"/>
      </p:ext>
    </p:extLst>
  </p:cSld>
</p:sld>
</file>

<file path=ppt/slides/slide6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C57C441-BEA3-4973-BA09-1A68A6158E61}"/>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src/parser.py  (3–4/9)</a:t>
            </a:r>
          </a:p>
        </p:txBody>
      </p:sp>
      <p:sp>
        <p:nvSpPr>
          <p:cNvPr id="3" name="page-number">
            <a:extLst xmlns:a="http://schemas.openxmlformats.org/drawingml/2006/main">
              <a:ext uri="{FF2B5EF4-FFF2-40B4-BE49-F238E27FC236}">
                <a16:creationId xmlns:a16="http://schemas.microsoft.com/office/drawing/2014/main" id="{B1363A4F-9318-4DCB-9820-CCF6FBA218C1}"/>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60 / 88</a:t>
            </a:r>
          </a:p>
        </p:txBody>
      </p:sp>
      <p:sp>
        <p:nvSpPr>
          <p:cNvPr id="4" name="function-name-0">
            <a:extLst xmlns:a="http://schemas.openxmlformats.org/drawingml/2006/main">
              <a:ext uri="{FF2B5EF4-FFF2-40B4-BE49-F238E27FC236}">
                <a16:creationId xmlns:a16="http://schemas.microsoft.com/office/drawing/2014/main" id="{3E84F203-1698-4734-AEF4-95BF3A1FEB1A}"/>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parse_output</a:t>
            </a:r>
          </a:p>
        </p:txBody>
      </p:sp>
      <p:sp>
        <p:nvSpPr>
          <p:cNvPr id="5" name="function-purpose-0">
            <a:extLst xmlns:a="http://schemas.openxmlformats.org/drawingml/2006/main">
              <a:ext uri="{FF2B5EF4-FFF2-40B4-BE49-F238E27FC236}">
                <a16:creationId xmlns:a16="http://schemas.microsoft.com/office/drawing/2014/main" id="{4DE2DBB7-9811-45EC-8F84-9D09E69A9C38}"/>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Giới hạn kích thước, parse JSON nghiêm ngặt và kiểm tra đối tượng Extraction bằng Pydantic.</a:t>
            </a:r>
          </a:p>
        </p:txBody>
      </p:sp>
      <p:sp>
        <p:nvSpPr>
          <p:cNvPr id="6" name="function-io-0">
            <a:extLst xmlns:a="http://schemas.openxmlformats.org/drawingml/2006/main">
              <a:ext uri="{FF2B5EF4-FFF2-40B4-BE49-F238E27FC236}">
                <a16:creationId xmlns:a16="http://schemas.microsoft.com/office/drawing/2014/main" id="{58BA6DC6-37C6-4A17-B8F0-2AEC8917F4C4}"/>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raw.  Ra / tác động: Extraction hợp schema hoặc OutputError.</a:t>
            </a:r>
          </a:p>
        </p:txBody>
      </p:sp>
      <p:sp>
        <p:nvSpPr>
          <p:cNvPr id="7" name="function-code-0">
            <a:extLst xmlns:a="http://schemas.openxmlformats.org/drawingml/2006/main">
              <a:ext uri="{FF2B5EF4-FFF2-40B4-BE49-F238E27FC236}">
                <a16:creationId xmlns:a16="http://schemas.microsoft.com/office/drawing/2014/main" id="{4EBA6F42-67A0-4F77-9B13-92EE47DDC3A3}"/>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67  def parse_output(raw):</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68      if not isinstance(raw, str) or not raw.strip() or len(raw) &gt; 16000:</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69          raise OutputError("invalid_json")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70      try: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71          value = json.loads(raw, object_pairs_hook=_unique_object,</a:t>
            </a:r>
          </a:p>
        </p:txBody>
      </p:sp>
      <p:sp>
        <p:nvSpPr>
          <p:cNvPr id="8" name="function-source-0">
            <a:extLst xmlns:a="http://schemas.openxmlformats.org/drawingml/2006/main">
              <a:ext uri="{FF2B5EF4-FFF2-40B4-BE49-F238E27FC236}">
                <a16:creationId xmlns:a16="http://schemas.microsoft.com/office/drawing/2014/main" id="{5C8984B4-98D8-4AC6-9833-445A3A27D95B}"/>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src/parser.py:67–78     Đoạn trích: 67–71</a:t>
            </a:r>
          </a:p>
        </p:txBody>
      </p:sp>
      <p:sp>
        <p:nvSpPr>
          <p:cNvPr id="9" name="function-name-1">
            <a:extLst xmlns:a="http://schemas.openxmlformats.org/drawingml/2006/main">
              <a:ext uri="{FF2B5EF4-FFF2-40B4-BE49-F238E27FC236}">
                <a16:creationId xmlns:a16="http://schemas.microsoft.com/office/drawing/2014/main" id="{B3010BBC-60A1-474B-ABC0-FBDC102CE454}"/>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money_amounts</a:t>
            </a:r>
          </a:p>
        </p:txBody>
      </p:sp>
      <p:sp>
        <p:nvSpPr>
          <p:cNvPr id="10" name="function-purpose-1">
            <a:extLst xmlns:a="http://schemas.openxmlformats.org/drawingml/2006/main">
              <a:ext uri="{FF2B5EF4-FFF2-40B4-BE49-F238E27FC236}">
                <a16:creationId xmlns:a16="http://schemas.microsoft.com/office/drawing/2014/main" id="{CAA5F945-3B31-4817-A854-75E51B1C5F5E}"/>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Trích các mức tiền khách thực sự nêu, đổi k/nghìn/triệu thành số nguyên VND.</a:t>
            </a:r>
          </a:p>
        </p:txBody>
      </p:sp>
      <p:sp>
        <p:nvSpPr>
          <p:cNvPr id="11" name="function-io-1">
            <a:extLst xmlns:a="http://schemas.openxmlformats.org/drawingml/2006/main">
              <a:ext uri="{FF2B5EF4-FFF2-40B4-BE49-F238E27FC236}">
                <a16:creationId xmlns:a16="http://schemas.microsoft.com/office/drawing/2014/main" id="{962243FA-F7A3-48FA-BA3B-DBC3BBFC7C4F}"/>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text.  Ra / tác động: Tập các số tiền nguyên VND có trong câu.</a:t>
            </a:r>
          </a:p>
        </p:txBody>
      </p:sp>
      <p:sp>
        <p:nvSpPr>
          <p:cNvPr id="12" name="function-code-1">
            <a:extLst xmlns:a="http://schemas.openxmlformats.org/drawingml/2006/main">
              <a:ext uri="{FF2B5EF4-FFF2-40B4-BE49-F238E27FC236}">
                <a16:creationId xmlns:a16="http://schemas.microsoft.com/office/drawing/2014/main" id="{E1AB4BAE-C1A5-4C9B-8CB6-5EB62AF3CC28}"/>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84  def money_amounts(text):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85      matches = re.findall(r"(?&lt;![a-z0-9])(\d+(?:[.,]\d+)*)\s*(trieu|tr|nghin|ngan|k)?\b", normalize_money(text))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86      amounts = set()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87      for number, unit in matches: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88          if re.fullmatch(r"\d{1,3}(?:[.,]\d{3})+", number):</a:t>
            </a:r>
          </a:p>
        </p:txBody>
      </p:sp>
      <p:sp>
        <p:nvSpPr>
          <p:cNvPr id="13" name="function-source-1">
            <a:extLst xmlns:a="http://schemas.openxmlformats.org/drawingml/2006/main">
              <a:ext uri="{FF2B5EF4-FFF2-40B4-BE49-F238E27FC236}">
                <a16:creationId xmlns:a16="http://schemas.microsoft.com/office/drawing/2014/main" id="{63C9A6D7-AACD-4352-B893-4D5A6A550325}"/>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src/parser.py:84–96     Đoạn trích: 84–88</a:t>
            </a:r>
          </a:p>
        </p:txBody>
      </p:sp>
    </p:spTree>
    <p:extLst>
      <p:ext uri="{BB962C8B-B14F-4D97-AF65-F5344CB8AC3E}">
        <p14:creationId xmlns:p14="http://schemas.microsoft.com/office/powerpoint/2010/main" val="26502830"/>
      </p:ext>
    </p:extLst>
  </p:cSld>
</p:sld>
</file>

<file path=ppt/slides/slide6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BDB55BCB-D9E7-486D-9696-9F26F497FDB6}"/>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src/parser.py  (5–6/9)</a:t>
            </a:r>
          </a:p>
        </p:txBody>
      </p:sp>
      <p:sp>
        <p:nvSpPr>
          <p:cNvPr id="3" name="page-number">
            <a:extLst xmlns:a="http://schemas.openxmlformats.org/drawingml/2006/main">
              <a:ext uri="{FF2B5EF4-FFF2-40B4-BE49-F238E27FC236}">
                <a16:creationId xmlns:a16="http://schemas.microsoft.com/office/drawing/2014/main" id="{5F496F76-45DA-4AF7-BC2F-CE1CE18D703F}"/>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61 / 88</a:t>
            </a:r>
          </a:p>
        </p:txBody>
      </p:sp>
      <p:sp>
        <p:nvSpPr>
          <p:cNvPr id="4" name="function-name-0">
            <a:extLst xmlns:a="http://schemas.openxmlformats.org/drawingml/2006/main">
              <a:ext uri="{FF2B5EF4-FFF2-40B4-BE49-F238E27FC236}">
                <a16:creationId xmlns:a16="http://schemas.microsoft.com/office/drawing/2014/main" id="{D58B9B2E-37F5-4A89-A6DE-5CEAE64F08A0}"/>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normalize_money</a:t>
            </a:r>
          </a:p>
        </p:txBody>
      </p:sp>
      <p:sp>
        <p:nvSpPr>
          <p:cNvPr id="5" name="function-purpose-0">
            <a:extLst xmlns:a="http://schemas.openxmlformats.org/drawingml/2006/main">
              <a:ext uri="{FF2B5EF4-FFF2-40B4-BE49-F238E27FC236}">
                <a16:creationId xmlns:a16="http://schemas.microsoft.com/office/drawing/2014/main" id="{2D8B1CC1-98B3-484E-8161-378B2B6679D9}"/>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Bỏ dấu và chuyển chữ thường nhưng giữ dấu thập phân để đọc các biểu thức tiền.</a:t>
            </a:r>
          </a:p>
        </p:txBody>
      </p:sp>
      <p:sp>
        <p:nvSpPr>
          <p:cNvPr id="6" name="function-io-0">
            <a:extLst xmlns:a="http://schemas.openxmlformats.org/drawingml/2006/main">
              <a:ext uri="{FF2B5EF4-FFF2-40B4-BE49-F238E27FC236}">
                <a16:creationId xmlns:a16="http://schemas.microsoft.com/office/drawing/2014/main" id="{8D6B5271-1377-47D9-9150-BBD365A6C8C1}"/>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text.  Ra / tác động: Chuỗi không dấu vẫn giữ ký hiệu tiền/số.</a:t>
            </a:r>
          </a:p>
        </p:txBody>
      </p:sp>
      <p:sp>
        <p:nvSpPr>
          <p:cNvPr id="7" name="function-code-0">
            <a:extLst xmlns:a="http://schemas.openxmlformats.org/drawingml/2006/main">
              <a:ext uri="{FF2B5EF4-FFF2-40B4-BE49-F238E27FC236}">
                <a16:creationId xmlns:a16="http://schemas.microsoft.com/office/drawing/2014/main" id="{2753054E-1C82-49B3-971F-7D106348C2AB}"/>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99  def normalize_money(text):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100      import unicodedata</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101      return "".join(c for c in unicodedata.normalize("NFD", text.lower().replace("đ", "d")) if unicodedata.category(c) != "Mn")</a:t>
            </a:r>
          </a:p>
        </p:txBody>
      </p:sp>
      <p:sp>
        <p:nvSpPr>
          <p:cNvPr id="8" name="function-source-0">
            <a:extLst xmlns:a="http://schemas.openxmlformats.org/drawingml/2006/main">
              <a:ext uri="{FF2B5EF4-FFF2-40B4-BE49-F238E27FC236}">
                <a16:creationId xmlns:a16="http://schemas.microsoft.com/office/drawing/2014/main" id="{BD73C988-097F-47C1-8890-83695A88CE5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src/parser.py:99–101     Đoạn trích: 99–101</a:t>
            </a:r>
          </a:p>
        </p:txBody>
      </p:sp>
      <p:sp>
        <p:nvSpPr>
          <p:cNvPr id="9" name="function-name-1">
            <a:extLst xmlns:a="http://schemas.openxmlformats.org/drawingml/2006/main">
              <a:ext uri="{FF2B5EF4-FFF2-40B4-BE49-F238E27FC236}">
                <a16:creationId xmlns:a16="http://schemas.microsoft.com/office/drawing/2014/main" id="{91785460-FBAD-41B0-907B-A00E27A3F1E8}"/>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quantity_source</a:t>
            </a:r>
          </a:p>
        </p:txBody>
      </p:sp>
      <p:sp>
        <p:nvSpPr>
          <p:cNvPr id="10" name="function-purpose-1">
            <a:extLst xmlns:a="http://schemas.openxmlformats.org/drawingml/2006/main">
              <a:ext uri="{FF2B5EF4-FFF2-40B4-BE49-F238E27FC236}">
                <a16:creationId xmlns:a16="http://schemas.microsoft.com/office/drawing/2014/main" id="{DBCD3467-29DA-4141-99FD-95F64A87E1E6}"/>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Loại phần giao nhận, SKU và số đo khỏi nguồn kiểm tra số lượng, đánh dấu lượng âm/lẻ.</a:t>
            </a:r>
          </a:p>
        </p:txBody>
      </p:sp>
      <p:sp>
        <p:nvSpPr>
          <p:cNvPr id="11" name="function-io-1">
            <a:extLst xmlns:a="http://schemas.openxmlformats.org/drawingml/2006/main">
              <a:ext uri="{FF2B5EF4-FFF2-40B4-BE49-F238E27FC236}">
                <a16:creationId xmlns:a16="http://schemas.microsoft.com/office/drawing/2014/main" id="{9CF3F3DC-DDD1-4B54-A56F-27F0DDA75E6C}"/>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message, customer.  Ra / tác động: Chuỗi chỉ phục vụ kiểm tra evidence số lượng.</a:t>
            </a:r>
          </a:p>
        </p:txBody>
      </p:sp>
      <p:sp>
        <p:nvSpPr>
          <p:cNvPr id="12" name="function-code-1">
            <a:extLst xmlns:a="http://schemas.openxmlformats.org/drawingml/2006/main">
              <a:ext uri="{FF2B5EF4-FFF2-40B4-BE49-F238E27FC236}">
                <a16:creationId xmlns:a16="http://schemas.microsoft.com/office/drawing/2014/main" id="{C49F52BE-E283-40F4-BA2A-F303EA09FFD6}"/>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104  def quantity_source(message, customer=None):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105      text = normalize_money(message)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106      text = re.split(r"\b(?:ten|nguoi nhan|sdt|so dien thoai|giao ve|giao den|dia chi)\b", text)[0]</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107      if customer: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108          for value in customer.model_dump().values():</a:t>
            </a:r>
          </a:p>
        </p:txBody>
      </p:sp>
      <p:sp>
        <p:nvSpPr>
          <p:cNvPr id="13" name="function-source-1">
            <a:extLst xmlns:a="http://schemas.openxmlformats.org/drawingml/2006/main">
              <a:ext uri="{FF2B5EF4-FFF2-40B4-BE49-F238E27FC236}">
                <a16:creationId xmlns:a16="http://schemas.microsoft.com/office/drawing/2014/main" id="{4A971CCA-0A9C-4F76-B3D3-79F5EF0F3FC1}"/>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src/parser.py:104–115     Đoạn trích: 104–108</a:t>
            </a:r>
          </a:p>
        </p:txBody>
      </p:sp>
    </p:spTree>
    <p:extLst>
      <p:ext uri="{BB962C8B-B14F-4D97-AF65-F5344CB8AC3E}">
        <p14:creationId xmlns:p14="http://schemas.microsoft.com/office/powerpoint/2010/main" val="769428969"/>
      </p:ext>
    </p:extLst>
  </p:cSld>
</p:sld>
</file>

<file path=ppt/slides/slide6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04B31B1-7154-40FA-B5CA-C090271BEB5C}"/>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src/parser.py  (7–8/9)</a:t>
            </a:r>
          </a:p>
        </p:txBody>
      </p:sp>
      <p:sp>
        <p:nvSpPr>
          <p:cNvPr id="3" name="page-number">
            <a:extLst xmlns:a="http://schemas.openxmlformats.org/drawingml/2006/main">
              <a:ext uri="{FF2B5EF4-FFF2-40B4-BE49-F238E27FC236}">
                <a16:creationId xmlns:a16="http://schemas.microsoft.com/office/drawing/2014/main" id="{8986AF05-8D0B-4F5B-9C68-585AB208D258}"/>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62 / 88</a:t>
            </a:r>
          </a:p>
        </p:txBody>
      </p:sp>
      <p:sp>
        <p:nvSpPr>
          <p:cNvPr id="4" name="function-name-0">
            <a:extLst xmlns:a="http://schemas.openxmlformats.org/drawingml/2006/main">
              <a:ext uri="{FF2B5EF4-FFF2-40B4-BE49-F238E27FC236}">
                <a16:creationId xmlns:a16="http://schemas.microsoft.com/office/drawing/2014/main" id="{A4C74338-2A02-47F2-A1CC-8432F4EFB5B2}"/>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discard_implicit_quantities</a:t>
            </a:r>
          </a:p>
        </p:txBody>
      </p:sp>
      <p:sp>
        <p:nvSpPr>
          <p:cNvPr id="5" name="function-purpose-0">
            <a:extLst xmlns:a="http://schemas.openxmlformats.org/drawingml/2006/main">
              <a:ext uri="{FF2B5EF4-FFF2-40B4-BE49-F238E27FC236}">
                <a16:creationId xmlns:a16="http://schemas.microsoft.com/office/drawing/2014/main" id="{93355206-23B0-41AC-918C-3CD4393383BC}"/>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Bỏ số lượng do model tự điền khi khách không nêu lượng, để workflow hỏi lại.</a:t>
            </a:r>
          </a:p>
        </p:txBody>
      </p:sp>
      <p:sp>
        <p:nvSpPr>
          <p:cNvPr id="6" name="function-io-0">
            <a:extLst xmlns:a="http://schemas.openxmlformats.org/drawingml/2006/main">
              <a:ext uri="{FF2B5EF4-FFF2-40B4-BE49-F238E27FC236}">
                <a16:creationId xmlns:a16="http://schemas.microsoft.com/office/drawing/2014/main" id="{699BD024-D440-4062-B5A2-AA4A53D50768}"/>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data, message.  Ra / tác động: Extraction với quantity chưa nêu đã về None.</a:t>
            </a:r>
          </a:p>
        </p:txBody>
      </p:sp>
      <p:sp>
        <p:nvSpPr>
          <p:cNvPr id="7" name="function-code-0">
            <a:extLst xmlns:a="http://schemas.openxmlformats.org/drawingml/2006/main">
              <a:ext uri="{FF2B5EF4-FFF2-40B4-BE49-F238E27FC236}">
                <a16:creationId xmlns:a16="http://schemas.microsoft.com/office/drawing/2014/main" id="{EFF070BA-DE88-4758-B705-561FA81ECF9F}"/>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121      if data.intent in {"create_order", "update_order"} and not explicit: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122          for item in data.items: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123              item.quantity = None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124      return data</a:t>
            </a:r>
          </a:p>
        </p:txBody>
      </p:sp>
      <p:sp>
        <p:nvSpPr>
          <p:cNvPr id="8" name="function-source-0">
            <a:extLst xmlns:a="http://schemas.openxmlformats.org/drawingml/2006/main">
              <a:ext uri="{FF2B5EF4-FFF2-40B4-BE49-F238E27FC236}">
                <a16:creationId xmlns:a16="http://schemas.microsoft.com/office/drawing/2014/main" id="{2F926620-8777-4EAC-AE3D-96046E824261}"/>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src/parser.py:118–124     Đoạn trích: 121–124</a:t>
            </a:r>
          </a:p>
        </p:txBody>
      </p:sp>
      <p:sp>
        <p:nvSpPr>
          <p:cNvPr id="9" name="function-name-1">
            <a:extLst xmlns:a="http://schemas.openxmlformats.org/drawingml/2006/main">
              <a:ext uri="{FF2B5EF4-FFF2-40B4-BE49-F238E27FC236}">
                <a16:creationId xmlns:a16="http://schemas.microsoft.com/office/drawing/2014/main" id="{D4DE2784-A2AC-42FF-B2FF-274B42680DF8}"/>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validate_grounding</a:t>
            </a:r>
          </a:p>
        </p:txBody>
      </p:sp>
      <p:sp>
        <p:nvSpPr>
          <p:cNvPr id="10" name="function-purpose-1">
            <a:extLst xmlns:a="http://schemas.openxmlformats.org/drawingml/2006/main">
              <a:ext uri="{FF2B5EF4-FFF2-40B4-BE49-F238E27FC236}">
                <a16:creationId xmlns:a16="http://schemas.microsoft.com/office/drawing/2014/main" id="{ECA38DCB-BEE0-402F-899B-EC6E161D4EA6}"/>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Kiểm tra các trường và bộ lọc bám câu hiện tại trước khi gộp vào context phía server.</a:t>
            </a:r>
          </a:p>
        </p:txBody>
      </p:sp>
      <p:sp>
        <p:nvSpPr>
          <p:cNvPr id="11" name="function-io-1">
            <a:extLst xmlns:a="http://schemas.openxmlformats.org/drawingml/2006/main">
              <a:ext uri="{FF2B5EF4-FFF2-40B4-BE49-F238E27FC236}">
                <a16:creationId xmlns:a16="http://schemas.microsoft.com/office/drawing/2014/main" id="{188D379A-435F-4DD2-83A8-CD7800C69142}"/>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data, message.  Ra / tác động: Extraction đã kiểm tra hoặc OutputError.</a:t>
            </a:r>
          </a:p>
        </p:txBody>
      </p:sp>
      <p:sp>
        <p:nvSpPr>
          <p:cNvPr id="12" name="function-code-1">
            <a:extLst xmlns:a="http://schemas.openxmlformats.org/drawingml/2006/main">
              <a:ext uri="{FF2B5EF4-FFF2-40B4-BE49-F238E27FC236}">
                <a16:creationId xmlns:a16="http://schemas.microsoft.com/office/drawing/2014/main" id="{BA26CD78-8CA8-4F41-8BBB-DCDDD6B64DFB}"/>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132      for item in data.items: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133          if not all(present(v) for v in (item.requested_product, item.sku, item.variant.color)):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134              raise OutputError("ungrounded_output")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135          if item.variant.size and not present(item.variant.size):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136              if " " + size_value(item.variant.size) + " " not in " " + size_value(message) + " ":</a:t>
            </a:r>
          </a:p>
        </p:txBody>
      </p:sp>
      <p:sp>
        <p:nvSpPr>
          <p:cNvPr id="13" name="function-source-1">
            <a:extLst xmlns:a="http://schemas.openxmlformats.org/drawingml/2006/main">
              <a:ext uri="{FF2B5EF4-FFF2-40B4-BE49-F238E27FC236}">
                <a16:creationId xmlns:a16="http://schemas.microsoft.com/office/drawing/2014/main" id="{3F4D1450-90B8-41E9-947F-78D24033A4AA}"/>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src/parser.py:127–163     Đoạn trích: 132–136</a:t>
            </a:r>
          </a:p>
        </p:txBody>
      </p:sp>
    </p:spTree>
    <p:extLst>
      <p:ext uri="{BB962C8B-B14F-4D97-AF65-F5344CB8AC3E}">
        <p14:creationId xmlns:p14="http://schemas.microsoft.com/office/powerpoint/2010/main" val="1429157106"/>
      </p:ext>
    </p:extLst>
  </p:cSld>
</p:sld>
</file>

<file path=ppt/slides/slide6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1D8381F-D80E-4857-B183-1BDF8341FC8F}"/>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src/parser.py  (9–9/9)</a:t>
            </a:r>
          </a:p>
        </p:txBody>
      </p:sp>
      <p:sp>
        <p:nvSpPr>
          <p:cNvPr id="3" name="page-number">
            <a:extLst xmlns:a="http://schemas.openxmlformats.org/drawingml/2006/main">
              <a:ext uri="{FF2B5EF4-FFF2-40B4-BE49-F238E27FC236}">
                <a16:creationId xmlns:a16="http://schemas.microsoft.com/office/drawing/2014/main" id="{47B8681C-A0FF-467C-A7F9-CD992B69624B}"/>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63 / 88</a:t>
            </a:r>
          </a:p>
        </p:txBody>
      </p:sp>
      <p:sp>
        <p:nvSpPr>
          <p:cNvPr id="4" name="function-name-0">
            <a:extLst xmlns:a="http://schemas.openxmlformats.org/drawingml/2006/main">
              <a:ext uri="{FF2B5EF4-FFF2-40B4-BE49-F238E27FC236}">
                <a16:creationId xmlns:a16="http://schemas.microsoft.com/office/drawing/2014/main" id="{8A814B10-35A2-484B-B256-021E51FD0372}"/>
              </a:ext>
            </a:extLst>
          </p:cNvPr>
          <p:cNvSpPr>
            <a:spLocks xmlns:a="http://schemas.openxmlformats.org/drawingml/2006/main" noGrp="1"/>
          </p:cNvSpPr>
          <p:nvPr/>
        </p:nvSpPr>
        <p:spPr>
          <a:xfrm xmlns:a="http://schemas.openxmlformats.org/drawingml/2006/main">
            <a:off x="762000" y="23050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validate_grounding.present</a:t>
            </a:r>
          </a:p>
        </p:txBody>
      </p:sp>
      <p:sp>
        <p:nvSpPr>
          <p:cNvPr id="5" name="function-purpose-0">
            <a:extLst xmlns:a="http://schemas.openxmlformats.org/drawingml/2006/main">
              <a:ext uri="{FF2B5EF4-FFF2-40B4-BE49-F238E27FC236}">
                <a16:creationId xmlns:a16="http://schemas.microsoft.com/office/drawing/2014/main" id="{3D78F610-6EA7-4F2C-A8F4-3C6B30D9D25B}"/>
              </a:ext>
            </a:extLst>
          </p:cNvPr>
          <p:cNvSpPr>
            <a:spLocks xmlns:a="http://schemas.openxmlformats.org/drawingml/2006/main" noGrp="1"/>
          </p:cNvSpPr>
          <p:nvPr/>
        </p:nvSpPr>
        <p:spPr>
          <a:xfrm xmlns:a="http://schemas.openxmlformats.org/drawingml/2006/main">
            <a:off x="762000" y="27622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Kiểm tra giá trị null hoặc chuỗi đã chuẩn hóa có xuất hiện thành đoạn trong câu khách.</a:t>
            </a:r>
          </a:p>
        </p:txBody>
      </p:sp>
      <p:sp>
        <p:nvSpPr>
          <p:cNvPr id="6" name="function-io-0">
            <a:extLst xmlns:a="http://schemas.openxmlformats.org/drawingml/2006/main">
              <a:ext uri="{FF2B5EF4-FFF2-40B4-BE49-F238E27FC236}">
                <a16:creationId xmlns:a16="http://schemas.microsoft.com/office/drawing/2014/main" id="{336BA0B8-FE5E-46DF-8465-287F560ADCC5}"/>
              </a:ext>
            </a:extLst>
          </p:cNvPr>
          <p:cNvSpPr>
            <a:spLocks xmlns:a="http://schemas.openxmlformats.org/drawingml/2006/main" noGrp="1"/>
          </p:cNvSpPr>
          <p:nvPr/>
        </p:nvSpPr>
        <p:spPr>
          <a:xfrm xmlns:a="http://schemas.openxmlformats.org/drawingml/2006/main">
            <a:off x="762000" y="334327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value.  Ra / tác động: Boolean trường null hoặc có đoạn văn bản tương ứng.</a:t>
            </a:r>
          </a:p>
        </p:txBody>
      </p:sp>
      <p:sp>
        <p:nvSpPr>
          <p:cNvPr id="7" name="function-code-0">
            <a:extLst xmlns:a="http://schemas.openxmlformats.org/drawingml/2006/main">
              <a:ext uri="{FF2B5EF4-FFF2-40B4-BE49-F238E27FC236}">
                <a16:creationId xmlns:a16="http://schemas.microsoft.com/office/drawing/2014/main" id="{4D6896E5-A045-470D-8307-929DB6965D0F}"/>
              </a:ext>
            </a:extLst>
          </p:cNvPr>
          <p:cNvSpPr>
            <a:spLocks xmlns:a="http://schemas.openxmlformats.org/drawingml/2006/main" noGrp="1"/>
          </p:cNvSpPr>
          <p:nvPr/>
        </p:nvSpPr>
        <p:spPr>
          <a:xfrm xmlns:a="http://schemas.openxmlformats.org/drawingml/2006/main">
            <a:off x="762000" y="391477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130      def present(value):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131          return value is None or (normalize(value) and " " + normalize(value) + " " in text)</a:t>
            </a:r>
          </a:p>
        </p:txBody>
      </p:sp>
      <p:sp>
        <p:nvSpPr>
          <p:cNvPr id="8" name="function-source-0">
            <a:extLst xmlns:a="http://schemas.openxmlformats.org/drawingml/2006/main">
              <a:ext uri="{FF2B5EF4-FFF2-40B4-BE49-F238E27FC236}">
                <a16:creationId xmlns:a16="http://schemas.microsoft.com/office/drawing/2014/main" id="{642078F9-E48A-4361-B594-1456E5F2FAC6}"/>
              </a:ext>
            </a:extLst>
          </p:cNvPr>
          <p:cNvSpPr>
            <a:spLocks xmlns:a="http://schemas.openxmlformats.org/drawingml/2006/main" noGrp="1"/>
          </p:cNvSpPr>
          <p:nvPr/>
        </p:nvSpPr>
        <p:spPr>
          <a:xfrm xmlns:a="http://schemas.openxmlformats.org/drawingml/2006/main">
            <a:off x="762000" y="532447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src/parser.py:130–131     Đoạn trích: 130–131</a:t>
            </a:r>
          </a:p>
        </p:txBody>
      </p:sp>
    </p:spTree>
    <p:extLst>
      <p:ext uri="{BB962C8B-B14F-4D97-AF65-F5344CB8AC3E}">
        <p14:creationId xmlns:p14="http://schemas.microsoft.com/office/powerpoint/2010/main" val="1854707756"/>
      </p:ext>
    </p:extLst>
  </p:cSld>
</p:sld>
</file>

<file path=ppt/slides/slide6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D060826B-DCB6-4A40-81BF-3D4AD4F669D5}"/>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src/quota.py  (1–2/2)</a:t>
            </a:r>
          </a:p>
        </p:txBody>
      </p:sp>
      <p:sp>
        <p:nvSpPr>
          <p:cNvPr id="3" name="page-number">
            <a:extLst xmlns:a="http://schemas.openxmlformats.org/drawingml/2006/main">
              <a:ext uri="{FF2B5EF4-FFF2-40B4-BE49-F238E27FC236}">
                <a16:creationId xmlns:a16="http://schemas.microsoft.com/office/drawing/2014/main" id="{E5F255BC-6D0D-49FE-B9C3-7B85ABE0BEB5}"/>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64 / 88</a:t>
            </a:r>
          </a:p>
        </p:txBody>
      </p:sp>
      <p:sp>
        <p:nvSpPr>
          <p:cNvPr id="4" name="function-name-0">
            <a:extLst xmlns:a="http://schemas.openxmlformats.org/drawingml/2006/main">
              <a:ext uri="{FF2B5EF4-FFF2-40B4-BE49-F238E27FC236}">
                <a16:creationId xmlns:a16="http://schemas.microsoft.com/office/drawing/2014/main" id="{A307F264-5D5A-49D2-AFF3-E5D1F9057BD9}"/>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DailyBudget.__init__</a:t>
            </a:r>
          </a:p>
        </p:txBody>
      </p:sp>
      <p:sp>
        <p:nvSpPr>
          <p:cNvPr id="5" name="function-purpose-0">
            <a:extLst xmlns:a="http://schemas.openxmlformats.org/drawingml/2006/main">
              <a:ext uri="{FF2B5EF4-FFF2-40B4-BE49-F238E27FC236}">
                <a16:creationId xmlns:a16="http://schemas.microsoft.com/office/drawing/2014/main" id="{15C63530-FD9C-4D8E-8164-039DFAED9017}"/>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Chuẩn bị ledger SQLite riêng và bảng lưu số HTTP attempt theo model/ngày.</a:t>
            </a:r>
          </a:p>
        </p:txBody>
      </p:sp>
      <p:sp>
        <p:nvSpPr>
          <p:cNvPr id="6" name="function-io-0">
            <a:extLst xmlns:a="http://schemas.openxmlformats.org/drawingml/2006/main">
              <a:ext uri="{FF2B5EF4-FFF2-40B4-BE49-F238E27FC236}">
                <a16:creationId xmlns:a16="http://schemas.microsoft.com/office/drawing/2014/main" id="{664FBA0A-65BA-4C06-897A-8D0410088EF9}"/>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path, limit.  Ra / tác động: Ledger có bảng llm_daily_usage.</a:t>
            </a:r>
          </a:p>
        </p:txBody>
      </p:sp>
      <p:sp>
        <p:nvSpPr>
          <p:cNvPr id="7" name="function-code-0">
            <a:extLst xmlns:a="http://schemas.openxmlformats.org/drawingml/2006/main">
              <a:ext uri="{FF2B5EF4-FFF2-40B4-BE49-F238E27FC236}">
                <a16:creationId xmlns:a16="http://schemas.microsoft.com/office/drawing/2014/main" id="{331F921B-F455-4D25-8A25-77B3C65C14BD}"/>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13      def __init__(self, path, limit):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14          self.path = str(path)</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15          self.limit = limit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16          Path(self.path).parent.mkdir(parents=True, exist_ok=True)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17          with closing(sqlite3.connect(self.path)) as conn, conn:</a:t>
            </a:r>
          </a:p>
        </p:txBody>
      </p:sp>
      <p:sp>
        <p:nvSpPr>
          <p:cNvPr id="8" name="function-source-0">
            <a:extLst xmlns:a="http://schemas.openxmlformats.org/drawingml/2006/main">
              <a:ext uri="{FF2B5EF4-FFF2-40B4-BE49-F238E27FC236}">
                <a16:creationId xmlns:a16="http://schemas.microsoft.com/office/drawing/2014/main" id="{C486B89E-BB98-4C67-A165-3B8D7D2D4697}"/>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src/quota.py:13–20     Đoạn trích: 13–17</a:t>
            </a:r>
          </a:p>
        </p:txBody>
      </p:sp>
      <p:sp>
        <p:nvSpPr>
          <p:cNvPr id="9" name="function-name-1">
            <a:extLst xmlns:a="http://schemas.openxmlformats.org/drawingml/2006/main">
              <a:ext uri="{FF2B5EF4-FFF2-40B4-BE49-F238E27FC236}">
                <a16:creationId xmlns:a16="http://schemas.microsoft.com/office/drawing/2014/main" id="{184DAEA3-5420-4FE5-9485-8FA2B67BB4D3}"/>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DailyBudget.reserve</a:t>
            </a:r>
          </a:p>
        </p:txBody>
      </p:sp>
      <p:sp>
        <p:nvSpPr>
          <p:cNvPr id="10" name="function-purpose-1">
            <a:extLst xmlns:a="http://schemas.openxmlformats.org/drawingml/2006/main">
              <a:ext uri="{FF2B5EF4-FFF2-40B4-BE49-F238E27FC236}">
                <a16:creationId xmlns:a16="http://schemas.microsoft.com/office/drawing/2014/main" id="{6214021E-5934-4A5D-8DB9-733FBDA65F8A}"/>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Giữ một lượt gọi trước khi gửi HTTP, chặn vượt ngân sách trong transaction theo ngày Pacific.</a:t>
            </a:r>
          </a:p>
        </p:txBody>
      </p:sp>
      <p:sp>
        <p:nvSpPr>
          <p:cNvPr id="11" name="function-io-1">
            <a:extLst xmlns:a="http://schemas.openxmlformats.org/drawingml/2006/main">
              <a:ext uri="{FF2B5EF4-FFF2-40B4-BE49-F238E27FC236}">
                <a16:creationId xmlns:a16="http://schemas.microsoft.com/office/drawing/2014/main" id="{F208CD56-9747-4618-BE4E-2C6DD05E9290}"/>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model_id, now.  Ra / tác động: Số lượt đã dùng sau tăng, hoặc DailyLimitReached.</a:t>
            </a:r>
          </a:p>
        </p:txBody>
      </p:sp>
      <p:sp>
        <p:nvSpPr>
          <p:cNvPr id="12" name="function-code-1">
            <a:extLst xmlns:a="http://schemas.openxmlformats.org/drawingml/2006/main">
              <a:ext uri="{FF2B5EF4-FFF2-40B4-BE49-F238E27FC236}">
                <a16:creationId xmlns:a16="http://schemas.microsoft.com/office/drawing/2014/main" id="{47492F37-1FF5-424B-9395-927E6C4B2B9E}"/>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28              if used &gt;= self.limit: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29                  raise DailyLimitReached()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30              conn.execute("INSERT INTO llm_daily_usage VALUES (?,?,1) ON CONFLICT(model_id,quota_day)"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31                           " DO UPDATE SET attempts=attempts+1", (model_id, day))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32              return used + 1</a:t>
            </a:r>
          </a:p>
        </p:txBody>
      </p:sp>
      <p:sp>
        <p:nvSpPr>
          <p:cNvPr id="13" name="function-source-1">
            <a:extLst xmlns:a="http://schemas.openxmlformats.org/drawingml/2006/main">
              <a:ext uri="{FF2B5EF4-FFF2-40B4-BE49-F238E27FC236}">
                <a16:creationId xmlns:a16="http://schemas.microsoft.com/office/drawing/2014/main" id="{6AC4DC02-1874-44E1-BE36-AB77EDA48C4B}"/>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src/quota.py:22–32     Đoạn trích: 28–32</a:t>
            </a:r>
          </a:p>
        </p:txBody>
      </p:sp>
    </p:spTree>
    <p:extLst>
      <p:ext uri="{BB962C8B-B14F-4D97-AF65-F5344CB8AC3E}">
        <p14:creationId xmlns:p14="http://schemas.microsoft.com/office/powerpoint/2010/main" val="1521161153"/>
      </p:ext>
    </p:extLst>
  </p:cSld>
</p:sld>
</file>

<file path=ppt/slides/slide6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BF35E43-C07A-4737-B329-8DC7CB30C30E}"/>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backend/services.py  (1–2/9)</a:t>
            </a:r>
          </a:p>
        </p:txBody>
      </p:sp>
      <p:sp>
        <p:nvSpPr>
          <p:cNvPr id="3" name="page-number">
            <a:extLst xmlns:a="http://schemas.openxmlformats.org/drawingml/2006/main">
              <a:ext uri="{FF2B5EF4-FFF2-40B4-BE49-F238E27FC236}">
                <a16:creationId xmlns:a16="http://schemas.microsoft.com/office/drawing/2014/main" id="{BB2EF583-E5A8-4B31-B693-E1BBC58236D2}"/>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65 / 88</a:t>
            </a:r>
          </a:p>
        </p:txBody>
      </p:sp>
      <p:sp>
        <p:nvSpPr>
          <p:cNvPr id="4" name="function-name-0">
            <a:extLst xmlns:a="http://schemas.openxmlformats.org/drawingml/2006/main">
              <a:ext uri="{FF2B5EF4-FFF2-40B4-BE49-F238E27FC236}">
                <a16:creationId xmlns:a16="http://schemas.microsoft.com/office/drawing/2014/main" id="{A4FC7413-83A9-4C0E-BC4A-92BCD7D7E054}"/>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product_view</a:t>
            </a:r>
          </a:p>
        </p:txBody>
      </p:sp>
      <p:sp>
        <p:nvSpPr>
          <p:cNvPr id="5" name="function-purpose-0">
            <a:extLst xmlns:a="http://schemas.openxmlformats.org/drawingml/2006/main">
              <a:ext uri="{FF2B5EF4-FFF2-40B4-BE49-F238E27FC236}">
                <a16:creationId xmlns:a16="http://schemas.microsoft.com/office/drawing/2014/main" id="{906EE69A-A5BA-49A3-87E5-FC9EA2EF3617}"/>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Đổi dữ liệu catalog nội bộ thành cấu trúc sản phẩm/biến thể cho frontend.</a:t>
            </a:r>
          </a:p>
        </p:txBody>
      </p:sp>
      <p:sp>
        <p:nvSpPr>
          <p:cNvPr id="6" name="function-io-0">
            <a:extLst xmlns:a="http://schemas.openxmlformats.org/drawingml/2006/main">
              <a:ext uri="{FF2B5EF4-FFF2-40B4-BE49-F238E27FC236}">
                <a16:creationId xmlns:a16="http://schemas.microsoft.com/office/drawing/2014/main" id="{CA1E9AAA-3311-473E-A614-F05446384930}"/>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product.  Ra / tác động: Dictionary product/variants theo hợp đồng frontend.</a:t>
            </a:r>
          </a:p>
        </p:txBody>
      </p:sp>
      <p:sp>
        <p:nvSpPr>
          <p:cNvPr id="7" name="function-code-0">
            <a:extLst xmlns:a="http://schemas.openxmlformats.org/drawingml/2006/main">
              <a:ext uri="{FF2B5EF4-FFF2-40B4-BE49-F238E27FC236}">
                <a16:creationId xmlns:a16="http://schemas.microsoft.com/office/drawing/2014/main" id="{6BA15D85-B1EC-4D77-8BB4-7A6A8F22A86D}"/>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12  def product_view(product):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13      return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14          **{k: product[k] for k in ("product_id", "name", "category", "description", "in_stock")},</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15          "price_from": product["price_min"], "price_to": product["price_max"],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16          "variants": [{"sku": v["sku"], "label": v["variant_name"], "unit_price": v["price"],</a:t>
            </a:r>
          </a:p>
        </p:txBody>
      </p:sp>
      <p:sp>
        <p:nvSpPr>
          <p:cNvPr id="8" name="function-source-0">
            <a:extLst xmlns:a="http://schemas.openxmlformats.org/drawingml/2006/main">
              <a:ext uri="{FF2B5EF4-FFF2-40B4-BE49-F238E27FC236}">
                <a16:creationId xmlns:a16="http://schemas.microsoft.com/office/drawing/2014/main" id="{8CFA35D4-0D43-4FB9-BA52-39779C2772DC}"/>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backend/services.py:12–19     Đoạn trích: 12–16</a:t>
            </a:r>
          </a:p>
        </p:txBody>
      </p:sp>
      <p:sp>
        <p:nvSpPr>
          <p:cNvPr id="9" name="function-name-1">
            <a:extLst xmlns:a="http://schemas.openxmlformats.org/drawingml/2006/main">
              <a:ext uri="{FF2B5EF4-FFF2-40B4-BE49-F238E27FC236}">
                <a16:creationId xmlns:a16="http://schemas.microsoft.com/office/drawing/2014/main" id="{D0F279C9-2F80-4551-AF1A-F6069A2A9C16}"/>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order_number</a:t>
            </a:r>
          </a:p>
        </p:txBody>
      </p:sp>
      <p:sp>
        <p:nvSpPr>
          <p:cNvPr id="10" name="function-purpose-1">
            <a:extLst xmlns:a="http://schemas.openxmlformats.org/drawingml/2006/main">
              <a:ext uri="{FF2B5EF4-FFF2-40B4-BE49-F238E27FC236}">
                <a16:creationId xmlns:a16="http://schemas.microsoft.com/office/drawing/2014/main" id="{9747D760-C230-4169-9EC4-7753C20E542E}"/>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Kiểm tra mã đơn dạng DH000001 rồi lấy phần ID số để truy vấn database.</a:t>
            </a:r>
          </a:p>
        </p:txBody>
      </p:sp>
      <p:sp>
        <p:nvSpPr>
          <p:cNvPr id="11" name="function-io-1">
            <a:extLst xmlns:a="http://schemas.openxmlformats.org/drawingml/2006/main">
              <a:ext uri="{FF2B5EF4-FFF2-40B4-BE49-F238E27FC236}">
                <a16:creationId xmlns:a16="http://schemas.microsoft.com/office/drawing/2014/main" id="{20B7CCC9-775C-452D-8A17-9E016587265C}"/>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value.  Ra / tác động: ID đơn kiểu int hoặc lỗi 404.</a:t>
            </a:r>
          </a:p>
        </p:txBody>
      </p:sp>
      <p:sp>
        <p:nvSpPr>
          <p:cNvPr id="12" name="function-code-1">
            <a:extLst xmlns:a="http://schemas.openxmlformats.org/drawingml/2006/main">
              <a:ext uri="{FF2B5EF4-FFF2-40B4-BE49-F238E27FC236}">
                <a16:creationId xmlns:a16="http://schemas.microsoft.com/office/drawing/2014/main" id="{65CE5253-B1A4-4EA4-8EF4-FFFF8C145E22}"/>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23  def order_number(value):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24      if not isinstance(value, str) or not re.fullmatch(r"DH\d{6,10}", value):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25          raise ApiProblem(404, "not_found", "Không tìm thấy đơn hàng trong phiên của bạn.")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26      return int(value[2:])</a:t>
            </a:r>
          </a:p>
        </p:txBody>
      </p:sp>
      <p:sp>
        <p:nvSpPr>
          <p:cNvPr id="13" name="function-source-1">
            <a:extLst xmlns:a="http://schemas.openxmlformats.org/drawingml/2006/main">
              <a:ext uri="{FF2B5EF4-FFF2-40B4-BE49-F238E27FC236}">
                <a16:creationId xmlns:a16="http://schemas.microsoft.com/office/drawing/2014/main" id="{34FC0D85-3800-45C9-8488-E74281032365}"/>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backend/services.py:23–26     Đoạn trích: 23–26</a:t>
            </a:r>
          </a:p>
        </p:txBody>
      </p:sp>
    </p:spTree>
    <p:extLst>
      <p:ext uri="{BB962C8B-B14F-4D97-AF65-F5344CB8AC3E}">
        <p14:creationId xmlns:p14="http://schemas.microsoft.com/office/powerpoint/2010/main" val="1252316924"/>
      </p:ext>
    </p:extLst>
  </p:cSld>
</p:sld>
</file>

<file path=ppt/slides/slide6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B8C3901-0AC3-4434-9DEF-5A9F1158BDEA}"/>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backend/services.py  (3–4/9)</a:t>
            </a:r>
          </a:p>
        </p:txBody>
      </p:sp>
      <p:sp>
        <p:nvSpPr>
          <p:cNvPr id="3" name="page-number">
            <a:extLst xmlns:a="http://schemas.openxmlformats.org/drawingml/2006/main">
              <a:ext uri="{FF2B5EF4-FFF2-40B4-BE49-F238E27FC236}">
                <a16:creationId xmlns:a16="http://schemas.microsoft.com/office/drawing/2014/main" id="{441F64F1-305B-4B55-9121-0572B92171CF}"/>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66 / 88</a:t>
            </a:r>
          </a:p>
        </p:txBody>
      </p:sp>
      <p:sp>
        <p:nvSpPr>
          <p:cNvPr id="4" name="function-name-0">
            <a:extLst xmlns:a="http://schemas.openxmlformats.org/drawingml/2006/main">
              <a:ext uri="{FF2B5EF4-FFF2-40B4-BE49-F238E27FC236}">
                <a16:creationId xmlns:a16="http://schemas.microsoft.com/office/drawing/2014/main" id="{B17FB4BB-1E68-44C1-9D6D-9435C856D215}"/>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owned_order</a:t>
            </a:r>
          </a:p>
        </p:txBody>
      </p:sp>
      <p:sp>
        <p:nvSpPr>
          <p:cNvPr id="5" name="function-purpose-0">
            <a:extLst xmlns:a="http://schemas.openxmlformats.org/drawingml/2006/main">
              <a:ext uri="{FF2B5EF4-FFF2-40B4-BE49-F238E27FC236}">
                <a16:creationId xmlns:a16="http://schemas.microsoft.com/office/drawing/2014/main" id="{B886046F-1272-4266-BBC2-A64D853349EE}"/>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Lấy đơn và từ chối truy cập nếu đơn không thuộc chủ phiên đang yêu cầu.</a:t>
            </a:r>
          </a:p>
        </p:txBody>
      </p:sp>
      <p:sp>
        <p:nvSpPr>
          <p:cNvPr id="6" name="function-io-0">
            <a:extLst xmlns:a="http://schemas.openxmlformats.org/drawingml/2006/main">
              <a:ext uri="{FF2B5EF4-FFF2-40B4-BE49-F238E27FC236}">
                <a16:creationId xmlns:a16="http://schemas.microsoft.com/office/drawing/2014/main" id="{7B44BF00-5FE1-48FE-83EE-235AE66916B3}"/>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owner, order_id.  Ra / tác động: Đơn nội bộ của owner hoặc lỗi 404.</a:t>
            </a:r>
          </a:p>
        </p:txBody>
      </p:sp>
      <p:sp>
        <p:nvSpPr>
          <p:cNvPr id="7" name="function-code-0">
            <a:extLst xmlns:a="http://schemas.openxmlformats.org/drawingml/2006/main">
              <a:ext uri="{FF2B5EF4-FFF2-40B4-BE49-F238E27FC236}">
                <a16:creationId xmlns:a16="http://schemas.microsoft.com/office/drawing/2014/main" id="{5E1F89C1-81F5-45F5-83F3-ABF6634266AA}"/>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30  def owned_order(conn, owner, order_id):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31      order = orders.get_order(conn, order_id)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32      if order["owner_id"] != owner:</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33          raise ApiProblem(404, "not_found", "Không tìm thấy đơn hàng trong phiên của bạn.")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34      return order</a:t>
            </a:r>
          </a:p>
        </p:txBody>
      </p:sp>
      <p:sp>
        <p:nvSpPr>
          <p:cNvPr id="8" name="function-source-0">
            <a:extLst xmlns:a="http://schemas.openxmlformats.org/drawingml/2006/main">
              <a:ext uri="{FF2B5EF4-FFF2-40B4-BE49-F238E27FC236}">
                <a16:creationId xmlns:a16="http://schemas.microsoft.com/office/drawing/2014/main" id="{3282A299-7EF4-449C-94C8-CF7634C481CF}"/>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backend/services.py:30–34     Đoạn trích: 30–34</a:t>
            </a:r>
          </a:p>
        </p:txBody>
      </p:sp>
      <p:sp>
        <p:nvSpPr>
          <p:cNvPr id="9" name="function-name-1">
            <a:extLst xmlns:a="http://schemas.openxmlformats.org/drawingml/2006/main">
              <a:ext uri="{FF2B5EF4-FFF2-40B4-BE49-F238E27FC236}">
                <a16:creationId xmlns:a16="http://schemas.microsoft.com/office/drawing/2014/main" id="{3591C468-7E15-4162-9E61-773B14002C28}"/>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order_view</a:t>
            </a:r>
          </a:p>
        </p:txBody>
      </p:sp>
      <p:sp>
        <p:nvSpPr>
          <p:cNvPr id="10" name="function-purpose-1">
            <a:extLst xmlns:a="http://schemas.openxmlformats.org/drawingml/2006/main">
              <a:ext uri="{FF2B5EF4-FFF2-40B4-BE49-F238E27FC236}">
                <a16:creationId xmlns:a16="http://schemas.microsoft.com/office/drawing/2014/main" id="{B2937B5B-45E9-4B3C-A180-E0096208E6B8}"/>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Ghép dòng hàng, biến thể có thể đổi và giao nhận thành dữ liệu đơn cho frontend.</a:t>
            </a:r>
          </a:p>
        </p:txBody>
      </p:sp>
      <p:sp>
        <p:nvSpPr>
          <p:cNvPr id="11" name="function-io-1">
            <a:extLst xmlns:a="http://schemas.openxmlformats.org/drawingml/2006/main">
              <a:ext uri="{FF2B5EF4-FFF2-40B4-BE49-F238E27FC236}">
                <a16:creationId xmlns:a16="http://schemas.microsoft.com/office/drawing/2014/main" id="{44C1068A-FE4D-4A50-AE80-A4FEDA0388C8}"/>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order.  Ra / tác động: Dictionary đơn, dòng hàng, tổng, giao nhận và editable.</a:t>
            </a:r>
          </a:p>
        </p:txBody>
      </p:sp>
      <p:sp>
        <p:nvSpPr>
          <p:cNvPr id="12" name="function-code-1">
            <a:extLst xmlns:a="http://schemas.openxmlformats.org/drawingml/2006/main">
              <a:ext uri="{FF2B5EF4-FFF2-40B4-BE49-F238E27FC236}">
                <a16:creationId xmlns:a16="http://schemas.microsoft.com/office/drawing/2014/main" id="{2ABF7C6B-4251-4AC9-9A37-1A3AB1DF2156}"/>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50      return {"order_id": f"DH{order['id']:06d}", "status": order["status"],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51              "editable": order["status"] in {"cart", "pending_confirmation"},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52              "shipping": {"recipient_name": order["customer_name"], "phone": order["phone"], "address": order["address"]},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53              "items": items, "total": order["total_amount"], "source": order["source"]}</a:t>
            </a:r>
          </a:p>
        </p:txBody>
      </p:sp>
      <p:sp>
        <p:nvSpPr>
          <p:cNvPr id="13" name="function-source-1">
            <a:extLst xmlns:a="http://schemas.openxmlformats.org/drawingml/2006/main">
              <a:ext uri="{FF2B5EF4-FFF2-40B4-BE49-F238E27FC236}">
                <a16:creationId xmlns:a16="http://schemas.microsoft.com/office/drawing/2014/main" id="{EBDDFE2E-02BE-41E0-88AB-8F1013210414}"/>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backend/services.py:38–53     Đoạn trích: 50–53</a:t>
            </a:r>
          </a:p>
        </p:txBody>
      </p:sp>
    </p:spTree>
    <p:extLst>
      <p:ext uri="{BB962C8B-B14F-4D97-AF65-F5344CB8AC3E}">
        <p14:creationId xmlns:p14="http://schemas.microsoft.com/office/powerpoint/2010/main" val="1100396706"/>
      </p:ext>
    </p:extLst>
  </p:cSld>
</p:sld>
</file>

<file path=ppt/slides/slide6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CED9FEB-55E1-4472-A3FF-CAEAF9899BDF}"/>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backend/services.py  (5–6/9)</a:t>
            </a:r>
          </a:p>
        </p:txBody>
      </p:sp>
      <p:sp>
        <p:nvSpPr>
          <p:cNvPr id="3" name="page-number">
            <a:extLst xmlns:a="http://schemas.openxmlformats.org/drawingml/2006/main">
              <a:ext uri="{FF2B5EF4-FFF2-40B4-BE49-F238E27FC236}">
                <a16:creationId xmlns:a16="http://schemas.microsoft.com/office/drawing/2014/main" id="{382D72FB-E786-44AD-A363-6B8EEB2FD547}"/>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67 / 88</a:t>
            </a:r>
          </a:p>
        </p:txBody>
      </p:sp>
      <p:sp>
        <p:nvSpPr>
          <p:cNvPr id="4" name="function-name-0">
            <a:extLst xmlns:a="http://schemas.openxmlformats.org/drawingml/2006/main">
              <a:ext uri="{FF2B5EF4-FFF2-40B4-BE49-F238E27FC236}">
                <a16:creationId xmlns:a16="http://schemas.microsoft.com/office/drawing/2014/main" id="{BFA14996-1459-4438-94B6-274F0D942CFF}"/>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cart_order</a:t>
            </a:r>
          </a:p>
        </p:txBody>
      </p:sp>
      <p:sp>
        <p:nvSpPr>
          <p:cNvPr id="5" name="function-purpose-0">
            <a:extLst xmlns:a="http://schemas.openxmlformats.org/drawingml/2006/main">
              <a:ext uri="{FF2B5EF4-FFF2-40B4-BE49-F238E27FC236}">
                <a16:creationId xmlns:a16="http://schemas.microsoft.com/office/drawing/2014/main" id="{E635B554-584A-4DAE-A838-B69515BA7861}"/>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Tìm giỏ gắn với phiên; chỉ tạo giỏ mới khi tham số create được bật.</a:t>
            </a:r>
          </a:p>
        </p:txBody>
      </p:sp>
      <p:sp>
        <p:nvSpPr>
          <p:cNvPr id="6" name="function-io-0">
            <a:extLst xmlns:a="http://schemas.openxmlformats.org/drawingml/2006/main">
              <a:ext uri="{FF2B5EF4-FFF2-40B4-BE49-F238E27FC236}">
                <a16:creationId xmlns:a16="http://schemas.microsoft.com/office/drawing/2014/main" id="{8835CC1D-B8FD-4689-9776-75BE150F857E}"/>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session, ctx, create.  Ra / tác động: Đơn cart của phiên, giỏ mới hoặc None.</a:t>
            </a:r>
          </a:p>
        </p:txBody>
      </p:sp>
      <p:sp>
        <p:nvSpPr>
          <p:cNvPr id="7" name="function-code-0">
            <a:extLst xmlns:a="http://schemas.openxmlformats.org/drawingml/2006/main">
              <a:ext uri="{FF2B5EF4-FFF2-40B4-BE49-F238E27FC236}">
                <a16:creationId xmlns:a16="http://schemas.microsoft.com/office/drawing/2014/main" id="{C6D87686-9F9E-4774-ACF6-E050280E2DC9}"/>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57  def cart_order(conn, session, ctx, create=False):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58      row = conn.execute("SELECT cart_id FROM api_sessions WHERE owner_id=?", (session["owner_id"],)).fetchone()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59      if row and row["cart_id"]: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60          return owned_order(conn, session["owner_id"], row["cart_id"])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61      if create:</a:t>
            </a:r>
          </a:p>
        </p:txBody>
      </p:sp>
      <p:sp>
        <p:nvSpPr>
          <p:cNvPr id="8" name="function-source-0">
            <a:extLst xmlns:a="http://schemas.openxmlformats.org/drawingml/2006/main">
              <a:ext uri="{FF2B5EF4-FFF2-40B4-BE49-F238E27FC236}">
                <a16:creationId xmlns:a16="http://schemas.microsoft.com/office/drawing/2014/main" id="{5E27DB65-17A9-45D6-AEDE-4533DE56E56B}"/>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backend/services.py:57–65     Đoạn trích: 57–61</a:t>
            </a:r>
          </a:p>
        </p:txBody>
      </p:sp>
      <p:sp>
        <p:nvSpPr>
          <p:cNvPr id="9" name="function-name-1">
            <a:extLst xmlns:a="http://schemas.openxmlformats.org/drawingml/2006/main">
              <a:ext uri="{FF2B5EF4-FFF2-40B4-BE49-F238E27FC236}">
                <a16:creationId xmlns:a16="http://schemas.microsoft.com/office/drawing/2014/main" id="{971A6D0A-5247-439D-BB5A-CD84B362CEAE}"/>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cart_view</a:t>
            </a:r>
          </a:p>
        </p:txBody>
      </p:sp>
      <p:sp>
        <p:nvSpPr>
          <p:cNvPr id="10" name="function-purpose-1">
            <a:extLst xmlns:a="http://schemas.openxmlformats.org/drawingml/2006/main">
              <a:ext uri="{FF2B5EF4-FFF2-40B4-BE49-F238E27FC236}">
                <a16:creationId xmlns:a16="http://schemas.microsoft.com/office/drawing/2014/main" id="{C051E499-E667-47B7-8E80-967DBE73200F}"/>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Trả giỏ theo định dạng frontend hoặc cấu trúc giỏ trống nếu chưa có giỏ.</a:t>
            </a:r>
          </a:p>
        </p:txBody>
      </p:sp>
      <p:sp>
        <p:nvSpPr>
          <p:cNvPr id="11" name="function-io-1">
            <a:extLst xmlns:a="http://schemas.openxmlformats.org/drawingml/2006/main">
              <a:ext uri="{FF2B5EF4-FFF2-40B4-BE49-F238E27FC236}">
                <a16:creationId xmlns:a16="http://schemas.microsoft.com/office/drawing/2014/main" id="{6D2A27E4-60EA-4618-90BF-5085C7599173}"/>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session, ctx.  Ra / tác động: order_view hoặc {items: [], total: 0}.</a:t>
            </a:r>
          </a:p>
        </p:txBody>
      </p:sp>
      <p:sp>
        <p:nvSpPr>
          <p:cNvPr id="12" name="function-code-1">
            <a:extLst xmlns:a="http://schemas.openxmlformats.org/drawingml/2006/main">
              <a:ext uri="{FF2B5EF4-FFF2-40B4-BE49-F238E27FC236}">
                <a16:creationId xmlns:a16="http://schemas.microsoft.com/office/drawing/2014/main" id="{841A3A49-A498-4086-82AF-4BA478243176}"/>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69  def cart_view(conn,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70      order = cart_order(conn,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71      if order is None: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72          return {"items": [], "total": 0}</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73      return order_view(conn, order)</a:t>
            </a:r>
          </a:p>
        </p:txBody>
      </p:sp>
      <p:sp>
        <p:nvSpPr>
          <p:cNvPr id="13" name="function-source-1">
            <a:extLst xmlns:a="http://schemas.openxmlformats.org/drawingml/2006/main">
              <a:ext uri="{FF2B5EF4-FFF2-40B4-BE49-F238E27FC236}">
                <a16:creationId xmlns:a16="http://schemas.microsoft.com/office/drawing/2014/main" id="{7AA3D3AA-A52B-461F-9F40-8E956FCB015F}"/>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backend/services.py:69–73     Đoạn trích: 69–73</a:t>
            </a:r>
          </a:p>
        </p:txBody>
      </p:sp>
    </p:spTree>
    <p:extLst>
      <p:ext uri="{BB962C8B-B14F-4D97-AF65-F5344CB8AC3E}">
        <p14:creationId xmlns:p14="http://schemas.microsoft.com/office/powerpoint/2010/main" val="1237842821"/>
      </p:ext>
    </p:extLst>
  </p:cSld>
</p:sld>
</file>

<file path=ppt/slides/slide6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C43B23E-C1F7-46BF-BBE0-E40FB8FAD036}"/>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backend/services.py  (7–8/9)</a:t>
            </a:r>
          </a:p>
        </p:txBody>
      </p:sp>
      <p:sp>
        <p:nvSpPr>
          <p:cNvPr id="3" name="page-number">
            <a:extLst xmlns:a="http://schemas.openxmlformats.org/drawingml/2006/main">
              <a:ext uri="{FF2B5EF4-FFF2-40B4-BE49-F238E27FC236}">
                <a16:creationId xmlns:a16="http://schemas.microsoft.com/office/drawing/2014/main" id="{315022E9-00D6-4BF8-A91F-11CD92AAE1C9}"/>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68 / 88</a:t>
            </a:r>
          </a:p>
        </p:txBody>
      </p:sp>
      <p:sp>
        <p:nvSpPr>
          <p:cNvPr id="4" name="function-name-0">
            <a:extLst xmlns:a="http://schemas.openxmlformats.org/drawingml/2006/main">
              <a:ext uri="{FF2B5EF4-FFF2-40B4-BE49-F238E27FC236}">
                <a16:creationId xmlns:a16="http://schemas.microsoft.com/office/drawing/2014/main" id="{8082B5C6-A8DB-4AA4-BCE2-AB9C86884B44}"/>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item_row</a:t>
            </a:r>
          </a:p>
        </p:txBody>
      </p:sp>
      <p:sp>
        <p:nvSpPr>
          <p:cNvPr id="5" name="function-purpose-0">
            <a:extLst xmlns:a="http://schemas.openxmlformats.org/drawingml/2006/main">
              <a:ext uri="{FF2B5EF4-FFF2-40B4-BE49-F238E27FC236}">
                <a16:creationId xmlns:a16="http://schemas.microsoft.com/office/drawing/2014/main" id="{8A2BFBE8-C2AC-44DD-9E14-5112B45A7859}"/>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Lấy dòng hàng theo cả mã đơn và item ID để tránh thao tác nhầm đơn.</a:t>
            </a:r>
          </a:p>
        </p:txBody>
      </p:sp>
      <p:sp>
        <p:nvSpPr>
          <p:cNvPr id="6" name="function-io-0">
            <a:extLst xmlns:a="http://schemas.openxmlformats.org/drawingml/2006/main">
              <a:ext uri="{FF2B5EF4-FFF2-40B4-BE49-F238E27FC236}">
                <a16:creationId xmlns:a16="http://schemas.microsoft.com/office/drawing/2014/main" id="{54404CCD-9471-4D8E-AE37-90D261AF25CC}"/>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order_id, item_id.  Ra / tác động: Row order_items hoặc ItemNotFound.</a:t>
            </a:r>
          </a:p>
        </p:txBody>
      </p:sp>
      <p:sp>
        <p:nvSpPr>
          <p:cNvPr id="7" name="function-code-0">
            <a:extLst xmlns:a="http://schemas.openxmlformats.org/drawingml/2006/main">
              <a:ext uri="{FF2B5EF4-FFF2-40B4-BE49-F238E27FC236}">
                <a16:creationId xmlns:a16="http://schemas.microsoft.com/office/drawing/2014/main" id="{F5D45B84-02D3-45D0-A791-9391EC7036A1}"/>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77  def item_row(conn, order_id, item_id):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78      row = conn.execute("SELECT * FROM order_items WHERE order_id=? AND CAST(id AS 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79                         (order_id, item_id)).fetchone()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80      if row is None: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81          raise ItemNotFound("Không tìm thấy sản phẩm trong đơn.")</a:t>
            </a:r>
          </a:p>
        </p:txBody>
      </p:sp>
      <p:sp>
        <p:nvSpPr>
          <p:cNvPr id="8" name="function-source-0">
            <a:extLst xmlns:a="http://schemas.openxmlformats.org/drawingml/2006/main">
              <a:ext uri="{FF2B5EF4-FFF2-40B4-BE49-F238E27FC236}">
                <a16:creationId xmlns:a16="http://schemas.microsoft.com/office/drawing/2014/main" id="{B4338F88-9152-4C47-A00A-B54C0D54B01B}"/>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backend/services.py:77–82     Đoạn trích: 77–81</a:t>
            </a:r>
          </a:p>
        </p:txBody>
      </p:sp>
      <p:sp>
        <p:nvSpPr>
          <p:cNvPr id="9" name="function-name-1">
            <a:extLst xmlns:a="http://schemas.openxmlformats.org/drawingml/2006/main">
              <a:ext uri="{FF2B5EF4-FFF2-40B4-BE49-F238E27FC236}">
                <a16:creationId xmlns:a16="http://schemas.microsoft.com/office/drawing/2014/main" id="{DDF5372E-6C4A-4E7F-B6ED-F3D048C1ED85}"/>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update_item</a:t>
            </a:r>
          </a:p>
        </p:txBody>
      </p:sp>
      <p:sp>
        <p:nvSpPr>
          <p:cNvPr id="10" name="function-purpose-1">
            <a:extLst xmlns:a="http://schemas.openxmlformats.org/drawingml/2006/main">
              <a:ext uri="{FF2B5EF4-FFF2-40B4-BE49-F238E27FC236}">
                <a16:creationId xmlns:a16="http://schemas.microsoft.com/office/drawing/2014/main" id="{41BE4B1B-A64F-471C-93B6-BEB3CCF9AF4D}"/>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Sửa số lượng/biến thể trong transaction, kiểm tra quyền và trạng thái cho phép sửa.</a:t>
            </a:r>
          </a:p>
        </p:txBody>
      </p:sp>
      <p:sp>
        <p:nvSpPr>
          <p:cNvPr id="11" name="function-io-1">
            <a:extLst xmlns:a="http://schemas.openxmlformats.org/drawingml/2006/main">
              <a:ext uri="{FF2B5EF4-FFF2-40B4-BE49-F238E27FC236}">
                <a16:creationId xmlns:a16="http://schemas.microsoft.com/office/drawing/2014/main" id="{8FE3E121-3195-4800-A8D1-142E2AD470EE}"/>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ctx, owner, order_id, item_id, changes.  Ra / tác động: Đơn sau thay đổi, rollback nếu có lỗi.</a:t>
            </a:r>
          </a:p>
        </p:txBody>
      </p:sp>
      <p:sp>
        <p:nvSpPr>
          <p:cNvPr id="12" name="function-code-1">
            <a:extLst xmlns:a="http://schemas.openxmlformats.org/drawingml/2006/main">
              <a:ext uri="{FF2B5EF4-FFF2-40B4-BE49-F238E27FC236}">
                <a16:creationId xmlns:a16="http://schemas.microsoft.com/office/drawing/2014/main" id="{0DA790BB-D46E-43A2-B917-EE3244D00014}"/>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87      with transaction(conn):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88          order = owned_order(conn, owner, order_id)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89          if order["status"] not in {"cart", "pending_confirmation"}: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90              raise OrderNotEditable("Đơn không còn cho phép chỉnh sửa.")</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91          old = item_row(conn, order_id, item_id)</a:t>
            </a:r>
          </a:p>
        </p:txBody>
      </p:sp>
      <p:sp>
        <p:nvSpPr>
          <p:cNvPr id="13" name="function-source-1">
            <a:extLst xmlns:a="http://schemas.openxmlformats.org/drawingml/2006/main">
              <a:ext uri="{FF2B5EF4-FFF2-40B4-BE49-F238E27FC236}">
                <a16:creationId xmlns:a16="http://schemas.microsoft.com/office/drawing/2014/main" id="{CB968410-EFE4-4AF2-B51A-DAAB55682C0D}"/>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backend/services.py:86–99     Đoạn trích: 87–91</a:t>
            </a:r>
          </a:p>
        </p:txBody>
      </p:sp>
    </p:spTree>
    <p:extLst>
      <p:ext uri="{BB962C8B-B14F-4D97-AF65-F5344CB8AC3E}">
        <p14:creationId xmlns:p14="http://schemas.microsoft.com/office/powerpoint/2010/main" val="1385142965"/>
      </p:ext>
    </p:extLst>
  </p:cSld>
</p:sld>
</file>

<file path=ppt/slides/slide6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E9ED027-D62E-41AB-A09A-5C64AB8CDCB6}"/>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backend/services.py  (9–9/9)</a:t>
            </a:r>
          </a:p>
        </p:txBody>
      </p:sp>
      <p:sp>
        <p:nvSpPr>
          <p:cNvPr id="3" name="page-number">
            <a:extLst xmlns:a="http://schemas.openxmlformats.org/drawingml/2006/main">
              <a:ext uri="{FF2B5EF4-FFF2-40B4-BE49-F238E27FC236}">
                <a16:creationId xmlns:a16="http://schemas.microsoft.com/office/drawing/2014/main" id="{41699F5C-F00D-41D0-8B16-98A9D968CC38}"/>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69 / 88</a:t>
            </a:r>
          </a:p>
        </p:txBody>
      </p:sp>
      <p:sp>
        <p:nvSpPr>
          <p:cNvPr id="4" name="function-name-0">
            <a:extLst xmlns:a="http://schemas.openxmlformats.org/drawingml/2006/main">
              <a:ext uri="{FF2B5EF4-FFF2-40B4-BE49-F238E27FC236}">
                <a16:creationId xmlns:a16="http://schemas.microsoft.com/office/drawing/2014/main" id="{976F418C-51DB-4555-90A1-2F8A3A392DAC}"/>
              </a:ext>
            </a:extLst>
          </p:cNvPr>
          <p:cNvSpPr>
            <a:spLocks xmlns:a="http://schemas.openxmlformats.org/drawingml/2006/main" noGrp="1"/>
          </p:cNvSpPr>
          <p:nvPr/>
        </p:nvSpPr>
        <p:spPr>
          <a:xfrm xmlns:a="http://schemas.openxmlformats.org/drawingml/2006/main">
            <a:off x="762000" y="23050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checkout</a:t>
            </a:r>
          </a:p>
        </p:txBody>
      </p:sp>
      <p:sp>
        <p:nvSpPr>
          <p:cNvPr id="5" name="function-purpose-0">
            <a:extLst xmlns:a="http://schemas.openxmlformats.org/drawingml/2006/main">
              <a:ext uri="{FF2B5EF4-FFF2-40B4-BE49-F238E27FC236}">
                <a16:creationId xmlns:a16="http://schemas.microsoft.com/office/drawing/2014/main" id="{26EEF421-2948-467C-A194-756BA84D637C}"/>
              </a:ext>
            </a:extLst>
          </p:cNvPr>
          <p:cNvSpPr>
            <a:spLocks xmlns:a="http://schemas.openxmlformats.org/drawingml/2006/main" noGrp="1"/>
          </p:cNvSpPr>
          <p:nvPr/>
        </p:nvSpPr>
        <p:spPr>
          <a:xfrm xmlns:a="http://schemas.openxmlformats.org/drawingml/2006/main">
            <a:off x="762000" y="27622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Chuyển giỏ thành đơn chờ xác nhận, tách giỏ khỏi phiên và lưu kết quả chống gửi trùng.</a:t>
            </a:r>
          </a:p>
        </p:txBody>
      </p:sp>
      <p:sp>
        <p:nvSpPr>
          <p:cNvPr id="6" name="function-io-0">
            <a:extLst xmlns:a="http://schemas.openxmlformats.org/drawingml/2006/main">
              <a:ext uri="{FF2B5EF4-FFF2-40B4-BE49-F238E27FC236}">
                <a16:creationId xmlns:a16="http://schemas.microsoft.com/office/drawing/2014/main" id="{F866B213-810E-414F-86FE-C66CE66E8345}"/>
              </a:ext>
            </a:extLst>
          </p:cNvPr>
          <p:cNvSpPr>
            <a:spLocks xmlns:a="http://schemas.openxmlformats.org/drawingml/2006/main" noGrp="1"/>
          </p:cNvSpPr>
          <p:nvPr/>
        </p:nvSpPr>
        <p:spPr>
          <a:xfrm xmlns:a="http://schemas.openxmlformats.org/drawingml/2006/main">
            <a:off x="762000" y="334327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ctx, session, shipping, key.  Ra / tác động: Đơn đã gửi, xóa liên kết cart_id và lưu receipt.</a:t>
            </a:r>
          </a:p>
        </p:txBody>
      </p:sp>
      <p:sp>
        <p:nvSpPr>
          <p:cNvPr id="7" name="function-code-0">
            <a:extLst xmlns:a="http://schemas.openxmlformats.org/drawingml/2006/main">
              <a:ext uri="{FF2B5EF4-FFF2-40B4-BE49-F238E27FC236}">
                <a16:creationId xmlns:a16="http://schemas.microsoft.com/office/drawing/2014/main" id="{707314C7-75BB-4B37-AF3C-43E93C080A1E}"/>
              </a:ext>
            </a:extLst>
          </p:cNvPr>
          <p:cNvSpPr>
            <a:spLocks xmlns:a="http://schemas.openxmlformats.org/drawingml/2006/main" noGrp="1"/>
          </p:cNvSpPr>
          <p:nvPr/>
        </p:nvSpPr>
        <p:spPr>
          <a:xfrm xmlns:a="http://schemas.openxmlformats.org/drawingml/2006/main">
            <a:off x="762000" y="391477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106          existing = replay(conn, owner, "checkout", key, shipping)</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107          if existing:</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108              return existing</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109          cart = cart_order(conn, session, ctx)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110          if not cart or not cart["items"]:</a:t>
            </a:r>
          </a:p>
        </p:txBody>
      </p:sp>
      <p:sp>
        <p:nvSpPr>
          <p:cNvPr id="8" name="function-source-0">
            <a:extLst xmlns:a="http://schemas.openxmlformats.org/drawingml/2006/main">
              <a:ext uri="{FF2B5EF4-FFF2-40B4-BE49-F238E27FC236}">
                <a16:creationId xmlns:a16="http://schemas.microsoft.com/office/drawing/2014/main" id="{9469A068-1A6E-49B2-9ADE-4AFDBBB760FF}"/>
              </a:ext>
            </a:extLst>
          </p:cNvPr>
          <p:cNvSpPr>
            <a:spLocks xmlns:a="http://schemas.openxmlformats.org/drawingml/2006/main" noGrp="1"/>
          </p:cNvSpPr>
          <p:nvPr/>
        </p:nvSpPr>
        <p:spPr>
          <a:xfrm xmlns:a="http://schemas.openxmlformats.org/drawingml/2006/main">
            <a:off x="762000" y="532447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backend/services.py:103–117     Đoạn trích: 106–110</a:t>
            </a:r>
          </a:p>
        </p:txBody>
      </p:sp>
    </p:spTree>
    <p:extLst>
      <p:ext uri="{BB962C8B-B14F-4D97-AF65-F5344CB8AC3E}">
        <p14:creationId xmlns:p14="http://schemas.microsoft.com/office/powerpoint/2010/main" val="361304605"/>
      </p:ext>
    </p:extLst>
  </p:cSld>
</p:sld>
</file>

<file path=ppt/slides/slide7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90CF588-D567-4C32-8407-7475EB820FB1}"/>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backend/storage.py  (1–2/7)</a:t>
            </a:r>
          </a:p>
        </p:txBody>
      </p:sp>
      <p:sp>
        <p:nvSpPr>
          <p:cNvPr id="3" name="page-number">
            <a:extLst xmlns:a="http://schemas.openxmlformats.org/drawingml/2006/main">
              <a:ext uri="{FF2B5EF4-FFF2-40B4-BE49-F238E27FC236}">
                <a16:creationId xmlns:a16="http://schemas.microsoft.com/office/drawing/2014/main" id="{20BF84C8-11CA-4146-8DF4-89CA99570DEA}"/>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70 / 88</a:t>
            </a:r>
          </a:p>
        </p:txBody>
      </p:sp>
      <p:sp>
        <p:nvSpPr>
          <p:cNvPr id="4" name="function-name-0">
            <a:extLst xmlns:a="http://schemas.openxmlformats.org/drawingml/2006/main">
              <a:ext uri="{FF2B5EF4-FFF2-40B4-BE49-F238E27FC236}">
                <a16:creationId xmlns:a16="http://schemas.microsoft.com/office/drawing/2014/main" id="{BFC00CDA-9EFB-4A83-A57D-937167BFC29E}"/>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initialize</a:t>
            </a:r>
          </a:p>
        </p:txBody>
      </p:sp>
      <p:sp>
        <p:nvSpPr>
          <p:cNvPr id="5" name="function-purpose-0">
            <a:extLst xmlns:a="http://schemas.openxmlformats.org/drawingml/2006/main">
              <a:ext uri="{FF2B5EF4-FFF2-40B4-BE49-F238E27FC236}">
                <a16:creationId xmlns:a16="http://schemas.microsoft.com/office/drawing/2014/main" id="{6CC434BF-1F08-4E65-8617-D4460BE15B10}"/>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Chạy migration, seed catalog nếu chưa có sản phẩm và tạo bảng phiên/chống gửi trùng.</a:t>
            </a:r>
          </a:p>
        </p:txBody>
      </p:sp>
      <p:sp>
        <p:nvSpPr>
          <p:cNvPr id="6" name="function-io-0">
            <a:extLst xmlns:a="http://schemas.openxmlformats.org/drawingml/2006/main">
              <a:ext uri="{FF2B5EF4-FFF2-40B4-BE49-F238E27FC236}">
                <a16:creationId xmlns:a16="http://schemas.microsoft.com/office/drawing/2014/main" id="{CE8FC141-859F-4D2B-BCDD-A1A3A62BDB19}"/>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path.  Ra / tác động: Chuẩn bị schema/seed/bảng phụ, không trả dữ liệu.</a:t>
            </a:r>
          </a:p>
        </p:txBody>
      </p:sp>
      <p:sp>
        <p:nvSpPr>
          <p:cNvPr id="7" name="function-code-0">
            <a:extLst xmlns:a="http://schemas.openxmlformats.org/drawingml/2006/main">
              <a:ext uri="{FF2B5EF4-FFF2-40B4-BE49-F238E27FC236}">
                <a16:creationId xmlns:a16="http://schemas.microsoft.com/office/drawing/2014/main" id="{B85BA0C2-2082-4B0E-B345-AE27306647A4}"/>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35  def initialize(path):</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36      conn = connect(path)</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37      try: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38          migrate(conn)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39          with transaction(conn):</a:t>
            </a:r>
          </a:p>
        </p:txBody>
      </p:sp>
      <p:sp>
        <p:nvSpPr>
          <p:cNvPr id="8" name="function-source-0">
            <a:extLst xmlns:a="http://schemas.openxmlformats.org/drawingml/2006/main">
              <a:ext uri="{FF2B5EF4-FFF2-40B4-BE49-F238E27FC236}">
                <a16:creationId xmlns:a16="http://schemas.microsoft.com/office/drawing/2014/main" id="{B5EE2415-0B19-4D2B-9CA3-6E4BF94D9EF0}"/>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backend/storage.py:35–44     Đoạn trích: 35–39</a:t>
            </a:r>
          </a:p>
        </p:txBody>
      </p:sp>
      <p:sp>
        <p:nvSpPr>
          <p:cNvPr id="9" name="function-name-1">
            <a:extLst xmlns:a="http://schemas.openxmlformats.org/drawingml/2006/main">
              <a:ext uri="{FF2B5EF4-FFF2-40B4-BE49-F238E27FC236}">
                <a16:creationId xmlns:a16="http://schemas.microsoft.com/office/drawing/2014/main" id="{7719FF0C-BA05-46A7-BC87-C81EF40C88D3}"/>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new_session</a:t>
            </a:r>
          </a:p>
        </p:txBody>
      </p:sp>
      <p:sp>
        <p:nvSpPr>
          <p:cNvPr id="10" name="function-purpose-1">
            <a:extLst xmlns:a="http://schemas.openxmlformats.org/drawingml/2006/main">
              <a:ext uri="{FF2B5EF4-FFF2-40B4-BE49-F238E27FC236}">
                <a16:creationId xmlns:a16="http://schemas.microsoft.com/office/drawing/2014/main" id="{62861499-2E44-4986-A8F5-DAE89652DADE}"/>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Tạo token, chủ phiên và hội thoại mới; database chỉ lưu hash của token cùng hạn dùng.</a:t>
            </a:r>
          </a:p>
        </p:txBody>
      </p:sp>
      <p:sp>
        <p:nvSpPr>
          <p:cNvPr id="11" name="function-io-1">
            <a:extLst xmlns:a="http://schemas.openxmlformats.org/drawingml/2006/main">
              <a:ext uri="{FF2B5EF4-FFF2-40B4-BE49-F238E27FC236}">
                <a16:creationId xmlns:a16="http://schemas.microsoft.com/office/drawing/2014/main" id="{15E62FD4-D3F1-48A2-97F4-C55C763260DE}"/>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ttl.  Ra / tác động: Token thô cho client và thời điểm hết hạn.</a:t>
            </a:r>
          </a:p>
        </p:txBody>
      </p:sp>
      <p:sp>
        <p:nvSpPr>
          <p:cNvPr id="12" name="function-code-1">
            <a:extLst xmlns:a="http://schemas.openxmlformats.org/drawingml/2006/main">
              <a:ext uri="{FF2B5EF4-FFF2-40B4-BE49-F238E27FC236}">
                <a16:creationId xmlns:a16="http://schemas.microsoft.com/office/drawing/2014/main" id="{EF53DEC9-5B55-468E-A920-C79749E6643E}"/>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49      token = secrets.token_urlsafe(32)</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50      owner = uuid.uuid4().hex</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51      expiry = int(time.time()) + ttl</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52      with transaction(conn):</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53          conv = conversations.create_conversation(conn, owner)</a:t>
            </a:r>
          </a:p>
        </p:txBody>
      </p:sp>
      <p:sp>
        <p:nvSpPr>
          <p:cNvPr id="13" name="function-source-1">
            <a:extLst xmlns:a="http://schemas.openxmlformats.org/drawingml/2006/main">
              <a:ext uri="{FF2B5EF4-FFF2-40B4-BE49-F238E27FC236}">
                <a16:creationId xmlns:a16="http://schemas.microsoft.com/office/drawing/2014/main" id="{536D1142-2B4A-4892-9C0F-2638D85D3889}"/>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backend/storage.py:48–58     Đoạn trích: 49–53</a:t>
            </a:r>
          </a:p>
        </p:txBody>
      </p:sp>
    </p:spTree>
    <p:extLst>
      <p:ext uri="{BB962C8B-B14F-4D97-AF65-F5344CB8AC3E}">
        <p14:creationId xmlns:p14="http://schemas.microsoft.com/office/powerpoint/2010/main" val="716407259"/>
      </p:ext>
    </p:extLst>
  </p:cSld>
</p:sld>
</file>

<file path=ppt/slides/slide7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9041E5A-8A86-4DC0-BE36-3B1FC0C22149}"/>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backend/storage.py  (3–4/7)</a:t>
            </a:r>
          </a:p>
        </p:txBody>
      </p:sp>
      <p:sp>
        <p:nvSpPr>
          <p:cNvPr id="3" name="page-number">
            <a:extLst xmlns:a="http://schemas.openxmlformats.org/drawingml/2006/main">
              <a:ext uri="{FF2B5EF4-FFF2-40B4-BE49-F238E27FC236}">
                <a16:creationId xmlns:a16="http://schemas.microsoft.com/office/drawing/2014/main" id="{27230BF3-DDF4-4BF8-AB27-D06D5211ABE2}"/>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71 / 88</a:t>
            </a:r>
          </a:p>
        </p:txBody>
      </p:sp>
      <p:sp>
        <p:nvSpPr>
          <p:cNvPr id="4" name="function-name-0">
            <a:extLst xmlns:a="http://schemas.openxmlformats.org/drawingml/2006/main">
              <a:ext uri="{FF2B5EF4-FFF2-40B4-BE49-F238E27FC236}">
                <a16:creationId xmlns:a16="http://schemas.microsoft.com/office/drawing/2014/main" id="{0CCBECC7-68C0-4168-A4B0-45F6D19D3474}"/>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authenticate</a:t>
            </a:r>
          </a:p>
        </p:txBody>
      </p:sp>
      <p:sp>
        <p:nvSpPr>
          <p:cNvPr id="5" name="function-purpose-0">
            <a:extLst xmlns:a="http://schemas.openxmlformats.org/drawingml/2006/main">
              <a:ext uri="{FF2B5EF4-FFF2-40B4-BE49-F238E27FC236}">
                <a16:creationId xmlns:a16="http://schemas.microsoft.com/office/drawing/2014/main" id="{EB57681B-4EB8-4B30-A761-BF6AA25736C7}"/>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Kiểm tra Bearer token và trả phiên tương ứng nếu token hợp lệ, chưa hết hạn.</a:t>
            </a:r>
          </a:p>
        </p:txBody>
      </p:sp>
      <p:sp>
        <p:nvSpPr>
          <p:cNvPr id="6" name="function-io-0">
            <a:extLst xmlns:a="http://schemas.openxmlformats.org/drawingml/2006/main">
              <a:ext uri="{FF2B5EF4-FFF2-40B4-BE49-F238E27FC236}">
                <a16:creationId xmlns:a16="http://schemas.microsoft.com/office/drawing/2014/main" id="{772FA2C1-F503-4BC9-9985-22672B293AE5}"/>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authorization.  Ra / tác động: Dictionary phiên đã xác thực hoặc lỗi 401.</a:t>
            </a:r>
          </a:p>
        </p:txBody>
      </p:sp>
      <p:sp>
        <p:nvSpPr>
          <p:cNvPr id="7" name="function-code-0">
            <a:extLst xmlns:a="http://schemas.openxmlformats.org/drawingml/2006/main">
              <a:ext uri="{FF2B5EF4-FFF2-40B4-BE49-F238E27FC236}">
                <a16:creationId xmlns:a16="http://schemas.microsoft.com/office/drawing/2014/main" id="{00585737-0297-4AA0-8761-1BF0CCABD702}"/>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63      scheme, _, token = (authorization or "").partition("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64      if scheme.lower() != "bearer" or not 20 &lt;= len(token) &lt;= 200:</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65          raise ApiProblem(401, "auth", "Cần phiên khách hàng hợp lệ.")</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66      row = conn.execute("SELECT * FROM api_sessions WHERE token_hash = ? AND expires_at &gt;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67                         (hashlib.sha256(token.encode()).hexdigest(), int(time.time()))).fetchone()</a:t>
            </a:r>
          </a:p>
        </p:txBody>
      </p:sp>
      <p:sp>
        <p:nvSpPr>
          <p:cNvPr id="8" name="function-source-0">
            <a:extLst xmlns:a="http://schemas.openxmlformats.org/drawingml/2006/main">
              <a:ext uri="{FF2B5EF4-FFF2-40B4-BE49-F238E27FC236}">
                <a16:creationId xmlns:a16="http://schemas.microsoft.com/office/drawing/2014/main" id="{94412E68-3537-4114-A9B2-69515DA610FC}"/>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backend/storage.py:62–70     Đoạn trích: 63–67</a:t>
            </a:r>
          </a:p>
        </p:txBody>
      </p:sp>
      <p:sp>
        <p:nvSpPr>
          <p:cNvPr id="9" name="function-name-1">
            <a:extLst xmlns:a="http://schemas.openxmlformats.org/drawingml/2006/main">
              <a:ext uri="{FF2B5EF4-FFF2-40B4-BE49-F238E27FC236}">
                <a16:creationId xmlns:a16="http://schemas.microsoft.com/office/drawing/2014/main" id="{26753C22-56F5-4D7D-967D-74D463368E4E}"/>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request_key</a:t>
            </a:r>
          </a:p>
        </p:txBody>
      </p:sp>
      <p:sp>
        <p:nvSpPr>
          <p:cNvPr id="10" name="function-purpose-1">
            <a:extLst xmlns:a="http://schemas.openxmlformats.org/drawingml/2006/main">
              <a:ext uri="{FF2B5EF4-FFF2-40B4-BE49-F238E27FC236}">
                <a16:creationId xmlns:a16="http://schemas.microsoft.com/office/drawing/2014/main" id="{FAFF860E-2BA9-4167-B8F5-AAA3F3546949}"/>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Kiểm tra định dạng khóa Idempotency-Key dùng để nhận biết các request gửi lại.</a:t>
            </a:r>
          </a:p>
        </p:txBody>
      </p:sp>
      <p:sp>
        <p:nvSpPr>
          <p:cNvPr id="11" name="function-io-1">
            <a:extLst xmlns:a="http://schemas.openxmlformats.org/drawingml/2006/main">
              <a:ext uri="{FF2B5EF4-FFF2-40B4-BE49-F238E27FC236}">
                <a16:creationId xmlns:a16="http://schemas.microsoft.com/office/drawing/2014/main" id="{308D9DEB-988E-4A58-AC0C-06651CA14A6F}"/>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value.  Ra / tác động: Khóa hợp lệ/None hoặc lỗi 422.</a:t>
            </a:r>
          </a:p>
        </p:txBody>
      </p:sp>
      <p:sp>
        <p:nvSpPr>
          <p:cNvPr id="12" name="function-code-1">
            <a:extLst xmlns:a="http://schemas.openxmlformats.org/drawingml/2006/main">
              <a:ext uri="{FF2B5EF4-FFF2-40B4-BE49-F238E27FC236}">
                <a16:creationId xmlns:a16="http://schemas.microsoft.com/office/drawing/2014/main" id="{50DCA740-33D3-44A9-A58F-539E0F6AF9CF}"/>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74  def request_key(value):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75      if value is not None and not re.fullmatch(r"[A-Za-z0-9_.:-]{8,100}", value):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76          raise ApiProblem(422, "validation", "Idempotency-Key phải dài 8-100 ký tự gồm chữ, số và _-:.")</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77      return value</a:t>
            </a:r>
          </a:p>
        </p:txBody>
      </p:sp>
      <p:sp>
        <p:nvSpPr>
          <p:cNvPr id="13" name="function-source-1">
            <a:extLst xmlns:a="http://schemas.openxmlformats.org/drawingml/2006/main">
              <a:ext uri="{FF2B5EF4-FFF2-40B4-BE49-F238E27FC236}">
                <a16:creationId xmlns:a16="http://schemas.microsoft.com/office/drawing/2014/main" id="{B49D2734-BC52-4568-A0ED-4AD9EB7FC0CA}"/>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backend/storage.py:74–77     Đoạn trích: 74–77</a:t>
            </a:r>
          </a:p>
        </p:txBody>
      </p:sp>
    </p:spTree>
    <p:extLst>
      <p:ext uri="{BB962C8B-B14F-4D97-AF65-F5344CB8AC3E}">
        <p14:creationId xmlns:p14="http://schemas.microsoft.com/office/powerpoint/2010/main" val="508599362"/>
      </p:ext>
    </p:extLst>
  </p:cSld>
</p:sld>
</file>

<file path=ppt/slides/slide7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DBD8BA3C-30CA-4E49-A317-5499B51F6C24}"/>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backend/storage.py  (5–6/7)</a:t>
            </a:r>
          </a:p>
        </p:txBody>
      </p:sp>
      <p:sp>
        <p:nvSpPr>
          <p:cNvPr id="3" name="page-number">
            <a:extLst xmlns:a="http://schemas.openxmlformats.org/drawingml/2006/main">
              <a:ext uri="{FF2B5EF4-FFF2-40B4-BE49-F238E27FC236}">
                <a16:creationId xmlns:a16="http://schemas.microsoft.com/office/drawing/2014/main" id="{D4A28C9F-8019-42EE-98FB-0D295BDF09AA}"/>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72 / 88</a:t>
            </a:r>
          </a:p>
        </p:txBody>
      </p:sp>
      <p:sp>
        <p:nvSpPr>
          <p:cNvPr id="4" name="function-name-0">
            <a:extLst xmlns:a="http://schemas.openxmlformats.org/drawingml/2006/main">
              <a:ext uri="{FF2B5EF4-FFF2-40B4-BE49-F238E27FC236}">
                <a16:creationId xmlns:a16="http://schemas.microsoft.com/office/drawing/2014/main" id="{E8F48AF3-71D8-4BB5-A3A4-EBB6D1F60E8A}"/>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digest</a:t>
            </a:r>
          </a:p>
        </p:txBody>
      </p:sp>
      <p:sp>
        <p:nvSpPr>
          <p:cNvPr id="5" name="function-purpose-0">
            <a:extLst xmlns:a="http://schemas.openxmlformats.org/drawingml/2006/main">
              <a:ext uri="{FF2B5EF4-FFF2-40B4-BE49-F238E27FC236}">
                <a16:creationId xmlns:a16="http://schemas.microsoft.com/office/drawing/2014/main" id="{1DE9221B-F4D3-4A1E-9F8C-45614FDE27FE}"/>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Tạo hash SHA-256 từ nội dung JSON đã sắp xếp khóa để so sánh các request.</a:t>
            </a:r>
          </a:p>
        </p:txBody>
      </p:sp>
      <p:sp>
        <p:nvSpPr>
          <p:cNvPr id="6" name="function-io-0">
            <a:extLst xmlns:a="http://schemas.openxmlformats.org/drawingml/2006/main">
              <a:ext uri="{FF2B5EF4-FFF2-40B4-BE49-F238E27FC236}">
                <a16:creationId xmlns:a16="http://schemas.microsoft.com/office/drawing/2014/main" id="{D656C7C5-9362-4274-A621-B2B1BD724C8F}"/>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payload.  Ra / tác động: Chuỗi hash SHA-256 của payload JSON.</a:t>
            </a:r>
          </a:p>
        </p:txBody>
      </p:sp>
      <p:sp>
        <p:nvSpPr>
          <p:cNvPr id="7" name="function-code-0">
            <a:extLst xmlns:a="http://schemas.openxmlformats.org/drawingml/2006/main">
              <a:ext uri="{FF2B5EF4-FFF2-40B4-BE49-F238E27FC236}">
                <a16:creationId xmlns:a16="http://schemas.microsoft.com/office/drawing/2014/main" id="{641CB927-27F8-4FF0-99AA-FA9735E36A2E}"/>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81  def digest(payload):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82      return hashlib.sha256(json.dumps(payload, ensure_ascii=False, sort_keys=True).encode()).hexdigest()</a:t>
            </a:r>
          </a:p>
        </p:txBody>
      </p:sp>
      <p:sp>
        <p:nvSpPr>
          <p:cNvPr id="8" name="function-source-0">
            <a:extLst xmlns:a="http://schemas.openxmlformats.org/drawingml/2006/main">
              <a:ext uri="{FF2B5EF4-FFF2-40B4-BE49-F238E27FC236}">
                <a16:creationId xmlns:a16="http://schemas.microsoft.com/office/drawing/2014/main" id="{7868D50E-B995-4A11-836F-46630374A08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backend/storage.py:81–82     Đoạn trích: 81–82</a:t>
            </a:r>
          </a:p>
        </p:txBody>
      </p:sp>
      <p:sp>
        <p:nvSpPr>
          <p:cNvPr id="9" name="function-name-1">
            <a:extLst xmlns:a="http://schemas.openxmlformats.org/drawingml/2006/main">
              <a:ext uri="{FF2B5EF4-FFF2-40B4-BE49-F238E27FC236}">
                <a16:creationId xmlns:a16="http://schemas.microsoft.com/office/drawing/2014/main" id="{BA104AB0-DDA5-43AD-9224-B2C29169C783}"/>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replay</a:t>
            </a:r>
          </a:p>
        </p:txBody>
      </p:sp>
      <p:sp>
        <p:nvSpPr>
          <p:cNvPr id="10" name="function-purpose-1">
            <a:extLst xmlns:a="http://schemas.openxmlformats.org/drawingml/2006/main">
              <a:ext uri="{FF2B5EF4-FFF2-40B4-BE49-F238E27FC236}">
                <a16:creationId xmlns:a16="http://schemas.microsoft.com/office/drawing/2014/main" id="{E32B7839-9BB6-44A6-B865-FEF04FCFB4D5}"/>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Trả kết quả đã lưu cho request lặp; báo xung đột nếu cùng khóa nhưng khác nội dung.</a:t>
            </a:r>
          </a:p>
        </p:txBody>
      </p:sp>
      <p:sp>
        <p:nvSpPr>
          <p:cNvPr id="11" name="function-io-1">
            <a:extLst xmlns:a="http://schemas.openxmlformats.org/drawingml/2006/main">
              <a:ext uri="{FF2B5EF4-FFF2-40B4-BE49-F238E27FC236}">
                <a16:creationId xmlns:a16="http://schemas.microsoft.com/office/drawing/2014/main" id="{6EA2C694-545E-4898-8073-DD1CD8A9B4B5}"/>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owner, scope, key, payload.  Ra / tác động: Response đã lưu/None hoặc xung đột 409.</a:t>
            </a:r>
          </a:p>
        </p:txBody>
      </p:sp>
      <p:sp>
        <p:nvSpPr>
          <p:cNvPr id="12" name="function-code-1">
            <a:extLst xmlns:a="http://schemas.openxmlformats.org/drawingml/2006/main">
              <a:ext uri="{FF2B5EF4-FFF2-40B4-BE49-F238E27FC236}">
                <a16:creationId xmlns:a16="http://schemas.microsoft.com/office/drawing/2014/main" id="{D10E5610-3584-4AA9-988B-A4B54FA4C915}"/>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86  def replay(conn, owner, scope, key, payload):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87      if not key: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88          return None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89      row = conn.execute("SELECT * FROM api_receipts WHERE owner_id=? AND scope=? AND request_key=?",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90                         (owner, scope, key)).fetchone()</a:t>
            </a:r>
          </a:p>
        </p:txBody>
      </p:sp>
      <p:sp>
        <p:nvSpPr>
          <p:cNvPr id="13" name="function-source-1">
            <a:extLst xmlns:a="http://schemas.openxmlformats.org/drawingml/2006/main">
              <a:ext uri="{FF2B5EF4-FFF2-40B4-BE49-F238E27FC236}">
                <a16:creationId xmlns:a16="http://schemas.microsoft.com/office/drawing/2014/main" id="{595CB0D8-8F01-44AD-9009-D42959AF32E7}"/>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backend/storage.py:86–95     Đoạn trích: 86–90</a:t>
            </a:r>
          </a:p>
        </p:txBody>
      </p:sp>
    </p:spTree>
    <p:extLst>
      <p:ext uri="{BB962C8B-B14F-4D97-AF65-F5344CB8AC3E}">
        <p14:creationId xmlns:p14="http://schemas.microsoft.com/office/powerpoint/2010/main" val="24409451"/>
      </p:ext>
    </p:extLst>
  </p:cSld>
</p:sld>
</file>

<file path=ppt/slides/slide7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8D52F3B0-136D-446D-8645-7DBA214E082E}"/>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backend/storage.py  (7–7/7)</a:t>
            </a:r>
          </a:p>
        </p:txBody>
      </p:sp>
      <p:sp>
        <p:nvSpPr>
          <p:cNvPr id="3" name="page-number">
            <a:extLst xmlns:a="http://schemas.openxmlformats.org/drawingml/2006/main">
              <a:ext uri="{FF2B5EF4-FFF2-40B4-BE49-F238E27FC236}">
                <a16:creationId xmlns:a16="http://schemas.microsoft.com/office/drawing/2014/main" id="{59B8217E-87E5-4EA8-86C6-1B09B7514C19}"/>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73 / 88</a:t>
            </a:r>
          </a:p>
        </p:txBody>
      </p:sp>
      <p:sp>
        <p:nvSpPr>
          <p:cNvPr id="4" name="function-name-0">
            <a:extLst xmlns:a="http://schemas.openxmlformats.org/drawingml/2006/main">
              <a:ext uri="{FF2B5EF4-FFF2-40B4-BE49-F238E27FC236}">
                <a16:creationId xmlns:a16="http://schemas.microsoft.com/office/drawing/2014/main" id="{C52D0841-6158-448C-8A37-D20A0A93665E}"/>
              </a:ext>
            </a:extLst>
          </p:cNvPr>
          <p:cNvSpPr>
            <a:spLocks xmlns:a="http://schemas.openxmlformats.org/drawingml/2006/main" noGrp="1"/>
          </p:cNvSpPr>
          <p:nvPr/>
        </p:nvSpPr>
        <p:spPr>
          <a:xfrm xmlns:a="http://schemas.openxmlformats.org/drawingml/2006/main">
            <a:off x="762000" y="23050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save_receipt</a:t>
            </a:r>
          </a:p>
        </p:txBody>
      </p:sp>
      <p:sp>
        <p:nvSpPr>
          <p:cNvPr id="5" name="function-purpose-0">
            <a:extLst xmlns:a="http://schemas.openxmlformats.org/drawingml/2006/main">
              <a:ext uri="{FF2B5EF4-FFF2-40B4-BE49-F238E27FC236}">
                <a16:creationId xmlns:a16="http://schemas.microsoft.com/office/drawing/2014/main" id="{DA994458-9545-4C61-9259-2DBF088A067F}"/>
              </a:ext>
            </a:extLst>
          </p:cNvPr>
          <p:cNvSpPr>
            <a:spLocks xmlns:a="http://schemas.openxmlformats.org/drawingml/2006/main" noGrp="1"/>
          </p:cNvSpPr>
          <p:nvPr/>
        </p:nvSpPr>
        <p:spPr>
          <a:xfrm xmlns:a="http://schemas.openxmlformats.org/drawingml/2006/main">
            <a:off x="762000" y="27622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Lưu hash nội dung và kết quả theo phiên/phạm vi/khóa để xử lý request lặp sau này.</a:t>
            </a:r>
          </a:p>
        </p:txBody>
      </p:sp>
      <p:sp>
        <p:nvSpPr>
          <p:cNvPr id="6" name="function-io-0">
            <a:extLst xmlns:a="http://schemas.openxmlformats.org/drawingml/2006/main">
              <a:ext uri="{FF2B5EF4-FFF2-40B4-BE49-F238E27FC236}">
                <a16:creationId xmlns:a16="http://schemas.microsoft.com/office/drawing/2014/main" id="{EBEEFA96-7655-4F21-9DD3-C488FC657D25}"/>
              </a:ext>
            </a:extLst>
          </p:cNvPr>
          <p:cNvSpPr>
            <a:spLocks xmlns:a="http://schemas.openxmlformats.org/drawingml/2006/main" noGrp="1"/>
          </p:cNvSpPr>
          <p:nvPr/>
        </p:nvSpPr>
        <p:spPr>
          <a:xfrm xmlns:a="http://schemas.openxmlformats.org/drawingml/2006/main">
            <a:off x="762000" y="334327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owner, scope, key, payload, response.  Ra / tác động: Lưu response khi có key, không trả dữ liệu.</a:t>
            </a:r>
          </a:p>
        </p:txBody>
      </p:sp>
      <p:sp>
        <p:nvSpPr>
          <p:cNvPr id="7" name="function-code-0">
            <a:extLst xmlns:a="http://schemas.openxmlformats.org/drawingml/2006/main">
              <a:ext uri="{FF2B5EF4-FFF2-40B4-BE49-F238E27FC236}">
                <a16:creationId xmlns:a16="http://schemas.microsoft.com/office/drawing/2014/main" id="{7D845409-43C0-40DB-9548-AA892F806DCE}"/>
              </a:ext>
            </a:extLst>
          </p:cNvPr>
          <p:cNvSpPr>
            <a:spLocks xmlns:a="http://schemas.openxmlformats.org/drawingml/2006/main" noGrp="1"/>
          </p:cNvSpPr>
          <p:nvPr/>
        </p:nvSpPr>
        <p:spPr>
          <a:xfrm xmlns:a="http://schemas.openxmlformats.org/drawingml/2006/main">
            <a:off x="762000" y="391477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99  def save_receipt(conn, owner, scope, key, payload, response):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100      if key: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101          conn.execute("INSERT INTO api_receipts VALUES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102                       (owner, scope, key, digest(payload), json.dumps(response, ensure_ascii=False)))</a:t>
            </a:r>
          </a:p>
        </p:txBody>
      </p:sp>
      <p:sp>
        <p:nvSpPr>
          <p:cNvPr id="8" name="function-source-0">
            <a:extLst xmlns:a="http://schemas.openxmlformats.org/drawingml/2006/main">
              <a:ext uri="{FF2B5EF4-FFF2-40B4-BE49-F238E27FC236}">
                <a16:creationId xmlns:a16="http://schemas.microsoft.com/office/drawing/2014/main" id="{61F2D6AB-481E-4216-99CA-CE0E572662B3}"/>
              </a:ext>
            </a:extLst>
          </p:cNvPr>
          <p:cNvSpPr>
            <a:spLocks xmlns:a="http://schemas.openxmlformats.org/drawingml/2006/main" noGrp="1"/>
          </p:cNvSpPr>
          <p:nvPr/>
        </p:nvSpPr>
        <p:spPr>
          <a:xfrm xmlns:a="http://schemas.openxmlformats.org/drawingml/2006/main">
            <a:off x="762000" y="532447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backend/storage.py:99–102     Đoạn trích: 99–102</a:t>
            </a:r>
          </a:p>
        </p:txBody>
      </p:sp>
    </p:spTree>
    <p:extLst>
      <p:ext uri="{BB962C8B-B14F-4D97-AF65-F5344CB8AC3E}">
        <p14:creationId xmlns:p14="http://schemas.microsoft.com/office/powerpoint/2010/main" val="625239156"/>
      </p:ext>
    </p:extLst>
  </p:cSld>
</p:sld>
</file>

<file path=ppt/slides/slide7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E7C667CB-2EF6-4203-80D5-811DBDDD70BD}"/>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backend/catalog_chat.py  (1–2/6)</a:t>
            </a:r>
          </a:p>
        </p:txBody>
      </p:sp>
      <p:sp>
        <p:nvSpPr>
          <p:cNvPr id="3" name="page-number">
            <a:extLst xmlns:a="http://schemas.openxmlformats.org/drawingml/2006/main">
              <a:ext uri="{FF2B5EF4-FFF2-40B4-BE49-F238E27FC236}">
                <a16:creationId xmlns:a16="http://schemas.microsoft.com/office/drawing/2014/main" id="{693CDBB9-7D80-4064-91E8-383C52AAD789}"/>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74 / 88</a:t>
            </a:r>
          </a:p>
        </p:txBody>
      </p:sp>
      <p:sp>
        <p:nvSpPr>
          <p:cNvPr id="4" name="function-name-0">
            <a:extLst xmlns:a="http://schemas.openxmlformats.org/drawingml/2006/main">
              <a:ext uri="{FF2B5EF4-FFF2-40B4-BE49-F238E27FC236}">
                <a16:creationId xmlns:a16="http://schemas.microsoft.com/office/drawing/2014/main" id="{28E22C47-2FF6-4F83-BC7B-7DDF7A93892D}"/>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local_catalog_request</a:t>
            </a:r>
          </a:p>
        </p:txBody>
      </p:sp>
      <p:sp>
        <p:nvSpPr>
          <p:cNvPr id="5" name="function-purpose-0">
            <a:extLst xmlns:a="http://schemas.openxmlformats.org/drawingml/2006/main">
              <a:ext uri="{FF2B5EF4-FFF2-40B4-BE49-F238E27FC236}">
                <a16:creationId xmlns:a16="http://schemas.microsoft.com/office/drawing/2014/main" id="{84685C71-BC18-4C0E-BFB3-B9A7EFB5A9B7}"/>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Nhận diện một số câu hỏi catalog/giá/tồn rõ nghĩa bằng rule để không cần gọi LLM.</a:t>
            </a:r>
          </a:p>
        </p:txBody>
      </p:sp>
      <p:sp>
        <p:nvSpPr>
          <p:cNvPr id="6" name="function-io-0">
            <a:extLst xmlns:a="http://schemas.openxmlformats.org/drawingml/2006/main">
              <a:ext uri="{FF2B5EF4-FFF2-40B4-BE49-F238E27FC236}">
                <a16:creationId xmlns:a16="http://schemas.microsoft.com/office/drawing/2014/main" id="{3648FD79-C143-4468-87AE-4AA1D563B1D2}"/>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message.  Ra / tác động: Extraction theo rule hoặc None để chuyển sang LLM.</a:t>
            </a:r>
          </a:p>
        </p:txBody>
      </p:sp>
      <p:sp>
        <p:nvSpPr>
          <p:cNvPr id="7" name="function-code-0">
            <a:extLst xmlns:a="http://schemas.openxmlformats.org/drawingml/2006/main">
              <a:ext uri="{FF2B5EF4-FFF2-40B4-BE49-F238E27FC236}">
                <a16:creationId xmlns:a16="http://schemas.microsoft.com/office/drawing/2014/main" id="{E4D7A1E3-C0CC-4FFD-BA2F-B1976C1E65E8}"/>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463" b="0">
                <a:solidFill>
                  <a:srgbClr val="172E32"/>
                </a:solidFill>
                <a:latin typeface="Courier New"/>
                <a:ea typeface="Courier New"/>
                <a:cs typeface="Courier New"/>
              </a:defRPr>
            </a:defPPr>
            <a:lvl1pPr>
              <a:defRPr sz="1463" b="0">
                <a:solidFill>
                  <a:srgbClr val="172E32"/>
                </a:solidFill>
                <a:latin typeface="Courier New"/>
                <a:ea typeface="Courier New"/>
                <a:cs typeface="Courier New"/>
              </a:defRPr>
            </a:lvl1pPr>
            <a:lvl2pPr>
              <a:defRPr sz="1463" b="0">
                <a:solidFill>
                  <a:srgbClr val="172E32"/>
                </a:solidFill>
                <a:latin typeface="Courier New"/>
                <a:ea typeface="Courier New"/>
                <a:cs typeface="Courier New"/>
              </a:defRPr>
            </a:lvl2pPr>
            <a:lvl3pPr>
              <a:defRPr sz="1463" b="0">
                <a:solidFill>
                  <a:srgbClr val="172E32"/>
                </a:solidFill>
                <a:latin typeface="Courier New"/>
                <a:ea typeface="Courier New"/>
                <a:cs typeface="Courier New"/>
              </a:defRPr>
            </a:lvl3pPr>
            <a:lvl4pPr>
              <a:defRPr sz="1463" b="0">
                <a:solidFill>
                  <a:srgbClr val="172E32"/>
                </a:solidFill>
                <a:latin typeface="Courier New"/>
                <a:ea typeface="Courier New"/>
                <a:cs typeface="Courier New"/>
              </a:defRPr>
            </a:lvl4pPr>
            <a:lvl5pPr>
              <a:defRPr sz="1463" b="0">
                <a:solidFill>
                  <a:srgbClr val="172E32"/>
                </a:solidFill>
                <a:latin typeface="Courier New"/>
                <a:ea typeface="Courier New"/>
                <a:cs typeface="Courier New"/>
              </a:defRPr>
            </a:lvl5pPr>
            <a:lvl6pPr>
              <a:defRPr sz="1463" b="0">
                <a:solidFill>
                  <a:srgbClr val="172E32"/>
                </a:solidFill>
                <a:latin typeface="Courier New"/>
                <a:ea typeface="Courier New"/>
                <a:cs typeface="Courier New"/>
              </a:defRPr>
            </a:lvl6pPr>
            <a:lvl7pPr>
              <a:defRPr sz="1463" b="0">
                <a:solidFill>
                  <a:srgbClr val="172E32"/>
                </a:solidFill>
                <a:latin typeface="Courier New"/>
                <a:ea typeface="Courier New"/>
                <a:cs typeface="Courier New"/>
              </a:defRPr>
            </a:lvl7pPr>
            <a:lvl8pPr>
              <a:defRPr sz="1463" b="0">
                <a:solidFill>
                  <a:srgbClr val="172E32"/>
                </a:solidFill>
                <a:latin typeface="Courier New"/>
                <a:ea typeface="Courier New"/>
                <a:cs typeface="Courier New"/>
              </a:defRPr>
            </a:lvl8pPr>
            <a:lvl9pPr>
              <a:defRPr sz="1463" b="0">
                <a:solidFill>
                  <a:srgbClr val="172E32"/>
                </a:solidFill>
                <a:latin typeface="Courier New"/>
                <a:ea typeface="Courier New"/>
                <a:cs typeface="Courier New"/>
              </a:defRPr>
            </a:lvl9pPr>
          </a:lstStyle>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10  def local_catalog_request(message):</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11      text = normalize(message)</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12      browse = {"cua hang ban gi", "cua hang ban nhung gi", "cua hang ban ban nhung gi", "shop ban gi", "shop ban nhung gi",</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13                "toi muon tham khao san pham", "toi muon tham khao san pham cua hang ban ban nhung gi",</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14                "cho toi xem san pham", "cho xem san pham", "xem catalog", "xem danh muc san pham"}</a:t>
            </a:r>
          </a:p>
        </p:txBody>
      </p:sp>
      <p:sp>
        <p:nvSpPr>
          <p:cNvPr id="8" name="function-source-0">
            <a:extLst xmlns:a="http://schemas.openxmlformats.org/drawingml/2006/main">
              <a:ext uri="{FF2B5EF4-FFF2-40B4-BE49-F238E27FC236}">
                <a16:creationId xmlns:a16="http://schemas.microsoft.com/office/drawing/2014/main" id="{882344C4-3A4D-4FA6-B2FF-00E1707445B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backend/catalog_chat.py:10–25     Đoạn trích: 10–14</a:t>
            </a:r>
          </a:p>
        </p:txBody>
      </p:sp>
      <p:sp>
        <p:nvSpPr>
          <p:cNvPr id="9" name="function-name-1">
            <a:extLst xmlns:a="http://schemas.openxmlformats.org/drawingml/2006/main">
              <a:ext uri="{FF2B5EF4-FFF2-40B4-BE49-F238E27FC236}">
                <a16:creationId xmlns:a16="http://schemas.microsoft.com/office/drawing/2014/main" id="{8C0712A6-E062-4778-A09F-746A58E48BEC}"/>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_matches</a:t>
            </a:r>
          </a:p>
        </p:txBody>
      </p:sp>
      <p:sp>
        <p:nvSpPr>
          <p:cNvPr id="10" name="function-purpose-1">
            <a:extLst xmlns:a="http://schemas.openxmlformats.org/drawingml/2006/main">
              <a:ext uri="{FF2B5EF4-FFF2-40B4-BE49-F238E27FC236}">
                <a16:creationId xmlns:a16="http://schemas.microsoft.com/office/drawing/2014/main" id="{50ACCC2A-6D95-4E41-8AF6-DB85F3E19084}"/>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So khớp thuộc tính đã chuẩn hóa; cho phép màu chung khớp tên màu chi tiết trong catalog.</a:t>
            </a:r>
          </a:p>
        </p:txBody>
      </p:sp>
      <p:sp>
        <p:nvSpPr>
          <p:cNvPr id="11" name="function-io-1">
            <a:extLst xmlns:a="http://schemas.openxmlformats.org/drawingml/2006/main">
              <a:ext uri="{FF2B5EF4-FFF2-40B4-BE49-F238E27FC236}">
                <a16:creationId xmlns:a16="http://schemas.microsoft.com/office/drawing/2014/main" id="{D4DF78DB-44AE-48E6-8A77-D06054D46F36}"/>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value, actual, field.  Ra / tác động: Boolean thuộc tính yêu cầu khớp catalog.</a:t>
            </a:r>
          </a:p>
        </p:txBody>
      </p:sp>
      <p:sp>
        <p:nvSpPr>
          <p:cNvPr id="12" name="function-code-1">
            <a:extLst xmlns:a="http://schemas.openxmlformats.org/drawingml/2006/main">
              <a:ext uri="{FF2B5EF4-FFF2-40B4-BE49-F238E27FC236}">
                <a16:creationId xmlns:a16="http://schemas.microsoft.com/office/drawing/2014/main" id="{10C1DA20-3B61-45D2-B466-DE1F3DD0DEAC}"/>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29  def _matches(value, actual, field=None):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30      requested, known = attribute_value(value, field), attribute_value(actual, field)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31      return not value or requested == known or (field == "color" and known.startswith(requested + " "))</a:t>
            </a:r>
          </a:p>
        </p:txBody>
      </p:sp>
      <p:sp>
        <p:nvSpPr>
          <p:cNvPr id="13" name="function-source-1">
            <a:extLst xmlns:a="http://schemas.openxmlformats.org/drawingml/2006/main">
              <a:ext uri="{FF2B5EF4-FFF2-40B4-BE49-F238E27FC236}">
                <a16:creationId xmlns:a16="http://schemas.microsoft.com/office/drawing/2014/main" id="{2FECAD97-8423-4DE1-AB9E-DAF296B37FB1}"/>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backend/catalog_chat.py:29–31     Đoạn trích: 29–31</a:t>
            </a:r>
          </a:p>
        </p:txBody>
      </p:sp>
    </p:spTree>
    <p:extLst>
      <p:ext uri="{BB962C8B-B14F-4D97-AF65-F5344CB8AC3E}">
        <p14:creationId xmlns:p14="http://schemas.microsoft.com/office/powerpoint/2010/main" val="369433700"/>
      </p:ext>
    </p:extLst>
  </p:cSld>
</p:sld>
</file>

<file path=ppt/slides/slide7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C1A9829B-87B2-42B2-8351-1641503AB6AC}"/>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backend/catalog_chat.py  (3–4/6)</a:t>
            </a:r>
          </a:p>
        </p:txBody>
      </p:sp>
      <p:sp>
        <p:nvSpPr>
          <p:cNvPr id="3" name="page-number">
            <a:extLst xmlns:a="http://schemas.openxmlformats.org/drawingml/2006/main">
              <a:ext uri="{FF2B5EF4-FFF2-40B4-BE49-F238E27FC236}">
                <a16:creationId xmlns:a16="http://schemas.microsoft.com/office/drawing/2014/main" id="{7628F810-465E-43E4-8F55-6F69CA1BCB07}"/>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75 / 88</a:t>
            </a:r>
          </a:p>
        </p:txBody>
      </p:sp>
      <p:sp>
        <p:nvSpPr>
          <p:cNvPr id="4" name="function-name-0">
            <a:extLst xmlns:a="http://schemas.openxmlformats.org/drawingml/2006/main">
              <a:ext uri="{FF2B5EF4-FFF2-40B4-BE49-F238E27FC236}">
                <a16:creationId xmlns:a16="http://schemas.microsoft.com/office/drawing/2014/main" id="{F4C5B743-4791-4D28-8CAF-4FD36DE5750E}"/>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find_products</a:t>
            </a:r>
          </a:p>
        </p:txBody>
      </p:sp>
      <p:sp>
        <p:nvSpPr>
          <p:cNvPr id="5" name="function-purpose-0">
            <a:extLst xmlns:a="http://schemas.openxmlformats.org/drawingml/2006/main">
              <a:ext uri="{FF2B5EF4-FFF2-40B4-BE49-F238E27FC236}">
                <a16:creationId xmlns:a16="http://schemas.microsoft.com/office/drawing/2014/main" id="{3E02D446-2612-416C-8D28-FEA147F638E0}"/>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Tìm sản phẩm theo tên/SKU và lọc biến thể theo danh mục, màu, size, giá, tồn kho.</a:t>
            </a:r>
          </a:p>
        </p:txBody>
      </p:sp>
      <p:sp>
        <p:nvSpPr>
          <p:cNvPr id="6" name="function-io-0">
            <a:extLst xmlns:a="http://schemas.openxmlformats.org/drawingml/2006/main">
              <a:ext uri="{FF2B5EF4-FFF2-40B4-BE49-F238E27FC236}">
                <a16:creationId xmlns:a16="http://schemas.microsoft.com/office/drawing/2014/main" id="{EB2125D9-A6B2-4DCE-BD81-2F7437A47F65}"/>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items, filters.  Ra / tác động: Danh sách sản phẩm và biến thể qua các bộ lọc.</a:t>
            </a:r>
          </a:p>
        </p:txBody>
      </p:sp>
      <p:sp>
        <p:nvSpPr>
          <p:cNvPr id="7" name="function-code-0">
            <a:extLst xmlns:a="http://schemas.openxmlformats.org/drawingml/2006/main">
              <a:ext uri="{FF2B5EF4-FFF2-40B4-BE49-F238E27FC236}">
                <a16:creationId xmlns:a16="http://schemas.microsoft.com/office/drawing/2014/main" id="{89A912D6-78EC-49F7-9FBE-136738449C34}"/>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39          if sku:</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40              variant = catalog.get_variant(conn, sku)</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41              products = [catalog.get_product(conn, variant["product_id"])]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42          elif query: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43              categories = [c for c in catalog.list_categories(conn) if normalize(c) == normalize(query)]</a:t>
            </a:r>
          </a:p>
        </p:txBody>
      </p:sp>
      <p:sp>
        <p:nvSpPr>
          <p:cNvPr id="8" name="function-source-0">
            <a:extLst xmlns:a="http://schemas.openxmlformats.org/drawingml/2006/main">
              <a:ext uri="{FF2B5EF4-FFF2-40B4-BE49-F238E27FC236}">
                <a16:creationId xmlns:a16="http://schemas.microsoft.com/office/drawing/2014/main" id="{DC20F5F3-64BC-42FE-97AE-C99B4AE606E8}"/>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backend/catalog_chat.py:35–67     Đoạn trích: 39–43</a:t>
            </a:r>
          </a:p>
        </p:txBody>
      </p:sp>
      <p:sp>
        <p:nvSpPr>
          <p:cNvPr id="9" name="function-name-1">
            <a:extLst xmlns:a="http://schemas.openxmlformats.org/drawingml/2006/main">
              <a:ext uri="{FF2B5EF4-FFF2-40B4-BE49-F238E27FC236}">
                <a16:creationId xmlns:a16="http://schemas.microsoft.com/office/drawing/2014/main" id="{7BCBD29A-783B-47D8-8787-8EEB0046B00E}"/>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catalog_reply</a:t>
            </a:r>
          </a:p>
        </p:txBody>
      </p:sp>
      <p:sp>
        <p:nvSpPr>
          <p:cNvPr id="10" name="function-purpose-1">
            <a:extLst xmlns:a="http://schemas.openxmlformats.org/drawingml/2006/main">
              <a:ext uri="{FF2B5EF4-FFF2-40B4-BE49-F238E27FC236}">
                <a16:creationId xmlns:a16="http://schemas.microsoft.com/office/drawing/2014/main" id="{562B9F98-CA12-43E0-A04E-DFFF9A4F3E97}"/>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Tạo câu trả lời và danh sách sản phẩm bằng giá/tồn thực tế lấy từ database.</a:t>
            </a:r>
          </a:p>
        </p:txBody>
      </p:sp>
      <p:sp>
        <p:nvSpPr>
          <p:cNvPr id="11" name="function-io-1">
            <a:extLst xmlns:a="http://schemas.openxmlformats.org/drawingml/2006/main">
              <a:ext uri="{FF2B5EF4-FFF2-40B4-BE49-F238E27FC236}">
                <a16:creationId xmlns:a16="http://schemas.microsoft.com/office/drawing/2014/main" id="{9DADE711-B9D1-45E4-A834-FF2D30E232B2}"/>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items, filters, intent.  Ra / tác động: Response đọc catalog/giá/tồn cùng products.</a:t>
            </a:r>
          </a:p>
        </p:txBody>
      </p:sp>
      <p:sp>
        <p:nvSpPr>
          <p:cNvPr id="12" name="function-code-1">
            <a:extLst xmlns:a="http://schemas.openxmlformats.org/drawingml/2006/main">
              <a:ext uri="{FF2B5EF4-FFF2-40B4-BE49-F238E27FC236}">
                <a16:creationId xmlns:a16="http://schemas.microsoft.com/office/drawing/2014/main" id="{7B9408E3-B10B-497B-A670-A3BB47589DE6}"/>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463" b="0">
                <a:solidFill>
                  <a:srgbClr val="172E32"/>
                </a:solidFill>
                <a:latin typeface="Courier New"/>
                <a:ea typeface="Courier New"/>
                <a:cs typeface="Courier New"/>
              </a:defRPr>
            </a:defPPr>
            <a:lvl1pPr>
              <a:defRPr sz="1463" b="0">
                <a:solidFill>
                  <a:srgbClr val="172E32"/>
                </a:solidFill>
                <a:latin typeface="Courier New"/>
                <a:ea typeface="Courier New"/>
                <a:cs typeface="Courier New"/>
              </a:defRPr>
            </a:lvl1pPr>
            <a:lvl2pPr>
              <a:defRPr sz="1463" b="0">
                <a:solidFill>
                  <a:srgbClr val="172E32"/>
                </a:solidFill>
                <a:latin typeface="Courier New"/>
                <a:ea typeface="Courier New"/>
                <a:cs typeface="Courier New"/>
              </a:defRPr>
            </a:lvl2pPr>
            <a:lvl3pPr>
              <a:defRPr sz="1463" b="0">
                <a:solidFill>
                  <a:srgbClr val="172E32"/>
                </a:solidFill>
                <a:latin typeface="Courier New"/>
                <a:ea typeface="Courier New"/>
                <a:cs typeface="Courier New"/>
              </a:defRPr>
            </a:lvl3pPr>
            <a:lvl4pPr>
              <a:defRPr sz="1463" b="0">
                <a:solidFill>
                  <a:srgbClr val="172E32"/>
                </a:solidFill>
                <a:latin typeface="Courier New"/>
                <a:ea typeface="Courier New"/>
                <a:cs typeface="Courier New"/>
              </a:defRPr>
            </a:lvl4pPr>
            <a:lvl5pPr>
              <a:defRPr sz="1463" b="0">
                <a:solidFill>
                  <a:srgbClr val="172E32"/>
                </a:solidFill>
                <a:latin typeface="Courier New"/>
                <a:ea typeface="Courier New"/>
                <a:cs typeface="Courier New"/>
              </a:defRPr>
            </a:lvl5pPr>
            <a:lvl6pPr>
              <a:defRPr sz="1463" b="0">
                <a:solidFill>
                  <a:srgbClr val="172E32"/>
                </a:solidFill>
                <a:latin typeface="Courier New"/>
                <a:ea typeface="Courier New"/>
                <a:cs typeface="Courier New"/>
              </a:defRPr>
            </a:lvl6pPr>
            <a:lvl7pPr>
              <a:defRPr sz="1463" b="0">
                <a:solidFill>
                  <a:srgbClr val="172E32"/>
                </a:solidFill>
                <a:latin typeface="Courier New"/>
                <a:ea typeface="Courier New"/>
                <a:cs typeface="Courier New"/>
              </a:defRPr>
            </a:lvl7pPr>
            <a:lvl8pPr>
              <a:defRPr sz="1463" b="0">
                <a:solidFill>
                  <a:srgbClr val="172E32"/>
                </a:solidFill>
                <a:latin typeface="Courier New"/>
                <a:ea typeface="Courier New"/>
                <a:cs typeface="Courier New"/>
              </a:defRPr>
            </a:lvl8pPr>
            <a:lvl9pPr>
              <a:defRPr sz="1463" b="0">
                <a:solidFill>
                  <a:srgbClr val="172E32"/>
                </a:solidFill>
                <a:latin typeface="Courier New"/>
                <a:ea typeface="Courier New"/>
                <a:cs typeface="Courier New"/>
              </a:defRPr>
            </a:lvl9pPr>
          </a:lstStyle>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72      products = find_products(conn, items, filters)</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73      if not products:</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74          return {"reply": "Hiện cửa hàng chưa có sản phẩm khớp yêu cầu trong catalog. Bạn có thể đổi từ khóa, màu/size hoặc mức giá để mình tìm lại.",</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75                  "route": "catalog_empty", "missing_fields": [], "order": None, "products": []}</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76      shown = products[:8]</a:t>
            </a:r>
          </a:p>
        </p:txBody>
      </p:sp>
      <p:sp>
        <p:nvSpPr>
          <p:cNvPr id="13" name="function-source-1">
            <a:extLst xmlns:a="http://schemas.openxmlformats.org/drawingml/2006/main">
              <a:ext uri="{FF2B5EF4-FFF2-40B4-BE49-F238E27FC236}">
                <a16:creationId xmlns:a16="http://schemas.microsoft.com/office/drawing/2014/main" id="{E9A5C3FC-3FE5-4795-9848-ACE1285B01BB}"/>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backend/catalog_chat.py:71–98     Đoạn trích: 72–76</a:t>
            </a:r>
          </a:p>
        </p:txBody>
      </p:sp>
    </p:spTree>
    <p:extLst>
      <p:ext uri="{BB962C8B-B14F-4D97-AF65-F5344CB8AC3E}">
        <p14:creationId xmlns:p14="http://schemas.microsoft.com/office/powerpoint/2010/main" val="1316893433"/>
      </p:ext>
    </p:extLst>
  </p:cSld>
</p:sld>
</file>

<file path=ppt/slides/slide7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B999B486-F768-4FF7-AE17-58EA6E1B3C56}"/>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backend/catalog_chat.py  (5–6/6)</a:t>
            </a:r>
          </a:p>
        </p:txBody>
      </p:sp>
      <p:sp>
        <p:nvSpPr>
          <p:cNvPr id="3" name="page-number">
            <a:extLst xmlns:a="http://schemas.openxmlformats.org/drawingml/2006/main">
              <a:ext uri="{FF2B5EF4-FFF2-40B4-BE49-F238E27FC236}">
                <a16:creationId xmlns:a16="http://schemas.microsoft.com/office/drawing/2014/main" id="{ECFE8C86-762C-4226-83D2-35F4F9453019}"/>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76 / 88</a:t>
            </a:r>
          </a:p>
        </p:txBody>
      </p:sp>
      <p:sp>
        <p:nvSpPr>
          <p:cNvPr id="4" name="function-name-0">
            <a:extLst xmlns:a="http://schemas.openxmlformats.org/drawingml/2006/main">
              <a:ext uri="{FF2B5EF4-FFF2-40B4-BE49-F238E27FC236}">
                <a16:creationId xmlns:a16="http://schemas.microsoft.com/office/drawing/2014/main" id="{F73BCC60-E44D-46E1-BF9F-9783960CF60F}"/>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browsing_context</a:t>
            </a:r>
          </a:p>
        </p:txBody>
      </p:sp>
      <p:sp>
        <p:nvSpPr>
          <p:cNvPr id="5" name="function-purpose-0">
            <a:extLst xmlns:a="http://schemas.openxmlformats.org/drawingml/2006/main">
              <a:ext uri="{FF2B5EF4-FFF2-40B4-BE49-F238E27FC236}">
                <a16:creationId xmlns:a16="http://schemas.microsoft.com/office/drawing/2014/main" id="{29B6BB4A-7093-4304-BDE8-C7E98384E5E6}"/>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Lưu ID sản phẩm và SKU vừa hiển thị để hiểu các câu hỏi tiếp theo của khách.</a:t>
            </a:r>
          </a:p>
        </p:txBody>
      </p:sp>
      <p:sp>
        <p:nvSpPr>
          <p:cNvPr id="6" name="function-io-0">
            <a:extLst xmlns:a="http://schemas.openxmlformats.org/drawingml/2006/main">
              <a:ext uri="{FF2B5EF4-FFF2-40B4-BE49-F238E27FC236}">
                <a16:creationId xmlns:a16="http://schemas.microsoft.com/office/drawing/2014/main" id="{D3C87BED-F2D4-4562-A3EB-70C183AAE9F0}"/>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result.  Ra / tác động: catalog_product_ids và tối đa 40 catalog_skus.</a:t>
            </a:r>
          </a:p>
        </p:txBody>
      </p:sp>
      <p:sp>
        <p:nvSpPr>
          <p:cNvPr id="7" name="function-code-0">
            <a:extLst xmlns:a="http://schemas.openxmlformats.org/drawingml/2006/main">
              <a:ext uri="{FF2B5EF4-FFF2-40B4-BE49-F238E27FC236}">
                <a16:creationId xmlns:a16="http://schemas.microsoft.com/office/drawing/2014/main" id="{139E565A-9A27-4421-A9F6-ED417316614E}"/>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102  def browsing_context(result):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103      products = result.get("products",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104      return {"catalog_product_ids": [p["product_id"] for p in products],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105              "catalog_skus": [v["sku"] for p in products for v in p["variants"]][:40]}</a:t>
            </a:r>
          </a:p>
        </p:txBody>
      </p:sp>
      <p:sp>
        <p:nvSpPr>
          <p:cNvPr id="8" name="function-source-0">
            <a:extLst xmlns:a="http://schemas.openxmlformats.org/drawingml/2006/main">
              <a:ext uri="{FF2B5EF4-FFF2-40B4-BE49-F238E27FC236}">
                <a16:creationId xmlns:a16="http://schemas.microsoft.com/office/drawing/2014/main" id="{E4FEDFC4-DE19-403B-80B5-9FB97478734C}"/>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backend/catalog_chat.py:102–105     Đoạn trích: 102–105</a:t>
            </a:r>
          </a:p>
        </p:txBody>
      </p:sp>
      <p:sp>
        <p:nvSpPr>
          <p:cNvPr id="9" name="function-name-1">
            <a:extLst xmlns:a="http://schemas.openxmlformats.org/drawingml/2006/main">
              <a:ext uri="{FF2B5EF4-FFF2-40B4-BE49-F238E27FC236}">
                <a16:creationId xmlns:a16="http://schemas.microsoft.com/office/drawing/2014/main" id="{3BDD39F9-F6FE-473B-8CB9-2B527D114F9F}"/>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resolve_reference</a:t>
            </a:r>
          </a:p>
        </p:txBody>
      </p:sp>
      <p:sp>
        <p:nvSpPr>
          <p:cNvPr id="10" name="function-purpose-1">
            <a:extLst xmlns:a="http://schemas.openxmlformats.org/drawingml/2006/main">
              <a:ext uri="{FF2B5EF4-FFF2-40B4-BE49-F238E27FC236}">
                <a16:creationId xmlns:a16="http://schemas.microsoft.com/office/drawing/2014/main" id="{178F0D63-49F0-42B0-8FBC-4532E1CAA7FC}"/>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Hiểu “mẫu này”, “mẫu đầu tiên” từ lịch sử xem hàng, chỉ chọn khi tham chiếu đủ rõ.</a:t>
            </a:r>
          </a:p>
        </p:txBody>
      </p:sp>
      <p:sp>
        <p:nvSpPr>
          <p:cNvPr id="11" name="function-io-1">
            <a:extLst xmlns:a="http://schemas.openxmlformats.org/drawingml/2006/main">
              <a:ext uri="{FF2B5EF4-FFF2-40B4-BE49-F238E27FC236}">
                <a16:creationId xmlns:a16="http://schemas.microsoft.com/office/drawing/2014/main" id="{B4FA1E6B-E076-48D7-99B1-191296D5C76F}"/>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conn, items, context, message.  Ra / tác động: Item gắn sản phẩm/SKU rõ nghĩa hoặc giữ nguyên để hỏi lại.</a:t>
            </a:r>
          </a:p>
        </p:txBody>
      </p:sp>
      <p:sp>
        <p:nvSpPr>
          <p:cNvPr id="12" name="function-code-1">
            <a:extLst xmlns:a="http://schemas.openxmlformats.org/drawingml/2006/main">
              <a:ext uri="{FF2B5EF4-FFF2-40B4-BE49-F238E27FC236}">
                <a16:creationId xmlns:a16="http://schemas.microsoft.com/office/drawing/2014/main" id="{1788DB38-B184-44C7-B29C-EADE26A2BFCF}"/>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119      if "mau dau tien" in text or "san pham dau tien" in 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120          target = ids[0]</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121      elif "mau cuoi" in text or "san pham cuoi" in 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122          target = ids[-1]</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123      elif len(ids) == 1:</a:t>
            </a:r>
          </a:p>
        </p:txBody>
      </p:sp>
      <p:sp>
        <p:nvSpPr>
          <p:cNvPr id="13" name="function-source-1">
            <a:extLst xmlns:a="http://schemas.openxmlformats.org/drawingml/2006/main">
              <a:ext uri="{FF2B5EF4-FFF2-40B4-BE49-F238E27FC236}">
                <a16:creationId xmlns:a16="http://schemas.microsoft.com/office/drawing/2014/main" id="{62C2F978-4272-4DA0-BA7D-163A4DAE28E3}"/>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backend/catalog_chat.py:109–132     Đoạn trích: 119–123</a:t>
            </a:r>
          </a:p>
        </p:txBody>
      </p:sp>
    </p:spTree>
    <p:extLst>
      <p:ext uri="{BB962C8B-B14F-4D97-AF65-F5344CB8AC3E}">
        <p14:creationId xmlns:p14="http://schemas.microsoft.com/office/powerpoint/2010/main" val="1007215816"/>
      </p:ext>
    </p:extLst>
  </p:cSld>
</p:sld>
</file>

<file path=ppt/slides/slide7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1AEC53C-EA33-4D77-828D-549CBFA60CA1}"/>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backend/variant_utils.py  (1–2/2)</a:t>
            </a:r>
          </a:p>
        </p:txBody>
      </p:sp>
      <p:sp>
        <p:nvSpPr>
          <p:cNvPr id="3" name="page-number">
            <a:extLst xmlns:a="http://schemas.openxmlformats.org/drawingml/2006/main">
              <a:ext uri="{FF2B5EF4-FFF2-40B4-BE49-F238E27FC236}">
                <a16:creationId xmlns:a16="http://schemas.microsoft.com/office/drawing/2014/main" id="{7A0D921E-1D4D-4AB8-9F3D-C167FFCFD2B2}"/>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77 / 88</a:t>
            </a:r>
          </a:p>
        </p:txBody>
      </p:sp>
      <p:sp>
        <p:nvSpPr>
          <p:cNvPr id="4" name="function-name-0">
            <a:extLst xmlns:a="http://schemas.openxmlformats.org/drawingml/2006/main">
              <a:ext uri="{FF2B5EF4-FFF2-40B4-BE49-F238E27FC236}">
                <a16:creationId xmlns:a16="http://schemas.microsoft.com/office/drawing/2014/main" id="{E7295D60-AA3C-4CCD-8429-A0834A411582}"/>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size_value</a:t>
            </a:r>
          </a:p>
        </p:txBody>
      </p:sp>
      <p:sp>
        <p:nvSpPr>
          <p:cNvPr id="5" name="function-purpose-0">
            <a:extLst xmlns:a="http://schemas.openxmlformats.org/drawingml/2006/main">
              <a:ext uri="{FF2B5EF4-FFF2-40B4-BE49-F238E27FC236}">
                <a16:creationId xmlns:a16="http://schemas.microsoft.com/office/drawing/2014/main" id="{3D46AD38-9717-4D24-BFC2-0C72CF907567}"/>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Chuẩn hóa cách viết size để “15inch” và “15 inch” được đối chiếu như nhau.</a:t>
            </a:r>
          </a:p>
        </p:txBody>
      </p:sp>
      <p:sp>
        <p:nvSpPr>
          <p:cNvPr id="6" name="function-io-0">
            <a:extLst xmlns:a="http://schemas.openxmlformats.org/drawingml/2006/main">
              <a:ext uri="{FF2B5EF4-FFF2-40B4-BE49-F238E27FC236}">
                <a16:creationId xmlns:a16="http://schemas.microsoft.com/office/drawing/2014/main" id="{8E298D00-1992-4437-8128-DF5FA59838C7}"/>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value.  Ra / tác động: Chuỗi size đã chuẩn hóa cách viết inch.</a:t>
            </a:r>
          </a:p>
        </p:txBody>
      </p:sp>
      <p:sp>
        <p:nvSpPr>
          <p:cNvPr id="7" name="function-code-0">
            <a:extLst xmlns:a="http://schemas.openxmlformats.org/drawingml/2006/main">
              <a:ext uri="{FF2B5EF4-FFF2-40B4-BE49-F238E27FC236}">
                <a16:creationId xmlns:a16="http://schemas.microsoft.com/office/drawing/2014/main" id="{F31C54E7-79D9-447F-BABB-CD95801B6F37}"/>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  def size_value(value):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      return re.sub(r"(?&lt;=\d)\s*(?:inches|inch)\b", " inch", normalize(value))</a:t>
            </a:r>
          </a:p>
        </p:txBody>
      </p:sp>
      <p:sp>
        <p:nvSpPr>
          <p:cNvPr id="8" name="function-source-0">
            <a:extLst xmlns:a="http://schemas.openxmlformats.org/drawingml/2006/main">
              <a:ext uri="{FF2B5EF4-FFF2-40B4-BE49-F238E27FC236}">
                <a16:creationId xmlns:a16="http://schemas.microsoft.com/office/drawing/2014/main" id="{35700EC6-2491-4DE6-B174-B2FB2872BB44}"/>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backend/variant_utils.py:7–8     Đoạn trích: 7–8</a:t>
            </a:r>
          </a:p>
        </p:txBody>
      </p:sp>
      <p:sp>
        <p:nvSpPr>
          <p:cNvPr id="9" name="function-name-1">
            <a:extLst xmlns:a="http://schemas.openxmlformats.org/drawingml/2006/main">
              <a:ext uri="{FF2B5EF4-FFF2-40B4-BE49-F238E27FC236}">
                <a16:creationId xmlns:a16="http://schemas.microsoft.com/office/drawing/2014/main" id="{80752AC9-E74C-4B10-8AA2-747FB440F63C}"/>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attribute_value</a:t>
            </a:r>
          </a:p>
        </p:txBody>
      </p:sp>
      <p:sp>
        <p:nvSpPr>
          <p:cNvPr id="10" name="function-purpose-1">
            <a:extLst xmlns:a="http://schemas.openxmlformats.org/drawingml/2006/main">
              <a:ext uri="{FF2B5EF4-FFF2-40B4-BE49-F238E27FC236}">
                <a16:creationId xmlns:a16="http://schemas.microsoft.com/office/drawing/2014/main" id="{31A79B46-14D0-4115-A513-929F5CC59892}"/>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Bỏ nhãn “màu”, “size”, “cỡ” và chuẩn hóa giá trị trước khi so với biến thể.</a:t>
            </a:r>
          </a:p>
        </p:txBody>
      </p:sp>
      <p:sp>
        <p:nvSpPr>
          <p:cNvPr id="11" name="function-io-1">
            <a:extLst xmlns:a="http://schemas.openxmlformats.org/drawingml/2006/main">
              <a:ext uri="{FF2B5EF4-FFF2-40B4-BE49-F238E27FC236}">
                <a16:creationId xmlns:a16="http://schemas.microsoft.com/office/drawing/2014/main" id="{CE1118EA-B06A-4152-8615-5BC5CBDAF214}"/>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value, field.  Ra / tác động: Chuỗi màu/size đã bỏ nhãn để so khớp.</a:t>
            </a:r>
          </a:p>
        </p:txBody>
      </p:sp>
      <p:sp>
        <p:nvSpPr>
          <p:cNvPr id="12" name="function-code-1">
            <a:extLst xmlns:a="http://schemas.openxmlformats.org/drawingml/2006/main">
              <a:ext uri="{FF2B5EF4-FFF2-40B4-BE49-F238E27FC236}">
                <a16:creationId xmlns:a16="http://schemas.microsoft.com/office/drawing/2014/main" id="{AB1FA26E-6F35-4F1A-9AAC-2A3D8F6AC6CC}"/>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12  def attribute_value(value, field):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13      text = normalize(value)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14      prefixes = {"color": ("mau", "color"), "size": ("kich co", "size", "co")}</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15      for prefix in prefixes.get(field,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16          if text.startswith(prefix + " "):</a:t>
            </a:r>
          </a:p>
        </p:txBody>
      </p:sp>
      <p:sp>
        <p:nvSpPr>
          <p:cNvPr id="13" name="function-source-1">
            <a:extLst xmlns:a="http://schemas.openxmlformats.org/drawingml/2006/main">
              <a:ext uri="{FF2B5EF4-FFF2-40B4-BE49-F238E27FC236}">
                <a16:creationId xmlns:a16="http://schemas.microsoft.com/office/drawing/2014/main" id="{BAB4A4F2-DE72-4BCF-ACEB-77C53A966317}"/>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backend/variant_utils.py:12–19     Đoạn trích: 12–16</a:t>
            </a:r>
          </a:p>
        </p:txBody>
      </p:sp>
    </p:spTree>
    <p:extLst>
      <p:ext uri="{BB962C8B-B14F-4D97-AF65-F5344CB8AC3E}">
        <p14:creationId xmlns:p14="http://schemas.microsoft.com/office/powerpoint/2010/main" val="2073044754"/>
      </p:ext>
    </p:extLst>
  </p:cSld>
</p:sld>
</file>

<file path=ppt/slides/slide7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E459A313-A32B-4EFB-955F-0FC8169EF916}"/>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backend/models.py  (1–1/1)</a:t>
            </a:r>
          </a:p>
        </p:txBody>
      </p:sp>
      <p:sp>
        <p:nvSpPr>
          <p:cNvPr id="3" name="page-number">
            <a:extLst xmlns:a="http://schemas.openxmlformats.org/drawingml/2006/main">
              <a:ext uri="{FF2B5EF4-FFF2-40B4-BE49-F238E27FC236}">
                <a16:creationId xmlns:a16="http://schemas.microsoft.com/office/drawing/2014/main" id="{71676701-A2B2-4D55-8466-40B84E457D71}"/>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78 / 88</a:t>
            </a:r>
          </a:p>
        </p:txBody>
      </p:sp>
      <p:sp>
        <p:nvSpPr>
          <p:cNvPr id="4" name="function-name-0">
            <a:extLst xmlns:a="http://schemas.openxmlformats.org/drawingml/2006/main">
              <a:ext uri="{FF2B5EF4-FFF2-40B4-BE49-F238E27FC236}">
                <a16:creationId xmlns:a16="http://schemas.microsoft.com/office/drawing/2014/main" id="{7CA80737-3DB5-4008-869C-698947551F56}"/>
              </a:ext>
            </a:extLst>
          </p:cNvPr>
          <p:cNvSpPr>
            <a:spLocks xmlns:a="http://schemas.openxmlformats.org/drawingml/2006/main" noGrp="1"/>
          </p:cNvSpPr>
          <p:nvPr/>
        </p:nvSpPr>
        <p:spPr>
          <a:xfrm xmlns:a="http://schemas.openxmlformats.org/drawingml/2006/main">
            <a:off x="762000" y="23050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ItemChange.require_change</a:t>
            </a:r>
          </a:p>
        </p:txBody>
      </p:sp>
      <p:sp>
        <p:nvSpPr>
          <p:cNvPr id="5" name="function-purpose-0">
            <a:extLst xmlns:a="http://schemas.openxmlformats.org/drawingml/2006/main">
              <a:ext uri="{FF2B5EF4-FFF2-40B4-BE49-F238E27FC236}">
                <a16:creationId xmlns:a16="http://schemas.microsoft.com/office/drawing/2014/main" id="{64F7C99F-7DAE-4BC0-BF4B-4315837C7D81}"/>
              </a:ext>
            </a:extLst>
          </p:cNvPr>
          <p:cNvSpPr>
            <a:spLocks xmlns:a="http://schemas.openxmlformats.org/drawingml/2006/main" noGrp="1"/>
          </p:cNvSpPr>
          <p:nvPr/>
        </p:nvSpPr>
        <p:spPr>
          <a:xfrm xmlns:a="http://schemas.openxmlformats.org/drawingml/2006/main">
            <a:off x="762000" y="27622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Bắt buộc yêu cầu sửa dòng hàng có ít nhất một trường sku hoặc quantity khác null.</a:t>
            </a:r>
          </a:p>
        </p:txBody>
      </p:sp>
      <p:sp>
        <p:nvSpPr>
          <p:cNvPr id="6" name="function-io-0">
            <a:extLst xmlns:a="http://schemas.openxmlformats.org/drawingml/2006/main">
              <a:ext uri="{FF2B5EF4-FFF2-40B4-BE49-F238E27FC236}">
                <a16:creationId xmlns:a16="http://schemas.microsoft.com/office/drawing/2014/main" id="{3939F0E8-6AAD-48F4-8CD4-59A0AFEC0F40}"/>
              </a:ext>
            </a:extLst>
          </p:cNvPr>
          <p:cNvSpPr>
            <a:spLocks xmlns:a="http://schemas.openxmlformats.org/drawingml/2006/main" noGrp="1"/>
          </p:cNvSpPr>
          <p:nvPr/>
        </p:nvSpPr>
        <p:spPr>
          <a:xfrm xmlns:a="http://schemas.openxmlformats.org/drawingml/2006/main">
            <a:off x="762000" y="334327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không có tham số ngoài đối tượng.  Ra / tác động: self hợp lệ hoặc ValueError nếu không có trường sửa.</a:t>
            </a:r>
          </a:p>
        </p:txBody>
      </p:sp>
      <p:sp>
        <p:nvSpPr>
          <p:cNvPr id="7" name="function-code-0">
            <a:extLst xmlns:a="http://schemas.openxmlformats.org/drawingml/2006/main">
              <a:ext uri="{FF2B5EF4-FFF2-40B4-BE49-F238E27FC236}">
                <a16:creationId xmlns:a16="http://schemas.microsoft.com/office/drawing/2014/main" id="{93535FBC-C253-4A62-A8D2-082E0D6DC5C2}"/>
              </a:ext>
            </a:extLst>
          </p:cNvPr>
          <p:cNvSpPr>
            <a:spLocks xmlns:a="http://schemas.openxmlformats.org/drawingml/2006/main" noGrp="1"/>
          </p:cNvSpPr>
          <p:nvPr/>
        </p:nvSpPr>
        <p:spPr>
          <a:xfrm xmlns:a="http://schemas.openxmlformats.org/drawingml/2006/main">
            <a:off x="762000" y="391477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39      def require_change(self):</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40          if not self.model_fields_set or any(getattr(self, f) is None for f in self.model_fields_set):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41              raise ValueError("Cần sku hoặc quantity có giá trị hợp lệ")</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42          return self</a:t>
            </a:r>
          </a:p>
        </p:txBody>
      </p:sp>
      <p:sp>
        <p:nvSpPr>
          <p:cNvPr id="8" name="function-source-0">
            <a:extLst xmlns:a="http://schemas.openxmlformats.org/drawingml/2006/main">
              <a:ext uri="{FF2B5EF4-FFF2-40B4-BE49-F238E27FC236}">
                <a16:creationId xmlns:a16="http://schemas.microsoft.com/office/drawing/2014/main" id="{193E0BCC-BF77-4F2D-8090-247047665FFF}"/>
              </a:ext>
            </a:extLst>
          </p:cNvPr>
          <p:cNvSpPr>
            <a:spLocks xmlns:a="http://schemas.openxmlformats.org/drawingml/2006/main" noGrp="1"/>
          </p:cNvSpPr>
          <p:nvPr/>
        </p:nvSpPr>
        <p:spPr>
          <a:xfrm xmlns:a="http://schemas.openxmlformats.org/drawingml/2006/main">
            <a:off x="762000" y="532447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backend/models.py:39–42     Đoạn trích: 39–42</a:t>
            </a:r>
          </a:p>
        </p:txBody>
      </p:sp>
    </p:spTree>
    <p:extLst>
      <p:ext uri="{BB962C8B-B14F-4D97-AF65-F5344CB8AC3E}">
        <p14:creationId xmlns:p14="http://schemas.microsoft.com/office/powerpoint/2010/main" val="861358313"/>
      </p:ext>
    </p:extLst>
  </p:cSld>
</p:sld>
</file>

<file path=ppt/slides/slide79.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BA28772-9DE7-4505-A4BE-FA58562CBE04}"/>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backend/config.py  (1–1/1)</a:t>
            </a:r>
          </a:p>
        </p:txBody>
      </p:sp>
      <p:sp>
        <p:nvSpPr>
          <p:cNvPr id="3" name="page-number">
            <a:extLst xmlns:a="http://schemas.openxmlformats.org/drawingml/2006/main">
              <a:ext uri="{FF2B5EF4-FFF2-40B4-BE49-F238E27FC236}">
                <a16:creationId xmlns:a16="http://schemas.microsoft.com/office/drawing/2014/main" id="{F2C375A6-FE64-432D-B151-8AFAAB9DBCDE}"/>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79 / 88</a:t>
            </a:r>
          </a:p>
        </p:txBody>
      </p:sp>
      <p:sp>
        <p:nvSpPr>
          <p:cNvPr id="4" name="function-name-0">
            <a:extLst xmlns:a="http://schemas.openxmlformats.org/drawingml/2006/main">
              <a:ext uri="{FF2B5EF4-FFF2-40B4-BE49-F238E27FC236}">
                <a16:creationId xmlns:a16="http://schemas.microsoft.com/office/drawing/2014/main" id="{39228B5E-C1FB-4F81-A44F-52A64425DD92}"/>
              </a:ext>
            </a:extLst>
          </p:cNvPr>
          <p:cNvSpPr>
            <a:spLocks xmlns:a="http://schemas.openxmlformats.org/drawingml/2006/main" noGrp="1"/>
          </p:cNvSpPr>
          <p:nvPr/>
        </p:nvSpPr>
        <p:spPr>
          <a:xfrm xmlns:a="http://schemas.openxmlformats.org/drawingml/2006/main">
            <a:off x="762000" y="23050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Settings.from_env</a:t>
            </a:r>
          </a:p>
        </p:txBody>
      </p:sp>
      <p:sp>
        <p:nvSpPr>
          <p:cNvPr id="5" name="function-purpose-0">
            <a:extLst xmlns:a="http://schemas.openxmlformats.org/drawingml/2006/main">
              <a:ext uri="{FF2B5EF4-FFF2-40B4-BE49-F238E27FC236}">
                <a16:creationId xmlns:a16="http://schemas.microsoft.com/office/drawing/2014/main" id="{A161EFA6-8170-4668-BAAA-ECA9E91C867F}"/>
              </a:ext>
            </a:extLst>
          </p:cNvPr>
          <p:cNvSpPr>
            <a:spLocks xmlns:a="http://schemas.openxmlformats.org/drawingml/2006/main" noGrp="1"/>
          </p:cNvSpPr>
          <p:nvPr/>
        </p:nvSpPr>
        <p:spPr>
          <a:xfrm xmlns:a="http://schemas.openxmlformats.org/drawingml/2006/main">
            <a:off x="762000" y="27622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Đọc cấu hình từ .env/biến môi trường và kiểm tra key, timeout, retry cùng các giới hạn.</a:t>
            </a:r>
          </a:p>
        </p:txBody>
      </p:sp>
      <p:sp>
        <p:nvSpPr>
          <p:cNvPr id="6" name="function-io-0">
            <a:extLst xmlns:a="http://schemas.openxmlformats.org/drawingml/2006/main">
              <a:ext uri="{FF2B5EF4-FFF2-40B4-BE49-F238E27FC236}">
                <a16:creationId xmlns:a16="http://schemas.microsoft.com/office/drawing/2014/main" id="{C0D2DEA9-EF6E-465F-8ECC-D88DAF6BC24B}"/>
              </a:ext>
            </a:extLst>
          </p:cNvPr>
          <p:cNvSpPr>
            <a:spLocks xmlns:a="http://schemas.openxmlformats.org/drawingml/2006/main" noGrp="1"/>
          </p:cNvSpPr>
          <p:nvPr/>
        </p:nvSpPr>
        <p:spPr>
          <a:xfrm xmlns:a="http://schemas.openxmlformats.org/drawingml/2006/main">
            <a:off x="762000" y="334327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không có tham số ngoài đối tượng.  Ra / tác động: Settings bất biến hoặc ValueError nếu cấu hình sai.</a:t>
            </a:r>
          </a:p>
        </p:txBody>
      </p:sp>
      <p:sp>
        <p:nvSpPr>
          <p:cNvPr id="7" name="function-code-0">
            <a:extLst xmlns:a="http://schemas.openxmlformats.org/drawingml/2006/main">
              <a:ext uri="{FF2B5EF4-FFF2-40B4-BE49-F238E27FC236}">
                <a16:creationId xmlns:a16="http://schemas.microsoft.com/office/drawing/2014/main" id="{F7DE80A3-2CEE-4B95-B789-0346EE5084F1}"/>
              </a:ext>
            </a:extLst>
          </p:cNvPr>
          <p:cNvSpPr>
            <a:spLocks xmlns:a="http://schemas.openxmlformats.org/drawingml/2006/main" noGrp="1"/>
          </p:cNvSpPr>
          <p:nvPr/>
        </p:nvSpPr>
        <p:spPr>
          <a:xfrm xmlns:a="http://schemas.openxmlformats.org/drawingml/2006/main">
            <a:off x="762000" y="391477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27      def from_env(cls):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28          load_dotenv()</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29          settings = cls(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30              db_path=get_db_path(),</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31              llm_provider=os.getenv("LLM_PROVIDER", "fake"),</a:t>
            </a:r>
          </a:p>
        </p:txBody>
      </p:sp>
      <p:sp>
        <p:nvSpPr>
          <p:cNvPr id="8" name="function-source-0">
            <a:extLst xmlns:a="http://schemas.openxmlformats.org/drawingml/2006/main">
              <a:ext uri="{FF2B5EF4-FFF2-40B4-BE49-F238E27FC236}">
                <a16:creationId xmlns:a16="http://schemas.microsoft.com/office/drawing/2014/main" id="{7EFA8E87-D3E9-42D3-AB96-51A92A66746E}"/>
              </a:ext>
            </a:extLst>
          </p:cNvPr>
          <p:cNvSpPr>
            <a:spLocks xmlns:a="http://schemas.openxmlformats.org/drawingml/2006/main" noGrp="1"/>
          </p:cNvSpPr>
          <p:nvPr/>
        </p:nvSpPr>
        <p:spPr>
          <a:xfrm xmlns:a="http://schemas.openxmlformats.org/drawingml/2006/main">
            <a:off x="762000" y="532447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backend/config.py:27–54     Đoạn trích: 27–31</a:t>
            </a:r>
          </a:p>
        </p:txBody>
      </p:sp>
    </p:spTree>
    <p:extLst>
      <p:ext uri="{BB962C8B-B14F-4D97-AF65-F5344CB8AC3E}">
        <p14:creationId xmlns:p14="http://schemas.microsoft.com/office/powerpoint/2010/main" val="1377093429"/>
      </p:ext>
    </p:extLst>
  </p:cSld>
</p:sld>
</file>

<file path=ppt/slides/slide80.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5893CC16-9175-43C2-B01D-0F68A8A0B187}"/>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backend/errors.py  (1–2/2)</a:t>
            </a:r>
          </a:p>
        </p:txBody>
      </p:sp>
      <p:sp>
        <p:nvSpPr>
          <p:cNvPr id="3" name="page-number">
            <a:extLst xmlns:a="http://schemas.openxmlformats.org/drawingml/2006/main">
              <a:ext uri="{FF2B5EF4-FFF2-40B4-BE49-F238E27FC236}">
                <a16:creationId xmlns:a16="http://schemas.microsoft.com/office/drawing/2014/main" id="{1A7E8B07-A931-40C9-8320-A0151D0E2DB9}"/>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80 / 88</a:t>
            </a:r>
          </a:p>
        </p:txBody>
      </p:sp>
      <p:sp>
        <p:nvSpPr>
          <p:cNvPr id="4" name="function-name-0">
            <a:extLst xmlns:a="http://schemas.openxmlformats.org/drawingml/2006/main">
              <a:ext uri="{FF2B5EF4-FFF2-40B4-BE49-F238E27FC236}">
                <a16:creationId xmlns:a16="http://schemas.microsoft.com/office/drawing/2014/main" id="{9D864B27-5B70-4080-91A1-70EF875B94BB}"/>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ApiProblem.__init__</a:t>
            </a:r>
          </a:p>
        </p:txBody>
      </p:sp>
      <p:sp>
        <p:nvSpPr>
          <p:cNvPr id="5" name="function-purpose-0">
            <a:extLst xmlns:a="http://schemas.openxmlformats.org/drawingml/2006/main">
              <a:ext uri="{FF2B5EF4-FFF2-40B4-BE49-F238E27FC236}">
                <a16:creationId xmlns:a16="http://schemas.microsoft.com/office/drawing/2014/main" id="{4E9B3101-875F-4871-A65F-DC5FECA5BC4B}"/>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Lưu mã HTTP, mã lỗi, thông báo và lỗi từng trường để API phản hồi thống nhất.</a:t>
            </a:r>
          </a:p>
        </p:txBody>
      </p:sp>
      <p:sp>
        <p:nvSpPr>
          <p:cNvPr id="6" name="function-io-0">
            <a:extLst xmlns:a="http://schemas.openxmlformats.org/drawingml/2006/main">
              <a:ext uri="{FF2B5EF4-FFF2-40B4-BE49-F238E27FC236}">
                <a16:creationId xmlns:a16="http://schemas.microsoft.com/office/drawing/2014/main" id="{4FAA1A57-384D-413D-930E-7CDBA7FAE322}"/>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status, code, message, fields.  Ra / tác động: Đối tượng lỗi có status, code, message, fields.</a:t>
            </a:r>
          </a:p>
        </p:txBody>
      </p:sp>
      <p:sp>
        <p:nvSpPr>
          <p:cNvPr id="7" name="function-code-0">
            <a:extLst xmlns:a="http://schemas.openxmlformats.org/drawingml/2006/main">
              <a:ext uri="{FF2B5EF4-FFF2-40B4-BE49-F238E27FC236}">
                <a16:creationId xmlns:a16="http://schemas.microsoft.com/office/drawing/2014/main" id="{00CF8C4C-403F-40E2-B645-75FF6AA50130}"/>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      def __init__(self, status, code, message, fields=None):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          self.status = status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8          self.code = code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9          self.message = message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10          self.fields = fields or {}</a:t>
            </a:r>
          </a:p>
        </p:txBody>
      </p:sp>
      <p:sp>
        <p:nvSpPr>
          <p:cNvPr id="8" name="function-source-0">
            <a:extLst xmlns:a="http://schemas.openxmlformats.org/drawingml/2006/main">
              <a:ext uri="{FF2B5EF4-FFF2-40B4-BE49-F238E27FC236}">
                <a16:creationId xmlns:a16="http://schemas.microsoft.com/office/drawing/2014/main" id="{C00DCB5E-56F3-474D-801E-82E1CF593CEC}"/>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backend/errors.py:6–10     Đoạn trích: 6–10</a:t>
            </a:r>
          </a:p>
        </p:txBody>
      </p:sp>
      <p:sp>
        <p:nvSpPr>
          <p:cNvPr id="9" name="function-name-1">
            <a:extLst xmlns:a="http://schemas.openxmlformats.org/drawingml/2006/main">
              <a:ext uri="{FF2B5EF4-FFF2-40B4-BE49-F238E27FC236}">
                <a16:creationId xmlns:a16="http://schemas.microsoft.com/office/drawing/2014/main" id="{DE2EBDDF-A334-42D1-A898-1DA24E3F0049}"/>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database_problem</a:t>
            </a:r>
          </a:p>
        </p:txBody>
      </p:sp>
      <p:sp>
        <p:nvSpPr>
          <p:cNvPr id="10" name="function-purpose-1">
            <a:extLst xmlns:a="http://schemas.openxmlformats.org/drawingml/2006/main">
              <a:ext uri="{FF2B5EF4-FFF2-40B4-BE49-F238E27FC236}">
                <a16:creationId xmlns:a16="http://schemas.microsoft.com/office/drawing/2014/main" id="{A69FA95D-1E4D-4D25-9C6C-3A3DABCFA96B}"/>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Ánh xạ lỗi database sang mã HTTP và đổi tên trường cho khớp dữ liệu frontend.</a:t>
            </a:r>
          </a:p>
        </p:txBody>
      </p:sp>
      <p:sp>
        <p:nvSpPr>
          <p:cNvPr id="11" name="function-io-1">
            <a:extLst xmlns:a="http://schemas.openxmlformats.org/drawingml/2006/main">
              <a:ext uri="{FF2B5EF4-FFF2-40B4-BE49-F238E27FC236}">
                <a16:creationId xmlns:a16="http://schemas.microsoft.com/office/drawing/2014/main" id="{B4230D71-E042-42DA-A182-0E8110691CB0}"/>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err.  Ra / tác động: ApiProblem tương ứng lỗi database.</a:t>
            </a:r>
          </a:p>
        </p:txBody>
      </p:sp>
      <p:sp>
        <p:nvSpPr>
          <p:cNvPr id="12" name="function-code-1">
            <a:extLst xmlns:a="http://schemas.openxmlformats.org/drawingml/2006/main">
              <a:ext uri="{FF2B5EF4-FFF2-40B4-BE49-F238E27FC236}">
                <a16:creationId xmlns:a16="http://schemas.microsoft.com/office/drawing/2014/main" id="{021BE451-0479-4A2E-BD52-8EAB38D90D64}"/>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463" b="0">
                <a:solidFill>
                  <a:srgbClr val="172E32"/>
                </a:solidFill>
                <a:latin typeface="Courier New"/>
                <a:ea typeface="Courier New"/>
                <a:cs typeface="Courier New"/>
              </a:defRPr>
            </a:defPPr>
            <a:lvl1pPr>
              <a:defRPr sz="1463" b="0">
                <a:solidFill>
                  <a:srgbClr val="172E32"/>
                </a:solidFill>
                <a:latin typeface="Courier New"/>
                <a:ea typeface="Courier New"/>
                <a:cs typeface="Courier New"/>
              </a:defRPr>
            </a:lvl1pPr>
            <a:lvl2pPr>
              <a:defRPr sz="1463" b="0">
                <a:solidFill>
                  <a:srgbClr val="172E32"/>
                </a:solidFill>
                <a:latin typeface="Courier New"/>
                <a:ea typeface="Courier New"/>
                <a:cs typeface="Courier New"/>
              </a:defRPr>
            </a:lvl2pPr>
            <a:lvl3pPr>
              <a:defRPr sz="1463" b="0">
                <a:solidFill>
                  <a:srgbClr val="172E32"/>
                </a:solidFill>
                <a:latin typeface="Courier New"/>
                <a:ea typeface="Courier New"/>
                <a:cs typeface="Courier New"/>
              </a:defRPr>
            </a:lvl3pPr>
            <a:lvl4pPr>
              <a:defRPr sz="1463" b="0">
                <a:solidFill>
                  <a:srgbClr val="172E32"/>
                </a:solidFill>
                <a:latin typeface="Courier New"/>
                <a:ea typeface="Courier New"/>
                <a:cs typeface="Courier New"/>
              </a:defRPr>
            </a:lvl4pPr>
            <a:lvl5pPr>
              <a:defRPr sz="1463" b="0">
                <a:solidFill>
                  <a:srgbClr val="172E32"/>
                </a:solidFill>
                <a:latin typeface="Courier New"/>
                <a:ea typeface="Courier New"/>
                <a:cs typeface="Courier New"/>
              </a:defRPr>
            </a:lvl5pPr>
            <a:lvl6pPr>
              <a:defRPr sz="1463" b="0">
                <a:solidFill>
                  <a:srgbClr val="172E32"/>
                </a:solidFill>
                <a:latin typeface="Courier New"/>
                <a:ea typeface="Courier New"/>
                <a:cs typeface="Courier New"/>
              </a:defRPr>
            </a:lvl6pPr>
            <a:lvl7pPr>
              <a:defRPr sz="1463" b="0">
                <a:solidFill>
                  <a:srgbClr val="172E32"/>
                </a:solidFill>
                <a:latin typeface="Courier New"/>
                <a:ea typeface="Courier New"/>
                <a:cs typeface="Courier New"/>
              </a:defRPr>
            </a:lvl7pPr>
            <a:lvl8pPr>
              <a:defRPr sz="1463" b="0">
                <a:solidFill>
                  <a:srgbClr val="172E32"/>
                </a:solidFill>
                <a:latin typeface="Courier New"/>
                <a:ea typeface="Courier New"/>
                <a:cs typeface="Courier New"/>
              </a:defRPr>
            </a:lvl8pPr>
            <a:lvl9pPr>
              <a:defRPr sz="1463" b="0">
                <a:solidFill>
                  <a:srgbClr val="172E32"/>
                </a:solidFill>
                <a:latin typeface="Courier New"/>
                <a:ea typeface="Courier New"/>
                <a:cs typeface="Courier New"/>
              </a:defRPr>
            </a:lvl9pPr>
          </a:lstStyle>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14  def database_problem(err: DataServiceError):</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15      code = err.code</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16      status = 409</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17      if code in {"sku_not_found", "product_not_found", "order_not_found", "item_not_found", "conversation_not_found"}:</a:t>
            </a:r>
          </a:p>
          <a:p xmlns:a="http://schemas.openxmlformats.org/drawingml/2006/main">
            <a:pPr>
              <a:lnSpc>
                <a:spcPct val="102000"/>
              </a:lnSpc>
              <a:buNone/>
              <a:defRPr sz="1463" b="0">
                <a:solidFill>
                  <a:srgbClr val="172E32"/>
                </a:solidFill>
                <a:latin typeface="Courier New"/>
                <a:ea typeface="Courier New"/>
                <a:cs typeface="Courier New"/>
              </a:defRPr>
            </a:pPr>
            <a:r>
              <a:rPr sz="1463" b="0">
                <a:solidFill>
                  <a:srgbClr val="172E32"/>
                </a:solidFill>
                <a:latin typeface="Courier New"/>
                <a:ea typeface="Courier New"/>
                <a:cs typeface="Courier New"/>
              </a:rPr>
              <a:t> 18          status = 404</a:t>
            </a:r>
          </a:p>
        </p:txBody>
      </p:sp>
      <p:sp>
        <p:nvSpPr>
          <p:cNvPr id="13" name="function-source-1">
            <a:extLst xmlns:a="http://schemas.openxmlformats.org/drawingml/2006/main">
              <a:ext uri="{FF2B5EF4-FFF2-40B4-BE49-F238E27FC236}">
                <a16:creationId xmlns:a16="http://schemas.microsoft.com/office/drawing/2014/main" id="{5FDC7CD5-0A4B-4FC3-B757-21FBE855DD6F}"/>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backend/errors.py:14–23     Đoạn trích: 14–18</a:t>
            </a:r>
          </a:p>
        </p:txBody>
      </p:sp>
    </p:spTree>
    <p:extLst>
      <p:ext uri="{BB962C8B-B14F-4D97-AF65-F5344CB8AC3E}">
        <p14:creationId xmlns:p14="http://schemas.microsoft.com/office/powerpoint/2010/main" val="715356567"/>
      </p:ext>
    </p:extLst>
  </p:cSld>
</p:sld>
</file>

<file path=ppt/slides/slide81.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C455218-3F54-47C8-AD59-7348CD5CD25B}"/>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backend/shop_api.py  (1–2/6)</a:t>
            </a:r>
          </a:p>
        </p:txBody>
      </p:sp>
      <p:sp>
        <p:nvSpPr>
          <p:cNvPr id="3" name="page-number">
            <a:extLst xmlns:a="http://schemas.openxmlformats.org/drawingml/2006/main">
              <a:ext uri="{FF2B5EF4-FFF2-40B4-BE49-F238E27FC236}">
                <a16:creationId xmlns:a16="http://schemas.microsoft.com/office/drawing/2014/main" id="{B0B05C8E-B859-4821-805A-23F4BBD63BA8}"/>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81 / 88</a:t>
            </a:r>
          </a:p>
        </p:txBody>
      </p:sp>
      <p:sp>
        <p:nvSpPr>
          <p:cNvPr id="4" name="function-name-0">
            <a:extLst xmlns:a="http://schemas.openxmlformats.org/drawingml/2006/main">
              <a:ext uri="{FF2B5EF4-FFF2-40B4-BE49-F238E27FC236}">
                <a16:creationId xmlns:a16="http://schemas.microsoft.com/office/drawing/2014/main" id="{2E93EEAF-1EE6-4561-9F59-8A7ABB30A11C}"/>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_seg  [tương thích Streamlit]</a:t>
            </a:r>
          </a:p>
        </p:txBody>
      </p:sp>
      <p:sp>
        <p:nvSpPr>
          <p:cNvPr id="5" name="function-purpose-0">
            <a:extLst xmlns:a="http://schemas.openxmlformats.org/drawingml/2006/main">
              <a:ext uri="{FF2B5EF4-FFF2-40B4-BE49-F238E27FC236}">
                <a16:creationId xmlns:a16="http://schemas.microsoft.com/office/drawing/2014/main" id="{2100D452-DF90-401B-9D01-20C9FD0BD7B9}"/>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Mã hóa ID hoặc SKU để chèn an toàn vào một đoạn đường dẫn URL.</a:t>
            </a:r>
          </a:p>
        </p:txBody>
      </p:sp>
      <p:sp>
        <p:nvSpPr>
          <p:cNvPr id="6" name="function-io-0">
            <a:extLst xmlns:a="http://schemas.openxmlformats.org/drawingml/2006/main">
              <a:ext uri="{FF2B5EF4-FFF2-40B4-BE49-F238E27FC236}">
                <a16:creationId xmlns:a16="http://schemas.microsoft.com/office/drawing/2014/main" id="{420ADE3C-4A39-4E79-BEEB-3D9145C5E651}"/>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value.  Ra / tác động: Chuỗi URL-encoded cho một đoạn path.</a:t>
            </a:r>
          </a:p>
        </p:txBody>
      </p:sp>
      <p:sp>
        <p:nvSpPr>
          <p:cNvPr id="7" name="function-code-0">
            <a:extLst xmlns:a="http://schemas.openxmlformats.org/drawingml/2006/main">
              <a:ext uri="{FF2B5EF4-FFF2-40B4-BE49-F238E27FC236}">
                <a16:creationId xmlns:a16="http://schemas.microsoft.com/office/drawing/2014/main" id="{F714725B-5F83-449C-8370-DD96962E1FCC}"/>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11  def _seg(value):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12      return quote(str(value), safe="")</a:t>
            </a:r>
          </a:p>
        </p:txBody>
      </p:sp>
      <p:sp>
        <p:nvSpPr>
          <p:cNvPr id="8" name="function-source-0">
            <a:extLst xmlns:a="http://schemas.openxmlformats.org/drawingml/2006/main">
              <a:ext uri="{FF2B5EF4-FFF2-40B4-BE49-F238E27FC236}">
                <a16:creationId xmlns:a16="http://schemas.microsoft.com/office/drawing/2014/main" id="{CFB396F6-B54E-47D6-91DE-FB2EEA71CFB3}"/>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backend/shop_api.py:11–12     Đoạn trích: 11–12</a:t>
            </a:r>
          </a:p>
        </p:txBody>
      </p:sp>
      <p:sp>
        <p:nvSpPr>
          <p:cNvPr id="9" name="function-name-1">
            <a:extLst xmlns:a="http://schemas.openxmlformats.org/drawingml/2006/main">
              <a:ext uri="{FF2B5EF4-FFF2-40B4-BE49-F238E27FC236}">
                <a16:creationId xmlns:a16="http://schemas.microsoft.com/office/drawing/2014/main" id="{306EA6AC-F184-4F6A-AEF7-D78559A73858}"/>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ShopApiMixin.list_products  [tương thích Streamlit]</a:t>
            </a:r>
          </a:p>
        </p:txBody>
      </p:sp>
      <p:sp>
        <p:nvSpPr>
          <p:cNvPr id="10" name="function-purpose-1">
            <a:extLst xmlns:a="http://schemas.openxmlformats.org/drawingml/2006/main">
              <a:ext uri="{FF2B5EF4-FFF2-40B4-BE49-F238E27FC236}">
                <a16:creationId xmlns:a16="http://schemas.microsoft.com/office/drawing/2014/main" id="{4FE84C75-C2E1-499C-A879-9FC316F3600E}"/>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Gọi API lấy danh sách sản phẩm và trả riêng mảng products.</a:t>
            </a:r>
          </a:p>
        </p:txBody>
      </p:sp>
      <p:sp>
        <p:nvSpPr>
          <p:cNvPr id="11" name="function-io-1">
            <a:extLst xmlns:a="http://schemas.openxmlformats.org/drawingml/2006/main">
              <a:ext uri="{FF2B5EF4-FFF2-40B4-BE49-F238E27FC236}">
                <a16:creationId xmlns:a16="http://schemas.microsoft.com/office/drawing/2014/main" id="{E7E6211A-19B4-4233-873B-9B9E85C13837}"/>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không có tham số ngoài đối tượng.  Ra / tác động: Mảng products từ API.</a:t>
            </a:r>
          </a:p>
        </p:txBody>
      </p:sp>
      <p:sp>
        <p:nvSpPr>
          <p:cNvPr id="12" name="function-code-1">
            <a:extLst xmlns:a="http://schemas.openxmlformats.org/drawingml/2006/main">
              <a:ext uri="{FF2B5EF4-FFF2-40B4-BE49-F238E27FC236}">
                <a16:creationId xmlns:a16="http://schemas.microsoft.com/office/drawing/2014/main" id="{476CD861-68BB-4ED7-AD6E-40A7892C1D5D}"/>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18      def list_products(self):</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19          return self._request("GET", "/api/products")["products"]</a:t>
            </a:r>
          </a:p>
        </p:txBody>
      </p:sp>
      <p:sp>
        <p:nvSpPr>
          <p:cNvPr id="13" name="function-source-1">
            <a:extLst xmlns:a="http://schemas.openxmlformats.org/drawingml/2006/main">
              <a:ext uri="{FF2B5EF4-FFF2-40B4-BE49-F238E27FC236}">
                <a16:creationId xmlns:a16="http://schemas.microsoft.com/office/drawing/2014/main" id="{3EB12325-E0D4-44E2-ADEF-7D24B2A88C5F}"/>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backend/shop_api.py:18–19     Đoạn trích: 18–19</a:t>
            </a:r>
          </a:p>
        </p:txBody>
      </p:sp>
    </p:spTree>
    <p:extLst>
      <p:ext uri="{BB962C8B-B14F-4D97-AF65-F5344CB8AC3E}">
        <p14:creationId xmlns:p14="http://schemas.microsoft.com/office/powerpoint/2010/main" val="1454979931"/>
      </p:ext>
    </p:extLst>
  </p:cSld>
</p:sld>
</file>

<file path=ppt/slides/slide82.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6BD218B-8A77-4AC9-B853-4C645623388C}"/>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backend/shop_api.py  (3–4/6)</a:t>
            </a:r>
          </a:p>
        </p:txBody>
      </p:sp>
      <p:sp>
        <p:nvSpPr>
          <p:cNvPr id="3" name="page-number">
            <a:extLst xmlns:a="http://schemas.openxmlformats.org/drawingml/2006/main">
              <a:ext uri="{FF2B5EF4-FFF2-40B4-BE49-F238E27FC236}">
                <a16:creationId xmlns:a16="http://schemas.microsoft.com/office/drawing/2014/main" id="{E9BE88C3-306E-44BF-8D63-A648593F4F5F}"/>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82 / 88</a:t>
            </a:r>
          </a:p>
        </p:txBody>
      </p:sp>
      <p:sp>
        <p:nvSpPr>
          <p:cNvPr id="4" name="function-name-0">
            <a:extLst xmlns:a="http://schemas.openxmlformats.org/drawingml/2006/main">
              <a:ext uri="{FF2B5EF4-FFF2-40B4-BE49-F238E27FC236}">
                <a16:creationId xmlns:a16="http://schemas.microsoft.com/office/drawing/2014/main" id="{E98078C2-11B5-4149-B067-1471AFC72B3F}"/>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ShopApiMixin.get_product  [tương thích Streamlit]</a:t>
            </a:r>
          </a:p>
        </p:txBody>
      </p:sp>
      <p:sp>
        <p:nvSpPr>
          <p:cNvPr id="5" name="function-purpose-0">
            <a:extLst xmlns:a="http://schemas.openxmlformats.org/drawingml/2006/main">
              <a:ext uri="{FF2B5EF4-FFF2-40B4-BE49-F238E27FC236}">
                <a16:creationId xmlns:a16="http://schemas.microsoft.com/office/drawing/2014/main" id="{5C47F772-C59C-45A6-9CFE-49C5A3FE8CF2}"/>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Gọi API lấy thông tin chi tiết sản phẩm theo ID.</a:t>
            </a:r>
          </a:p>
        </p:txBody>
      </p:sp>
      <p:sp>
        <p:nvSpPr>
          <p:cNvPr id="6" name="function-io-0">
            <a:extLst xmlns:a="http://schemas.openxmlformats.org/drawingml/2006/main">
              <a:ext uri="{FF2B5EF4-FFF2-40B4-BE49-F238E27FC236}">
                <a16:creationId xmlns:a16="http://schemas.microsoft.com/office/drawing/2014/main" id="{3F856BAD-DAB0-471B-B1DC-73EFEAF575D8}"/>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product_id.  Ra / tác động: JSON chi tiết sản phẩm từ API.</a:t>
            </a:r>
          </a:p>
        </p:txBody>
      </p:sp>
      <p:sp>
        <p:nvSpPr>
          <p:cNvPr id="7" name="function-code-0">
            <a:extLst xmlns:a="http://schemas.openxmlformats.org/drawingml/2006/main">
              <a:ext uri="{FF2B5EF4-FFF2-40B4-BE49-F238E27FC236}">
                <a16:creationId xmlns:a16="http://schemas.microsoft.com/office/drawing/2014/main" id="{0E57A936-10BA-4C42-83FF-DCB9FC1BCF87}"/>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22      def get_product(self, product_id):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23          return self._request("GET", f"/api/products/{_seg(product_id)}")</a:t>
            </a:r>
          </a:p>
        </p:txBody>
      </p:sp>
      <p:sp>
        <p:nvSpPr>
          <p:cNvPr id="8" name="function-source-0">
            <a:extLst xmlns:a="http://schemas.openxmlformats.org/drawingml/2006/main">
              <a:ext uri="{FF2B5EF4-FFF2-40B4-BE49-F238E27FC236}">
                <a16:creationId xmlns:a16="http://schemas.microsoft.com/office/drawing/2014/main" id="{0A21F949-7874-4B97-8F6A-4DCA0297487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backend/shop_api.py:22–23     Đoạn trích: 22–23</a:t>
            </a:r>
          </a:p>
        </p:txBody>
      </p:sp>
      <p:sp>
        <p:nvSpPr>
          <p:cNvPr id="9" name="function-name-1">
            <a:extLst xmlns:a="http://schemas.openxmlformats.org/drawingml/2006/main">
              <a:ext uri="{FF2B5EF4-FFF2-40B4-BE49-F238E27FC236}">
                <a16:creationId xmlns:a16="http://schemas.microsoft.com/office/drawing/2014/main" id="{8B41783B-6F43-402D-AA42-9498843CF10C}"/>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ShopApiMixin.add_to_cart  [tương thích Streamlit]</a:t>
            </a:r>
          </a:p>
        </p:txBody>
      </p:sp>
      <p:sp>
        <p:nvSpPr>
          <p:cNvPr id="10" name="function-purpose-1">
            <a:extLst xmlns:a="http://schemas.openxmlformats.org/drawingml/2006/main">
              <a:ext uri="{FF2B5EF4-FFF2-40B4-BE49-F238E27FC236}">
                <a16:creationId xmlns:a16="http://schemas.microsoft.com/office/drawing/2014/main" id="{B6EF54E2-75CB-4DA2-9D15-2086836F0BC7}"/>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Gửi SKU và số lượng để API thêm hàng; không gửi giá hay tổng tiền từ client.</a:t>
            </a:r>
          </a:p>
        </p:txBody>
      </p:sp>
      <p:sp>
        <p:nvSpPr>
          <p:cNvPr id="11" name="function-io-1">
            <a:extLst xmlns:a="http://schemas.openxmlformats.org/drawingml/2006/main">
              <a:ext uri="{FF2B5EF4-FFF2-40B4-BE49-F238E27FC236}">
                <a16:creationId xmlns:a16="http://schemas.microsoft.com/office/drawing/2014/main" id="{CC068ED4-BECE-4059-9E50-19871664D488}"/>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sku, quantity.  Ra / tác động: JSON giỏ sau thêm hàng qua API.</a:t>
            </a:r>
          </a:p>
        </p:txBody>
      </p:sp>
      <p:sp>
        <p:nvSpPr>
          <p:cNvPr id="12" name="function-code-1">
            <a:extLst xmlns:a="http://schemas.openxmlformats.org/drawingml/2006/main">
              <a:ext uri="{FF2B5EF4-FFF2-40B4-BE49-F238E27FC236}">
                <a16:creationId xmlns:a16="http://schemas.microsoft.com/office/drawing/2014/main" id="{14FC2A67-4E77-41B3-8412-CD4368D04086}"/>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27      def add_to_cart(self, sku, quantity):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28          return self._request("POST", "/api/cart/items", json={"sku": sku, "quantity": quantity})</a:t>
            </a:r>
          </a:p>
        </p:txBody>
      </p:sp>
      <p:sp>
        <p:nvSpPr>
          <p:cNvPr id="13" name="function-source-1">
            <a:extLst xmlns:a="http://schemas.openxmlformats.org/drawingml/2006/main">
              <a:ext uri="{FF2B5EF4-FFF2-40B4-BE49-F238E27FC236}">
                <a16:creationId xmlns:a16="http://schemas.microsoft.com/office/drawing/2014/main" id="{08A6F05B-423F-49BF-B873-DB8145F9A82A}"/>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backend/shop_api.py:27–28     Đoạn trích: 27–28</a:t>
            </a:r>
          </a:p>
        </p:txBody>
      </p:sp>
    </p:spTree>
    <p:extLst>
      <p:ext uri="{BB962C8B-B14F-4D97-AF65-F5344CB8AC3E}">
        <p14:creationId xmlns:p14="http://schemas.microsoft.com/office/powerpoint/2010/main" val="1631481913"/>
      </p:ext>
    </p:extLst>
  </p:cSld>
</p:sld>
</file>

<file path=ppt/slides/slide83.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767D5B8-A3C4-475D-8A13-637D610DB096}"/>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backend/shop_api.py  (5–6/6)</a:t>
            </a:r>
          </a:p>
        </p:txBody>
      </p:sp>
      <p:sp>
        <p:nvSpPr>
          <p:cNvPr id="3" name="page-number">
            <a:extLst xmlns:a="http://schemas.openxmlformats.org/drawingml/2006/main">
              <a:ext uri="{FF2B5EF4-FFF2-40B4-BE49-F238E27FC236}">
                <a16:creationId xmlns:a16="http://schemas.microsoft.com/office/drawing/2014/main" id="{AC97FCC4-4AAC-4280-9DD6-2E845D3E1CB7}"/>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83 / 88</a:t>
            </a:r>
          </a:p>
        </p:txBody>
      </p:sp>
      <p:sp>
        <p:nvSpPr>
          <p:cNvPr id="4" name="function-name-0">
            <a:extLst xmlns:a="http://schemas.openxmlformats.org/drawingml/2006/main">
              <a:ext uri="{FF2B5EF4-FFF2-40B4-BE49-F238E27FC236}">
                <a16:creationId xmlns:a16="http://schemas.microsoft.com/office/drawing/2014/main" id="{17FB185E-2D7D-47AB-B0B3-0C7F077FD693}"/>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ShopApiMixin.update_cart_item  [tương thích Streamlit]</a:t>
            </a:r>
          </a:p>
        </p:txBody>
      </p:sp>
      <p:sp>
        <p:nvSpPr>
          <p:cNvPr id="5" name="function-purpose-0">
            <a:extLst xmlns:a="http://schemas.openxmlformats.org/drawingml/2006/main">
              <a:ext uri="{FF2B5EF4-FFF2-40B4-BE49-F238E27FC236}">
                <a16:creationId xmlns:a16="http://schemas.microsoft.com/office/drawing/2014/main" id="{F1137AF2-08B9-4475-8ED6-4428DA3BD27F}"/>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Gửi số lượng mới cho một dòng giỏ hàng và nhận lại giỏ đã cập nhật.</a:t>
            </a:r>
          </a:p>
        </p:txBody>
      </p:sp>
      <p:sp>
        <p:nvSpPr>
          <p:cNvPr id="6" name="function-io-0">
            <a:extLst xmlns:a="http://schemas.openxmlformats.org/drawingml/2006/main">
              <a:ext uri="{FF2B5EF4-FFF2-40B4-BE49-F238E27FC236}">
                <a16:creationId xmlns:a16="http://schemas.microsoft.com/office/drawing/2014/main" id="{66809412-9B4B-4D40-A871-5F272EB65537}"/>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item_id, quantity.  Ra / tác động: JSON giỏ sau sửa số lượng qua API.</a:t>
            </a:r>
          </a:p>
        </p:txBody>
      </p:sp>
      <p:sp>
        <p:nvSpPr>
          <p:cNvPr id="7" name="function-code-0">
            <a:extLst xmlns:a="http://schemas.openxmlformats.org/drawingml/2006/main">
              <a:ext uri="{FF2B5EF4-FFF2-40B4-BE49-F238E27FC236}">
                <a16:creationId xmlns:a16="http://schemas.microsoft.com/office/drawing/2014/main" id="{DE3E3551-9459-4298-BB99-C751AD159464}"/>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31      def update_cart_item(self, item_id, quantity):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32          return self._request("PATCH", f"/api/cart/items/{_seg(item_id)}", json={"quantity": quantity})</a:t>
            </a:r>
          </a:p>
        </p:txBody>
      </p:sp>
      <p:sp>
        <p:nvSpPr>
          <p:cNvPr id="8" name="function-source-0">
            <a:extLst xmlns:a="http://schemas.openxmlformats.org/drawingml/2006/main">
              <a:ext uri="{FF2B5EF4-FFF2-40B4-BE49-F238E27FC236}">
                <a16:creationId xmlns:a16="http://schemas.microsoft.com/office/drawing/2014/main" id="{E94CA847-DE9D-4FC2-88FC-7326F6C25CCE}"/>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backend/shop_api.py:31–32     Đoạn trích: 31–32</a:t>
            </a:r>
          </a:p>
        </p:txBody>
      </p:sp>
      <p:sp>
        <p:nvSpPr>
          <p:cNvPr id="9" name="function-name-1">
            <a:extLst xmlns:a="http://schemas.openxmlformats.org/drawingml/2006/main">
              <a:ext uri="{FF2B5EF4-FFF2-40B4-BE49-F238E27FC236}">
                <a16:creationId xmlns:a16="http://schemas.microsoft.com/office/drawing/2014/main" id="{C425027D-946D-4112-92E0-C0B578A0CD95}"/>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ShopApiMixin.remove_cart_item  [tương thích Streamlit]</a:t>
            </a:r>
          </a:p>
        </p:txBody>
      </p:sp>
      <p:sp>
        <p:nvSpPr>
          <p:cNvPr id="10" name="function-purpose-1">
            <a:extLst xmlns:a="http://schemas.openxmlformats.org/drawingml/2006/main">
              <a:ext uri="{FF2B5EF4-FFF2-40B4-BE49-F238E27FC236}">
                <a16:creationId xmlns:a16="http://schemas.microsoft.com/office/drawing/2014/main" id="{027D32B2-0D47-44AC-92DE-C6D98A8AA9B0}"/>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Gọi API xóa một dòng giỏ hàng theo item ID.</a:t>
            </a:r>
          </a:p>
        </p:txBody>
      </p:sp>
      <p:sp>
        <p:nvSpPr>
          <p:cNvPr id="11" name="function-io-1">
            <a:extLst xmlns:a="http://schemas.openxmlformats.org/drawingml/2006/main">
              <a:ext uri="{FF2B5EF4-FFF2-40B4-BE49-F238E27FC236}">
                <a16:creationId xmlns:a16="http://schemas.microsoft.com/office/drawing/2014/main" id="{80274979-CB7D-4151-B042-52F321789F23}"/>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item_id.  Ra / tác động: JSON giỏ sau xóa dòng qua API.</a:t>
            </a:r>
          </a:p>
        </p:txBody>
      </p:sp>
      <p:sp>
        <p:nvSpPr>
          <p:cNvPr id="12" name="function-code-1">
            <a:extLst xmlns:a="http://schemas.openxmlformats.org/drawingml/2006/main">
              <a:ext uri="{FF2B5EF4-FFF2-40B4-BE49-F238E27FC236}">
                <a16:creationId xmlns:a16="http://schemas.microsoft.com/office/drawing/2014/main" id="{16071BC6-62B2-458D-9DB1-1D2F88BC9980}"/>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35      def remove_cart_item(self, item_id):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36          return self._request("DELETE", f"/api/cart/items/{_seg(item_id)}")</a:t>
            </a:r>
          </a:p>
        </p:txBody>
      </p:sp>
      <p:sp>
        <p:nvSpPr>
          <p:cNvPr id="13" name="function-source-1">
            <a:extLst xmlns:a="http://schemas.openxmlformats.org/drawingml/2006/main">
              <a:ext uri="{FF2B5EF4-FFF2-40B4-BE49-F238E27FC236}">
                <a16:creationId xmlns:a16="http://schemas.microsoft.com/office/drawing/2014/main" id="{9AAEA726-453E-4FCE-84C7-2FCAFC170DDC}"/>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backend/shop_api.py:35–36     Đoạn trích: 35–36</a:t>
            </a:r>
          </a:p>
        </p:txBody>
      </p:sp>
    </p:spTree>
    <p:extLst>
      <p:ext uri="{BB962C8B-B14F-4D97-AF65-F5344CB8AC3E}">
        <p14:creationId xmlns:p14="http://schemas.microsoft.com/office/powerpoint/2010/main" val="2141504655"/>
      </p:ext>
    </p:extLst>
  </p:cSld>
</p:sld>
</file>

<file path=ppt/slides/slide84.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82FE18B4-A63F-4D58-92C6-4050CEA58230}"/>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backend/shop_logic.py  (1–2/9)</a:t>
            </a:r>
          </a:p>
        </p:txBody>
      </p:sp>
      <p:sp>
        <p:nvSpPr>
          <p:cNvPr id="3" name="page-number">
            <a:extLst xmlns:a="http://schemas.openxmlformats.org/drawingml/2006/main">
              <a:ext uri="{FF2B5EF4-FFF2-40B4-BE49-F238E27FC236}">
                <a16:creationId xmlns:a16="http://schemas.microsoft.com/office/drawing/2014/main" id="{610AD0CC-C086-47D5-8AB5-0EF7E7DFC167}"/>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84 / 88</a:t>
            </a:r>
          </a:p>
        </p:txBody>
      </p:sp>
      <p:sp>
        <p:nvSpPr>
          <p:cNvPr id="4" name="function-name-0">
            <a:extLst xmlns:a="http://schemas.openxmlformats.org/drawingml/2006/main">
              <a:ext uri="{FF2B5EF4-FFF2-40B4-BE49-F238E27FC236}">
                <a16:creationId xmlns:a16="http://schemas.microsoft.com/office/drawing/2014/main" id="{CBB31A06-E558-4637-AC11-AC947A361D5A}"/>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category_label  [tương thích Streamlit]</a:t>
            </a:r>
          </a:p>
        </p:txBody>
      </p:sp>
      <p:sp>
        <p:nvSpPr>
          <p:cNvPr id="5" name="function-purpose-0">
            <a:extLst xmlns:a="http://schemas.openxmlformats.org/drawingml/2006/main">
              <a:ext uri="{FF2B5EF4-FFF2-40B4-BE49-F238E27FC236}">
                <a16:creationId xmlns:a16="http://schemas.microsoft.com/office/drawing/2014/main" id="{3DDB3917-F3BC-4EF4-98A0-2F7508CFF747}"/>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Đổi mã danh mục thành nhãn tiếng Việt; mã lạ được viết hoa chữ đầu.</a:t>
            </a:r>
          </a:p>
        </p:txBody>
      </p:sp>
      <p:sp>
        <p:nvSpPr>
          <p:cNvPr id="6" name="function-io-0">
            <a:extLst xmlns:a="http://schemas.openxmlformats.org/drawingml/2006/main">
              <a:ext uri="{FF2B5EF4-FFF2-40B4-BE49-F238E27FC236}">
                <a16:creationId xmlns:a16="http://schemas.microsoft.com/office/drawing/2014/main" id="{F71E62F4-6B25-4C7B-8F0C-CD8DCF4D4DF9}"/>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code.  Ra / tác động: Tên danh mục hiển thị.</a:t>
            </a:r>
          </a:p>
        </p:txBody>
      </p:sp>
      <p:sp>
        <p:nvSpPr>
          <p:cNvPr id="7" name="function-code-0">
            <a:extLst xmlns:a="http://schemas.openxmlformats.org/drawingml/2006/main">
              <a:ext uri="{FF2B5EF4-FFF2-40B4-BE49-F238E27FC236}">
                <a16:creationId xmlns:a16="http://schemas.microsoft.com/office/drawing/2014/main" id="{E8C88463-E6E8-40CE-8944-1919143B93B9}"/>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10  def category_label(code):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11      return CATEGORY_LABEL.get(code, str(code).capitalize())</a:t>
            </a:r>
          </a:p>
        </p:txBody>
      </p:sp>
      <p:sp>
        <p:nvSpPr>
          <p:cNvPr id="8" name="function-source-0">
            <a:extLst xmlns:a="http://schemas.openxmlformats.org/drawingml/2006/main">
              <a:ext uri="{FF2B5EF4-FFF2-40B4-BE49-F238E27FC236}">
                <a16:creationId xmlns:a16="http://schemas.microsoft.com/office/drawing/2014/main" id="{722BDE47-6CA1-4BCD-B81F-09A611DBD66F}"/>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backend/shop_logic.py:10–11     Đoạn trích: 10–11</a:t>
            </a:r>
          </a:p>
        </p:txBody>
      </p:sp>
      <p:sp>
        <p:nvSpPr>
          <p:cNvPr id="9" name="function-name-1">
            <a:extLst xmlns:a="http://schemas.openxmlformats.org/drawingml/2006/main">
              <a:ext uri="{FF2B5EF4-FFF2-40B4-BE49-F238E27FC236}">
                <a16:creationId xmlns:a16="http://schemas.microsoft.com/office/drawing/2014/main" id="{1D24B746-6BB0-4AA5-AD9C-3ECBB3254CE6}"/>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normalize  [tương thích Streamlit]</a:t>
            </a:r>
          </a:p>
        </p:txBody>
      </p:sp>
      <p:sp>
        <p:nvSpPr>
          <p:cNvPr id="10" name="function-purpose-1">
            <a:extLst xmlns:a="http://schemas.openxmlformats.org/drawingml/2006/main">
              <a:ext uri="{FF2B5EF4-FFF2-40B4-BE49-F238E27FC236}">
                <a16:creationId xmlns:a16="http://schemas.microsoft.com/office/drawing/2014/main" id="{B4A73BD0-70B7-4B3E-B770-7E8615AFAAFD}"/>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Bỏ dấu và chuyển chữ thường để tìm kiếm tên sản phẩm không phụ thuộc dấu tiếng Việt.</a:t>
            </a:r>
          </a:p>
        </p:txBody>
      </p:sp>
      <p:sp>
        <p:nvSpPr>
          <p:cNvPr id="11" name="function-io-1">
            <a:extLst xmlns:a="http://schemas.openxmlformats.org/drawingml/2006/main">
              <a:ext uri="{FF2B5EF4-FFF2-40B4-BE49-F238E27FC236}">
                <a16:creationId xmlns:a16="http://schemas.microsoft.com/office/drawing/2014/main" id="{D878F60A-31D1-459B-8467-33FFFB1ACE8B}"/>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text.  Ra / tác động: Chuỗi không dấu, chữ thường để tìm kiếm.</a:t>
            </a:r>
          </a:p>
        </p:txBody>
      </p:sp>
      <p:sp>
        <p:nvSpPr>
          <p:cNvPr id="12" name="function-code-1">
            <a:extLst xmlns:a="http://schemas.openxmlformats.org/drawingml/2006/main">
              <a:ext uri="{FF2B5EF4-FFF2-40B4-BE49-F238E27FC236}">
                <a16:creationId xmlns:a16="http://schemas.microsoft.com/office/drawing/2014/main" id="{514C1B97-4FCB-4986-8BBA-2DC139F9B045}"/>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15  def normalize(text):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17      text = unicodedata.normalize("NFD", str(text or "").lower().replace("đ", "d"))</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18      return "".join(c for c in text if unicodedata.category(c) != "Mn").strip()</a:t>
            </a:r>
          </a:p>
        </p:txBody>
      </p:sp>
      <p:sp>
        <p:nvSpPr>
          <p:cNvPr id="13" name="function-source-1">
            <a:extLst xmlns:a="http://schemas.openxmlformats.org/drawingml/2006/main">
              <a:ext uri="{FF2B5EF4-FFF2-40B4-BE49-F238E27FC236}">
                <a16:creationId xmlns:a16="http://schemas.microsoft.com/office/drawing/2014/main" id="{F901D44B-BCCE-4296-9E47-030B98BC190E}"/>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backend/shop_logic.py:15–18     Đoạn trích: 15–18</a:t>
            </a:r>
          </a:p>
        </p:txBody>
      </p:sp>
    </p:spTree>
    <p:extLst>
      <p:ext uri="{BB962C8B-B14F-4D97-AF65-F5344CB8AC3E}">
        <p14:creationId xmlns:p14="http://schemas.microsoft.com/office/powerpoint/2010/main" val="1589904767"/>
      </p:ext>
    </p:extLst>
  </p:cSld>
</p:sld>
</file>

<file path=ppt/slides/slide85.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8AB2F484-291A-443C-B3A0-08922569971D}"/>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backend/shop_logic.py  (3–4/9)</a:t>
            </a:r>
          </a:p>
        </p:txBody>
      </p:sp>
      <p:sp>
        <p:nvSpPr>
          <p:cNvPr id="3" name="page-number">
            <a:extLst xmlns:a="http://schemas.openxmlformats.org/drawingml/2006/main">
              <a:ext uri="{FF2B5EF4-FFF2-40B4-BE49-F238E27FC236}">
                <a16:creationId xmlns:a16="http://schemas.microsoft.com/office/drawing/2014/main" id="{F52F4D93-5CAF-4E65-B8D6-FFA47C50BE5C}"/>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85 / 88</a:t>
            </a:r>
          </a:p>
        </p:txBody>
      </p:sp>
      <p:sp>
        <p:nvSpPr>
          <p:cNvPr id="4" name="function-name-0">
            <a:extLst xmlns:a="http://schemas.openxmlformats.org/drawingml/2006/main">
              <a:ext uri="{FF2B5EF4-FFF2-40B4-BE49-F238E27FC236}">
                <a16:creationId xmlns:a16="http://schemas.microsoft.com/office/drawing/2014/main" id="{F8A1B49E-97D0-4924-856A-8A6128D0F249}"/>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filter_products  [tương thích Streamlit]</a:t>
            </a:r>
          </a:p>
        </p:txBody>
      </p:sp>
      <p:sp>
        <p:nvSpPr>
          <p:cNvPr id="5" name="function-purpose-0">
            <a:extLst xmlns:a="http://schemas.openxmlformats.org/drawingml/2006/main">
              <a:ext uri="{FF2B5EF4-FFF2-40B4-BE49-F238E27FC236}">
                <a16:creationId xmlns:a16="http://schemas.microsoft.com/office/drawing/2014/main" id="{EFCDB67E-9469-4F8A-9209-6E69BDC7A5C9}"/>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Lọc danh sách sản phẩm theo danh mục và từ khóa tên đã chuẩn hóa.</a:t>
            </a:r>
          </a:p>
        </p:txBody>
      </p:sp>
      <p:sp>
        <p:nvSpPr>
          <p:cNvPr id="6" name="function-io-0">
            <a:extLst xmlns:a="http://schemas.openxmlformats.org/drawingml/2006/main">
              <a:ext uri="{FF2B5EF4-FFF2-40B4-BE49-F238E27FC236}">
                <a16:creationId xmlns:a16="http://schemas.microsoft.com/office/drawing/2014/main" id="{1BA3B52A-CD3F-4094-97AD-95A92281340A}"/>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products, category, query.  Ra / tác động: Danh sách sau lọc category/query.</a:t>
            </a:r>
          </a:p>
        </p:txBody>
      </p:sp>
      <p:sp>
        <p:nvSpPr>
          <p:cNvPr id="7" name="function-code-0">
            <a:extLst xmlns:a="http://schemas.openxmlformats.org/drawingml/2006/main">
              <a:ext uri="{FF2B5EF4-FFF2-40B4-BE49-F238E27FC236}">
                <a16:creationId xmlns:a16="http://schemas.microsoft.com/office/drawing/2014/main" id="{E94EBB78-03C9-4DA4-B2DD-0F14F35158E6}"/>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22  def filter_products(products, category=None, query=""):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23      q = normalize(query)</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24      return [</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25          p for p in products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26          if (not category or p.get("category") == category)</a:t>
            </a:r>
          </a:p>
        </p:txBody>
      </p:sp>
      <p:sp>
        <p:nvSpPr>
          <p:cNvPr id="8" name="function-source-0">
            <a:extLst xmlns:a="http://schemas.openxmlformats.org/drawingml/2006/main">
              <a:ext uri="{FF2B5EF4-FFF2-40B4-BE49-F238E27FC236}">
                <a16:creationId xmlns:a16="http://schemas.microsoft.com/office/drawing/2014/main" id="{50687C20-8CA1-41DA-BACF-6898FD8747E5}"/>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backend/shop_logic.py:22–28     Đoạn trích: 22–26</a:t>
            </a:r>
          </a:p>
        </p:txBody>
      </p:sp>
      <p:sp>
        <p:nvSpPr>
          <p:cNvPr id="9" name="function-name-1">
            <a:extLst xmlns:a="http://schemas.openxmlformats.org/drawingml/2006/main">
              <a:ext uri="{FF2B5EF4-FFF2-40B4-BE49-F238E27FC236}">
                <a16:creationId xmlns:a16="http://schemas.microsoft.com/office/drawing/2014/main" id="{52CD2E48-E8B5-4C4F-B6D2-ABBEEB30BDAF}"/>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stock_label  [tương thích Streamlit]</a:t>
            </a:r>
          </a:p>
        </p:txBody>
      </p:sp>
      <p:sp>
        <p:nvSpPr>
          <p:cNvPr id="10" name="function-purpose-1">
            <a:extLst xmlns:a="http://schemas.openxmlformats.org/drawingml/2006/main">
              <a:ext uri="{FF2B5EF4-FFF2-40B4-BE49-F238E27FC236}">
                <a16:creationId xmlns:a16="http://schemas.microsoft.com/office/drawing/2014/main" id="{D3A12CA3-E4F6-4A96-9A27-D9C6F03CC712}"/>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Tạo nhãn hết hàng, sắp hết hoặc còn hàng từ số lượng tồn kho.</a:t>
            </a:r>
          </a:p>
        </p:txBody>
      </p:sp>
      <p:sp>
        <p:nvSpPr>
          <p:cNvPr id="11" name="function-io-1">
            <a:extLst xmlns:a="http://schemas.openxmlformats.org/drawingml/2006/main">
              <a:ext uri="{FF2B5EF4-FFF2-40B4-BE49-F238E27FC236}">
                <a16:creationId xmlns:a16="http://schemas.microsoft.com/office/drawing/2014/main" id="{31B1373B-3E58-45C4-9A54-B940BBF37645}"/>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stock.  Ra / tác động: Nhãn hết hàng/sắp hết/còn hàng.</a:t>
            </a:r>
          </a:p>
        </p:txBody>
      </p:sp>
      <p:sp>
        <p:nvSpPr>
          <p:cNvPr id="12" name="function-code-1">
            <a:extLst xmlns:a="http://schemas.openxmlformats.org/drawingml/2006/main">
              <a:ext uri="{FF2B5EF4-FFF2-40B4-BE49-F238E27FC236}">
                <a16:creationId xmlns:a16="http://schemas.microsoft.com/office/drawing/2014/main" id="{CD8710B9-A08E-4EEC-850F-750F10746411}"/>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32  def stock_label(stock):</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33      if stock &lt;= 0:</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34          return "Hết hàng"</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35      if stock &lt;= LOW_STOCK:</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36          return f"Sắp hết (còn {stock})"</a:t>
            </a:r>
          </a:p>
        </p:txBody>
      </p:sp>
      <p:sp>
        <p:nvSpPr>
          <p:cNvPr id="13" name="function-source-1">
            <a:extLst xmlns:a="http://schemas.openxmlformats.org/drawingml/2006/main">
              <a:ext uri="{FF2B5EF4-FFF2-40B4-BE49-F238E27FC236}">
                <a16:creationId xmlns:a16="http://schemas.microsoft.com/office/drawing/2014/main" id="{704E0298-EB13-4F17-A9E0-5E39973D19D8}"/>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backend/shop_logic.py:32–37     Đoạn trích: 32–36</a:t>
            </a:r>
          </a:p>
        </p:txBody>
      </p:sp>
    </p:spTree>
    <p:extLst>
      <p:ext uri="{BB962C8B-B14F-4D97-AF65-F5344CB8AC3E}">
        <p14:creationId xmlns:p14="http://schemas.microsoft.com/office/powerpoint/2010/main" val="1819448985"/>
      </p:ext>
    </p:extLst>
  </p:cSld>
</p:sld>
</file>

<file path=ppt/slides/slide86.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D0B9F938-65CF-415A-8B92-82D9782533B9}"/>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backend/shop_logic.py  (5–6/9)</a:t>
            </a:r>
          </a:p>
        </p:txBody>
      </p:sp>
      <p:sp>
        <p:nvSpPr>
          <p:cNvPr id="3" name="page-number">
            <a:extLst xmlns:a="http://schemas.openxmlformats.org/drawingml/2006/main">
              <a:ext uri="{FF2B5EF4-FFF2-40B4-BE49-F238E27FC236}">
                <a16:creationId xmlns:a16="http://schemas.microsoft.com/office/drawing/2014/main" id="{E63C496A-C7C2-467A-BA9B-52EC7F012C9F}"/>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86 / 88</a:t>
            </a:r>
          </a:p>
        </p:txBody>
      </p:sp>
      <p:sp>
        <p:nvSpPr>
          <p:cNvPr id="4" name="function-name-0">
            <a:extLst xmlns:a="http://schemas.openxmlformats.org/drawingml/2006/main">
              <a:ext uri="{FF2B5EF4-FFF2-40B4-BE49-F238E27FC236}">
                <a16:creationId xmlns:a16="http://schemas.microsoft.com/office/drawing/2014/main" id="{BF09F5D6-50FF-4E9D-AE0D-8F913A5902CE}"/>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max_selectable  [tương thích Streamlit]</a:t>
            </a:r>
          </a:p>
        </p:txBody>
      </p:sp>
      <p:sp>
        <p:nvSpPr>
          <p:cNvPr id="5" name="function-purpose-0">
            <a:extLst xmlns:a="http://schemas.openxmlformats.org/drawingml/2006/main">
              <a:ext uri="{FF2B5EF4-FFF2-40B4-BE49-F238E27FC236}">
                <a16:creationId xmlns:a16="http://schemas.microsoft.com/office/drawing/2014/main" id="{A5F863C8-00DF-40FC-BF25-2883498297F9}"/>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Giới hạn số lượng trên giao diện theo tồn kho và trần 99; server vẫn kiểm tra lại.</a:t>
            </a:r>
          </a:p>
        </p:txBody>
      </p:sp>
      <p:sp>
        <p:nvSpPr>
          <p:cNvPr id="6" name="function-io-0">
            <a:extLst xmlns:a="http://schemas.openxmlformats.org/drawingml/2006/main">
              <a:ext uri="{FF2B5EF4-FFF2-40B4-BE49-F238E27FC236}">
                <a16:creationId xmlns:a16="http://schemas.microsoft.com/office/drawing/2014/main" id="{84D29EF6-18ED-47C3-8AFC-964651CA0CDE}"/>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stock.  Ra / tác động: Số từ 1 đến 99 cho control UI, còn kiểm tra server.</a:t>
            </a:r>
          </a:p>
        </p:txBody>
      </p:sp>
      <p:sp>
        <p:nvSpPr>
          <p:cNvPr id="7" name="function-code-0">
            <a:extLst xmlns:a="http://schemas.openxmlformats.org/drawingml/2006/main">
              <a:ext uri="{FF2B5EF4-FFF2-40B4-BE49-F238E27FC236}">
                <a16:creationId xmlns:a16="http://schemas.microsoft.com/office/drawing/2014/main" id="{B25BCC7B-9129-46B1-AC3E-6DC3F35FC225}"/>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41  def max_selectable(stock):</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43      return max(1, min(int(stock), MAX_QTY))</a:t>
            </a:r>
          </a:p>
        </p:txBody>
      </p:sp>
      <p:sp>
        <p:nvSpPr>
          <p:cNvPr id="8" name="function-source-0">
            <a:extLst xmlns:a="http://schemas.openxmlformats.org/drawingml/2006/main">
              <a:ext uri="{FF2B5EF4-FFF2-40B4-BE49-F238E27FC236}">
                <a16:creationId xmlns:a16="http://schemas.microsoft.com/office/drawing/2014/main" id="{A101152C-F162-43EE-A6F9-8CD57A0498D3}"/>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backend/shop_logic.py:41–43     Đoạn trích: 41–43</a:t>
            </a:r>
          </a:p>
        </p:txBody>
      </p:sp>
      <p:sp>
        <p:nvSpPr>
          <p:cNvPr id="9" name="function-name-1">
            <a:extLst xmlns:a="http://schemas.openxmlformats.org/drawingml/2006/main">
              <a:ext uri="{FF2B5EF4-FFF2-40B4-BE49-F238E27FC236}">
                <a16:creationId xmlns:a16="http://schemas.microsoft.com/office/drawing/2014/main" id="{8FDAD66E-F58B-4607-817E-5D550CC92272}"/>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price_text  [tương thích Streamlit]</a:t>
            </a:r>
          </a:p>
        </p:txBody>
      </p:sp>
      <p:sp>
        <p:nvSpPr>
          <p:cNvPr id="10" name="function-purpose-1">
            <a:extLst xmlns:a="http://schemas.openxmlformats.org/drawingml/2006/main">
              <a:ext uri="{FF2B5EF4-FFF2-40B4-BE49-F238E27FC236}">
                <a16:creationId xmlns:a16="http://schemas.microsoft.com/office/drawing/2014/main" id="{6FC72AE2-D93E-4101-B43C-A89415DC88AA}"/>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Định dạng giá sản phẩm, thêm chữ “Từ” nếu các biến thể có giá khác nhau.</a:t>
            </a:r>
          </a:p>
        </p:txBody>
      </p:sp>
      <p:sp>
        <p:nvSpPr>
          <p:cNvPr id="11" name="function-io-1">
            <a:extLst xmlns:a="http://schemas.openxmlformats.org/drawingml/2006/main">
              <a:ext uri="{FF2B5EF4-FFF2-40B4-BE49-F238E27FC236}">
                <a16:creationId xmlns:a16="http://schemas.microsoft.com/office/drawing/2014/main" id="{C4ED490C-9ADA-476C-A517-4D0AFC5058A1}"/>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product, fmt.  Ra / tác động: Chuỗi giá hoặc “Từ ...”.</a:t>
            </a:r>
          </a:p>
        </p:txBody>
      </p:sp>
      <p:sp>
        <p:nvSpPr>
          <p:cNvPr id="12" name="function-code-1">
            <a:extLst xmlns:a="http://schemas.openxmlformats.org/drawingml/2006/main">
              <a:ext uri="{FF2B5EF4-FFF2-40B4-BE49-F238E27FC236}">
                <a16:creationId xmlns:a16="http://schemas.microsoft.com/office/drawing/2014/main" id="{6AD6E967-766E-48A0-8AFC-24B4A8024D79}"/>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47  def price_text(product, fmt):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48      low = product["price_from"]</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49      high = product.get("price_to", low)</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50      return fmt(low) if low == high else f"Từ {fmt(low)}"</a:t>
            </a:r>
          </a:p>
        </p:txBody>
      </p:sp>
      <p:sp>
        <p:nvSpPr>
          <p:cNvPr id="13" name="function-source-1">
            <a:extLst xmlns:a="http://schemas.openxmlformats.org/drawingml/2006/main">
              <a:ext uri="{FF2B5EF4-FFF2-40B4-BE49-F238E27FC236}">
                <a16:creationId xmlns:a16="http://schemas.microsoft.com/office/drawing/2014/main" id="{2BCACCC3-E7C6-49AB-B6F4-77B5FB560C20}"/>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backend/shop_logic.py:47–50     Đoạn trích: 47–50</a:t>
            </a:r>
          </a:p>
        </p:txBody>
      </p:sp>
    </p:spTree>
    <p:extLst>
      <p:ext uri="{BB962C8B-B14F-4D97-AF65-F5344CB8AC3E}">
        <p14:creationId xmlns:p14="http://schemas.microsoft.com/office/powerpoint/2010/main" val="83588972"/>
      </p:ext>
    </p:extLst>
  </p:cSld>
</p:sld>
</file>

<file path=ppt/slides/slide87.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C3DEDF40-F713-4803-B8B0-3DE682C7D4F0}"/>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backend/shop_logic.py  (7–8/9)</a:t>
            </a:r>
          </a:p>
        </p:txBody>
      </p:sp>
      <p:sp>
        <p:nvSpPr>
          <p:cNvPr id="3" name="page-number">
            <a:extLst xmlns:a="http://schemas.openxmlformats.org/drawingml/2006/main">
              <a:ext uri="{FF2B5EF4-FFF2-40B4-BE49-F238E27FC236}">
                <a16:creationId xmlns:a16="http://schemas.microsoft.com/office/drawing/2014/main" id="{BD100C1D-42C3-490C-9EC5-0DD3C6720A56}"/>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87 / 88</a:t>
            </a:r>
          </a:p>
        </p:txBody>
      </p:sp>
      <p:sp>
        <p:nvSpPr>
          <p:cNvPr id="4" name="function-name-0">
            <a:extLst xmlns:a="http://schemas.openxmlformats.org/drawingml/2006/main">
              <a:ext uri="{FF2B5EF4-FFF2-40B4-BE49-F238E27FC236}">
                <a16:creationId xmlns:a16="http://schemas.microsoft.com/office/drawing/2014/main" id="{FA8CFC06-E218-4D94-A8F1-72BAE4232E10}"/>
              </a:ext>
            </a:extLst>
          </p:cNvPr>
          <p:cNvSpPr>
            <a:spLocks xmlns:a="http://schemas.openxmlformats.org/drawingml/2006/main" noGrp="1"/>
          </p:cNvSpPr>
          <p:nvPr/>
        </p:nvSpPr>
        <p:spPr>
          <a:xfrm xmlns:a="http://schemas.openxmlformats.org/drawingml/2006/main">
            <a:off x="762000" y="14478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variant_option_label  [tương thích Streamlit]</a:t>
            </a:r>
          </a:p>
        </p:txBody>
      </p:sp>
      <p:sp>
        <p:nvSpPr>
          <p:cNvPr id="5" name="function-purpose-0">
            <a:extLst xmlns:a="http://schemas.openxmlformats.org/drawingml/2006/main">
              <a:ext uri="{FF2B5EF4-FFF2-40B4-BE49-F238E27FC236}">
                <a16:creationId xmlns:a16="http://schemas.microsoft.com/office/drawing/2014/main" id="{C8C16AAD-14F2-4468-A9A8-CB35FA4515D7}"/>
              </a:ext>
            </a:extLst>
          </p:cNvPr>
          <p:cNvSpPr>
            <a:spLocks xmlns:a="http://schemas.openxmlformats.org/drawingml/2006/main" noGrp="1"/>
          </p:cNvSpPr>
          <p:nvPr/>
        </p:nvSpPr>
        <p:spPr>
          <a:xfrm xmlns:a="http://schemas.openxmlformats.org/drawingml/2006/main">
            <a:off x="762000" y="19050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Ghép tên biến thể, giá và trạng thái hết hàng thành nhãn lựa chọn.</a:t>
            </a:r>
          </a:p>
        </p:txBody>
      </p:sp>
      <p:sp>
        <p:nvSpPr>
          <p:cNvPr id="6" name="function-io-0">
            <a:extLst xmlns:a="http://schemas.openxmlformats.org/drawingml/2006/main">
              <a:ext uri="{FF2B5EF4-FFF2-40B4-BE49-F238E27FC236}">
                <a16:creationId xmlns:a16="http://schemas.microsoft.com/office/drawing/2014/main" id="{D9EE3B8E-2FFE-4DFA-955B-FE6AF746BACB}"/>
              </a:ext>
            </a:extLst>
          </p:cNvPr>
          <p:cNvSpPr>
            <a:spLocks xmlns:a="http://schemas.openxmlformats.org/drawingml/2006/main" noGrp="1"/>
          </p:cNvSpPr>
          <p:nvPr/>
        </p:nvSpPr>
        <p:spPr>
          <a:xfrm xmlns:a="http://schemas.openxmlformats.org/drawingml/2006/main">
            <a:off x="762000" y="24860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variant, fmt.  Ra / tác động: Nhãn gồm biến thể, giá và tình trạng hết hàng.</a:t>
            </a:r>
          </a:p>
        </p:txBody>
      </p:sp>
      <p:sp>
        <p:nvSpPr>
          <p:cNvPr id="7" name="function-code-0">
            <a:extLst xmlns:a="http://schemas.openxmlformats.org/drawingml/2006/main">
              <a:ext uri="{FF2B5EF4-FFF2-40B4-BE49-F238E27FC236}">
                <a16:creationId xmlns:a16="http://schemas.microsoft.com/office/drawing/2014/main" id="{6473A37F-414F-450A-8B74-AC400808EDBC}"/>
              </a:ext>
            </a:extLst>
          </p:cNvPr>
          <p:cNvSpPr>
            <a:spLocks xmlns:a="http://schemas.openxmlformats.org/drawingml/2006/main" noGrp="1"/>
          </p:cNvSpPr>
          <p:nvPr/>
        </p:nvSpPr>
        <p:spPr>
          <a:xfrm xmlns:a="http://schemas.openxmlformats.org/drawingml/2006/main">
            <a:off x="762000" y="30575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54  def variant_option_label(variant, fmt):</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55      text = f"{variant['label']} · {fmt(variant['unit_price'])}"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56      return text + (" · Hết hàng" if variant["stock"] &lt;= 0 else "")</a:t>
            </a:r>
          </a:p>
        </p:txBody>
      </p:sp>
      <p:sp>
        <p:nvSpPr>
          <p:cNvPr id="8" name="function-source-0">
            <a:extLst xmlns:a="http://schemas.openxmlformats.org/drawingml/2006/main">
              <a:ext uri="{FF2B5EF4-FFF2-40B4-BE49-F238E27FC236}">
                <a16:creationId xmlns:a16="http://schemas.microsoft.com/office/drawing/2014/main" id="{4597C735-DD45-4280-9323-D23E7D240A68}"/>
              </a:ext>
            </a:extLst>
          </p:cNvPr>
          <p:cNvSpPr>
            <a:spLocks xmlns:a="http://schemas.openxmlformats.org/drawingml/2006/main" noGrp="1"/>
          </p:cNvSpPr>
          <p:nvPr/>
        </p:nvSpPr>
        <p:spPr>
          <a:xfrm xmlns:a="http://schemas.openxmlformats.org/drawingml/2006/main">
            <a:off x="762000" y="44672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backend/shop_logic.py:54–56     Đoạn trích: 54–56</a:t>
            </a:r>
          </a:p>
        </p:txBody>
      </p:sp>
      <p:sp>
        <p:nvSpPr>
          <p:cNvPr id="9" name="function-name-1">
            <a:extLst xmlns:a="http://schemas.openxmlformats.org/drawingml/2006/main">
              <a:ext uri="{FF2B5EF4-FFF2-40B4-BE49-F238E27FC236}">
                <a16:creationId xmlns:a16="http://schemas.microsoft.com/office/drawing/2014/main" id="{0FEE1CDF-E2D2-44CA-B598-D322E9773ADC}"/>
              </a:ext>
            </a:extLst>
          </p:cNvPr>
          <p:cNvSpPr>
            <a:spLocks xmlns:a="http://schemas.openxmlformats.org/drawingml/2006/main" noGrp="1"/>
          </p:cNvSpPr>
          <p:nvPr/>
        </p:nvSpPr>
        <p:spPr>
          <a:xfrm xmlns:a="http://schemas.openxmlformats.org/drawingml/2006/main">
            <a:off x="762000" y="476250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pick_default_variant  [tương thích Streamlit]</a:t>
            </a:r>
          </a:p>
        </p:txBody>
      </p:sp>
      <p:sp>
        <p:nvSpPr>
          <p:cNvPr id="10" name="function-purpose-1">
            <a:extLst xmlns:a="http://schemas.openxmlformats.org/drawingml/2006/main">
              <a:ext uri="{FF2B5EF4-FFF2-40B4-BE49-F238E27FC236}">
                <a16:creationId xmlns:a16="http://schemas.microsoft.com/office/drawing/2014/main" id="{6F397A58-BB30-4BBB-B2AA-51F4AC19BA22}"/>
              </a:ext>
            </a:extLst>
          </p:cNvPr>
          <p:cNvSpPr>
            <a:spLocks xmlns:a="http://schemas.openxmlformats.org/drawingml/2006/main" noGrp="1"/>
          </p:cNvSpPr>
          <p:nvPr/>
        </p:nvSpPr>
        <p:spPr>
          <a:xfrm xmlns:a="http://schemas.openxmlformats.org/drawingml/2006/main">
            <a:off x="762000" y="521970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Ưu tiên SKU đầu tiên còn hàng, hoặc SKU đầu danh sách nếu tất cả đều hết.</a:t>
            </a:r>
          </a:p>
        </p:txBody>
      </p:sp>
      <p:sp>
        <p:nvSpPr>
          <p:cNvPr id="11" name="function-io-1">
            <a:extLst xmlns:a="http://schemas.openxmlformats.org/drawingml/2006/main">
              <a:ext uri="{FF2B5EF4-FFF2-40B4-BE49-F238E27FC236}">
                <a16:creationId xmlns:a16="http://schemas.microsoft.com/office/drawing/2014/main" id="{7F343B5D-134D-4F67-8C2C-4D798113BA89}"/>
              </a:ext>
            </a:extLst>
          </p:cNvPr>
          <p:cNvSpPr>
            <a:spLocks xmlns:a="http://schemas.openxmlformats.org/drawingml/2006/main" noGrp="1"/>
          </p:cNvSpPr>
          <p:nvPr/>
        </p:nvSpPr>
        <p:spPr>
          <a:xfrm xmlns:a="http://schemas.openxmlformats.org/drawingml/2006/main">
            <a:off x="762000" y="580072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variants.  Ra / tác động: SKU mặc định hoặc None nếu danh sách rỗng.</a:t>
            </a:r>
          </a:p>
        </p:txBody>
      </p:sp>
      <p:sp>
        <p:nvSpPr>
          <p:cNvPr id="12" name="function-code-1">
            <a:extLst xmlns:a="http://schemas.openxmlformats.org/drawingml/2006/main">
              <a:ext uri="{FF2B5EF4-FFF2-40B4-BE49-F238E27FC236}">
                <a16:creationId xmlns:a16="http://schemas.microsoft.com/office/drawing/2014/main" id="{0B109710-BB6C-40DC-95FE-91D170B812FB}"/>
              </a:ext>
            </a:extLst>
          </p:cNvPr>
          <p:cNvSpPr>
            <a:spLocks xmlns:a="http://schemas.openxmlformats.org/drawingml/2006/main" noGrp="1"/>
          </p:cNvSpPr>
          <p:nvPr/>
        </p:nvSpPr>
        <p:spPr>
          <a:xfrm xmlns:a="http://schemas.openxmlformats.org/drawingml/2006/main">
            <a:off x="762000" y="637222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60  def pick_default_variant(variants):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62      for v in variants:</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63          if v["stock"] &gt; 0:</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64              return v["sku"]</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65      return variants[0]["sku"] if variants else None</a:t>
            </a:r>
          </a:p>
        </p:txBody>
      </p:sp>
      <p:sp>
        <p:nvSpPr>
          <p:cNvPr id="13" name="function-source-1">
            <a:extLst xmlns:a="http://schemas.openxmlformats.org/drawingml/2006/main">
              <a:ext uri="{FF2B5EF4-FFF2-40B4-BE49-F238E27FC236}">
                <a16:creationId xmlns:a16="http://schemas.microsoft.com/office/drawing/2014/main" id="{FE46061C-C525-4161-B34C-F16BF34480CA}"/>
              </a:ext>
            </a:extLst>
          </p:cNvPr>
          <p:cNvSpPr>
            <a:spLocks xmlns:a="http://schemas.openxmlformats.org/drawingml/2006/main" noGrp="1"/>
          </p:cNvSpPr>
          <p:nvPr/>
        </p:nvSpPr>
        <p:spPr>
          <a:xfrm xmlns:a="http://schemas.openxmlformats.org/drawingml/2006/main">
            <a:off x="762000" y="778192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backend/shop_logic.py:60–65     Đoạn trích: 60–65</a:t>
            </a:r>
          </a:p>
        </p:txBody>
      </p:sp>
    </p:spTree>
    <p:extLst>
      <p:ext uri="{BB962C8B-B14F-4D97-AF65-F5344CB8AC3E}">
        <p14:creationId xmlns:p14="http://schemas.microsoft.com/office/powerpoint/2010/main" val="657821087"/>
      </p:ext>
    </p:extLst>
  </p:cSld>
</p:sld>
</file>

<file path=ppt/slides/slide88.xml><?xml version="1.0" encoding="utf-8"?>
<p:sld xmlns:p="http://schemas.openxmlformats.org/presentationml/2006/main">
  <p:cSld>
    <p:bg>
      <p:bgPr>
        <a:solidFill xmlns:a="http://schemas.openxmlformats.org/drawingml/2006/main">
          <a:srgbClr val="FAF8F4"/>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C40EEDDD-47C8-495F-A100-A532DC3544AF}"/>
              </a:ext>
            </a:extLst>
          </p:cNvPr>
          <p:cNvSpPr>
            <a:spLocks xmlns:a="http://schemas.openxmlformats.org/drawingml/2006/main" noGrp="1"/>
          </p:cNvSpPr>
          <p:nvPr/>
        </p:nvSpPr>
        <p:spPr>
          <a:xfrm xmlns:a="http://schemas.openxmlformats.org/drawingml/2006/main">
            <a:off x="762000" y="438150"/>
            <a:ext cx="13716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E32"/>
                </a:solidFill>
                <a:latin typeface="Arial"/>
                <a:ea typeface="Arial"/>
                <a:cs typeface="Arial"/>
              </a:defRPr>
            </a:defPPr>
            <a:lvl1pPr>
              <a:defRPr sz="3150" b="1">
                <a:solidFill>
                  <a:srgbClr val="172E32"/>
                </a:solidFill>
                <a:latin typeface="Arial"/>
                <a:ea typeface="Arial"/>
                <a:cs typeface="Arial"/>
              </a:defRPr>
            </a:lvl1pPr>
            <a:lvl2pPr>
              <a:defRPr sz="3150" b="1">
                <a:solidFill>
                  <a:srgbClr val="172E32"/>
                </a:solidFill>
                <a:latin typeface="Arial"/>
                <a:ea typeface="Arial"/>
                <a:cs typeface="Arial"/>
              </a:defRPr>
            </a:lvl2pPr>
            <a:lvl3pPr>
              <a:defRPr sz="3150" b="1">
                <a:solidFill>
                  <a:srgbClr val="172E32"/>
                </a:solidFill>
                <a:latin typeface="Arial"/>
                <a:ea typeface="Arial"/>
                <a:cs typeface="Arial"/>
              </a:defRPr>
            </a:lvl3pPr>
            <a:lvl4pPr>
              <a:defRPr sz="3150" b="1">
                <a:solidFill>
                  <a:srgbClr val="172E32"/>
                </a:solidFill>
                <a:latin typeface="Arial"/>
                <a:ea typeface="Arial"/>
                <a:cs typeface="Arial"/>
              </a:defRPr>
            </a:lvl4pPr>
            <a:lvl5pPr>
              <a:defRPr sz="3150" b="1">
                <a:solidFill>
                  <a:srgbClr val="172E32"/>
                </a:solidFill>
                <a:latin typeface="Arial"/>
                <a:ea typeface="Arial"/>
                <a:cs typeface="Arial"/>
              </a:defRPr>
            </a:lvl5pPr>
            <a:lvl6pPr>
              <a:defRPr sz="3150" b="1">
                <a:solidFill>
                  <a:srgbClr val="172E32"/>
                </a:solidFill>
                <a:latin typeface="Arial"/>
                <a:ea typeface="Arial"/>
                <a:cs typeface="Arial"/>
              </a:defRPr>
            </a:lvl6pPr>
            <a:lvl7pPr>
              <a:defRPr sz="3150" b="1">
                <a:solidFill>
                  <a:srgbClr val="172E32"/>
                </a:solidFill>
                <a:latin typeface="Arial"/>
                <a:ea typeface="Arial"/>
                <a:cs typeface="Arial"/>
              </a:defRPr>
            </a:lvl7pPr>
            <a:lvl8pPr>
              <a:defRPr sz="3150" b="1">
                <a:solidFill>
                  <a:srgbClr val="172E32"/>
                </a:solidFill>
                <a:latin typeface="Arial"/>
                <a:ea typeface="Arial"/>
                <a:cs typeface="Arial"/>
              </a:defRPr>
            </a:lvl8pPr>
            <a:lvl9pPr>
              <a:defRPr sz="3150" b="1">
                <a:solidFill>
                  <a:srgbClr val="172E32"/>
                </a:solidFill>
                <a:latin typeface="Arial"/>
                <a:ea typeface="Arial"/>
                <a:cs typeface="Arial"/>
              </a:defRPr>
            </a:lvl9pPr>
          </a:lstStyle>
          <a:p xmlns:a="http://schemas.openxmlformats.org/drawingml/2006/main">
            <a:pPr>
              <a:lnSpc>
                <a:spcPct val="112000"/>
              </a:lnSpc>
              <a:buNone/>
              <a:defRPr sz="3150" b="1">
                <a:solidFill>
                  <a:srgbClr val="172E32"/>
                </a:solidFill>
                <a:latin typeface="Arial"/>
                <a:ea typeface="Arial"/>
                <a:cs typeface="Arial"/>
              </a:defRPr>
            </a:pPr>
            <a:r>
              <a:rPr sz="3150" b="1">
                <a:solidFill>
                  <a:srgbClr val="172E32"/>
                </a:solidFill>
                <a:latin typeface="Arial"/>
                <a:ea typeface="Arial"/>
                <a:cs typeface="Arial"/>
              </a:rPr>
              <a:t>backend/shop_logic.py  (9–9/9)</a:t>
            </a:r>
          </a:p>
        </p:txBody>
      </p:sp>
      <p:sp>
        <p:nvSpPr>
          <p:cNvPr id="3" name="page-number">
            <a:extLst xmlns:a="http://schemas.openxmlformats.org/drawingml/2006/main">
              <a:ext uri="{FF2B5EF4-FFF2-40B4-BE49-F238E27FC236}">
                <a16:creationId xmlns:a16="http://schemas.microsoft.com/office/drawing/2014/main" id="{B8D5C248-0C13-4549-86B4-095718442581}"/>
              </a:ext>
            </a:extLst>
          </p:cNvPr>
          <p:cNvSpPr>
            <a:spLocks xmlns:a="http://schemas.openxmlformats.org/drawingml/2006/main" noGrp="1"/>
          </p:cNvSpPr>
          <p:nvPr/>
        </p:nvSpPr>
        <p:spPr>
          <a:xfrm xmlns:a="http://schemas.openxmlformats.org/drawingml/2006/main">
            <a:off x="13430250" y="8191500"/>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88 / 88</a:t>
            </a:r>
          </a:p>
        </p:txBody>
      </p:sp>
      <p:sp>
        <p:nvSpPr>
          <p:cNvPr id="4" name="function-name-0">
            <a:extLst xmlns:a="http://schemas.openxmlformats.org/drawingml/2006/main">
              <a:ext uri="{FF2B5EF4-FFF2-40B4-BE49-F238E27FC236}">
                <a16:creationId xmlns:a16="http://schemas.microsoft.com/office/drawing/2014/main" id="{F8623B9C-7AF3-44A5-B3DE-69D73F83DDF9}"/>
              </a:ext>
            </a:extLst>
          </p:cNvPr>
          <p:cNvSpPr>
            <a:spLocks xmlns:a="http://schemas.openxmlformats.org/drawingml/2006/main" noGrp="1"/>
          </p:cNvSpPr>
          <p:nvPr/>
        </p:nvSpPr>
        <p:spPr>
          <a:xfrm xmlns:a="http://schemas.openxmlformats.org/drawingml/2006/main">
            <a:off x="762000" y="2305050"/>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216B66"/>
                </a:solidFill>
                <a:latin typeface="Arial"/>
                <a:ea typeface="Arial"/>
                <a:cs typeface="Arial"/>
              </a:defRPr>
            </a:defPPr>
            <a:lvl1pPr>
              <a:defRPr sz="2250" b="1">
                <a:solidFill>
                  <a:srgbClr val="216B66"/>
                </a:solidFill>
                <a:latin typeface="Arial"/>
                <a:ea typeface="Arial"/>
                <a:cs typeface="Arial"/>
              </a:defRPr>
            </a:lvl1pPr>
            <a:lvl2pPr>
              <a:defRPr sz="2250" b="1">
                <a:solidFill>
                  <a:srgbClr val="216B66"/>
                </a:solidFill>
                <a:latin typeface="Arial"/>
                <a:ea typeface="Arial"/>
                <a:cs typeface="Arial"/>
              </a:defRPr>
            </a:lvl2pPr>
            <a:lvl3pPr>
              <a:defRPr sz="2250" b="1">
                <a:solidFill>
                  <a:srgbClr val="216B66"/>
                </a:solidFill>
                <a:latin typeface="Arial"/>
                <a:ea typeface="Arial"/>
                <a:cs typeface="Arial"/>
              </a:defRPr>
            </a:lvl3pPr>
            <a:lvl4pPr>
              <a:defRPr sz="2250" b="1">
                <a:solidFill>
                  <a:srgbClr val="216B66"/>
                </a:solidFill>
                <a:latin typeface="Arial"/>
                <a:ea typeface="Arial"/>
                <a:cs typeface="Arial"/>
              </a:defRPr>
            </a:lvl4pPr>
            <a:lvl5pPr>
              <a:defRPr sz="2250" b="1">
                <a:solidFill>
                  <a:srgbClr val="216B66"/>
                </a:solidFill>
                <a:latin typeface="Arial"/>
                <a:ea typeface="Arial"/>
                <a:cs typeface="Arial"/>
              </a:defRPr>
            </a:lvl5pPr>
            <a:lvl6pPr>
              <a:defRPr sz="2250" b="1">
                <a:solidFill>
                  <a:srgbClr val="216B66"/>
                </a:solidFill>
                <a:latin typeface="Arial"/>
                <a:ea typeface="Arial"/>
                <a:cs typeface="Arial"/>
              </a:defRPr>
            </a:lvl6pPr>
            <a:lvl7pPr>
              <a:defRPr sz="2250" b="1">
                <a:solidFill>
                  <a:srgbClr val="216B66"/>
                </a:solidFill>
                <a:latin typeface="Arial"/>
                <a:ea typeface="Arial"/>
                <a:cs typeface="Arial"/>
              </a:defRPr>
            </a:lvl7pPr>
            <a:lvl8pPr>
              <a:defRPr sz="2250" b="1">
                <a:solidFill>
                  <a:srgbClr val="216B66"/>
                </a:solidFill>
                <a:latin typeface="Arial"/>
                <a:ea typeface="Arial"/>
                <a:cs typeface="Arial"/>
              </a:defRPr>
            </a:lvl8pPr>
            <a:lvl9pPr>
              <a:defRPr sz="2250" b="1">
                <a:solidFill>
                  <a:srgbClr val="216B66"/>
                </a:solidFill>
                <a:latin typeface="Arial"/>
                <a:ea typeface="Arial"/>
                <a:cs typeface="Arial"/>
              </a:defRPr>
            </a:lvl9pPr>
          </a:lstStyle>
          <a:p xmlns:a="http://schemas.openxmlformats.org/drawingml/2006/main">
            <a:pPr>
              <a:lnSpc>
                <a:spcPct val="112000"/>
              </a:lnSpc>
              <a:buNone/>
              <a:defRPr sz="2250" b="1">
                <a:solidFill>
                  <a:srgbClr val="216B66"/>
                </a:solidFill>
                <a:latin typeface="Arial"/>
                <a:ea typeface="Arial"/>
                <a:cs typeface="Arial"/>
              </a:defRPr>
            </a:pPr>
            <a:r>
              <a:rPr sz="2250" b="1">
                <a:solidFill>
                  <a:srgbClr val="216B66"/>
                </a:solidFill>
                <a:latin typeface="Arial"/>
                <a:ea typeface="Arial"/>
                <a:cs typeface="Arial"/>
              </a:rPr>
              <a:t>chunk  [tương thích Streamlit]</a:t>
            </a:r>
          </a:p>
        </p:txBody>
      </p:sp>
      <p:sp>
        <p:nvSpPr>
          <p:cNvPr id="5" name="function-purpose-0">
            <a:extLst xmlns:a="http://schemas.openxmlformats.org/drawingml/2006/main">
              <a:ext uri="{FF2B5EF4-FFF2-40B4-BE49-F238E27FC236}">
                <a16:creationId xmlns:a16="http://schemas.microsoft.com/office/drawing/2014/main" id="{9BAF7A68-2C22-44FA-8260-180C01508BAC}"/>
              </a:ext>
            </a:extLst>
          </p:cNvPr>
          <p:cNvSpPr>
            <a:spLocks xmlns:a="http://schemas.openxmlformats.org/drawingml/2006/main" noGrp="1"/>
          </p:cNvSpPr>
          <p:nvPr/>
        </p:nvSpPr>
        <p:spPr>
          <a:xfrm xmlns:a="http://schemas.openxmlformats.org/drawingml/2006/main">
            <a:off x="762000" y="2762250"/>
            <a:ext cx="1371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72E32"/>
                </a:solidFill>
                <a:latin typeface="Arial"/>
                <a:ea typeface="Arial"/>
                <a:cs typeface="Arial"/>
              </a:defRPr>
            </a:defPPr>
            <a:lvl1pPr>
              <a:defRPr sz="1800" b="0">
                <a:solidFill>
                  <a:srgbClr val="172E32"/>
                </a:solidFill>
                <a:latin typeface="Arial"/>
                <a:ea typeface="Arial"/>
                <a:cs typeface="Arial"/>
              </a:defRPr>
            </a:lvl1pPr>
            <a:lvl2pPr>
              <a:defRPr sz="1800" b="0">
                <a:solidFill>
                  <a:srgbClr val="172E32"/>
                </a:solidFill>
                <a:latin typeface="Arial"/>
                <a:ea typeface="Arial"/>
                <a:cs typeface="Arial"/>
              </a:defRPr>
            </a:lvl2pPr>
            <a:lvl3pPr>
              <a:defRPr sz="1800" b="0">
                <a:solidFill>
                  <a:srgbClr val="172E32"/>
                </a:solidFill>
                <a:latin typeface="Arial"/>
                <a:ea typeface="Arial"/>
                <a:cs typeface="Arial"/>
              </a:defRPr>
            </a:lvl3pPr>
            <a:lvl4pPr>
              <a:defRPr sz="1800" b="0">
                <a:solidFill>
                  <a:srgbClr val="172E32"/>
                </a:solidFill>
                <a:latin typeface="Arial"/>
                <a:ea typeface="Arial"/>
                <a:cs typeface="Arial"/>
              </a:defRPr>
            </a:lvl4pPr>
            <a:lvl5pPr>
              <a:defRPr sz="1800" b="0">
                <a:solidFill>
                  <a:srgbClr val="172E32"/>
                </a:solidFill>
                <a:latin typeface="Arial"/>
                <a:ea typeface="Arial"/>
                <a:cs typeface="Arial"/>
              </a:defRPr>
            </a:lvl5pPr>
            <a:lvl6pPr>
              <a:defRPr sz="1800" b="0">
                <a:solidFill>
                  <a:srgbClr val="172E32"/>
                </a:solidFill>
                <a:latin typeface="Arial"/>
                <a:ea typeface="Arial"/>
                <a:cs typeface="Arial"/>
              </a:defRPr>
            </a:lvl6pPr>
            <a:lvl7pPr>
              <a:defRPr sz="1800" b="0">
                <a:solidFill>
                  <a:srgbClr val="172E32"/>
                </a:solidFill>
                <a:latin typeface="Arial"/>
                <a:ea typeface="Arial"/>
                <a:cs typeface="Arial"/>
              </a:defRPr>
            </a:lvl7pPr>
            <a:lvl8pPr>
              <a:defRPr sz="1800" b="0">
                <a:solidFill>
                  <a:srgbClr val="172E32"/>
                </a:solidFill>
                <a:latin typeface="Arial"/>
                <a:ea typeface="Arial"/>
                <a:cs typeface="Arial"/>
              </a:defRPr>
            </a:lvl8pPr>
            <a:lvl9pPr>
              <a:defRPr sz="1800" b="0">
                <a:solidFill>
                  <a:srgbClr val="172E32"/>
                </a:solidFill>
                <a:latin typeface="Arial"/>
                <a:ea typeface="Arial"/>
                <a:cs typeface="Arial"/>
              </a:defRPr>
            </a:lvl9pPr>
          </a:lstStyle>
          <a:p xmlns:a="http://schemas.openxmlformats.org/drawingml/2006/main">
            <a:pPr>
              <a:lnSpc>
                <a:spcPct val="112000"/>
              </a:lnSpc>
              <a:buNone/>
              <a:defRPr sz="1800" b="0">
                <a:solidFill>
                  <a:srgbClr val="172E32"/>
                </a:solidFill>
                <a:latin typeface="Arial"/>
                <a:ea typeface="Arial"/>
                <a:cs typeface="Arial"/>
              </a:defRPr>
            </a:pPr>
            <a:r>
              <a:rPr sz="1800" b="0">
                <a:solidFill>
                  <a:srgbClr val="172E32"/>
                </a:solidFill>
                <a:latin typeface="Arial"/>
                <a:ea typeface="Arial"/>
                <a:cs typeface="Arial"/>
              </a:rPr>
              <a:t>Chia danh sách thành các nhóm nhỏ có kích thước cho trước để bố trí giao diện.</a:t>
            </a:r>
          </a:p>
        </p:txBody>
      </p:sp>
      <p:sp>
        <p:nvSpPr>
          <p:cNvPr id="6" name="function-io-0">
            <a:extLst xmlns:a="http://schemas.openxmlformats.org/drawingml/2006/main">
              <a:ext uri="{FF2B5EF4-FFF2-40B4-BE49-F238E27FC236}">
                <a16:creationId xmlns:a16="http://schemas.microsoft.com/office/drawing/2014/main" id="{3737387B-4AC2-4705-A5D9-9AB511EB2208}"/>
              </a:ext>
            </a:extLst>
          </p:cNvPr>
          <p:cNvSpPr>
            <a:spLocks xmlns:a="http://schemas.openxmlformats.org/drawingml/2006/main" noGrp="1"/>
          </p:cNvSpPr>
          <p:nvPr/>
        </p:nvSpPr>
        <p:spPr>
          <a:xfrm xmlns:a="http://schemas.openxmlformats.org/drawingml/2006/main">
            <a:off x="762000" y="3343275"/>
            <a:ext cx="1371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4D6063"/>
                </a:solidFill>
                <a:latin typeface="Arial"/>
                <a:ea typeface="Arial"/>
                <a:cs typeface="Arial"/>
              </a:defRPr>
            </a:defPPr>
            <a:lvl1pPr>
              <a:defRPr sz="1575" b="0">
                <a:solidFill>
                  <a:srgbClr val="4D6063"/>
                </a:solidFill>
                <a:latin typeface="Arial"/>
                <a:ea typeface="Arial"/>
                <a:cs typeface="Arial"/>
              </a:defRPr>
            </a:lvl1pPr>
            <a:lvl2pPr>
              <a:defRPr sz="1575" b="0">
                <a:solidFill>
                  <a:srgbClr val="4D6063"/>
                </a:solidFill>
                <a:latin typeface="Arial"/>
                <a:ea typeface="Arial"/>
                <a:cs typeface="Arial"/>
              </a:defRPr>
            </a:lvl2pPr>
            <a:lvl3pPr>
              <a:defRPr sz="1575" b="0">
                <a:solidFill>
                  <a:srgbClr val="4D6063"/>
                </a:solidFill>
                <a:latin typeface="Arial"/>
                <a:ea typeface="Arial"/>
                <a:cs typeface="Arial"/>
              </a:defRPr>
            </a:lvl3pPr>
            <a:lvl4pPr>
              <a:defRPr sz="1575" b="0">
                <a:solidFill>
                  <a:srgbClr val="4D6063"/>
                </a:solidFill>
                <a:latin typeface="Arial"/>
                <a:ea typeface="Arial"/>
                <a:cs typeface="Arial"/>
              </a:defRPr>
            </a:lvl4pPr>
            <a:lvl5pPr>
              <a:defRPr sz="1575" b="0">
                <a:solidFill>
                  <a:srgbClr val="4D6063"/>
                </a:solidFill>
                <a:latin typeface="Arial"/>
                <a:ea typeface="Arial"/>
                <a:cs typeface="Arial"/>
              </a:defRPr>
            </a:lvl5pPr>
            <a:lvl6pPr>
              <a:defRPr sz="1575" b="0">
                <a:solidFill>
                  <a:srgbClr val="4D6063"/>
                </a:solidFill>
                <a:latin typeface="Arial"/>
                <a:ea typeface="Arial"/>
                <a:cs typeface="Arial"/>
              </a:defRPr>
            </a:lvl6pPr>
            <a:lvl7pPr>
              <a:defRPr sz="1575" b="0">
                <a:solidFill>
                  <a:srgbClr val="4D6063"/>
                </a:solidFill>
                <a:latin typeface="Arial"/>
                <a:ea typeface="Arial"/>
                <a:cs typeface="Arial"/>
              </a:defRPr>
            </a:lvl7pPr>
            <a:lvl8pPr>
              <a:defRPr sz="1575" b="0">
                <a:solidFill>
                  <a:srgbClr val="4D6063"/>
                </a:solidFill>
                <a:latin typeface="Arial"/>
                <a:ea typeface="Arial"/>
                <a:cs typeface="Arial"/>
              </a:defRPr>
            </a:lvl8pPr>
            <a:lvl9pPr>
              <a:defRPr sz="1575" b="0">
                <a:solidFill>
                  <a:srgbClr val="4D6063"/>
                </a:solidFill>
                <a:latin typeface="Arial"/>
                <a:ea typeface="Arial"/>
                <a:cs typeface="Arial"/>
              </a:defRPr>
            </a:lvl9pPr>
          </a:lstStyle>
          <a:p xmlns:a="http://schemas.openxmlformats.org/drawingml/2006/main">
            <a:pPr>
              <a:lnSpc>
                <a:spcPct val="112000"/>
              </a:lnSpc>
              <a:buNone/>
              <a:defRPr sz="1575" b="0">
                <a:solidFill>
                  <a:srgbClr val="4D6063"/>
                </a:solidFill>
                <a:latin typeface="Arial"/>
                <a:ea typeface="Arial"/>
                <a:cs typeface="Arial"/>
              </a:defRPr>
            </a:pPr>
            <a:r>
              <a:rPr sz="1575" b="0">
                <a:solidFill>
                  <a:srgbClr val="4D6063"/>
                </a:solidFill>
                <a:latin typeface="Arial"/>
                <a:ea typeface="Arial"/>
                <a:cs typeface="Arial"/>
              </a:rPr>
              <a:t>Vào: seq, size.  Ra / tác động: Danh sách các nhóm con.</a:t>
            </a:r>
          </a:p>
        </p:txBody>
      </p:sp>
      <p:sp>
        <p:nvSpPr>
          <p:cNvPr id="7" name="function-code-0">
            <a:extLst xmlns:a="http://schemas.openxmlformats.org/drawingml/2006/main">
              <a:ext uri="{FF2B5EF4-FFF2-40B4-BE49-F238E27FC236}">
                <a16:creationId xmlns:a16="http://schemas.microsoft.com/office/drawing/2014/main" id="{23EDD9F5-1A40-4903-9D0D-F0B7F2C6171E}"/>
              </a:ext>
            </a:extLst>
          </p:cNvPr>
          <p:cNvSpPr>
            <a:spLocks xmlns:a="http://schemas.openxmlformats.org/drawingml/2006/main" noGrp="1"/>
          </p:cNvSpPr>
          <p:nvPr/>
        </p:nvSpPr>
        <p:spPr>
          <a:xfrm xmlns:a="http://schemas.openxmlformats.org/drawingml/2006/main">
            <a:off x="762000" y="3914775"/>
            <a:ext cx="13716000" cy="1362075"/>
          </a:xfrm>
          <a:prstGeom xmlns:a="http://schemas.openxmlformats.org/drawingml/2006/main" prst="rect">
            <a:avLst/>
          </a:prstGeom>
          <a:solidFill xmlns:a="http://schemas.openxmlformats.org/drawingml/2006/main">
            <a:srgbClr val="EEF1EC"/>
          </a:solidFill>
          <a:ln xmlns:a="http://schemas.openxmlformats.org/drawingml/2006/main" w="0">
            <a:noFill/>
          </a:ln>
        </p:spPr>
        <p:txBody>
          <a:bodyPr xmlns:a="http://schemas.openxmlformats.org/drawingml/2006/main" wrap="square" lIns="95250" tIns="38100" rIns="95250" bIns="38100">
            <a:noAutofit/>
          </a:bodyPr>
          <a:lstStyle xmlns:a="http://schemas.openxmlformats.org/drawingml/2006/main">
            <a:defPPr>
              <a:defRPr sz="1500" b="0">
                <a:solidFill>
                  <a:srgbClr val="172E32"/>
                </a:solidFill>
                <a:latin typeface="Courier New"/>
                <a:ea typeface="Courier New"/>
                <a:cs typeface="Courier New"/>
              </a:defRPr>
            </a:defPPr>
            <a:lvl1pPr>
              <a:defRPr sz="1500" b="0">
                <a:solidFill>
                  <a:srgbClr val="172E32"/>
                </a:solidFill>
                <a:latin typeface="Courier New"/>
                <a:ea typeface="Courier New"/>
                <a:cs typeface="Courier New"/>
              </a:defRPr>
            </a:lvl1pPr>
            <a:lvl2pPr>
              <a:defRPr sz="1500" b="0">
                <a:solidFill>
                  <a:srgbClr val="172E32"/>
                </a:solidFill>
                <a:latin typeface="Courier New"/>
                <a:ea typeface="Courier New"/>
                <a:cs typeface="Courier New"/>
              </a:defRPr>
            </a:lvl2pPr>
            <a:lvl3pPr>
              <a:defRPr sz="1500" b="0">
                <a:solidFill>
                  <a:srgbClr val="172E32"/>
                </a:solidFill>
                <a:latin typeface="Courier New"/>
                <a:ea typeface="Courier New"/>
                <a:cs typeface="Courier New"/>
              </a:defRPr>
            </a:lvl3pPr>
            <a:lvl4pPr>
              <a:defRPr sz="1500" b="0">
                <a:solidFill>
                  <a:srgbClr val="172E32"/>
                </a:solidFill>
                <a:latin typeface="Courier New"/>
                <a:ea typeface="Courier New"/>
                <a:cs typeface="Courier New"/>
              </a:defRPr>
            </a:lvl4pPr>
            <a:lvl5pPr>
              <a:defRPr sz="1500" b="0">
                <a:solidFill>
                  <a:srgbClr val="172E32"/>
                </a:solidFill>
                <a:latin typeface="Courier New"/>
                <a:ea typeface="Courier New"/>
                <a:cs typeface="Courier New"/>
              </a:defRPr>
            </a:lvl5pPr>
            <a:lvl6pPr>
              <a:defRPr sz="1500" b="0">
                <a:solidFill>
                  <a:srgbClr val="172E32"/>
                </a:solidFill>
                <a:latin typeface="Courier New"/>
                <a:ea typeface="Courier New"/>
                <a:cs typeface="Courier New"/>
              </a:defRPr>
            </a:lvl6pPr>
            <a:lvl7pPr>
              <a:defRPr sz="1500" b="0">
                <a:solidFill>
                  <a:srgbClr val="172E32"/>
                </a:solidFill>
                <a:latin typeface="Courier New"/>
                <a:ea typeface="Courier New"/>
                <a:cs typeface="Courier New"/>
              </a:defRPr>
            </a:lvl7pPr>
            <a:lvl8pPr>
              <a:defRPr sz="1500" b="0">
                <a:solidFill>
                  <a:srgbClr val="172E32"/>
                </a:solidFill>
                <a:latin typeface="Courier New"/>
                <a:ea typeface="Courier New"/>
                <a:cs typeface="Courier New"/>
              </a:defRPr>
            </a:lvl8pPr>
            <a:lvl9pPr>
              <a:defRPr sz="1500" b="0">
                <a:solidFill>
                  <a:srgbClr val="172E32"/>
                </a:solidFill>
                <a:latin typeface="Courier New"/>
                <a:ea typeface="Courier New"/>
                <a:cs typeface="Courier New"/>
              </a:defRPr>
            </a:lvl9pPr>
          </a:lstStyle>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69  def chunk(seq, size):</a:t>
            </a:r>
          </a:p>
          <a:p xmlns:a="http://schemas.openxmlformats.org/drawingml/2006/main">
            <a:pPr>
              <a:lnSpc>
                <a:spcPct val="102000"/>
              </a:lnSpc>
              <a:buNone/>
              <a:defRPr sz="1500" b="0">
                <a:solidFill>
                  <a:srgbClr val="172E32"/>
                </a:solidFill>
                <a:latin typeface="Courier New"/>
                <a:ea typeface="Courier New"/>
                <a:cs typeface="Courier New"/>
              </a:defRPr>
            </a:pPr>
            <a:r>
              <a:rPr sz="1500" b="0">
                <a:solidFill>
                  <a:srgbClr val="172E32"/>
                </a:solidFill>
                <a:latin typeface="Courier New"/>
                <a:ea typeface="Courier New"/>
                <a:cs typeface="Courier New"/>
              </a:rPr>
              <a:t> 70      return [seq[i:i + size] for i in range(0, len(seq), size)]</a:t>
            </a:r>
          </a:p>
        </p:txBody>
      </p:sp>
      <p:sp>
        <p:nvSpPr>
          <p:cNvPr id="8" name="function-source-0">
            <a:extLst xmlns:a="http://schemas.openxmlformats.org/drawingml/2006/main">
              <a:ext uri="{FF2B5EF4-FFF2-40B4-BE49-F238E27FC236}">
                <a16:creationId xmlns:a16="http://schemas.microsoft.com/office/drawing/2014/main" id="{EE4BE585-C5BB-42B7-AB66-D7288264835E}"/>
              </a:ext>
            </a:extLst>
          </p:cNvPr>
          <p:cNvSpPr>
            <a:spLocks xmlns:a="http://schemas.openxmlformats.org/drawingml/2006/main" noGrp="1"/>
          </p:cNvSpPr>
          <p:nvPr/>
        </p:nvSpPr>
        <p:spPr>
          <a:xfrm xmlns:a="http://schemas.openxmlformats.org/drawingml/2006/main">
            <a:off x="762000" y="5324475"/>
            <a:ext cx="13620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4D6063"/>
                </a:solidFill>
                <a:latin typeface="Arial"/>
                <a:ea typeface="Arial"/>
                <a:cs typeface="Arial"/>
              </a:defRPr>
            </a:defPPr>
            <a:lvl1pPr>
              <a:defRPr sz="1350" b="0">
                <a:solidFill>
                  <a:srgbClr val="4D6063"/>
                </a:solidFill>
                <a:latin typeface="Arial"/>
                <a:ea typeface="Arial"/>
                <a:cs typeface="Arial"/>
              </a:defRPr>
            </a:lvl1pPr>
            <a:lvl2pPr>
              <a:defRPr sz="1350" b="0">
                <a:solidFill>
                  <a:srgbClr val="4D6063"/>
                </a:solidFill>
                <a:latin typeface="Arial"/>
                <a:ea typeface="Arial"/>
                <a:cs typeface="Arial"/>
              </a:defRPr>
            </a:lvl2pPr>
            <a:lvl3pPr>
              <a:defRPr sz="1350" b="0">
                <a:solidFill>
                  <a:srgbClr val="4D6063"/>
                </a:solidFill>
                <a:latin typeface="Arial"/>
                <a:ea typeface="Arial"/>
                <a:cs typeface="Arial"/>
              </a:defRPr>
            </a:lvl3pPr>
            <a:lvl4pPr>
              <a:defRPr sz="1350" b="0">
                <a:solidFill>
                  <a:srgbClr val="4D6063"/>
                </a:solidFill>
                <a:latin typeface="Arial"/>
                <a:ea typeface="Arial"/>
                <a:cs typeface="Arial"/>
              </a:defRPr>
            </a:lvl4pPr>
            <a:lvl5pPr>
              <a:defRPr sz="1350" b="0">
                <a:solidFill>
                  <a:srgbClr val="4D6063"/>
                </a:solidFill>
                <a:latin typeface="Arial"/>
                <a:ea typeface="Arial"/>
                <a:cs typeface="Arial"/>
              </a:defRPr>
            </a:lvl5pPr>
            <a:lvl6pPr>
              <a:defRPr sz="1350" b="0">
                <a:solidFill>
                  <a:srgbClr val="4D6063"/>
                </a:solidFill>
                <a:latin typeface="Arial"/>
                <a:ea typeface="Arial"/>
                <a:cs typeface="Arial"/>
              </a:defRPr>
            </a:lvl6pPr>
            <a:lvl7pPr>
              <a:defRPr sz="1350" b="0">
                <a:solidFill>
                  <a:srgbClr val="4D6063"/>
                </a:solidFill>
                <a:latin typeface="Arial"/>
                <a:ea typeface="Arial"/>
                <a:cs typeface="Arial"/>
              </a:defRPr>
            </a:lvl7pPr>
            <a:lvl8pPr>
              <a:defRPr sz="1350" b="0">
                <a:solidFill>
                  <a:srgbClr val="4D6063"/>
                </a:solidFill>
                <a:latin typeface="Arial"/>
                <a:ea typeface="Arial"/>
                <a:cs typeface="Arial"/>
              </a:defRPr>
            </a:lvl8pPr>
            <a:lvl9pPr>
              <a:defRPr sz="1350" b="0">
                <a:solidFill>
                  <a:srgbClr val="4D6063"/>
                </a:solidFill>
                <a:latin typeface="Arial"/>
                <a:ea typeface="Arial"/>
                <a:cs typeface="Arial"/>
              </a:defRPr>
            </a:lvl9pPr>
          </a:lstStyle>
          <a:p xmlns:a="http://schemas.openxmlformats.org/drawingml/2006/main">
            <a:pPr>
              <a:lnSpc>
                <a:spcPct val="112000"/>
              </a:lnSpc>
              <a:buNone/>
              <a:defRPr sz="1350" b="0">
                <a:solidFill>
                  <a:srgbClr val="4D6063"/>
                </a:solidFill>
                <a:latin typeface="Arial"/>
                <a:ea typeface="Arial"/>
                <a:cs typeface="Arial"/>
              </a:defRPr>
            </a:pPr>
            <a:r>
              <a:rPr sz="1350" b="0">
                <a:solidFill>
                  <a:srgbClr val="4D6063"/>
                </a:solidFill>
                <a:latin typeface="Arial"/>
                <a:ea typeface="Arial"/>
                <a:cs typeface="Arial"/>
              </a:rPr>
              <a:t>backend/shop_logic.py:69–70     Đoạn trích: 69–70</a:t>
            </a:r>
          </a:p>
        </p:txBody>
      </p:sp>
    </p:spTree>
    <p:extLst>
      <p:ext uri="{BB962C8B-B14F-4D97-AF65-F5344CB8AC3E}">
        <p14:creationId xmlns:p14="http://schemas.microsoft.com/office/powerpoint/2010/main" val="13886077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2026-10-22T05:50:37.4860000Z</dcterms:created>
  <dcterms:modified xsi:type="dcterms:W3CDTF">2026-10-22T05:50:37.4860000Z</dcterms:modified>
</coreProperties>
</file>